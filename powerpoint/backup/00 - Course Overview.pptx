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C46A64E-9BA9-45F5-BDD7-4C9A8FBD2DA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296802D-16B9-4287-9979-6A12F50085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dt" idx="26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8BBED1-83F0-45CF-AB47-B25D1757AB90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F27E5D-77AF-41A2-A384-1540605827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dt" idx="28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860DC6-02AA-4AA5-9563-C23AC1939DD2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298BF1-C5E6-4194-B266-C360A5A136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dt" idx="30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E6CF62-0EC7-41DF-8882-272E8CFBEAD4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F82A0E-D0A8-4415-91D8-4B2F425EEB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dt" idx="32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2CDFA4-0871-4A75-97B8-B280A28C89AB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Efficiency: Data structures and algorithms are fundamental to writing efficient code. They help optimize operations like searching, sorting, and accessing data, which is critical for software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Solving: They provide a structured approach to problem-solving. By understanding different data structures and algorithms, programmers can choose the right tools to solve specific problems effectively.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Resource Management: Efficient data structures and algorithms are essential for managing system resources like memory and processing power. Poorly designed code can lead to resource wastage and performance issues.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Scalability: As data sets and user loads grow, scalable data structures and algorithms become increasingly important. They ensure that software can handle increased demands without a significant loss of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 Reusability: Proficiency in data structures and algorithms enables developers to create reusable code components. These components can be used across various projects, saving time and effort.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Classification: Knowledge of data structures and algorithms helps in categorizing and understanding different types of problems. This classification can guide developers in choosing appropriate solutions.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Competitive Programming: For those interested in competitive programming or coding competitions, a strong understanding of algorithms is a must. These contests often involve solving complex problems under tight time constraints.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Interviews and Job Opportunities: Many tech job interviews assess candidates' knowledge of data structures and algorithms. A solid understanding can significantly improve your prospects in the job market.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Machine Learning and Data Science: Data structures are vital in handling and manipulating large datasets in fields like machine learning and data science. Algorithms are used for data analysis, pattern recognition, and more.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Foundation for Advanced Topics: Data structures and algorithms serve as a foundation for more advanced topics in computer science, such as artificial intelligence, cryptography, and database management systems.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Critical Thinking and Problem-Solving Skills: Learning data structures and algorithms fosters critical thinking and problem-solving skills. It encourages programmers to break down complex problems into manageable components.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5EF261-EDA6-4165-9179-BCD0C9CD0B0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dt" idx="34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DB6EE8-2D6D-4103-8C1A-F359A5B05BAD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Efficiency: Data structures and algorithms are fundamental to writing efficient code. They help optimize operations like searching, sorting, and accessing data, which is critical for software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Solving: They provide a structured approach to problem-solving. By understanding different data structures and algorithms, programmers can choose the right tools to solve specific problems effectively.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Resource Management: Efficient data structures and algorithms are essential for managing system resources like memory and processing power. Poorly designed code can lead to resource wastage and performance issues.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Scalability: As data sets and user loads grow, scalable data structures and algorithms become increasingly important. They ensure that software can handle increased demands without a significant loss of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 Reusability: Proficiency in data structures and algorithms enables developers to create reusable code components. These components can be used across various projects, saving time and effort.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Classification: Knowledge of data structures and algorithms helps in categorizing and understanding different types of problems. This classification can guide developers in choosing appropriate solutions.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Competitive Programming: For those interested in competitive programming or coding competitions, a strong understanding of algorithms is a must. These contests often involve solving complex problems under tight time constraints.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Interviews and Job Opportunities: Many tech job interviews assess candidates' knowledge of data structures and algorithms. A solid understanding can significantly improve your prospects in the job market.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Machine Learning and Data Science: Data structures are vital in handling and manipulating large datasets in fields like machine learning and data science. Algorithms are used for data analysis, pattern recognition, and more.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Foundation for Advanced Topics: Data structures and algorithms serve as a foundation for more advanced topics in computer science, such as artificial intelligence, cryptography, and database management systems.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Critical Thinking and Problem-Solving Skills: Learning data structures and algorithms fosters critical thinking and problem-solving skills. It encourages programmers to break down complex problems into manageable components.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F70F44-5F0D-403A-B2B1-C4AAE691799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dt" idx="36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1A5ECB-55DC-4851-A7B7-2DAEDB54AF28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Efficiency: Data structures and algorithms are fundamental to writing efficient code. They help optimize operations like searching, sorting, and accessing data, which is critical for software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Solving: They provide a structured approach to problem-solving. By understanding different data structures and algorithms, programmers can choose the right tools to solve specific problems effectively.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Resource Management: Efficient data structures and algorithms are essential for managing system resources like memory and processing power. Poorly designed code can lead to resource wastage and performance issues.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Scalability: As data sets and user loads grow, scalable data structures and algorithms become increasingly important. They ensure that software can handle increased demands without a significant loss of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 Reusability: Proficiency in data structures and algorithms enables developers to create reusable code components. These components can be used across various projects, saving time and effort.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Classification: Knowledge of data structures and algorithms helps in categorizing and understanding different types of problems. This classification can guide developers in choosing appropriate solutions.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Competitive Programming: For those interested in competitive programming or coding competitions, a strong understanding of algorithms is a must. These contests often involve solving complex problems under tight time constraints.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Interviews and Job Opportunities: Many tech job interviews assess candidates' knowledge of data structures and algorithms. A solid understanding can significantly improve your prospects in the job market.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Machine Learning and Data Science: Data structures are vital in handling and manipulating large datasets in fields like machine learning and data science. Algorithms are used for data analysis, pattern recognition, and more.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Foundation for Advanced Topics: Data structures and algorithms serve as a foundation for more advanced topics in computer science, such as artificial intelligence, cryptography, and database management systems.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Critical Thinking and Problem-Solving Skills: Learning data structures and algorithms fosters critical thinking and problem-solving skills. It encourages programmers to break down complex problems into manageable components.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839A92-7C28-40A1-BB0D-4754EF83C40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dt" idx="38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757CE8-6C95-4A71-A1F8-EFB67ED46B42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Efficiency: Data structures and algorithms are fundamental to writing efficient code. They help optimize operations like searching, sorting, and accessing data, which is critical for software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Solving: They provide a structured approach to problem-solving. By understanding different data structures and algorithms, programmers can choose the right tools to solve specific problems effectively.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Resource Management: Efficient data structures and algorithms are essential for managing system resources like memory and processing power. Poorly designed code can lead to resource wastage and performance issues.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Scalability: As data sets and user loads grow, scalable data structures and algorithms become increasingly important. They ensure that software can handle increased demands without a significant loss of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 Reusability: Proficiency in data structures and algorithms enables developers to create reusable code components. These components can be used across various projects, saving time and effort.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Classification: Knowledge of data structures and algorithms helps in categorizing and understanding different types of problems. This classification can guide developers in choosing appropriate solutions.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Competitive Programming: For those interested in competitive programming or coding competitions, a strong understanding of algorithms is a must. These contests often involve solving complex problems under tight time constraints.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Interviews and Job Opportunities: Many tech job interviews assess candidates' knowledge of data structures and algorithms. A solid understanding can significantly improve your prospects in the job market.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Machine Learning and Data Science: Data structures are vital in handling and manipulating large datasets in fields like machine learning and data science. Algorithms are used for data analysis, pattern recognition, and more.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Foundation for Advanced Topics: Data structures and algorithms serve as a foundation for more advanced topics in computer science, such as artificial intelligence, cryptography, and database management systems.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Critical Thinking and Problem-Solving Skills: Learning data structures and algorithms fosters critical thinking and problem-solving skills. It encourages programmers to break down complex problems into manageable components.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7D0B67-0B87-4DE0-B284-F6761A130AE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dt" idx="40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9C46C8-4F33-4766-B10F-26DF32A4A9CF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Efficiency: Data structures and algorithms are fundamental to writing efficient code. They help optimize operations like searching, sorting, and accessing data, which is critical for software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Solving: They provide a structured approach to problem-solving. By understanding different data structures and algorithms, programmers can choose the right tools to solve specific problems effectively.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Resource Management: Efficient data structures and algorithms are essential for managing system resources like memory and processing power. Poorly designed code can lead to resource wastage and performance issues.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Scalability: As data sets and user loads grow, scalable data structures and algorithms become increasingly important. They ensure that software can handle increased demands without a significant loss of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 Reusability: Proficiency in data structures and algorithms enables developers to create reusable code components. These components can be used across various projects, saving time and effort.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Classification: Knowledge of data structures and algorithms helps in categorizing and understanding different types of problems. This classification can guide developers in choosing appropriate solutions.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Competitive Programming: For those interested in competitive programming or coding competitions, a strong understanding of algorithms is a must. These contests often involve solving complex problems under tight time constraints.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Interviews and Job Opportunities: Many tech job interviews assess candidates' knowledge of data structures and algorithms. A solid understanding can significantly improve your prospects in the job market.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Machine Learning and Data Science: Data structures are vital in handling and manipulating large datasets in fields like machine learning and data science. Algorithms are used for data analysis, pattern recognition, and more.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Foundation for Advanced Topics: Data structures and algorithms serve as a foundation for more advanced topics in computer science, such as artificial intelligence, cryptography, and database management systems.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Critical Thinking and Problem-Solving Skills: Learning data structures and algorithms fosters critical thinking and problem-solving skills. It encourages programmers to break down complex problems into manageable components.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B7963A-A4AE-4D92-A4B3-83522C76B20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42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1DAF79-89C5-49D8-A22E-C1390EDB2391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Efficiency: Data structures and algorithms are fundamental to writing efficient code. They help optimize operations like searching, sorting, and accessing data, which is critical for software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Solving: They provide a structured approach to problem-solving. By understanding different data structures and algorithms, programmers can choose the right tools to solve specific problems effectively.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Resource Management: Efficient data structures and algorithms are essential for managing system resources like memory and processing power. Poorly designed code can lead to resource wastage and performance issues.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Scalability: As data sets and user loads grow, scalable data structures and algorithms become increasingly important. They ensure that software can handle increased demands without a significant loss of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 Reusability: Proficiency in data structures and algorithms enables developers to create reusable code components. These components can be used across various projects, saving time and effort.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Classification: Knowledge of data structures and algorithms helps in categorizing and understanding different types of problems. This classification can guide developers in choosing appropriate solutions.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Competitive Programming: For those interested in competitive programming or coding competitions, a strong understanding of algorithms is a must. These contests often involve solving complex problems under tight time constraints.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Interviews and Job Opportunities: Many tech job interviews assess candidates' knowledge of data structures and algorithms. A solid understanding can significantly improve your prospects in the job market.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Machine Learning and Data Science: Data structures are vital in handling and manipulating large datasets in fields like machine learning and data science. Algorithms are used for data analysis, pattern recognition, and more.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Foundation for Advanced Topics: Data structures and algorithms serve as a foundation for more advanced topics in computer science, such as artificial intelligence, cryptography, and database management systems.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Critical Thinking and Problem-Solving Skills: Learning data structures and algorithms fosters critical thinking and problem-solving skills. It encourages programmers to break down complex problems into manageable components.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9E3CC3-EF39-49AB-9AE6-5078363C537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dt" idx="44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38EAAE-87AE-4F11-A72E-C50B94A54096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ftr" idx="45"/>
          </p:nvPr>
        </p:nvSpPr>
        <p:spPr>
          <a:xfrm>
            <a:off x="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311F25-8A1E-405B-BE8B-9FF1B0722D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F9435F-2A53-4B41-863B-2B1BDB1B24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dt" idx="48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9A4659-8FE5-43C9-A9B0-D2AD241FC7A0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F39177-C8D7-4338-99DA-DE5DBD0371D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dt" idx="50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CD65B2-10ED-47A9-A939-3C17D4F1CE6C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Efficiency: Data structures and algorithms are fundamental to writing efficient code. They help optimize operations like searching, sorting, and accessing data, which is critical for software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Solving: They provide a structured approach to problem-solving. By understanding different data structures and algorithms, programmers can choose the right tools to solve specific problems effectively.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Resource Management: Efficient data structures and algorithms are essential for managing system resources like memory and processing power. Poorly designed code can lead to resource wastage and performance issues.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Scalability: As data sets and user loads grow, scalable data structures and algorithms become increasingly important. They ensure that software can handle increased demands without a significant loss of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Code Reusability: Proficiency in data structures and algorithms enables developers to create reusable code components. These components can be used across various projects, saving time and effort.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Problem Classification: Knowledge of data structures and algorithms helps in categorizing and understanding different types of problems. This classification can guide developers in choosing appropriate solutions.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Competitive Programming: For those interested in competitive programming or coding competitions, a strong understanding of algorithms is a must. These contests often involve solving complex problems under tight time constraints.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Interviews and Job Opportunities: Many tech job interviews assess candidates' knowledge of data structures and algorithms. A solid understanding can significantly improve your prospects in the job market.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Machine Learning and Data Science: Data structures are vital in handling and manipulating large datasets in fields like machine learning and data science. Algorithms are used for data analysis, pattern recognition, and more.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Foundation for Advanced Topics: Data structures and algorithms serve as a foundation for more advanced topics in computer science, such as artificial intelligence, cryptography, and database management systems.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Critical Thinking and Problem-Solving Skills: Learning data structures and algorithms fosters critical thinking and problem-solving skills. It encourages programmers to break down complex problems into manageable components.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3E5CFF-2AFB-4394-AB4E-0336F56D9CD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dt" idx="52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150110-6D79-473F-A909-6D1348E5B24C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402DC7-6412-4E6B-8586-77B1E0B54E9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dt" idx="54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5B99FB-667D-4109-A1AE-1B4A930766F8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FB0C51-107C-4DB1-808F-AEB717FA94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dt" idx="56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548092-035F-4224-A1C0-E825E7001A64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7F4447-C04A-446D-9897-CB9D1D8F1F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dt" idx="58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719C21-7D43-49D4-A332-861A7628D774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48C397-0001-4A9F-AB77-636EF2D72B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dt" idx="60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A1887D-44F2-4F27-8D49-46BE3F358879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D8B612-A650-4253-BECB-DB4408E22B8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dt" idx="62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E87389-560C-4201-9064-FF9F78C6A96A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EBB75B-ED6E-4D8B-9CB5-9E1F0AD8EC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dt" idx="64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6BD60F-FD5B-420F-A0B3-340D39AE4558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9504ED-48BC-4BA6-8440-460F5B138F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66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88A894-9C52-4969-B117-4D7CFAAFD02E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A47DB1-AF14-4326-AC94-D2D5988F1F4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 type="dt" idx="68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02DB4A-D325-4FD0-A73F-72CB19771E77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9AF074-5D92-4E75-93AC-92113678BD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 type="dt" idx="70"/>
          </p:nvPr>
        </p:nvSpPr>
        <p:spPr>
          <a:xfrm>
            <a:off x="3884760" y="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262481-8FF8-41A5-B37F-8ACE0D85DB7B}" type="datetime1">
              <a:rPr b="0" lang="tr-TR" sz="1200" spc="-1" strike="noStrike">
                <a:solidFill>
                  <a:srgbClr val="000000"/>
                </a:solidFill>
                <a:latin typeface="Times New Roman"/>
              </a:rPr>
              <a:t>13.09.2025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F532A8-80B7-4100-AF5F-837913447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2287E4-22A4-4646-808B-B674A745C7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48DD1D-6D55-4F3F-B0B2-E8D3D2B31A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D8B9C69-0AC3-48F0-89EB-E049E72421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28920" cy="50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23680" y="1107000"/>
            <a:ext cx="5128920" cy="50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962321C-F30A-4AE8-9BDB-B3BD47D704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2B94EAD-FD58-466B-A332-A86996B1B8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2938FC6-F6F0-4D17-959D-B60A169417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600" cy="10087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3529DA5-2CD4-4845-B915-E957E5969F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600" cy="100872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CA6DF6B-9FF8-4A2F-9A2E-875494B52D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600" cy="100872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2AF888-39BD-434C-9A1F-C454357826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600" cy="100872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FF3086-383E-4706-83A6-B7772F83CE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600" cy="100872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5128560" cy="50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23680" y="1107000"/>
            <a:ext cx="5128560" cy="506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78B9A1D-045F-4D90-BD09-6BB93E1AE4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600" cy="10087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B150CF-A88F-406D-A735-FFCD6EE93E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600" cy="1008720"/>
          </a:xfrm>
          <a:prstGeom prst="rect">
            <a:avLst/>
          </a:prstGeom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35891CD-869C-45C3-96CE-94140B8B7D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600" cy="10087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learn.microsoft.com/en-us/windows/wsl/install" TargetMode="External"/><Relationship Id="rId2" Type="http://schemas.openxmlformats.org/officeDocument/2006/relationships/hyperlink" Target="https://ubuntu.com/desktop/wsl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www.kaggle.com/learn" TargetMode="External"/><Relationship Id="rId2" Type="http://schemas.openxmlformats.org/officeDocument/2006/relationships/hyperlink" Target="https://www.coursera.org/learn/python-data" TargetMode="External"/><Relationship Id="rId3" Type="http://schemas.openxmlformats.org/officeDocument/2006/relationships/hyperlink" Target="https://www.coursera.org/learn/python-data-analysis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600" cy="30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G 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a 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Str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uct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ure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s 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an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 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Alg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orit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hm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s 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for 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Art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ifici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al 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Int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elli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ge</a:t>
            </a: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Cou</a:t>
            </a: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rse </a:t>
            </a: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Ove</a:t>
            </a: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rvie</a:t>
            </a: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w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919440" y="4123440"/>
            <a:ext cx="10510200" cy="296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Mehmet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github.com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mehmetpe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kmezci/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GTU-ENG-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346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GITH</a:t>
            </a: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UB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https://github.com/mehmetpekmezci/GTU-ENG-346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Age</a:t>
            </a: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nda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Quick Notes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Introduction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Syllabus review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Test for current knowledge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Methodology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Course materials review: Coursebook and other resources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Assignments, exams, and project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Office hours and communication channels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Encouraging questions and motivation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Agenda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Quick Notes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Introduction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Syllabus review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Test for current knowledge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Methodology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Course materials review: Coursebook and other resources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Assignments, exams, and project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Office hours and communication channels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Encouraging questions and motivation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56111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  <a:ea typeface="DejaVu Sans"/>
              </a:rPr>
              <a:t>Quick Notes : PROGRAM – ALGORITHM – MATH RELATION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971640"/>
            <a:ext cx="10510200" cy="55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 Computer Program is based on an Algorithm.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Algorithm (Webster Dict.) 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An algorithm is a finite sequence of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mathematically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rigorous instructions, typically used to solve a class of specific problems or to perform a computation.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4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Quick Notes : MATH. </a:t>
            </a:r>
            <a:r>
              <a:rPr b="1" lang="en-US" sz="4400" spc="-1" strike="noStrike">
                <a:solidFill>
                  <a:srgbClr val="c00000"/>
                </a:solidFill>
                <a:latin typeface="DejaVu Sans"/>
                <a:ea typeface="DejaVu Sans"/>
              </a:rPr>
              <a:t>&gt;</a:t>
            </a:r>
            <a:r>
              <a:rPr b="1" lang="en-US" sz="4400" spc="-1" strike="noStrike">
                <a:solidFill>
                  <a:srgbClr val="c00000"/>
                </a:solidFill>
                <a:latin typeface="Calibri Light"/>
                <a:ea typeface="DejaVu Sans"/>
              </a:rPr>
              <a:t> ALGO. &gt; PROG. LANGUAGE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971640"/>
            <a:ext cx="10510200" cy="55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Example : Fibonacci Numbers :  a</a:t>
            </a:r>
            <a:r>
              <a:rPr b="0" lang="en-US" sz="2800" spc="-1" strike="noStrike" baseline="-8000">
                <a:solidFill>
                  <a:schemeClr val="dk1"/>
                </a:solidFill>
                <a:latin typeface="Calibri"/>
                <a:ea typeface="Noto Sans CJK SC"/>
              </a:rPr>
              <a:t>n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=a</a:t>
            </a:r>
            <a:r>
              <a:rPr b="0" lang="en-US" sz="2800" spc="-1" strike="noStrike" baseline="-8000">
                <a:solidFill>
                  <a:schemeClr val="dk1"/>
                </a:solidFill>
                <a:latin typeface="Calibri"/>
                <a:ea typeface="Noto Sans CJK SC"/>
              </a:rPr>
              <a:t>n-1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+a</a:t>
            </a:r>
            <a:r>
              <a:rPr b="0" lang="en-US" sz="2800" spc="-1" strike="noStrike" baseline="-8000">
                <a:solidFill>
                  <a:schemeClr val="dk1"/>
                </a:solidFill>
                <a:latin typeface="Calibri"/>
                <a:ea typeface="Noto Sans CJK SC"/>
              </a:rPr>
              <a:t>n-2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a</a:t>
            </a:r>
            <a:r>
              <a:rPr b="0" lang="en-US" sz="2800" spc="-1" strike="noStrike" baseline="-8000">
                <a:solidFill>
                  <a:schemeClr val="dk1"/>
                </a:solidFill>
                <a:latin typeface="Calibri"/>
                <a:ea typeface="Noto Sans CJK SC"/>
              </a:rPr>
              <a:t>100000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=?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Math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 : Binet’s Formula (Generating Functions) </a:t>
            </a:r>
            <a:r>
              <a:rPr b="1" lang="en-US" sz="2800" spc="-1" strike="noStrike">
                <a:solidFill>
                  <a:srgbClr val="c9211e"/>
                </a:solidFill>
                <a:latin typeface="Calibri"/>
                <a:ea typeface="Noto Sans CJK SC"/>
              </a:rPr>
              <a:t>O(log(n))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Algorithm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 : Find an algorithm that calculates faster with less resource : </a:t>
            </a:r>
            <a:r>
              <a:rPr b="1" lang="en-US" sz="2800" spc="-1" strike="noStrike">
                <a:solidFill>
                  <a:srgbClr val="c9211e"/>
                </a:solidFill>
                <a:latin typeface="Calibri"/>
                <a:ea typeface="Noto Sans CJK SC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Programming Language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 :  C/Rust programs run definitely faster than java/python programs </a:t>
            </a:r>
            <a:r>
              <a:rPr b="1" lang="en-US" sz="2800" spc="-1" strike="noStrike">
                <a:solidFill>
                  <a:srgbClr val="c9211e"/>
                </a:solidFill>
                <a:latin typeface="Calibri"/>
                <a:ea typeface="Noto Sans CJK SC"/>
              </a:rPr>
              <a:t>(for the same algorithm)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5865480" y="2438280"/>
            <a:ext cx="2588040" cy="105156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1814040" y="2396160"/>
            <a:ext cx="3896280" cy="1091880"/>
          </a:xfrm>
          <a:prstGeom prst="rect">
            <a:avLst/>
          </a:prstGeom>
          <a:ln w="0">
            <a:noFill/>
          </a:ln>
        </p:spPr>
      </p:pic>
      <p:grpSp>
        <p:nvGrpSpPr>
          <p:cNvPr id="76" name=""/>
          <p:cNvGrpSpPr/>
          <p:nvPr/>
        </p:nvGrpSpPr>
        <p:grpSpPr>
          <a:xfrm>
            <a:off x="8237520" y="3970800"/>
            <a:ext cx="2773080" cy="1666080"/>
            <a:chOff x="8237520" y="3970800"/>
            <a:chExt cx="2773080" cy="1666080"/>
          </a:xfrm>
        </p:grpSpPr>
        <p:sp>
          <p:nvSpPr>
            <p:cNvPr id="77" name=""/>
            <p:cNvSpPr/>
            <p:nvPr/>
          </p:nvSpPr>
          <p:spPr>
            <a:xfrm>
              <a:off x="8237520" y="3970800"/>
              <a:ext cx="2773080" cy="1666080"/>
            </a:xfrm>
            <a:prstGeom prst="rect">
              <a:avLst/>
            </a:pr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F_n=0 ; F_n_1=2; F_n_2=1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n=5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for  in range(n):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  </a:t>
              </a: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F_n =  F_n_1 + F_n_2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  </a:t>
              </a: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F_n_2=F_n_1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  </a:t>
              </a: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F_n_1=F_n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print(F_n)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10329120" y="5184000"/>
              <a:ext cx="68148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c9211e"/>
                  </a:solidFill>
                  <a:latin typeface="Arial"/>
                </a:rPr>
                <a:t>O(n)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" name=""/>
          <p:cNvGrpSpPr/>
          <p:nvPr/>
        </p:nvGrpSpPr>
        <p:grpSpPr>
          <a:xfrm>
            <a:off x="1074960" y="3970800"/>
            <a:ext cx="5595840" cy="1811160"/>
            <a:chOff x="1074960" y="3970800"/>
            <a:chExt cx="5595840" cy="1811160"/>
          </a:xfrm>
        </p:grpSpPr>
        <p:sp>
          <p:nvSpPr>
            <p:cNvPr id="80" name=""/>
            <p:cNvSpPr/>
            <p:nvPr/>
          </p:nvSpPr>
          <p:spPr>
            <a:xfrm>
              <a:off x="1074960" y="3970800"/>
              <a:ext cx="5482080" cy="1666080"/>
            </a:xfrm>
            <a:prstGeom prst="rect">
              <a:avLst/>
            </a:pr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def nth_fibonacci(n):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  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if n &lt;= 1: return n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  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return nth_fibonacci(n - 1) + nth_fibonacci(n - 2)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Noto Sans CJK SC"/>
                </a:rPr>
                <a:t>print(nth_fibonacci(5))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5875560" y="5184000"/>
              <a:ext cx="795240" cy="59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c9211e"/>
                  </a:solidFill>
                  <a:latin typeface="Arial"/>
                </a:rPr>
                <a:t>O(2</a:t>
              </a:r>
              <a:r>
                <a:rPr b="1" lang="en-US" sz="1800" spc="-1" strike="noStrike" baseline="33000">
                  <a:solidFill>
                    <a:srgbClr val="c9211e"/>
                  </a:solidFill>
                  <a:latin typeface="Arial"/>
                </a:rPr>
                <a:t>n</a:t>
              </a:r>
              <a:r>
                <a:rPr b="1" lang="en-US" sz="1800" spc="-1" strike="noStrike">
                  <a:solidFill>
                    <a:srgbClr val="c9211e"/>
                  </a:solidFill>
                  <a:latin typeface="Arial"/>
                </a:rPr>
                <a:t>)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2" name=""/>
          <p:cNvSpPr/>
          <p:nvPr/>
        </p:nvSpPr>
        <p:spPr>
          <a:xfrm>
            <a:off x="6815520" y="4614480"/>
            <a:ext cx="1138680" cy="410400"/>
          </a:xfrm>
          <a:prstGeom prst="rightArrow">
            <a:avLst>
              <a:gd name="adj1" fmla="val 50000"/>
              <a:gd name="adj2" fmla="val 68902"/>
            </a:avLst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444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Arial"/>
              </a:rPr>
              <a:t>Quick Notes : ARTIFICIAL INTELLIGENCE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3"/>
          <p:cNvSpPr/>
          <p:nvPr/>
        </p:nvSpPr>
        <p:spPr>
          <a:xfrm>
            <a:off x="838440" y="971640"/>
            <a:ext cx="10510200" cy="55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Artificial intelligence (AI)  is the capability of computational systems to perform tasks typically associated with human intelligence, such as learning, reasoning, problem-solving, perception, and decision-making. (Wikipedia)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444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Arial"/>
              </a:rPr>
              <a:t>Quick Notes : ARTIFICIAL INTELLIGENCE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28600" y="1143000"/>
            <a:ext cx="11653920" cy="5253120"/>
          </a:xfrm>
          <a:prstGeom prst="rect">
            <a:avLst/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343400" y="1143000"/>
            <a:ext cx="388152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ARTIFICIAL INTELLIGENCE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57200" y="1828800"/>
            <a:ext cx="8169480" cy="433872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05760" y="1854360"/>
            <a:ext cx="319572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MACHINE LEARNING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85800" y="2514600"/>
            <a:ext cx="4338720" cy="342432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143000" y="2514600"/>
            <a:ext cx="319572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NEURAL NETWORKS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914400" y="2971800"/>
            <a:ext cx="3881520" cy="273852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143000" y="3039120"/>
            <a:ext cx="319572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DEEP LEARNING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1244520" y="3657600"/>
            <a:ext cx="3195720" cy="182412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261440" y="3725280"/>
            <a:ext cx="319572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GENERATIVE MODEL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371600" y="4114800"/>
            <a:ext cx="2967120" cy="113832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701720" y="4225320"/>
            <a:ext cx="2281320" cy="9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GENERATIVE PRETRAINED TRANSFORMER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5088600" y="2514600"/>
            <a:ext cx="31957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029200" y="2514600"/>
            <a:ext cx="31957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SVM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089320" y="3009960"/>
            <a:ext cx="31957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029920" y="3009960"/>
            <a:ext cx="31957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DECISION TREE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090040" y="3522240"/>
            <a:ext cx="31957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030640" y="3522240"/>
            <a:ext cx="31957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KNN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090760" y="4029840"/>
            <a:ext cx="31957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031360" y="4029840"/>
            <a:ext cx="31957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PCA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091480" y="4537440"/>
            <a:ext cx="31957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032080" y="4537440"/>
            <a:ext cx="31957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RANDOM FOREST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092200" y="5045040"/>
            <a:ext cx="31957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032800" y="5045040"/>
            <a:ext cx="31957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CLUSTERING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092920" y="5518800"/>
            <a:ext cx="31957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257800" y="5518800"/>
            <a:ext cx="27385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...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837280" y="2514600"/>
            <a:ext cx="2964960" cy="39816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8782200" y="2514600"/>
            <a:ext cx="2964960" cy="3981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Computer Vision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8838000" y="3009960"/>
            <a:ext cx="2964960" cy="39816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8782920" y="3009960"/>
            <a:ext cx="2964960" cy="3981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Automation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838720" y="3522240"/>
            <a:ext cx="2964960" cy="39816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783640" y="3522240"/>
            <a:ext cx="2964600" cy="3981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Robotics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8839440" y="4029840"/>
            <a:ext cx="2964600" cy="39816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8784360" y="4029840"/>
            <a:ext cx="2964600" cy="3981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NLP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840160" y="4537440"/>
            <a:ext cx="2964600" cy="39816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8784720" y="4537440"/>
            <a:ext cx="2964960" cy="3981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...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093280" y="2003400"/>
            <a:ext cx="31957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029200" y="2007360"/>
            <a:ext cx="31957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REGRESSION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Arial"/>
              </a:rPr>
              <a:t>Quick Notes : MACHINE LEARNING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143000" y="137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85800" y="137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PROBLEM DEFINITION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143000" y="209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85800" y="209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DATA COLLECTION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143000" y="281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85800" y="281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DATA CLEANING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143000" y="353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85800" y="353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FEATURE EXTRACTION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1143000" y="425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85800" y="425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TRAINING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1143000" y="497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85800" y="497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VALIDATION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1143000" y="497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85800" y="497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VALIDATION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143000" y="569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85800" y="569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TESTING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463000" y="245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005800" y="245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DATA VISUALIZATION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463000" y="533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5005800" y="533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REPORT GENERATION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1666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Arial"/>
              </a:rPr>
              <a:t>Quick Notes : IMPLEMENTATION OF AI TASKS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143000" y="137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371600" y="1371600"/>
            <a:ext cx="34243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PYTHON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143000" y="281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85800" y="281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MATLAB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143000" y="353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85800" y="353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JAVA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143000" y="425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85800" y="425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C++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143000" y="497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85800" y="497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RUST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143000" y="569160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85800" y="569160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...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5943960" y="1371600"/>
            <a:ext cx="5481720" cy="411048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172200" y="2021400"/>
            <a:ext cx="5024880" cy="20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Homework and Project will be implemented in Python.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Python has large set of Machine Learning libraries that wraps native (C) libraries.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Python is easy to learn.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143000" y="2091240"/>
            <a:ext cx="4110120" cy="39816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85800" y="2091240"/>
            <a:ext cx="5024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Dikdörtgen 10"/>
          <p:cNvSpPr/>
          <p:nvPr/>
        </p:nvSpPr>
        <p:spPr>
          <a:xfrm>
            <a:off x="649800" y="914400"/>
            <a:ext cx="11233080" cy="54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tr-TR" sz="2400" spc="-1" strike="noStrike" u="sng">
                <a:solidFill>
                  <a:schemeClr val="dk1"/>
                </a:solidFill>
                <a:uFillTx/>
                <a:latin typeface="Calibri"/>
              </a:rPr>
              <a:t>MEHMET PEKMEZCİ 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tr-TR" sz="2000" spc="-1" strike="noStrike" u="sng">
                <a:solidFill>
                  <a:schemeClr val="dk1"/>
                </a:solidFill>
                <a:uFillTx/>
                <a:latin typeface="Calibri"/>
              </a:rPr>
              <a:t>ACADEMY 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dk1"/>
                </a:solidFill>
                <a:latin typeface="Calibri"/>
              </a:rPr>
              <a:t>2003 - BSc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, Galatasaray University, Computer Engineering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2011 - M</a:t>
            </a:r>
            <a:r>
              <a:rPr b="0" lang="tr-TR" sz="2000" spc="-1" strike="noStrike">
                <a:solidFill>
                  <a:schemeClr val="dk1"/>
                </a:solidFill>
                <a:latin typeface="Calibri"/>
              </a:rPr>
              <a:t>Sc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, Maltepe University, Computer Engineering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2025 - PhD, Gebze Technical University, Computer Engineering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tr-TR" sz="2000" spc="-1" strike="noStrike" u="sng">
                <a:solidFill>
                  <a:schemeClr val="dk1"/>
                </a:solidFill>
                <a:uFillTx/>
                <a:latin typeface="Calibri"/>
              </a:rPr>
              <a:t>WORK 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2003 – 32BIT LTD. – Java Developer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2008 – HAVELSAN - Unix/Linux System Admin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2011 -  HAVELSAN - Development Environment Admin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Noto Sans CJK SC"/>
              </a:rPr>
              <a:t>2017 – HAVELSAN - System Admin Team Leader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Noto Sans CJK SC"/>
              </a:rPr>
              <a:t>2019 – HAVELSAN - Infrastructure Group Leader (Sysops, Devops, Infra Teams)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Introduce yourself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Your name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Your department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Your expectations from the course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Your skill of AI knowledge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0200" cy="28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Course Overview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89874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Why Data Structures and Algorithms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structures are vital in handling and manipulating large datasets in fields like machine learning and data science.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Algorithms are used for data analysis, pattern recognition, and more.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Code efficiency, e.g., optimizations in searching and sorting, which is critical for software performance.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Structural approach to problem solving.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Critical Thinking and Problem-Solving Skills: Encourages to break down complex problems into manageable components.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Resource management, i.e., efficient use of system resources like memory and processing power.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Purpose and Outcomes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9" name="Table 3"/>
          <p:cNvGraphicFramePr/>
          <p:nvPr/>
        </p:nvGraphicFramePr>
        <p:xfrm>
          <a:off x="838080" y="1697760"/>
          <a:ext cx="10514880" cy="4174560"/>
        </p:xfrm>
        <a:graphic>
          <a:graphicData uri="http://schemas.openxmlformats.org/drawingml/2006/table">
            <a:tbl>
              <a:tblPr/>
              <a:tblGrid>
                <a:gridCol w="2461320"/>
                <a:gridCol w="8053920"/>
              </a:tblGrid>
              <a:tr h="2087280">
                <a:tc>
                  <a:txBody>
                    <a:bodyPr lIns="7560" rIns="75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Purpose of the course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60" marR="7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This is a course designed to </a:t>
                      </a:r>
                      <a:r>
                        <a:rPr b="0" i="1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enhance advanced Python programming, data structures, and algorithm skills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necessary for developing software, coding, and conducting group work in the field of data science and artificial intelligence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60" marR="7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2087280">
                <a:tc>
                  <a:txBody>
                    <a:bodyPr lIns="7560" rIns="75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Learning outcomes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60" marR="7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anchor="t">
                      <a:noAutofit/>
                    </a:bodyPr>
                    <a:p>
                      <a:pPr marL="343080" indent="-34308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Ability to perform basic data structures and algorithm design and analysis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Ability to collaborate in software development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Possessing skills in current software development technologies</a:t>
                      </a:r>
                      <a:br>
                        <a:rPr sz="2000"/>
                      </a:b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60" marR="7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Methodology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11885040" cy="50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Face-to-face lectures,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Active participation expected,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Hands-on coding,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Homeworks: Individual work expected. </a:t>
            </a: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A pdf report and a python file is expected to be delivered.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Project: May be group project based on the project idea. </a:t>
            </a: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A pdf report is excepted after each phase, and a python code tar ball is expected at the end of the semester.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Phases are indicated in “Project Phases” , report dates are indicated in “Schedule” pages.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Two quizzes,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One midterm exam,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One final exam.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Project Phases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200" cy="460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Data Collection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Data Extraction (Standardized Format)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Data Cleaning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Find and replace missing value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Normalize data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Data Visualization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Feature Extraction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Training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Validation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Testing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34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Project Report Templates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228600" y="1600200"/>
            <a:ext cx="11658600" cy="460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https://github.com/mehmetpekmezci/GTU-ENG-346/tree/main/Reports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34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Grading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7" name=""/>
          <p:cNvGraphicFramePr/>
          <p:nvPr/>
        </p:nvGraphicFramePr>
        <p:xfrm>
          <a:off x="3323520" y="1413000"/>
          <a:ext cx="6618600" cy="3944160"/>
        </p:xfrm>
        <a:graphic>
          <a:graphicData uri="http://schemas.openxmlformats.org/drawingml/2006/table">
            <a:tbl>
              <a:tblPr/>
              <a:tblGrid>
                <a:gridCol w="3309120"/>
                <a:gridCol w="3309840"/>
              </a:tblGrid>
              <a:tr h="6573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Homework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3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Quiz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3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c9211e"/>
                          </a:solidFill>
                          <a:latin typeface="Arial"/>
                        </a:rPr>
                        <a:t>Midterm Exam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3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Project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3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c9211e"/>
                          </a:solidFill>
                          <a:latin typeface="Arial"/>
                        </a:rPr>
                        <a:t>Final Exam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3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Total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444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c00000"/>
                </a:solidFill>
                <a:latin typeface="Calibri Light"/>
              </a:rPr>
              <a:t>Schedule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9" name="Content Placeholder 4"/>
          <p:cNvGraphicFramePr/>
          <p:nvPr/>
        </p:nvGraphicFramePr>
        <p:xfrm>
          <a:off x="1155960" y="900000"/>
          <a:ext cx="10058040" cy="5829120"/>
        </p:xfrm>
        <a:graphic>
          <a:graphicData uri="http://schemas.openxmlformats.org/drawingml/2006/table">
            <a:tbl>
              <a:tblPr/>
              <a:tblGrid>
                <a:gridCol w="1434600"/>
                <a:gridCol w="3079080"/>
                <a:gridCol w="5544720"/>
              </a:tblGrid>
              <a:tr h="3708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Week #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Assessment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Basic Python Concepts with GUI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endParaRPr b="0" lang="en-US" sz="1600" spc="-1" strike="noStrike">
                        <a:solidFill>
                          <a:schemeClr val="dk1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Matrix Operations and Numpy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HW1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Basic Bash Concepts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Project proposals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Data Analysis and Visualization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HW2  /  </a:t>
                      </a: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Project-Data-Collection-Report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Object-Oriented Programming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QUIZ1 / </a:t>
                      </a: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Project-Data-Extraction-Report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Complexity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Project-Data-Cleaning-And-Missing-Value-Report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Arrays, Linked Lists, Maps,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HW3 / </a:t>
                      </a: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Project-Data-Normalization-Visualization-Report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  <a:ea typeface="Noto Sans CJK SC"/>
                        </a:rPr>
                        <a:t>Recursion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  <a:ea typeface="Noto Sans CJK SC"/>
                        </a:rPr>
                        <a:t>Midterm exam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  <a:ea typeface="Noto Sans CJK SC"/>
                        </a:rPr>
                        <a:t>Stacks and Queues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  <a:ea typeface="Noto Sans CJK SC"/>
                        </a:rPr>
                        <a:t>HW4 - </a:t>
                      </a: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Calibri"/>
                          <a:ea typeface="Noto Sans CJK SC"/>
                        </a:rPr>
                        <a:t>Project-Feature-Extraction-And-Training-Report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  <a:ea typeface="Noto Sans CJK SC"/>
                        </a:rPr>
                        <a:t>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10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Linked Lists, Trees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Project-Validation-And-Testing-Report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11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Graphs and NetworkX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HW5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776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12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Graphs and NetworkX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QUIZ2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776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13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HW6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Final Projects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endParaRPr b="0" lang="en-US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15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endParaRPr b="0" lang="en-US" sz="1600" spc="-1" strike="noStrike">
                        <a:solidFill>
                          <a:schemeClr val="dk1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40200"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 16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solidFill>
                        <a:srgbClr val="5b9bd5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Final exam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9000" rIns="90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Final project presentations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" marR="9000">
                    <a:lnL w="12240">
                      <a:noFill/>
                      <a:prstDash val="solid"/>
                    </a:lnL>
                    <a:lnR w="12240">
                      <a:solidFill>
                        <a:srgbClr val="5b9bd5"/>
                      </a:solidFill>
                      <a:prstDash val="solid"/>
                    </a:lnR>
                    <a:lnT w="12240">
                      <a:solidFill>
                        <a:srgbClr val="5b9bd5"/>
                      </a:solidFill>
                      <a:prstDash val="solid"/>
                    </a:lnT>
                    <a:lnB w="12240">
                      <a:solidFill>
                        <a:srgbClr val="5b9bd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89888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c00000"/>
                </a:solidFill>
                <a:latin typeface="Calibri Light"/>
              </a:rPr>
              <a:t>Windows Subsystem for Linux (WSL)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228600" y="1160640"/>
            <a:ext cx="11655720" cy="5346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c9211e"/>
                </a:solidFill>
                <a:latin typeface="Liberation Mono;Courier New;Cousine;DejaVu Sans Mono"/>
                <a:ea typeface="Liberation Mono;Courier New;Cousine;DejaVu Sans Mono"/>
              </a:rPr>
              <a:t>## </a:t>
            </a:r>
            <a:r>
              <a:rPr b="1" lang="en-US" sz="16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ea typeface="Liberation Mono;Courier New;Cousine;DejaVu Sans Mono"/>
                <a:hlinkClick r:id="rId1"/>
              </a:rPr>
              <a:t>https://learn.microsoft.com/en-us/windows/wsl/install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c9211e"/>
                </a:solidFill>
                <a:latin typeface="Liberation Mono;Courier New;Cousine;DejaVu Sans Mono"/>
                <a:ea typeface="Liberation Mono;Courier New;Cousine;DejaVu Sans Mono"/>
              </a:rPr>
              <a:t>## </a:t>
            </a:r>
            <a:r>
              <a:rPr b="1" lang="en-US" sz="1600" spc="-1" strike="noStrike" u="sng">
                <a:solidFill>
                  <a:srgbClr val="0563c1"/>
                </a:solidFill>
                <a:uFillTx/>
                <a:latin typeface="Liberation Mono;Courier New;Cousine;DejaVu Sans Mono"/>
                <a:ea typeface="Liberation Mono;Courier New;Cousine;DejaVu Sans Mono"/>
                <a:hlinkClick r:id="rId2"/>
              </a:rPr>
              <a:t>https://ubuntu.com/desktop/wsl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c9211e"/>
                </a:solidFill>
                <a:latin typeface="Liberation Mono;Courier New;Cousine;DejaVu Sans Mono"/>
                <a:ea typeface="Liberation Mono;Courier New;Cousine;DejaVu Sans Mono"/>
              </a:rPr>
              <a:t>## In poweshell 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Wsl --list --online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Wsl --install Ubuntu-24.04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Wsl -d Ubuntu-24.04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c9211e"/>
                </a:solidFill>
                <a:latin typeface="Liberation Mono;Courier New;Cousine;DejaVu Sans Mono"/>
                <a:ea typeface="Liberation Mono;Courier New;Cousine;DejaVu Sans Mono"/>
              </a:rPr>
              <a:t>## Linux Shell Starts Here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sudo apt update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sudo apt install python3-pip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pip3 install matplotlib numpy pandas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9211e"/>
                </a:solidFill>
                <a:latin typeface="Liberation Mono;Courier New;Cousine;DejaVu Sans Mono"/>
                <a:ea typeface="Liberation Mono;Courier New;Cousine;DejaVu Sans Mono"/>
              </a:rPr>
              <a:t>## The first time you run code from Ubuntu, it will trigger a download of the necessary</a:t>
            </a: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 dependencies: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code .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Textbooks and Other Resources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3" name="Table 3"/>
          <p:cNvGraphicFramePr/>
          <p:nvPr/>
        </p:nvGraphicFramePr>
        <p:xfrm>
          <a:off x="838080" y="1697760"/>
          <a:ext cx="10514880" cy="4611960"/>
        </p:xfrm>
        <a:graphic>
          <a:graphicData uri="http://schemas.openxmlformats.org/drawingml/2006/table">
            <a:tbl>
              <a:tblPr/>
              <a:tblGrid>
                <a:gridCol w="2461320"/>
                <a:gridCol w="8053920"/>
              </a:tblGrid>
              <a:tr h="2087280">
                <a:tc>
                  <a:txBody>
                    <a:bodyPr lIns="7560" rIns="75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Textbooks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60" marR="7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anchor="t">
                      <a:noAutofit/>
                    </a:bodyPr>
                    <a:p>
                      <a:pPr marL="343080" indent="-34308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Goodrich, Michael T., Roberto Tamassia, and Michael H. Goldwasser,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Data structures and algorithms in Python,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John Wiley &amp; Sons Ltd, 2013.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Grus, Joel,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Data science from scratch: first principles with python,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O'Reilly Media, 2019.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60" marR="7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2087280">
                <a:tc>
                  <a:txBody>
                    <a:bodyPr lIns="7560" rIns="75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Recommended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60" marR="7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560" rIns="7560" anchor="t">
                      <a:noAutofit/>
                    </a:bodyPr>
                    <a:p>
                      <a:pPr marL="343080" indent="-34308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2000" spc="-1" strike="noStrike" u="sng">
                          <a:solidFill>
                            <a:schemeClr val="dk1"/>
                          </a:solidFill>
                          <a:uFillTx/>
                          <a:latin typeface="Calibri"/>
                          <a:hlinkClick r:id="rId1"/>
                        </a:rPr>
                        <a:t>https://www.kaggle.com/learn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2000" spc="-1" strike="noStrike" u="sng">
                          <a:solidFill>
                            <a:schemeClr val="dk1"/>
                          </a:solidFill>
                          <a:uFillTx/>
                          <a:latin typeface="Calibri"/>
                          <a:hlinkClick r:id="rId2"/>
                        </a:rPr>
                        <a:t>https://www.coursera.org/learn/python-data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2000" spc="-1" strike="noStrike" u="sng">
                          <a:solidFill>
                            <a:schemeClr val="dk1"/>
                          </a:solidFill>
                          <a:uFillTx/>
                          <a:latin typeface="Calibri"/>
                          <a:hlinkClick r:id="rId3"/>
                        </a:rPr>
                        <a:t>https://www.coursera.org/learn/python-data-analysis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560" marR="7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Office Hours and Communication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0200" cy="50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 office. We can talk between and after the lectures.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Reach me at </a:t>
            </a:r>
            <a:r>
              <a:rPr b="0" lang="en-US" sz="28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mpekmezci@gtu.edu.tr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7DC7D4D6-1A00-4D72-9A7D-7DA99936EC5F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22655</TotalTime>
  <Application>LibreOffice/24.2.7.2$Linux_X86_64 LibreOffice_project/420$Build-2</Application>
  <AppVersion>15.0000</AppVersion>
  <Words>1067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2025-09-08T06:43:44Z</cp:lastPrinted>
  <dcterms:modified xsi:type="dcterms:W3CDTF">2025-09-13T01:05:39Z</dcterms:modified>
  <cp:revision>698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12</vt:i4>
  </property>
  <property fmtid="{D5CDD505-2E9C-101B-9397-08002B2CF9AE}" pid="4" name="PresentationFormat">
    <vt:lpwstr>Widescreen</vt:lpwstr>
  </property>
  <property fmtid="{D5CDD505-2E9C-101B-9397-08002B2CF9AE}" pid="5" name="Slides">
    <vt:i4>12</vt:i4>
  </property>
  <property fmtid="{D5CDD505-2E9C-101B-9397-08002B2CF9AE}" pid="6" name="bjClsUserRVM">
    <vt:lpwstr>[]</vt:lpwstr>
  </property>
  <property fmtid="{D5CDD505-2E9C-101B-9397-08002B2CF9AE}" pid="7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8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9" name="bjDocumentSecurityLabel">
    <vt:lpwstr>TASNİF DIŞI</vt:lpwstr>
  </property>
  <property fmtid="{D5CDD505-2E9C-101B-9397-08002B2CF9AE}" pid="10" name="bjSaver">
    <vt:lpwstr>f8PkN1uJXJwqI9alO3CYacUW7PVwbe+w</vt:lpwstr>
  </property>
  <property fmtid="{D5CDD505-2E9C-101B-9397-08002B2CF9AE}" pid="11" name="docIndexRef">
    <vt:lpwstr>729796e8-72fa-4072-8f4b-785f83ed30b4</vt:lpwstr>
  </property>
</Properties>
</file>