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017D525-7986-48BC-B330-ACEDB2FFCFF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ftr" idx="2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5B3008-4870-4D41-A3D6-55A2718FAC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ftr" idx="2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A02194-58E9-4B1E-A260-0B01A48A823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ftr" idx="29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419C6E-1A1D-41E8-A7AA-3652B3C26DE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 idx="31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156AC6-B138-4CA0-BEA9-00A57717D2C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33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5B46B9-5F5A-45BF-B067-14D439453E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ftr" idx="3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2A995B-F0E6-481D-9D23-F73992DCF9B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ftr" idx="3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BC4142-AE11-4400-BF49-2500AD94BCA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ftr" idx="39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FD96E3-AE6F-4BF4-A2C9-4BCD3155A69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ftr" idx="41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99BCCB-1182-40AD-81AA-E0709C1E2A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ftr" idx="43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30CC38-D2E7-4CD5-A783-CFB7B174436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4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B54FA1-7B75-4A2B-9A06-CB5214A261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4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2641C5-9F54-4FA1-9317-826ABA6B604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49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31F41D-FA44-47BC-A59E-7572D151978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51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9C00C6-6053-4B9F-B577-8E5B931BE9C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53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8AE4D9-92E9-4FB6-98AF-3EC77CBE640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ftr" idx="55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C96191-5CE3-43F2-858D-3A05DA3A5C6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ftr" idx="5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2C1228-1ADE-44DD-B630-CBAFBD42AE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B668B2-2B74-4E8B-A144-45A4C3C532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3C5928-A69B-4B1D-A43B-9884B51F7D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FD15430-3790-44DE-B7F3-0048E60922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108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26200" y="1107000"/>
            <a:ext cx="513108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5FC58-91F6-4BE5-B099-D6CD55DC12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0403B68-11C9-456A-9FD2-D1D68C0184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059A356-D354-4A91-8D64-98FAAEB1BC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20AF13-EA3D-452B-87C0-C69EB6BB70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D3C110-3745-4935-8F5E-8610D6DDD3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0B49EB-C24D-44A3-BB9A-3B59C3F5C8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EFC70C-B960-425B-A947-65E0F5136F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103760"/>
            <a:ext cx="5181120" cy="50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103760"/>
            <a:ext cx="5181120" cy="50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4144CE-78AA-4FB1-AA17-D9B49E289F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7736EC-E43C-4673-83E7-88665E1922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C9FBB4-0EA7-498E-AC43-409AE15D25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91680" y="183600"/>
            <a:ext cx="10515240" cy="39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30" spc="-1" strike="noStrike">
                <a:solidFill>
                  <a:srgbClr val="e30613"/>
                </a:solidFill>
                <a:latin typeface="Tahoma"/>
                <a:ea typeface="Tahoma"/>
              </a:rPr>
              <a:t>Click to edit Master title style</a:t>
            </a:r>
            <a:endParaRPr b="0" lang="en-US" sz="36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91680" y="924120"/>
            <a:ext cx="11406960" cy="515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6"/>
          <p:cNvSpPr/>
          <p:nvPr/>
        </p:nvSpPr>
        <p:spPr>
          <a:xfrm>
            <a:off x="41400" y="6539040"/>
            <a:ext cx="5150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640" cy="101376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9F63E-FD42-41C5-B6F0-E69903A81B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3640" cy="299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4988" lnSpcReduction="1000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Searching Techniques</a:t>
            </a:r>
            <a:endParaRPr b="0" lang="en-US" sz="4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36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Searching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fundamental process of locating a specific element or item within a collection of data.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arrays, lists, trees, …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Objective: Determine whether the requested element exists within the data, and if so, identify its precise location or retrieve it.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Why is it important?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Efficiency: Efficient searching algorithms improve program performance.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Retrieval: Quickly find and retrieve specific data from large datasets.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Database Systems: Enables fast querying of databases.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Problem Solving: Used in a wide range of problem-solving tasks.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Applications of Searching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Information Retrieval: Search engines like Google, Bing, and Yahoo use sophisticated searching algorithms to retrieve relevant information from vast amounts of data on the web.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Database Systems: Searching is fundamental in database systems for retrieving specific data records based on user queries, improving efficiency in data retrieval.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E-commerce: Searching is crucial in e-commerce platforms for users to find products quickly based on their preferences, specifications, or keywords.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Networking: In networking, searching algorithms are used for routing packets efficiently through networks, finding optimal paths, and managing network resources.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Artificial Intelligence: Searching algorithms play a vital role in AI applications, such as problem-solving, game playing (e.g., chess), and decision-making processes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Pattern Recognition: Searching algorithms are used in pattern matching tasks, such as image recognition, speech recognition, and handwriting recognition.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" dur="indefinite" restart="never" nodeType="tmRoot">
          <p:childTnLst>
            <p:seq>
              <p:cTn id="31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Linear Search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Algorithm examines each element one by one.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If it finds any element that is exactly the same as the key you're looking for, the search is successful, and it returns the index of key.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If it goes through all the elements and none of them matches the key, then that means "No match is Found".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838080" y="3936240"/>
            <a:ext cx="66110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LinearSearch(collection, key):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for each element in collection: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if element is equal to key: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return the index of the element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return "Not found"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8330400" y="3940920"/>
            <a:ext cx="3483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Time Complexity: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273239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Best Case</a:t>
            </a:r>
            <a:r>
              <a:rPr b="0" lang="en-US" sz="1800" spc="-1" strike="noStrike">
                <a:solidFill>
                  <a:srgbClr val="273239"/>
                </a:solidFill>
                <a:latin typeface="Nunito"/>
              </a:rPr>
              <a:t>: O(1)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273239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Worst Case:</a:t>
            </a:r>
            <a:r>
              <a:rPr b="0" lang="en-US" sz="1800" spc="-1" strike="noStrike">
                <a:solidFill>
                  <a:srgbClr val="273239"/>
                </a:solidFill>
                <a:latin typeface="Nunito"/>
              </a:rPr>
              <a:t> O(N)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273239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Average Case:</a:t>
            </a:r>
            <a:r>
              <a:rPr b="0" lang="en-US" sz="1800" spc="-1" strike="noStrike">
                <a:solidFill>
                  <a:srgbClr val="273239"/>
                </a:solidFill>
                <a:latin typeface="Nunito"/>
              </a:rPr>
              <a:t> O(N)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Binary Search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Search algorithm used in a sorted data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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Repeatedly divide the search interval in half.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9" name="Picture 5" descr=""/>
          <p:cNvPicPr/>
          <p:nvPr/>
        </p:nvPicPr>
        <p:blipFill>
          <a:blip r:embed="rId1"/>
          <a:stretch/>
        </p:blipFill>
        <p:spPr>
          <a:xfrm>
            <a:off x="3228480" y="2202840"/>
            <a:ext cx="5555880" cy="397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Binary Search – continued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83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Advantages of Binary Search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Binary search is faster than linear search, especially for large arrays.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More efficient than other searching algorithms with a similar time complexity, such as interpolation search or exponential search.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Binary search is well-suited for searching large datasets that are stored in external memory, such as on a hard drive or in the cloud.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Disadvantages of Binary Search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The array should be sorted.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Binary search requires that the data structure being searched be stored in contiguous memory locations.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Binary search requires that the elements of the array be comparable, meaning that they must be able to be ordered.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Binary Search – Generic Algorithim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838080" y="1410840"/>
            <a:ext cx="627120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binarySearch(collection, key):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left = 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right = length(collection) - 1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while left &lt;= right: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mid = (left + right) // 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if collection[mid] == key: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return mid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elif collection[mid] &lt; key: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 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left = mid + 1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else: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 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right = mid - 1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273239"/>
                </a:solidFill>
                <a:latin typeface="Courier New"/>
              </a:rPr>
              <a:t>return "Not found"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7764480" y="1428120"/>
            <a:ext cx="3483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Time Complexity: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273239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Best Case</a:t>
            </a:r>
            <a:r>
              <a:rPr b="0" lang="en-US" sz="1800" spc="-1" strike="noStrike">
                <a:solidFill>
                  <a:srgbClr val="273239"/>
                </a:solidFill>
                <a:latin typeface="Nunito"/>
              </a:rPr>
              <a:t>: O(1)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273239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Worst Case:</a:t>
            </a:r>
            <a:r>
              <a:rPr b="0" lang="en-US" sz="1800" spc="-1" strike="noStrike">
                <a:solidFill>
                  <a:srgbClr val="273239"/>
                </a:solidFill>
                <a:latin typeface="Nunito"/>
              </a:rPr>
              <a:t> O(log 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273239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273239"/>
                </a:solidFill>
                <a:latin typeface="Nunito"/>
              </a:rPr>
              <a:t>Average Case:</a:t>
            </a:r>
            <a:r>
              <a:rPr b="0" lang="en-US" sz="1800" spc="-1" strike="noStrike">
                <a:solidFill>
                  <a:srgbClr val="273239"/>
                </a:solidFill>
                <a:latin typeface="Nunito"/>
              </a:rPr>
              <a:t> O(log 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Binary Search – Iterative Version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617760" y="1675440"/>
            <a:ext cx="61664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# It returns location of x in given array arr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def binarySearch(arr, low, high, x):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while low &lt;= high: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mid = low + (high - low) //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# Check if x is present at mid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if arr[mid] == x: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return mid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# If x is greater, ignore left half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elif arr[mid] &lt; x: low = mid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# If x is smaller, ignore right half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else: high = mid - 1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# Otherwise the element was not present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    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return -1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6784560" y="2429280"/>
            <a:ext cx="616644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# Driver Code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if __name__ == '__main__':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arr = [2, 3, 4, 10, 40]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x = 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# Function call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result = binarySearch(arr, 0, len(arr)-1, x)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if result != -1: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print("Element is present at index", result)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else: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print("Element is not present in array")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" dur="indefinite" restart="never" nodeType="tmRoot">
          <p:childTnLst>
            <p:seq>
              <p:cTn id="57" dur="indefinite" nodeType="mainSeq">
                <p:childTnLst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Binary Search – Recursive Version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704880" y="1225800"/>
            <a:ext cx="6166440" cy="52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Returns index of x in arr if present, else -1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def binarySearch(arr, low, high, x):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Check base case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if high &gt;= 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mid = low + (high - low) //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If element is present at the middle itself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if arr[mid] == x: return mid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If element is smaller than mid, then 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can only be present in left subarray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elif arr[mid] &gt; x: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return binarySearch(arr, low, mid-1, 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Else the element can only be present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in right subarray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else: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return binarySearch(arr, mid+1, high, 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# Element is not present in the array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else: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return -1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6784560" y="2429280"/>
            <a:ext cx="616644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# Driver Code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if __name__ == '__main__':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arr = [2, 3, 4, 10, 40]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x = 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# Function call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result = binarySearch(arr, 0, len(arr)-1, x)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if result != -1: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print("Element is present at index", result)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else: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        </a:t>
            </a:r>
            <a:r>
              <a:rPr b="0" lang="tr-TR" sz="1400" spc="-1" strike="noStrike">
                <a:solidFill>
                  <a:schemeClr val="dk1"/>
                </a:solidFill>
                <a:latin typeface="Consolas"/>
              </a:rPr>
              <a:t>print("Element is not present in array")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" dur="indefinite" restart="never" nodeType="tmRoot">
          <p:childTnLst>
            <p:seq>
              <p:cTn id="63" dur="indefinite" nodeType="mainSeq">
                <p:childTnLst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Hashing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Hash Function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Function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that takes an input (or ‘message’) and returns a hash code, i.e. number or fixed-size string of bytes.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Wingdings"/>
              </a:rPr>
              <a:t>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Efficiently map data of arbitrary size to fixed-size values, which are often used as indexes in hash tables.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Key Properties of Hash Functions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Deterministic: A hash function must consistently produce the same output for the same input.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Fixed Output Size: The output of a hash function should have a fixed size, regardless of the size of the input.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Efficiency: The hash function should be able to process input quickly.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Uniformity: The hash function should distribute the hash values uniformly across the output space to avoid clustering.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Pre-image Resistance: It should be computationally infeasible to reverse the hash function, i.e., to find the original input given a hash value.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Collision Resistance: It should be difficult to find two different inputs that produce the same hash value.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Avalanche Effect: A small change in the input should produce a significantly different hash value.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Hashing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Types of Hash Functions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Division Method: </a:t>
            </a:r>
            <a:r>
              <a:rPr b="0" i="1" lang="da-DK" sz="2800" spc="-1" strike="noStrike">
                <a:solidFill>
                  <a:srgbClr val="273239"/>
                </a:solidFill>
                <a:latin typeface="Nunito"/>
              </a:rPr>
              <a:t>h(k)=k mod 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Multiplication Method: h(k)=⌊m(k*A mod 1)⌋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Mid-Square Method: Middle digits of k^2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Folding Method: Fold number on itself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Cryptographic Hash Functions: MD5, SHA-1, SHA-256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Universal Hashing: </a:t>
            </a:r>
            <a:r>
              <a:rPr b="0" i="1" lang="tr-TR" sz="2800" spc="-1" strike="noStrike">
                <a:solidFill>
                  <a:srgbClr val="273239"/>
                </a:solidFill>
                <a:latin typeface="Nunito"/>
              </a:rPr>
              <a:t>h(k)=((a</a:t>
            </a:r>
            <a:r>
              <a:rPr b="0" i="1" lang="en-US" sz="2800" spc="-1" strike="noStrike">
                <a:solidFill>
                  <a:srgbClr val="273239"/>
                </a:solidFill>
                <a:latin typeface="Nunito"/>
              </a:rPr>
              <a:t>*</a:t>
            </a:r>
            <a:r>
              <a:rPr b="0" i="1" lang="tr-TR" sz="2800" spc="-1" strike="noStrike">
                <a:solidFill>
                  <a:srgbClr val="273239"/>
                </a:solidFill>
                <a:latin typeface="Nunito"/>
              </a:rPr>
              <a:t>k+b)</a:t>
            </a:r>
            <a:r>
              <a:rPr b="0" i="1" lang="en-US" sz="2800" spc="-1" strike="noStrike">
                <a:solidFill>
                  <a:srgbClr val="273239"/>
                </a:solidFill>
                <a:latin typeface="Nunito"/>
              </a:rPr>
              <a:t> </a:t>
            </a:r>
            <a:r>
              <a:rPr b="0" i="1" lang="tr-TR" sz="2800" spc="-1" strike="noStrike">
                <a:solidFill>
                  <a:srgbClr val="273239"/>
                </a:solidFill>
                <a:latin typeface="Nunito"/>
              </a:rPr>
              <a:t>mod</a:t>
            </a:r>
            <a:r>
              <a:rPr b="0" i="1" lang="en-US" sz="2800" spc="-1" strike="noStrike">
                <a:solidFill>
                  <a:srgbClr val="273239"/>
                </a:solidFill>
                <a:latin typeface="Nunito"/>
              </a:rPr>
              <a:t> </a:t>
            </a:r>
            <a:r>
              <a:rPr b="0" i="1" lang="tr-TR" sz="2800" spc="-1" strike="noStrike">
                <a:solidFill>
                  <a:srgbClr val="273239"/>
                </a:solidFill>
                <a:latin typeface="Nunito"/>
              </a:rPr>
              <a:t>p)</a:t>
            </a:r>
            <a:r>
              <a:rPr b="0" i="1" lang="en-US" sz="2800" spc="-1" strike="noStrike">
                <a:solidFill>
                  <a:srgbClr val="273239"/>
                </a:solidFill>
                <a:latin typeface="Nunito"/>
              </a:rPr>
              <a:t> </a:t>
            </a:r>
            <a:r>
              <a:rPr b="0" i="1" lang="tr-TR" sz="2800" spc="-1" strike="noStrike">
                <a:solidFill>
                  <a:srgbClr val="273239"/>
                </a:solidFill>
                <a:latin typeface="Nunito"/>
              </a:rPr>
              <a:t>mod</a:t>
            </a:r>
            <a:r>
              <a:rPr b="0" i="1" lang="en-US" sz="2800" spc="-1" strike="noStrike">
                <a:solidFill>
                  <a:srgbClr val="273239"/>
                </a:solidFill>
                <a:latin typeface="Nunito"/>
              </a:rPr>
              <a:t> </a:t>
            </a:r>
            <a:r>
              <a:rPr b="0" i="1" lang="tr-TR" sz="2800" spc="-1" strike="noStrike">
                <a:solidFill>
                  <a:srgbClr val="273239"/>
                </a:solidFill>
                <a:latin typeface="Nunito"/>
              </a:rPr>
              <a:t>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Perfect Hashing: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Hash Data Structure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4872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Store and retrieve &lt;key, value&gt; pairs efficiently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Key: Any number or string value in &lt;key, value&gt; pair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Hash Function: Function that returns possible location for key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Hash code/index </a:t>
            </a:r>
            <a:r>
              <a:rPr b="0" lang="en-US" sz="24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Data location in a collection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Hash (table): Data structure that maps keys to values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7" name="Picture 2" descr="Lightbox"/>
          <p:cNvPicPr/>
          <p:nvPr/>
        </p:nvPicPr>
        <p:blipFill>
          <a:blip r:embed="rId1"/>
          <a:stretch/>
        </p:blipFill>
        <p:spPr>
          <a:xfrm>
            <a:off x="5897520" y="1554840"/>
            <a:ext cx="6293880" cy="326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Hash Data Structure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Advantages of Hashing in Data Structures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Key-value support: </a:t>
            </a: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Hashing is ideal for implementing key-value data structures.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Fast data retrieval:</a:t>
            </a: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 Hashing allows for quick access to elements with constant-time complexity.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Efficiency:</a:t>
            </a: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 Insertion, deletion, and searching operations are highly efficient.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Memory usage reduction: </a:t>
            </a: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Hashing requires less memory as it allocates a fixed space for storing elements.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Scalability: </a:t>
            </a: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Hashing performs well with large data sets, maintaining constant access time.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Security and encryption:</a:t>
            </a: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 Hashing is essential for secure data storage and integrity verification.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Hash Table Example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Data: &lt;Key, Value&gt;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Hash Function: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Hash Table: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Collusion Resolution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Collusion occurs when two or more keys have the same hash value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Resolution: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Linear Probing: Check the next slot until you find an empty slot.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Quadratic Probing: Check the i^2th slot in the ith iteration.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Separate Chaing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Separate Chaining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array stores Head to linked lists.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linked lists store the elements.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Picture 2" descr="Lightbox"/>
          <p:cNvPicPr/>
          <p:nvPr/>
        </p:nvPicPr>
        <p:blipFill>
          <a:blip r:embed="rId1"/>
          <a:stretch/>
        </p:blipFill>
        <p:spPr>
          <a:xfrm>
            <a:off x="3221640" y="2404080"/>
            <a:ext cx="5748480" cy="334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4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Separate Chaining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5240" cy="50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Advantages: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Simple to implement.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Hash table never fills up, we can always add more elements to the chain.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Less sensitive to the hash function or load factors.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It is mostly used when it is unknown how many and how frequently keys may be inserted or deleted.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73239"/>
                </a:solidFill>
                <a:latin typeface="Nunito"/>
              </a:rPr>
              <a:t>Disadvantages: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The cache performance of chaining is not good as keys are stored using a linked list. Open addressing provides better cache performance as everything is stored in the same table.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Wastage of Space (Some Parts of the hash table are never used)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If the chain becomes long, then search time can become O(n) in the worst case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7323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73239"/>
                </a:solidFill>
                <a:latin typeface="Nunito"/>
              </a:rPr>
              <a:t>Uses extra space for links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CE642CB7-CA60-47E2-B5D6-029D44CBD667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33380</TotalTime>
  <Application>LibreOffice/24.2.7.2$Linux_X86_64 LibreOffice_project/420$Build-2</Application>
  <AppVersion>15.0000</AppVersion>
  <Words>1824</Words>
  <Paragraphs>203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dcterms:modified xsi:type="dcterms:W3CDTF">2025-08-19T22:37:49Z</dcterms:modified>
  <cp:revision>751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Widescreen</vt:lpwstr>
  </property>
  <property fmtid="{D5CDD505-2E9C-101B-9397-08002B2CF9AE}" pid="4" name="Slides">
    <vt:i4>17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xmlns:xsd="http://www.w3.org/2001/XMLSchema" xmlns:xsi="http://www.w3.org/2001/XMLSchema-instance"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