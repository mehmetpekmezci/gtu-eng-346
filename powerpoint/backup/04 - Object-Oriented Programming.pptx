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_rels/item1.xml.rels" ContentType="application/vnd.openxmlformats-package.relationships+xml"/>
  <Override PartName="/customXml/item1.xml" ContentType="application/xml"/>
  <Override PartName="/customXml/itemProps1.xml" ContentType="application/vnd.openxmlformats-officedocument.customXml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wmf" ContentType="image/x-wmf"/>
  <Override PartName="/ppt/media/image6.wmf" ContentType="image/x-wmf"/>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s/_rels/slide5.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4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5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1" name="PlaceHolder 4"/>
          <p:cNvSpPr>
            <a:spLocks noGrp="1"/>
          </p:cNvSpPr>
          <p:nvPr>
            <p:ph type="dt" idx="19"/>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5"/>
          <p:cNvSpPr>
            <a:spLocks noGrp="1"/>
          </p:cNvSpPr>
          <p:nvPr>
            <p:ph type="ftr" idx="20"/>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6"/>
          <p:cNvSpPr>
            <a:spLocks noGrp="1"/>
          </p:cNvSpPr>
          <p:nvPr>
            <p:ph type="sldNum" idx="21"/>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32832C0A-DF0A-486A-A778-74898753D8A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sldImg"/>
          </p:nvPr>
        </p:nvSpPr>
        <p:spPr>
          <a:xfrm>
            <a:off x="685800" y="1143000"/>
            <a:ext cx="5485320" cy="3085200"/>
          </a:xfrm>
          <a:prstGeom prst="rect">
            <a:avLst/>
          </a:prstGeom>
          <a:ln w="0">
            <a:noFill/>
          </a:ln>
        </p:spPr>
      </p:sp>
      <p:sp>
        <p:nvSpPr>
          <p:cNvPr id="10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09" name="PlaceHolder 3"/>
          <p:cNvSpPr>
            <a:spLocks noGrp="1"/>
          </p:cNvSpPr>
          <p:nvPr>
            <p:ph type="sldNum" idx="22"/>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B8E5ADB0-C3B4-4996-8916-7D563EFB90B5}"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10" name="PlaceHolder 4"/>
          <p:cNvSpPr>
            <a:spLocks noGrp="1"/>
          </p:cNvSpPr>
          <p:nvPr>
            <p:ph type="dt" idx="23"/>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69F927AB-5750-433C-9DEB-E9931DB08B19}"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685800" y="1143000"/>
            <a:ext cx="5485320" cy="3085200"/>
          </a:xfrm>
          <a:prstGeom prst="rect">
            <a:avLst/>
          </a:prstGeom>
          <a:ln w="0">
            <a:noFill/>
          </a:ln>
        </p:spPr>
      </p:sp>
      <p:sp>
        <p:nvSpPr>
          <p:cNvPr id="11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3" name="PlaceHolder 3"/>
          <p:cNvSpPr>
            <a:spLocks noGrp="1"/>
          </p:cNvSpPr>
          <p:nvPr>
            <p:ph type="sldNum" idx="24"/>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09F8C3EF-EAF1-4FF9-B519-31E7FAAB213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14" name="PlaceHolder 4"/>
          <p:cNvSpPr>
            <a:spLocks noGrp="1"/>
          </p:cNvSpPr>
          <p:nvPr>
            <p:ph type="dt" idx="25"/>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812E13C1-0766-4A5A-8F61-41ED49ED282C}"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sldImg"/>
          </p:nvPr>
        </p:nvSpPr>
        <p:spPr>
          <a:xfrm>
            <a:off x="685800" y="1143000"/>
            <a:ext cx="5485320" cy="3085200"/>
          </a:xfrm>
          <a:prstGeom prst="rect">
            <a:avLst/>
          </a:prstGeom>
          <a:ln w="0">
            <a:noFill/>
          </a:ln>
        </p:spPr>
      </p:sp>
      <p:sp>
        <p:nvSpPr>
          <p:cNvPr id="11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17" name="PlaceHolder 3"/>
          <p:cNvSpPr>
            <a:spLocks noGrp="1"/>
          </p:cNvSpPr>
          <p:nvPr>
            <p:ph type="sldNum" idx="26"/>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5B376CDC-89FA-4AC8-9CF5-684BC877E3C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18" name="PlaceHolder 4"/>
          <p:cNvSpPr>
            <a:spLocks noGrp="1"/>
          </p:cNvSpPr>
          <p:nvPr>
            <p:ph type="dt" idx="27"/>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1284613C-1EDC-4AC0-98FE-9B5AF57233DF}"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685800" y="1143000"/>
            <a:ext cx="5485320" cy="3085200"/>
          </a:xfrm>
          <a:prstGeom prst="rect">
            <a:avLst/>
          </a:prstGeom>
          <a:ln w="0">
            <a:noFill/>
          </a:ln>
        </p:spPr>
      </p:sp>
      <p:sp>
        <p:nvSpPr>
          <p:cNvPr id="12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21" name="PlaceHolder 3"/>
          <p:cNvSpPr>
            <a:spLocks noGrp="1"/>
          </p:cNvSpPr>
          <p:nvPr>
            <p:ph type="sldNum" idx="28"/>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B2AF9EFF-6011-41BE-B385-05866358AAF7}"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22" name="PlaceHolder 4"/>
          <p:cNvSpPr>
            <a:spLocks noGrp="1"/>
          </p:cNvSpPr>
          <p:nvPr>
            <p:ph type="dt" idx="29"/>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D77568E5-1A93-4C53-9456-9F7B01BA145B}"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685800" y="1143000"/>
            <a:ext cx="5485320" cy="3085200"/>
          </a:xfrm>
          <a:prstGeom prst="rect">
            <a:avLst/>
          </a:prstGeom>
          <a:ln w="0">
            <a:noFill/>
          </a:ln>
        </p:spPr>
      </p:sp>
      <p:sp>
        <p:nvSpPr>
          <p:cNvPr id="12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In OOP, an object is a fundamental concept. It's an instance of a class, which is a blueprint or template for creating objects. Objects represent real-world entities, concepts, or things in your program. They encapsulate both data (attributes or properties) and behavior (methods or functions) related to those entities, making it easier to model and manipulate complex systems.</a:t>
            </a:r>
            <a:endParaRPr b="0" lang="en-US" sz="2000" spc="-1" strike="noStrike">
              <a:solidFill>
                <a:srgbClr val="000000"/>
              </a:solidFill>
              <a:latin typeface="Arial"/>
            </a:endParaRPr>
          </a:p>
        </p:txBody>
      </p:sp>
      <p:sp>
        <p:nvSpPr>
          <p:cNvPr id="125" name="PlaceHolder 3"/>
          <p:cNvSpPr>
            <a:spLocks noGrp="1"/>
          </p:cNvSpPr>
          <p:nvPr>
            <p:ph type="sldNum" idx="30"/>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F33237A0-B41E-484C-B9BB-1B666A82BA4A}"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
        <p:nvSpPr>
          <p:cNvPr id="126" name="PlaceHolder 4"/>
          <p:cNvSpPr>
            <a:spLocks noGrp="1"/>
          </p:cNvSpPr>
          <p:nvPr>
            <p:ph type="dt" idx="31"/>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33129554-8834-4E98-83AD-66C6C49FD043}"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PlaceHolder 1"/>
          <p:cNvSpPr>
            <a:spLocks noGrp="1"/>
          </p:cNvSpPr>
          <p:nvPr>
            <p:ph type="sldImg"/>
          </p:nvPr>
        </p:nvSpPr>
        <p:spPr>
          <a:xfrm>
            <a:off x="685800" y="1143000"/>
            <a:ext cx="5485320" cy="3085200"/>
          </a:xfrm>
          <a:prstGeom prst="rect">
            <a:avLst/>
          </a:prstGeom>
          <a:ln w="0">
            <a:noFill/>
          </a:ln>
        </p:spPr>
      </p:sp>
      <p:sp>
        <p:nvSpPr>
          <p:cNvPr id="12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29" name="PlaceHolder 3"/>
          <p:cNvSpPr>
            <a:spLocks noGrp="1"/>
          </p:cNvSpPr>
          <p:nvPr>
            <p:ph type="sldNum" idx="32"/>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2596C519-DED7-42CC-BFE5-738F9300074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30" name="PlaceHolder 4"/>
          <p:cNvSpPr>
            <a:spLocks noGrp="1"/>
          </p:cNvSpPr>
          <p:nvPr>
            <p:ph type="dt" idx="33"/>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DE35DBB6-6771-4776-B8F5-C15F950E3EB2}"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sldImg"/>
          </p:nvPr>
        </p:nvSpPr>
        <p:spPr>
          <a:xfrm>
            <a:off x="685800" y="1143000"/>
            <a:ext cx="5485320" cy="3085200"/>
          </a:xfrm>
          <a:prstGeom prst="rect">
            <a:avLst/>
          </a:prstGeom>
          <a:ln w="0">
            <a:noFill/>
          </a:ln>
        </p:spPr>
      </p:sp>
      <p:sp>
        <p:nvSpPr>
          <p:cNvPr id="13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lnSpc>
                <a:spcPct val="100000"/>
              </a:lnSpc>
              <a:buClr>
                <a:srgbClr val="374151"/>
              </a:buClr>
              <a:buFont typeface="+mj-lt"/>
              <a:buAutoNum type="arabicPeriod"/>
            </a:pPr>
            <a:r>
              <a:rPr b="1" lang="en-US" sz="2000" spc="-1" strike="noStrike">
                <a:solidFill>
                  <a:srgbClr val="374151"/>
                </a:solidFill>
                <a:latin typeface="Söhne"/>
              </a:rPr>
              <a:t>Modularity</a:t>
            </a:r>
            <a:r>
              <a:rPr b="0" lang="en-US" sz="2000" spc="-1" strike="noStrike">
                <a:solidFill>
                  <a:srgbClr val="374151"/>
                </a:solidFill>
                <a:latin typeface="Söhne"/>
              </a:rPr>
              <a:t>: OOP promotes modularity by organizing code into self-contained objects. Each object represents a specific entity or concept, making it easier to manage and maintain the codebase. Changes and updates can be made to one object without affecting others, reducing the risk of unintended side effects.</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pPr>
            <a:r>
              <a:rPr b="1" lang="en-US" sz="2000" spc="-1" strike="noStrike">
                <a:solidFill>
                  <a:srgbClr val="374151"/>
                </a:solidFill>
                <a:latin typeface="Söhne"/>
              </a:rPr>
              <a:t>Reusability</a:t>
            </a:r>
            <a:r>
              <a:rPr b="0" lang="en-US" sz="2000" spc="-1" strike="noStrike">
                <a:solidFill>
                  <a:srgbClr val="374151"/>
                </a:solidFill>
                <a:latin typeface="Söhne"/>
              </a:rPr>
              <a:t>: OOP encourages code reuse through the creation of classes and objects. Once a class is defined, it can be used to create multiple objects with the same characteristics and behaviors. This reduces redundancy and saves development time.</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pPr>
            <a:r>
              <a:rPr b="1" lang="en-US" sz="2000" spc="-1" strike="noStrike">
                <a:solidFill>
                  <a:srgbClr val="374151"/>
                </a:solidFill>
                <a:latin typeface="Söhne"/>
              </a:rPr>
              <a:t>Abstraction</a:t>
            </a:r>
            <a:r>
              <a:rPr b="0" lang="en-US" sz="2000" spc="-1" strike="noStrike">
                <a:solidFill>
                  <a:srgbClr val="374151"/>
                </a:solidFill>
                <a:latin typeface="Söhne"/>
              </a:rPr>
              <a:t>: OOP allows developers to abstract complex systems into simpler, high-level objects. This abstraction hides the implementation details, making it easier to understand and work with code. It also allows developers to focus on the essential features of an object without getting bogged down in the minutiae.</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pPr>
            <a:r>
              <a:rPr b="1" lang="en-US" sz="2000" spc="-1" strike="noStrike">
                <a:solidFill>
                  <a:srgbClr val="374151"/>
                </a:solidFill>
                <a:latin typeface="Söhne"/>
              </a:rPr>
              <a:t>Encapsulation</a:t>
            </a:r>
            <a:r>
              <a:rPr b="0" lang="en-US" sz="2000" spc="-1" strike="noStrike">
                <a:solidFill>
                  <a:srgbClr val="374151"/>
                </a:solidFill>
                <a:latin typeface="Söhne"/>
              </a:rPr>
              <a:t>: Encapsulation is the practice of bundling data (attributes) and the methods (functions) that operate on that data into a single unit, the object. This concept promotes data security and prevents unauthorized access or modification of an object's internal state.</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pPr>
            <a:r>
              <a:rPr b="1" lang="en-US" sz="2000" spc="-1" strike="noStrike">
                <a:solidFill>
                  <a:srgbClr val="374151"/>
                </a:solidFill>
                <a:latin typeface="Söhne"/>
              </a:rPr>
              <a:t>Inheritance</a:t>
            </a:r>
            <a:r>
              <a:rPr b="0" lang="en-US" sz="2000" spc="-1" strike="noStrike">
                <a:solidFill>
                  <a:srgbClr val="374151"/>
                </a:solidFill>
                <a:latin typeface="Söhne"/>
              </a:rPr>
              <a:t>: Inheritance is a mechanism in OOP that allows one class (the subclass or derived class) to inherit attributes and methods from another class (the superclass or base class). This promotes code reuse and the creation of specialized objects based on existing ones.</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pPr>
            <a:r>
              <a:rPr b="1" lang="en-US" sz="2000" spc="-1" strike="noStrike">
                <a:solidFill>
                  <a:srgbClr val="374151"/>
                </a:solidFill>
                <a:latin typeface="Söhne"/>
              </a:rPr>
              <a:t>Polymorphism</a:t>
            </a:r>
            <a:r>
              <a:rPr b="0" lang="en-US" sz="2000" spc="-1" strike="noStrike">
                <a:solidFill>
                  <a:srgbClr val="374151"/>
                </a:solidFill>
                <a:latin typeface="Söhne"/>
              </a:rPr>
              <a:t>: Polymorphism enables objects of different classes to be treated as objects of a common superclass. This flexibility allows for the implementation of generic code that can work with a variety of objects, promoting extensibility and flexibility in your software.</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pPr>
            <a:r>
              <a:rPr b="1" lang="en-US" sz="2000" spc="-1" strike="noStrike">
                <a:solidFill>
                  <a:srgbClr val="374151"/>
                </a:solidFill>
                <a:latin typeface="Söhne"/>
              </a:rPr>
              <a:t>Ease of Maintenance</a:t>
            </a:r>
            <a:r>
              <a:rPr b="0" lang="en-US" sz="2000" spc="-1" strike="noStrike">
                <a:solidFill>
                  <a:srgbClr val="374151"/>
                </a:solidFill>
                <a:latin typeface="Söhne"/>
              </a:rPr>
              <a:t>: OOP code tends to be more organized and modular, which makes it easier to debug and maintain. Changes to one part of the code are less likely to impact other parts, reducing the risk of introducing new bugs.</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pPr>
            <a:r>
              <a:rPr b="1" lang="en-US" sz="2000" spc="-1" strike="noStrike">
                <a:solidFill>
                  <a:srgbClr val="374151"/>
                </a:solidFill>
                <a:latin typeface="Söhne"/>
              </a:rPr>
              <a:t>Team Collaboration</a:t>
            </a:r>
            <a:r>
              <a:rPr b="0" lang="en-US" sz="2000" spc="-1" strike="noStrike">
                <a:solidFill>
                  <a:srgbClr val="374151"/>
                </a:solidFill>
                <a:latin typeface="Söhne"/>
              </a:rPr>
              <a:t>: OOP encourages a collaborative development approach. Different team members can work on different classes and objects, reducing the likelihood of conflicts when integrating their code.</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pPr>
            <a:r>
              <a:rPr b="1" lang="en-US" sz="2000" spc="-1" strike="noStrike">
                <a:solidFill>
                  <a:srgbClr val="374151"/>
                </a:solidFill>
                <a:latin typeface="Söhne"/>
              </a:rPr>
              <a:t>Scalability</a:t>
            </a:r>
            <a:r>
              <a:rPr b="0" lang="en-US" sz="2000" spc="-1" strike="noStrike">
                <a:solidFill>
                  <a:srgbClr val="374151"/>
                </a:solidFill>
                <a:latin typeface="Söhne"/>
              </a:rPr>
              <a:t>: OOP is well-suited for building scalable software systems. As the complexity of a project grows, OOP provides a structured approach to handling that complexity, allowing for the addition of new classes and objects as needed.</a:t>
            </a:r>
            <a:endParaRPr b="0" lang="en-US" sz="2000" spc="-1" strike="noStrike">
              <a:solidFill>
                <a:srgbClr val="000000"/>
              </a:solidFill>
              <a:latin typeface="Arial"/>
            </a:endParaRPr>
          </a:p>
          <a:p>
            <a:pPr marL="216000" indent="-216000">
              <a:lnSpc>
                <a:spcPct val="100000"/>
              </a:lnSpc>
              <a:buClr>
                <a:srgbClr val="374151"/>
              </a:buClr>
              <a:buFont typeface="+mj-lt"/>
              <a:buAutoNum type="arabicPeriod"/>
            </a:pPr>
            <a:r>
              <a:rPr b="1" lang="en-US" sz="2000" spc="-1" strike="noStrike">
                <a:solidFill>
                  <a:srgbClr val="374151"/>
                </a:solidFill>
                <a:latin typeface="Söhne"/>
              </a:rPr>
              <a:t>Real-World Modeling</a:t>
            </a:r>
            <a:r>
              <a:rPr b="0" lang="en-US" sz="2000" spc="-1" strike="noStrike">
                <a:solidFill>
                  <a:srgbClr val="374151"/>
                </a:solidFill>
                <a:latin typeface="Söhne"/>
              </a:rPr>
              <a:t>: OOP allows developers to model real-world entities and relationships more naturally. This makes it easier to translate real-world problems into code, improving the clarity of the software's design.</a:t>
            </a:r>
            <a:endParaRPr b="0" lang="en-US" sz="2000" spc="-1" strike="noStrike">
              <a:solidFill>
                <a:srgbClr val="000000"/>
              </a:solidFill>
              <a:latin typeface="Arial"/>
            </a:endParaRPr>
          </a:p>
          <a:p>
            <a:pPr marL="216000" indent="0">
              <a:lnSpc>
                <a:spcPct val="100000"/>
              </a:lnSpc>
              <a:buNone/>
              <a:tabLst>
                <a:tab algn="l" pos="0"/>
              </a:tabLst>
            </a:pPr>
            <a:endParaRPr b="0" lang="en-US" sz="2000" spc="-1" strike="noStrike">
              <a:solidFill>
                <a:srgbClr val="000000"/>
              </a:solidFill>
              <a:latin typeface="Arial"/>
            </a:endParaRPr>
          </a:p>
        </p:txBody>
      </p:sp>
      <p:sp>
        <p:nvSpPr>
          <p:cNvPr id="133" name="PlaceHolder 3"/>
          <p:cNvSpPr>
            <a:spLocks noGrp="1"/>
          </p:cNvSpPr>
          <p:nvPr>
            <p:ph type="sldNum" idx="34"/>
          </p:nvPr>
        </p:nvSpPr>
        <p:spPr>
          <a:xfrm>
            <a:off x="3884760" y="8685360"/>
            <a:ext cx="2970720" cy="4575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200" spc="-1" strike="noStrike">
                <a:solidFill>
                  <a:srgbClr val="000000"/>
                </a:solidFill>
                <a:latin typeface="Times New Roman"/>
              </a:defRPr>
            </a:lvl1pPr>
          </a:lstStyle>
          <a:p>
            <a:pPr indent="0" algn="r">
              <a:lnSpc>
                <a:spcPct val="100000"/>
              </a:lnSpc>
              <a:buNone/>
              <a:tabLst>
                <a:tab algn="l" pos="0"/>
              </a:tabLst>
            </a:pPr>
            <a:fld id="{BD719DE4-EC8B-45D9-BCD1-AB1858E64B40}"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
        <p:nvSpPr>
          <p:cNvPr id="134" name="PlaceHolder 4"/>
          <p:cNvSpPr>
            <a:spLocks noGrp="1"/>
          </p:cNvSpPr>
          <p:nvPr>
            <p:ph type="dt" idx="35"/>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40CF7599-1EB3-42C9-AA5E-4C2D4077A583}"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sldImg"/>
          </p:nvPr>
        </p:nvSpPr>
        <p:spPr>
          <a:xfrm>
            <a:off x="685800" y="1143000"/>
            <a:ext cx="5485320" cy="3085200"/>
          </a:xfrm>
          <a:prstGeom prst="rect">
            <a:avLst/>
          </a:prstGeom>
          <a:ln w="0">
            <a:noFill/>
          </a:ln>
        </p:spPr>
      </p:sp>
      <p:sp>
        <p:nvSpPr>
          <p:cNvPr id="13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37" name="PlaceHolder 3"/>
          <p:cNvSpPr>
            <a:spLocks noGrp="1"/>
          </p:cNvSpPr>
          <p:nvPr>
            <p:ph type="sldNum" idx="36"/>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63E5999B-5E8B-4024-9D75-51CAAEE141E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38" name="PlaceHolder 4"/>
          <p:cNvSpPr>
            <a:spLocks noGrp="1"/>
          </p:cNvSpPr>
          <p:nvPr>
            <p:ph type="dt" idx="37"/>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796DC8F7-2258-4AAA-9686-EC77D8BB1519}"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sldImg"/>
          </p:nvPr>
        </p:nvSpPr>
        <p:spPr>
          <a:xfrm>
            <a:off x="685800" y="1143000"/>
            <a:ext cx="5485320" cy="3085200"/>
          </a:xfrm>
          <a:prstGeom prst="rect">
            <a:avLst/>
          </a:prstGeom>
          <a:ln w="0">
            <a:noFill/>
          </a:ln>
        </p:spPr>
      </p:sp>
      <p:sp>
        <p:nvSpPr>
          <p:cNvPr id="14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41" name="PlaceHolder 3"/>
          <p:cNvSpPr>
            <a:spLocks noGrp="1"/>
          </p:cNvSpPr>
          <p:nvPr>
            <p:ph type="sldNum" idx="38"/>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11521F1E-F0D3-434C-A53D-097EBBECEA1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42" name="PlaceHolder 4"/>
          <p:cNvSpPr>
            <a:spLocks noGrp="1"/>
          </p:cNvSpPr>
          <p:nvPr>
            <p:ph type="dt" idx="39"/>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1510010C-F7BD-4D51-BB11-4D2850F74F67}"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sldImg"/>
          </p:nvPr>
        </p:nvSpPr>
        <p:spPr>
          <a:xfrm>
            <a:off x="685800" y="1143000"/>
            <a:ext cx="5485320" cy="3085200"/>
          </a:xfrm>
          <a:prstGeom prst="rect">
            <a:avLst/>
          </a:prstGeom>
          <a:ln w="0">
            <a:noFill/>
          </a:ln>
        </p:spPr>
      </p:sp>
      <p:sp>
        <p:nvSpPr>
          <p:cNvPr id="14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45" name="PlaceHolder 3"/>
          <p:cNvSpPr>
            <a:spLocks noGrp="1"/>
          </p:cNvSpPr>
          <p:nvPr>
            <p:ph type="sldNum" idx="40"/>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885B2CD3-630D-4DF6-9DC9-405F00F288B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46" name="PlaceHolder 4"/>
          <p:cNvSpPr>
            <a:spLocks noGrp="1"/>
          </p:cNvSpPr>
          <p:nvPr>
            <p:ph type="dt" idx="41"/>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6423F149-69A0-4487-A713-B16917CE336D}"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sldImg"/>
          </p:nvPr>
        </p:nvSpPr>
        <p:spPr>
          <a:xfrm>
            <a:off x="685800" y="1143000"/>
            <a:ext cx="5485320" cy="3085200"/>
          </a:xfrm>
          <a:prstGeom prst="rect">
            <a:avLst/>
          </a:prstGeom>
          <a:ln w="0">
            <a:noFill/>
          </a:ln>
        </p:spPr>
      </p:sp>
      <p:sp>
        <p:nvSpPr>
          <p:cNvPr id="14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49" name="PlaceHolder 3"/>
          <p:cNvSpPr>
            <a:spLocks noGrp="1"/>
          </p:cNvSpPr>
          <p:nvPr>
            <p:ph type="sldNum" idx="42"/>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5BEA724C-4FAC-4FEF-9DDC-6EE4CCA78CA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50" name="PlaceHolder 4"/>
          <p:cNvSpPr>
            <a:spLocks noGrp="1"/>
          </p:cNvSpPr>
          <p:nvPr>
            <p:ph type="dt" idx="43"/>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EF3C8C92-8C64-43DC-839F-1C45DE875253}"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sldImg"/>
          </p:nvPr>
        </p:nvSpPr>
        <p:spPr>
          <a:xfrm>
            <a:off x="685800" y="1143000"/>
            <a:ext cx="5485320" cy="3085200"/>
          </a:xfrm>
          <a:prstGeom prst="rect">
            <a:avLst/>
          </a:prstGeom>
          <a:ln w="0">
            <a:noFill/>
          </a:ln>
        </p:spPr>
      </p:sp>
      <p:sp>
        <p:nvSpPr>
          <p:cNvPr id="15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53" name="PlaceHolder 3"/>
          <p:cNvSpPr>
            <a:spLocks noGrp="1"/>
          </p:cNvSpPr>
          <p:nvPr>
            <p:ph type="sldNum" idx="44"/>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3B73E37C-269E-485D-9004-F2074733442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54" name="PlaceHolder 4"/>
          <p:cNvSpPr>
            <a:spLocks noGrp="1"/>
          </p:cNvSpPr>
          <p:nvPr>
            <p:ph type="dt" idx="45"/>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038035AB-025D-4FC5-931F-B004C5173C88}"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sldImg"/>
          </p:nvPr>
        </p:nvSpPr>
        <p:spPr>
          <a:xfrm>
            <a:off x="685800" y="1143000"/>
            <a:ext cx="5485320" cy="3085200"/>
          </a:xfrm>
          <a:prstGeom prst="rect">
            <a:avLst/>
          </a:prstGeom>
          <a:ln w="0">
            <a:noFill/>
          </a:ln>
        </p:spPr>
      </p:sp>
      <p:sp>
        <p:nvSpPr>
          <p:cNvPr id="15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57" name="PlaceHolder 3"/>
          <p:cNvSpPr>
            <a:spLocks noGrp="1"/>
          </p:cNvSpPr>
          <p:nvPr>
            <p:ph type="sldNum" idx="46"/>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C4419105-140A-459E-8775-CF8EDACC2F5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58" name="PlaceHolder 4"/>
          <p:cNvSpPr>
            <a:spLocks noGrp="1"/>
          </p:cNvSpPr>
          <p:nvPr>
            <p:ph type="dt" idx="47"/>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49AB66CC-35A1-4BDB-A41A-6EDE5A96361F}"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685800" y="1143000"/>
            <a:ext cx="5485320" cy="3085200"/>
          </a:xfrm>
          <a:prstGeom prst="rect">
            <a:avLst/>
          </a:prstGeom>
          <a:ln w="0">
            <a:noFill/>
          </a:ln>
        </p:spPr>
      </p:sp>
      <p:sp>
        <p:nvSpPr>
          <p:cNvPr id="16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61" name="PlaceHolder 3"/>
          <p:cNvSpPr>
            <a:spLocks noGrp="1"/>
          </p:cNvSpPr>
          <p:nvPr>
            <p:ph type="sldNum" idx="48"/>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40F7E2E7-5E9E-4731-9BBB-2750C7AC62D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62" name="PlaceHolder 4"/>
          <p:cNvSpPr>
            <a:spLocks noGrp="1"/>
          </p:cNvSpPr>
          <p:nvPr>
            <p:ph type="dt" idx="49"/>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9A626FD7-6B5C-431C-B942-D0409D0AB29E}"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685800" y="1143000"/>
            <a:ext cx="5485320" cy="3085200"/>
          </a:xfrm>
          <a:prstGeom prst="rect">
            <a:avLst/>
          </a:prstGeom>
          <a:ln w="0">
            <a:noFill/>
          </a:ln>
        </p:spPr>
      </p:sp>
      <p:sp>
        <p:nvSpPr>
          <p:cNvPr id="16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65" name="PlaceHolder 3"/>
          <p:cNvSpPr>
            <a:spLocks noGrp="1"/>
          </p:cNvSpPr>
          <p:nvPr>
            <p:ph type="sldNum" idx="50"/>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3CC453B2-8752-4DDC-BA06-AD660630F86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66" name="PlaceHolder 4"/>
          <p:cNvSpPr>
            <a:spLocks noGrp="1"/>
          </p:cNvSpPr>
          <p:nvPr>
            <p:ph type="dt" idx="51"/>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DB099106-B088-453E-84C7-3E91ACC4152B}"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5320" cy="3085200"/>
          </a:xfrm>
          <a:prstGeom prst="rect">
            <a:avLst/>
          </a:prstGeom>
          <a:ln w="0">
            <a:noFill/>
          </a:ln>
        </p:spPr>
      </p:sp>
      <p:sp>
        <p:nvSpPr>
          <p:cNvPr id="168"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69" name="PlaceHolder 3"/>
          <p:cNvSpPr>
            <a:spLocks noGrp="1"/>
          </p:cNvSpPr>
          <p:nvPr>
            <p:ph type="sldNum" idx="52"/>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6AC15D1D-ED6C-4FAD-B522-3B89D3EB7C4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70" name="PlaceHolder 4"/>
          <p:cNvSpPr>
            <a:spLocks noGrp="1"/>
          </p:cNvSpPr>
          <p:nvPr>
            <p:ph type="dt" idx="53"/>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8270D004-F647-455E-B393-7D922C74CFEB}"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sldImg"/>
          </p:nvPr>
        </p:nvSpPr>
        <p:spPr>
          <a:xfrm>
            <a:off x="685800" y="1143000"/>
            <a:ext cx="5485320" cy="3085200"/>
          </a:xfrm>
          <a:prstGeom prst="rect">
            <a:avLst/>
          </a:prstGeom>
          <a:ln w="0">
            <a:noFill/>
          </a:ln>
        </p:spPr>
      </p:sp>
      <p:sp>
        <p:nvSpPr>
          <p:cNvPr id="17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3" name="PlaceHolder 3"/>
          <p:cNvSpPr>
            <a:spLocks noGrp="1"/>
          </p:cNvSpPr>
          <p:nvPr>
            <p:ph type="sldNum" idx="54"/>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86EE86CD-232E-4CD6-9A0A-E710D2A3E59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74" name="PlaceHolder 4"/>
          <p:cNvSpPr>
            <a:spLocks noGrp="1"/>
          </p:cNvSpPr>
          <p:nvPr>
            <p:ph type="dt" idx="55"/>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A44626DC-6EFA-459E-8CB0-0D2393CFFBE0}"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5320" cy="3085200"/>
          </a:xfrm>
          <a:prstGeom prst="rect">
            <a:avLst/>
          </a:prstGeom>
          <a:ln w="0">
            <a:noFill/>
          </a:ln>
        </p:spPr>
      </p:sp>
      <p:sp>
        <p:nvSpPr>
          <p:cNvPr id="17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77" name="PlaceHolder 3"/>
          <p:cNvSpPr>
            <a:spLocks noGrp="1"/>
          </p:cNvSpPr>
          <p:nvPr>
            <p:ph type="sldNum" idx="56"/>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51293C7D-B18F-4757-9CD4-165B3A5F486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78" name="PlaceHolder 4"/>
          <p:cNvSpPr>
            <a:spLocks noGrp="1"/>
          </p:cNvSpPr>
          <p:nvPr>
            <p:ph type="dt" idx="57"/>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17E882B0-3932-4961-A062-CC52D84AC021}"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685800" y="1143000"/>
            <a:ext cx="5485320" cy="3085200"/>
          </a:xfrm>
          <a:prstGeom prst="rect">
            <a:avLst/>
          </a:prstGeom>
          <a:ln w="0">
            <a:noFill/>
          </a:ln>
        </p:spPr>
      </p:sp>
      <p:sp>
        <p:nvSpPr>
          <p:cNvPr id="180"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1" name="PlaceHolder 3"/>
          <p:cNvSpPr>
            <a:spLocks noGrp="1"/>
          </p:cNvSpPr>
          <p:nvPr>
            <p:ph type="sldNum" idx="58"/>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7343030A-8AAC-4762-A91B-416ACF561C8B}"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82" name="PlaceHolder 4"/>
          <p:cNvSpPr>
            <a:spLocks noGrp="1"/>
          </p:cNvSpPr>
          <p:nvPr>
            <p:ph type="dt" idx="59"/>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BF9CD17E-47C5-46EC-BCA8-863ADC48D00B}"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685800" y="1143000"/>
            <a:ext cx="5485320" cy="3085200"/>
          </a:xfrm>
          <a:prstGeom prst="rect">
            <a:avLst/>
          </a:prstGeom>
          <a:ln w="0">
            <a:noFill/>
          </a:ln>
        </p:spPr>
      </p:sp>
      <p:sp>
        <p:nvSpPr>
          <p:cNvPr id="184"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185" name="PlaceHolder 3"/>
          <p:cNvSpPr>
            <a:spLocks noGrp="1"/>
          </p:cNvSpPr>
          <p:nvPr>
            <p:ph type="sldNum" idx="60"/>
          </p:nvPr>
        </p:nvSpPr>
        <p:spPr>
          <a:xfrm>
            <a:off x="3884760" y="8685360"/>
            <a:ext cx="2970720" cy="4575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b="0" lang="en-US" sz="1200" spc="-1" strike="noStrike">
                <a:solidFill>
                  <a:schemeClr val="dk1"/>
                </a:solidFill>
                <a:latin typeface="+mn-lt"/>
                <a:ea typeface="+mn-ea"/>
              </a:defRPr>
            </a:lvl1pPr>
          </a:lstStyle>
          <a:p>
            <a:pPr indent="0" algn="r" defTabSz="457200">
              <a:lnSpc>
                <a:spcPct val="100000"/>
              </a:lnSpc>
              <a:buNone/>
              <a:tabLst>
                <a:tab algn="l" pos="0"/>
              </a:tabLst>
            </a:pPr>
            <a:fld id="{FD31F09A-98BE-4EA1-9A7A-C23D1E5430F1}"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
        <p:nvSpPr>
          <p:cNvPr id="186" name="PlaceHolder 4"/>
          <p:cNvSpPr>
            <a:spLocks noGrp="1"/>
          </p:cNvSpPr>
          <p:nvPr>
            <p:ph type="dt" idx="61"/>
          </p:nvPr>
        </p:nvSpPr>
        <p:spPr>
          <a:xfrm>
            <a:off x="3884760" y="0"/>
            <a:ext cx="2970720" cy="457560"/>
          </a:xfrm>
          <a:prstGeom prst="rect">
            <a:avLst/>
          </a:prstGeom>
          <a:noFill/>
          <a:ln w="0">
            <a:noFill/>
          </a:ln>
        </p:spPr>
        <p:txBody>
          <a:bodyPr lIns="91440" rIns="91440" tIns="45720" bIns="45720" anchor="t">
            <a:noAutofit/>
          </a:bodyPr>
          <a:lstStyle>
            <a:lvl1pPr indent="0" algn="r">
              <a:lnSpc>
                <a:spcPct val="100000"/>
              </a:lnSpc>
              <a:buNone/>
              <a:tabLst>
                <a:tab algn="l" pos="0"/>
              </a:tabLst>
              <a:defRPr b="0" lang="tr-TR" sz="1200" spc="-1" strike="noStrike">
                <a:solidFill>
                  <a:srgbClr val="000000"/>
                </a:solidFill>
                <a:latin typeface="Times New Roman"/>
              </a:defRPr>
            </a:lvl1pPr>
          </a:lstStyle>
          <a:p>
            <a:pPr indent="0" algn="r">
              <a:lnSpc>
                <a:spcPct val="100000"/>
              </a:lnSpc>
              <a:buNone/>
              <a:tabLst>
                <a:tab algn="l" pos="0"/>
              </a:tabLst>
            </a:pPr>
            <a:fld id="{B770C1AC-88A0-4312-B3B9-E063FBF0465A}" type="datetime1">
              <a:rPr b="0" lang="tr-TR" sz="1200" spc="-1" strike="noStrike">
                <a:solidFill>
                  <a:srgbClr val="000000"/>
                </a:solidFill>
                <a:latin typeface="Times New Roman"/>
              </a:rPr>
              <a:t>08.09.2025</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 name="PlaceHolder 2"/>
          <p:cNvSpPr>
            <a:spLocks noGrp="1"/>
          </p:cNvSpPr>
          <p:nvPr>
            <p:ph type="subTitle"/>
          </p:nvPr>
        </p:nvSpPr>
        <p:spPr>
          <a:xfrm>
            <a:off x="838080" y="1107000"/>
            <a:ext cx="10514520" cy="506880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2C49CEC9-DB09-4B61-A1B7-A9B2CC9D6B9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7" name="PlaceHolder 2"/>
          <p:cNvSpPr>
            <a:spLocks noGrp="1"/>
          </p:cNvSpPr>
          <p:nvPr>
            <p:ph/>
          </p:nvPr>
        </p:nvSpPr>
        <p:spPr>
          <a:xfrm>
            <a:off x="838080" y="1107000"/>
            <a:ext cx="1051452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8215D91A-9946-4596-B0A2-56432EE8750A}"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32121FEA-FC4A-45F0-BEE7-6EF4ED08AEE1}"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2" name="PlaceHolder 2"/>
          <p:cNvSpPr>
            <a:spLocks noGrp="1"/>
          </p:cNvSpPr>
          <p:nvPr>
            <p:ph/>
          </p:nvPr>
        </p:nvSpPr>
        <p:spPr>
          <a:xfrm>
            <a:off x="838080" y="1107000"/>
            <a:ext cx="513108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3" name="PlaceHolder 3"/>
          <p:cNvSpPr>
            <a:spLocks noGrp="1"/>
          </p:cNvSpPr>
          <p:nvPr>
            <p:ph/>
          </p:nvPr>
        </p:nvSpPr>
        <p:spPr>
          <a:xfrm>
            <a:off x="6226200" y="1107000"/>
            <a:ext cx="5131080" cy="506880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0"/>
          </p:nvPr>
        </p:nvSpPr>
        <p:spPr/>
        <p:txBody>
          <a:bodyPr/>
          <a:p>
            <a:r>
              <a:t>Footer</a:t>
            </a:r>
          </a:p>
        </p:txBody>
      </p:sp>
      <p:sp>
        <p:nvSpPr>
          <p:cNvPr id="6" name="PlaceHolder 5"/>
          <p:cNvSpPr>
            <a:spLocks noGrp="1"/>
          </p:cNvSpPr>
          <p:nvPr>
            <p:ph type="sldNum" idx="11"/>
          </p:nvPr>
        </p:nvSpPr>
        <p:spPr/>
        <p:txBody>
          <a:bodyPr/>
          <a:p>
            <a:fld id="{00D53C08-27DC-4ADE-9C5B-2717E0CC1300}" type="slidenum">
              <a:t>&lt;#&gt;</a:t>
            </a:fld>
          </a:p>
        </p:txBody>
      </p:sp>
      <p:sp>
        <p:nvSpPr>
          <p:cNvPr id="7" name="PlaceHolder 6"/>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13"/>
          </p:nvPr>
        </p:nvSpPr>
        <p:spPr/>
        <p:txBody>
          <a:bodyPr/>
          <a:p>
            <a:r>
              <a:t>Footer</a:t>
            </a:r>
          </a:p>
        </p:txBody>
      </p:sp>
      <p:sp>
        <p:nvSpPr>
          <p:cNvPr id="4" name="PlaceHolder 3"/>
          <p:cNvSpPr>
            <a:spLocks noGrp="1"/>
          </p:cNvSpPr>
          <p:nvPr>
            <p:ph type="sldNum" idx="14"/>
          </p:nvPr>
        </p:nvSpPr>
        <p:spPr/>
        <p:txBody>
          <a:bodyPr/>
          <a:p>
            <a:fld id="{5D56A7E0-A717-42FB-BDBC-822025F75E4D}" type="slidenum">
              <a:t>&lt;#&gt;</a:t>
            </a:fld>
          </a:p>
        </p:txBody>
      </p:sp>
      <p:sp>
        <p:nvSpPr>
          <p:cNvPr id="5" name="PlaceHolder 4"/>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0C6FD971-7234-4F0A-92F1-61477D97A6C3}"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aşlık Slaydı">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 name="Picture 4" descr="Gebze Technical University"/>
          <p:cNvPicPr/>
          <p:nvPr/>
        </p:nvPicPr>
        <p:blipFill>
          <a:blip r:embed="rId2"/>
          <a:stretch/>
        </p:blipFill>
        <p:spPr>
          <a:xfrm>
            <a:off x="10150560" y="-89640"/>
            <a:ext cx="2158920" cy="1013040"/>
          </a:xfrm>
          <a:prstGeom prst="rect">
            <a:avLst/>
          </a:prstGeom>
          <a:ln w="0">
            <a:noFill/>
          </a:ln>
        </p:spPr>
      </p:pic>
      <p:sp>
        <p:nvSpPr>
          <p:cNvPr id="2"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 name="PlaceHolder 2"/>
          <p:cNvSpPr>
            <a:spLocks noGrp="1"/>
          </p:cNvSpPr>
          <p:nvPr>
            <p:ph type="ftr" idx="1"/>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3"/>
          <p:cNvSpPr>
            <a:spLocks noGrp="1"/>
          </p:cNvSpPr>
          <p:nvPr>
            <p:ph type="sldNum" idx="2"/>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A4E43FC4-08C3-4857-BD68-15095858099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 name="PlaceHolder 4"/>
          <p:cNvSpPr>
            <a:spLocks noGrp="1"/>
          </p:cNvSpPr>
          <p:nvPr>
            <p:ph type="dt" idx="3"/>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0" name="Picture 4" descr="Gebze Technical University"/>
          <p:cNvPicPr/>
          <p:nvPr/>
        </p:nvPicPr>
        <p:blipFill>
          <a:blip r:embed="rId2"/>
          <a:stretch/>
        </p:blipFill>
        <p:spPr>
          <a:xfrm>
            <a:off x="10150560" y="-89640"/>
            <a:ext cx="2158920" cy="1013040"/>
          </a:xfrm>
          <a:prstGeom prst="rect">
            <a:avLst/>
          </a:prstGeom>
          <a:ln w="0">
            <a:noFill/>
          </a:ln>
        </p:spPr>
      </p:pic>
      <p:sp>
        <p:nvSpPr>
          <p:cNvPr id="11"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2" name="PlaceHolder 2"/>
          <p:cNvSpPr>
            <a:spLocks noGrp="1"/>
          </p:cNvSpPr>
          <p:nvPr>
            <p:ph type="body"/>
          </p:nvPr>
        </p:nvSpPr>
        <p:spPr>
          <a:xfrm>
            <a:off x="838080" y="1107000"/>
            <a:ext cx="105145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3" name="PlaceHolder 3"/>
          <p:cNvSpPr>
            <a:spLocks noGrp="1"/>
          </p:cNvSpPr>
          <p:nvPr>
            <p:ph type="ftr" idx="4"/>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4" name="PlaceHolder 4"/>
          <p:cNvSpPr>
            <a:spLocks noGrp="1"/>
          </p:cNvSpPr>
          <p:nvPr>
            <p:ph type="sldNum" idx="5"/>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E071D40-A3B5-4C67-BE69-33B53A4C206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5" name="PlaceHolder 5"/>
          <p:cNvSpPr>
            <a:spLocks noGrp="1"/>
          </p:cNvSpPr>
          <p:nvPr>
            <p:ph type="dt" idx="6"/>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19" name="Picture 4" descr="Gebze Technical University"/>
          <p:cNvPicPr/>
          <p:nvPr/>
        </p:nvPicPr>
        <p:blipFill>
          <a:blip r:embed="rId2"/>
          <a:stretch/>
        </p:blipFill>
        <p:spPr>
          <a:xfrm>
            <a:off x="10150560" y="-89640"/>
            <a:ext cx="2158920" cy="1013040"/>
          </a:xfrm>
          <a:prstGeom prst="rect">
            <a:avLst/>
          </a:prstGeom>
          <a:ln w="0">
            <a:noFill/>
          </a:ln>
        </p:spPr>
      </p:pic>
      <p:sp>
        <p:nvSpPr>
          <p:cNvPr id="20" name="PlaceHolder 1"/>
          <p:cNvSpPr>
            <a:spLocks noGrp="1"/>
          </p:cNvSpPr>
          <p:nvPr>
            <p:ph type="ftr" idx="7"/>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1" name="PlaceHolder 2"/>
          <p:cNvSpPr>
            <a:spLocks noGrp="1"/>
          </p:cNvSpPr>
          <p:nvPr>
            <p:ph type="sldNum" idx="8"/>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7FA6101-8156-41D0-AF64-0D7B0E12443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2" name="PlaceHolder 3"/>
          <p:cNvSpPr>
            <a:spLocks noGrp="1"/>
          </p:cNvSpPr>
          <p:nvPr>
            <p:ph type="dt" idx="9"/>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24" name="Picture 4" descr="Gebze Technical University"/>
          <p:cNvPicPr/>
          <p:nvPr/>
        </p:nvPicPr>
        <p:blipFill>
          <a:blip r:embed="rId2"/>
          <a:stretch/>
        </p:blipFill>
        <p:spPr>
          <a:xfrm>
            <a:off x="10150560" y="-89640"/>
            <a:ext cx="2158920" cy="1013040"/>
          </a:xfrm>
          <a:prstGeom prst="rect">
            <a:avLst/>
          </a:prstGeom>
          <a:ln w="0">
            <a:noFill/>
          </a:ln>
        </p:spPr>
      </p:pic>
      <p:sp>
        <p:nvSpPr>
          <p:cNvPr id="25"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6" name="PlaceHolder 2"/>
          <p:cNvSpPr>
            <a:spLocks noGrp="1"/>
          </p:cNvSpPr>
          <p:nvPr>
            <p:ph type="body"/>
          </p:nvPr>
        </p:nvSpPr>
        <p:spPr>
          <a:xfrm>
            <a:off x="838080" y="1107000"/>
            <a:ext cx="51307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7" name="PlaceHolder 3"/>
          <p:cNvSpPr>
            <a:spLocks noGrp="1"/>
          </p:cNvSpPr>
          <p:nvPr>
            <p:ph type="body"/>
          </p:nvPr>
        </p:nvSpPr>
        <p:spPr>
          <a:xfrm>
            <a:off x="6226200" y="1107000"/>
            <a:ext cx="5130720" cy="50688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8" name="PlaceHolder 4"/>
          <p:cNvSpPr>
            <a:spLocks noGrp="1"/>
          </p:cNvSpPr>
          <p:nvPr>
            <p:ph type="ftr" idx="10"/>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9" name="PlaceHolder 5"/>
          <p:cNvSpPr>
            <a:spLocks noGrp="1"/>
          </p:cNvSpPr>
          <p:nvPr>
            <p:ph type="sldNum" idx="11"/>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8126A415-0FFE-4F8E-AF59-61E9488D0C0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0" name="PlaceHolder 6"/>
          <p:cNvSpPr>
            <a:spLocks noGrp="1"/>
          </p:cNvSpPr>
          <p:nvPr>
            <p:ph type="dt" idx="12"/>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35" name="Picture 4" descr="Gebze Technical University"/>
          <p:cNvPicPr/>
          <p:nvPr/>
        </p:nvPicPr>
        <p:blipFill>
          <a:blip r:embed="rId2"/>
          <a:stretch/>
        </p:blipFill>
        <p:spPr>
          <a:xfrm>
            <a:off x="10150560" y="-89640"/>
            <a:ext cx="2158920" cy="1013040"/>
          </a:xfrm>
          <a:prstGeom prst="rect">
            <a:avLst/>
          </a:prstGeom>
          <a:ln w="0">
            <a:noFill/>
          </a:ln>
        </p:spPr>
      </p:pic>
      <p:sp>
        <p:nvSpPr>
          <p:cNvPr id="36" name="PlaceHolder 1"/>
          <p:cNvSpPr>
            <a:spLocks noGrp="1"/>
          </p:cNvSpPr>
          <p:nvPr>
            <p:ph type="title"/>
          </p:nvPr>
        </p:nvSpPr>
        <p:spPr>
          <a:xfrm>
            <a:off x="838080" y="365040"/>
            <a:ext cx="10514520" cy="64296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 name="PlaceHolder 2"/>
          <p:cNvSpPr>
            <a:spLocks noGrp="1"/>
          </p:cNvSpPr>
          <p:nvPr>
            <p:ph type="ftr" idx="13"/>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3"/>
          <p:cNvSpPr>
            <a:spLocks noGrp="1"/>
          </p:cNvSpPr>
          <p:nvPr>
            <p:ph type="sldNum" idx="14"/>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626FA61A-A7D6-4A06-8102-C73D19A6977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9" name="PlaceHolder 4"/>
          <p:cNvSpPr>
            <a:spLocks noGrp="1"/>
          </p:cNvSpPr>
          <p:nvPr>
            <p:ph type="dt" idx="15"/>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2" name="Picture 4" descr="Gebze Technical University"/>
          <p:cNvPicPr/>
          <p:nvPr/>
        </p:nvPicPr>
        <p:blipFill>
          <a:blip r:embed="rId2"/>
          <a:stretch/>
        </p:blipFill>
        <p:spPr>
          <a:xfrm>
            <a:off x="10150560" y="-89640"/>
            <a:ext cx="2158920" cy="1013040"/>
          </a:xfrm>
          <a:prstGeom prst="rect">
            <a:avLst/>
          </a:prstGeom>
          <a:ln w="0">
            <a:noFill/>
          </a:ln>
        </p:spPr>
      </p:pic>
      <p:sp>
        <p:nvSpPr>
          <p:cNvPr id="43" name="PlaceHolder 1"/>
          <p:cNvSpPr>
            <a:spLocks noGrp="1"/>
          </p:cNvSpPr>
          <p:nvPr>
            <p:ph type="ftr" idx="16"/>
          </p:nvPr>
        </p:nvSpPr>
        <p:spPr>
          <a:xfrm>
            <a:off x="403848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2"/>
          <p:cNvSpPr>
            <a:spLocks noGrp="1"/>
          </p:cNvSpPr>
          <p:nvPr>
            <p:ph type="sldNum" idx="17"/>
          </p:nvPr>
        </p:nvSpPr>
        <p:spPr>
          <a:xfrm>
            <a:off x="8610480" y="6356520"/>
            <a:ext cx="2742120" cy="36396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b="0" lang="en-US" sz="1200" spc="-1" strike="noStrike">
                <a:solidFill>
                  <a:schemeClr val="dk1">
                    <a:tint val="75000"/>
                  </a:schemeClr>
                </a:solidFill>
                <a:latin typeface="Calibri"/>
              </a:defRPr>
            </a:lvl1pPr>
          </a:lstStyle>
          <a:p>
            <a:pPr indent="0" algn="r" defTabSz="457200">
              <a:lnSpc>
                <a:spcPct val="100000"/>
              </a:lnSpc>
              <a:buNone/>
              <a:tabLst>
                <a:tab algn="l" pos="0"/>
              </a:tabLst>
            </a:pPr>
            <a:fld id="{B6380536-9963-47BD-94D1-968C3A113DA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5" name="PlaceHolder 3"/>
          <p:cNvSpPr>
            <a:spLocks noGrp="1"/>
          </p:cNvSpPr>
          <p:nvPr>
            <p:ph type="dt" idx="18"/>
          </p:nvPr>
        </p:nvSpPr>
        <p:spPr>
          <a:xfrm>
            <a:off x="838080" y="6356520"/>
            <a:ext cx="274212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TextBox 6"/>
          <p:cNvSpPr/>
          <p:nvPr/>
        </p:nvSpPr>
        <p:spPr>
          <a:xfrm>
            <a:off x="41400" y="6539040"/>
            <a:ext cx="5150160" cy="303120"/>
          </a:xfrm>
          <a:prstGeom prst="rect">
            <a:avLst/>
          </a:prstGeom>
          <a:noFill/>
          <a:ln w="0">
            <a:noFill/>
          </a:ln>
        </p:spPr>
        <p:style>
          <a:lnRef idx="0"/>
          <a:fillRef idx="0"/>
          <a:effectRef idx="0"/>
          <a:fontRef idx="minor"/>
        </p:style>
        <p:txBody>
          <a:bodyPr wrap="none" lIns="90000" rIns="90000" tIns="45000" bIns="45000" anchor="t">
            <a:spAutoFit/>
          </a:bodyPr>
          <a:p>
            <a:pPr defTabSz="457200">
              <a:lnSpc>
                <a:spcPct val="100000"/>
              </a:lnSpc>
            </a:pPr>
            <a:r>
              <a:rPr b="1" lang="en-US" sz="1400" spc="-1" strike="noStrike">
                <a:solidFill>
                  <a:schemeClr val="dk1"/>
                </a:solidFill>
                <a:latin typeface="Calibri"/>
              </a:rPr>
              <a:t>ENG 346 – Data Structures and Algorithms for Artificial Intelligence </a:t>
            </a:r>
            <a:endParaRPr b="0" lang="en-US" sz="1400" spc="-1" strike="noStrike">
              <a:solidFill>
                <a:srgbClr val="000000"/>
              </a:solidFill>
              <a:latin typeface="Arial"/>
            </a:endParaRPr>
          </a:p>
        </p:txBody>
      </p:sp>
      <p:pic>
        <p:nvPicPr>
          <p:cNvPr id="47" name="Picture 4" descr="Gebze Technical University"/>
          <p:cNvPicPr/>
          <p:nvPr/>
        </p:nvPicPr>
        <p:blipFill>
          <a:blip r:embed="rId2"/>
          <a:stretch/>
        </p:blipFill>
        <p:spPr>
          <a:xfrm>
            <a:off x="10150560" y="-89640"/>
            <a:ext cx="2158920" cy="10130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61" r:id="rId3"/>
  </p:sldLayoutIdLst>
</p:sldMaster>
</file>

<file path=ppt/slides/_rels/slide1.xml.rels><?xml version="1.0" encoding="UTF-8"?>
<Relationships xmlns="http://schemas.openxmlformats.org/package/2006/relationships"><Relationship Id="rId1" Type="http://schemas.openxmlformats.org/officeDocument/2006/relationships/hyperlink" Target="mailto:mpekmezci@gtu.edu.tr" TargetMode="External"/><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wmf"/><Relationship Id="rId2" Type="http://schemas.openxmlformats.org/officeDocument/2006/relationships/slideLayout" Target="../slideLayouts/slideLayout2.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6.wmf"/><Relationship Id="rId2" Type="http://schemas.openxmlformats.org/officeDocument/2006/relationships/slideLayout" Target="../slideLayouts/slideLayout2.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1209600" y="1122480"/>
            <a:ext cx="10009800" cy="3128400"/>
          </a:xfrm>
          <a:prstGeom prst="rect">
            <a:avLst/>
          </a:prstGeom>
          <a:noFill/>
          <a:ln w="0">
            <a:noFill/>
          </a:ln>
        </p:spPr>
        <p:txBody>
          <a:bodyPr lIns="91440" rIns="91440" tIns="45720" bIns="45720" anchor="b">
            <a:normAutofit fontScale="81111" lnSpcReduction="10000"/>
          </a:bodyPr>
          <a:p>
            <a:pPr indent="0" algn="ctr" defTabSz="914400">
              <a:lnSpc>
                <a:spcPct val="90000"/>
              </a:lnSpc>
              <a:buNone/>
              <a:tabLst>
                <a:tab algn="l" pos="0"/>
              </a:tabLst>
            </a:pPr>
            <a:r>
              <a:rPr b="1" lang="en-US" sz="6000" spc="-1" strike="noStrike">
                <a:solidFill>
                  <a:srgbClr val="c00000"/>
                </a:solidFill>
                <a:latin typeface="Calibri Light"/>
              </a:rPr>
              <a:t>ENG 346</a:t>
            </a:r>
            <a:br>
              <a:rPr sz="6000"/>
            </a:br>
            <a:r>
              <a:rPr b="1" lang="en-US" sz="6000" spc="-1" strike="noStrike">
                <a:solidFill>
                  <a:srgbClr val="c00000"/>
                </a:solidFill>
                <a:latin typeface="Calibri Light"/>
              </a:rPr>
              <a:t>Data Structures and Algorithms for Artificial Intelligence</a:t>
            </a:r>
            <a:br>
              <a:rPr sz="6000"/>
            </a:br>
            <a:r>
              <a:rPr b="1" lang="en-US" sz="4900" spc="-1" strike="noStrike">
                <a:solidFill>
                  <a:schemeClr val="dk1"/>
                </a:solidFill>
                <a:latin typeface="Calibri Light"/>
              </a:rPr>
              <a:t>Object-Oriented Programming</a:t>
            </a:r>
            <a:endParaRPr b="0" lang="en-US" sz="4900" spc="-1" strike="noStrike">
              <a:solidFill>
                <a:srgbClr val="000000"/>
              </a:solidFill>
              <a:latin typeface="Arial"/>
            </a:endParaRPr>
          </a:p>
        </p:txBody>
      </p:sp>
      <p:sp>
        <p:nvSpPr>
          <p:cNvPr id="55" name="PlaceHolder 2"/>
          <p:cNvSpPr>
            <a:spLocks noGrp="1"/>
          </p:cNvSpPr>
          <p:nvPr>
            <p:ph type="subTitle"/>
          </p:nvPr>
        </p:nvSpPr>
        <p:spPr>
          <a:xfrm>
            <a:off x="1523880" y="4404240"/>
            <a:ext cx="9142920" cy="100476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b="0" lang="en-US" sz="2400" spc="-1" strike="noStrike">
                <a:solidFill>
                  <a:schemeClr val="dk1"/>
                </a:solidFill>
                <a:latin typeface="Calibri"/>
              </a:rPr>
              <a:t>Dr. Mehmet PEKMEZCİ</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hlinkClick r:id="rId1"/>
              </a:rPr>
              <a:t>mpekmezci@gtu.edu.tr</a:t>
            </a:r>
            <a:endParaRPr b="0" lang="en-US" sz="2400" spc="-1" strike="noStrike">
              <a:solidFill>
                <a:srgbClr val="000000"/>
              </a:solidFill>
              <a:latin typeface="Arial"/>
            </a:endParaRPr>
          </a:p>
          <a:p>
            <a:pPr indent="0" algn="ctr" defTabSz="914400">
              <a:lnSpc>
                <a:spcPct val="90000"/>
              </a:lnSpc>
              <a:spcBef>
                <a:spcPts val="1001"/>
              </a:spcBef>
              <a:buNone/>
              <a:tabLst>
                <a:tab algn="l" pos="0"/>
              </a:tabLst>
            </a:pPr>
            <a:r>
              <a:rPr b="0" lang="en-US" sz="2400" spc="-1" strike="noStrike">
                <a:solidFill>
                  <a:schemeClr val="dk1"/>
                </a:solidFill>
                <a:latin typeface="Calibri"/>
              </a:rPr>
              <a:t>https://github.com/mehmetpekmezci/GTU-ENG-346</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Agenda</a:t>
            </a:r>
            <a:endParaRPr b="0" lang="en-US" sz="4400" spc="-1" strike="noStrike">
              <a:solidFill>
                <a:srgbClr val="000000"/>
              </a:solidFill>
              <a:latin typeface="Arial"/>
            </a:endParaRPr>
          </a:p>
        </p:txBody>
      </p:sp>
      <p:sp>
        <p:nvSpPr>
          <p:cNvPr id="57"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Object-Oriented Basics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Class Definitions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Encapsulation</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Inheritance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Polymorphism</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Operator Overloading</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Examples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What is a Class?</a:t>
            </a:r>
            <a:endParaRPr b="0" lang="en-US" sz="4400" spc="-1" strike="noStrike">
              <a:solidFill>
                <a:srgbClr val="000000"/>
              </a:solidFill>
              <a:latin typeface="Arial"/>
            </a:endParaRPr>
          </a:p>
        </p:txBody>
      </p:sp>
      <p:sp>
        <p:nvSpPr>
          <p:cNvPr id="59"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93333" lnSpcReduction="10000"/>
          </a:bodyPr>
          <a:p>
            <a:pPr marL="228600" indent="-228600" defTabSz="914400">
              <a:lnSpc>
                <a:spcPct val="90000"/>
              </a:lnSpc>
              <a:spcBef>
                <a:spcPts val="1001"/>
              </a:spcBef>
              <a:buClr>
                <a:srgbClr val="374151"/>
              </a:buClr>
              <a:buFont typeface="Arial"/>
              <a:buChar char="•"/>
            </a:pPr>
            <a:r>
              <a:rPr b="0" lang="en-US" sz="2800" spc="-1" strike="noStrike">
                <a:solidFill>
                  <a:srgbClr val="374151"/>
                </a:solidFill>
                <a:latin typeface="Söhne"/>
              </a:rPr>
              <a:t>A blueprint or template in object-oriented programming that defines the </a:t>
            </a:r>
            <a:r>
              <a:rPr b="0" i="1" lang="en-US" sz="2800" spc="-1" strike="noStrike">
                <a:solidFill>
                  <a:srgbClr val="374151"/>
                </a:solidFill>
                <a:latin typeface="Söhne"/>
              </a:rPr>
              <a:t>structure</a:t>
            </a:r>
            <a:r>
              <a:rPr b="0" lang="en-US" sz="2800" spc="-1" strike="noStrike">
                <a:solidFill>
                  <a:srgbClr val="374151"/>
                </a:solidFill>
                <a:latin typeface="Söhne"/>
              </a:rPr>
              <a:t> and </a:t>
            </a:r>
            <a:r>
              <a:rPr b="0" i="1" lang="en-US" sz="2800" spc="-1" strike="noStrike">
                <a:solidFill>
                  <a:srgbClr val="374151"/>
                </a:solidFill>
                <a:latin typeface="Söhne"/>
              </a:rPr>
              <a:t>behavior</a:t>
            </a:r>
            <a:r>
              <a:rPr b="0" lang="en-US" sz="2800" spc="-1" strike="noStrike">
                <a:solidFill>
                  <a:srgbClr val="374151"/>
                </a:solidFill>
                <a:latin typeface="Söhne"/>
              </a:rPr>
              <a:t> of objects.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374151"/>
              </a:buClr>
              <a:buFont typeface="Arial"/>
              <a:buChar char="•"/>
              <a:tabLst>
                <a:tab algn="l" pos="0"/>
              </a:tabLst>
            </a:pPr>
            <a:r>
              <a:rPr b="0" lang="en-US" sz="2800" spc="-1" strike="noStrike">
                <a:solidFill>
                  <a:srgbClr val="374151"/>
                </a:solidFill>
                <a:latin typeface="Söhne"/>
              </a:rPr>
              <a:t>An abstraction to a key concept through its structure and behavior.</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374151"/>
              </a:buClr>
              <a:buFont typeface="Arial"/>
              <a:buChar char="•"/>
              <a:tabLst>
                <a:tab algn="l" pos="0"/>
              </a:tabLst>
            </a:pPr>
            <a:r>
              <a:rPr b="0" lang="en-US" sz="2800" spc="-1" strike="noStrike">
                <a:solidFill>
                  <a:srgbClr val="374151"/>
                </a:solidFill>
                <a:latin typeface="Söhne"/>
              </a:rPr>
              <a:t>Attributes: Data the class will be holding.</a:t>
            </a:r>
            <a:endParaRPr b="0" lang="en-US" sz="2800" spc="-1" strike="noStrike">
              <a:solidFill>
                <a:srgbClr val="000000"/>
              </a:solidFill>
              <a:latin typeface="Arial"/>
            </a:endParaRPr>
          </a:p>
          <a:p>
            <a:pPr marL="228600" indent="-228600" defTabSz="914400">
              <a:lnSpc>
                <a:spcPct val="90000"/>
              </a:lnSpc>
              <a:spcBef>
                <a:spcPts val="1001"/>
              </a:spcBef>
              <a:buClr>
                <a:srgbClr val="374151"/>
              </a:buClr>
              <a:buFont typeface="Arial"/>
              <a:buChar char="•"/>
              <a:tabLst>
                <a:tab algn="l" pos="0"/>
              </a:tabLst>
            </a:pPr>
            <a:r>
              <a:rPr b="0" lang="en-US" sz="2800" spc="-1" strike="noStrike">
                <a:solidFill>
                  <a:srgbClr val="374151"/>
                </a:solidFill>
                <a:latin typeface="Söhne"/>
              </a:rPr>
              <a:t>Methods: Operations on the data</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Class encapsulates both data (attributes/properties) and behavior (methods/messages) making it easier to model and manipulate complex systems.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5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5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5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59">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 Car Class</a:t>
            </a:r>
            <a:endParaRPr b="0" lang="en-US" sz="4400" spc="-1" strike="noStrike">
              <a:solidFill>
                <a:srgbClr val="000000"/>
              </a:solidFill>
              <a:latin typeface="Arial"/>
            </a:endParaRPr>
          </a:p>
        </p:txBody>
      </p:sp>
      <p:sp>
        <p:nvSpPr>
          <p:cNvPr id="61" name="TextBox 6"/>
          <p:cNvSpPr/>
          <p:nvPr/>
        </p:nvSpPr>
        <p:spPr>
          <a:xfrm>
            <a:off x="4743360" y="1706400"/>
            <a:ext cx="3079800" cy="363960"/>
          </a:xfrm>
          <a:prstGeom prst="rect">
            <a:avLst/>
          </a:prstGeom>
          <a:noFill/>
          <a:ln w="0">
            <a:solidFill>
              <a:srgbClr val="000000"/>
            </a:solidFill>
          </a:ln>
        </p:spPr>
        <p:style>
          <a:lnRef idx="0"/>
          <a:fillRef idx="0"/>
          <a:effectRef idx="0"/>
          <a:fontRef idx="minor"/>
        </p:style>
        <p:txBody>
          <a:bodyPr lIns="90000" rIns="90000" tIns="45000" bIns="45000" anchor="t">
            <a:spAutoFit/>
          </a:bodyPr>
          <a:p>
            <a:pPr algn="ctr" defTabSz="457200">
              <a:lnSpc>
                <a:spcPct val="100000"/>
              </a:lnSpc>
            </a:pPr>
            <a:r>
              <a:rPr b="0" lang="en-US" sz="1800" spc="-1" strike="noStrike">
                <a:solidFill>
                  <a:schemeClr val="dk1"/>
                </a:solidFill>
                <a:latin typeface="Calibri"/>
              </a:rPr>
              <a:t>Class: Car</a:t>
            </a:r>
            <a:endParaRPr b="0" lang="en-US" sz="1800" spc="-1" strike="noStrike">
              <a:solidFill>
                <a:srgbClr val="000000"/>
              </a:solidFill>
              <a:latin typeface="Arial"/>
            </a:endParaRPr>
          </a:p>
        </p:txBody>
      </p:sp>
      <p:sp>
        <p:nvSpPr>
          <p:cNvPr id="62" name="TextBox 7"/>
          <p:cNvSpPr/>
          <p:nvPr/>
        </p:nvSpPr>
        <p:spPr>
          <a:xfrm>
            <a:off x="4743360" y="2075760"/>
            <a:ext cx="3079800" cy="1461240"/>
          </a:xfrm>
          <a:prstGeom prst="rect">
            <a:avLst/>
          </a:prstGeom>
          <a:noFill/>
          <a:ln w="0">
            <a:solidFill>
              <a:srgbClr val="000000"/>
            </a:solid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chemeClr val="dk1"/>
                </a:solidFill>
                <a:latin typeface="Calibri"/>
              </a:rPr>
              <a:t>Attributes:</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Color</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Production Year</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Maximum Speed</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a:t>
            </a:r>
            <a:endParaRPr b="0" lang="en-US" sz="1800" spc="-1" strike="noStrike">
              <a:solidFill>
                <a:srgbClr val="000000"/>
              </a:solidFill>
              <a:latin typeface="Arial"/>
            </a:endParaRPr>
          </a:p>
        </p:txBody>
      </p:sp>
      <p:sp>
        <p:nvSpPr>
          <p:cNvPr id="63" name="TextBox 8"/>
          <p:cNvSpPr/>
          <p:nvPr/>
        </p:nvSpPr>
        <p:spPr>
          <a:xfrm>
            <a:off x="4743360" y="3552840"/>
            <a:ext cx="3079800" cy="1461240"/>
          </a:xfrm>
          <a:prstGeom prst="rect">
            <a:avLst/>
          </a:prstGeom>
          <a:noFill/>
          <a:ln w="0">
            <a:solidFill>
              <a:srgbClr val="000000"/>
            </a:solid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chemeClr val="dk1"/>
                </a:solidFill>
                <a:latin typeface="Calibri"/>
              </a:rPr>
              <a:t>Methods:</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Accelerate()</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Break()</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Turn_on_the_lights()</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
                                  <p:stCondLst>
                                    <p:cond delay="0"/>
                                  </p:stCondLst>
                                  <p:childTnLst>
                                    <p:set>
                                      <p:cBhvr>
                                        <p:cTn id="28" dur="1" fill="hold">
                                          <p:stCondLst>
                                            <p:cond delay="0"/>
                                          </p:stCondLst>
                                        </p:cTn>
                                        <p:tgtEl>
                                          <p:spTgt spid="62">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nodeType="clickEffect" fill="hold" presetClass="entr" presetID="1">
                                  <p:stCondLst>
                                    <p:cond delay="0"/>
                                  </p:stCondLst>
                                  <p:childTnLst>
                                    <p:set>
                                      <p:cBhvr>
                                        <p:cTn id="32" dur="1" fill="hold">
                                          <p:stCondLst>
                                            <p:cond delay="0"/>
                                          </p:stCondLst>
                                        </p:cTn>
                                        <p:tgtEl>
                                          <p:spTgt spid="62">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62">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62">
                                            <p:txEl>
                                              <p:pRg st="3" end="3"/>
                                            </p:txEl>
                                          </p:spTgt>
                                        </p:tgtEl>
                                        <p:attrNameLst>
                                          <p:attrName>style.visibility</p:attrName>
                                        </p:attrNameLst>
                                      </p:cBhvr>
                                      <p:to>
                                        <p:strVal val="visible"/>
                                      </p:to>
                                    </p:set>
                                  </p:childTnLst>
                                </p:cTn>
                              </p:par>
                              <p:par>
                                <p:cTn id="41" nodeType="withEffect" fill="hold" presetClass="entr" presetID="1">
                                  <p:stCondLst>
                                    <p:cond delay="0"/>
                                  </p:stCondLst>
                                  <p:childTnLst>
                                    <p:set>
                                      <p:cBhvr>
                                        <p:cTn id="42" dur="1" fill="hold">
                                          <p:stCondLst>
                                            <p:cond delay="0"/>
                                          </p:stCondLst>
                                        </p:cTn>
                                        <p:tgtEl>
                                          <p:spTgt spid="62">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
                                  <p:stCondLst>
                                    <p:cond delay="0"/>
                                  </p:stCondLst>
                                  <p:childTnLst>
                                    <p:set>
                                      <p:cBhvr>
                                        <p:cTn id="46" dur="1" fill="hold">
                                          <p:stCondLst>
                                            <p:cond delay="0"/>
                                          </p:stCondLst>
                                        </p:cTn>
                                        <p:tgtEl>
                                          <p:spTgt spid="6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1">
                                  <p:stCondLst>
                                    <p:cond delay="0"/>
                                  </p:stCondLst>
                                  <p:childTnLst>
                                    <p:set>
                                      <p:cBhvr>
                                        <p:cTn id="50" dur="1" fill="hold">
                                          <p:stCondLst>
                                            <p:cond delay="0"/>
                                          </p:stCondLst>
                                        </p:cTn>
                                        <p:tgtEl>
                                          <p:spTgt spid="63">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nodeType="clickEffect" fill="hold" presetClass="entr" presetID="1">
                                  <p:stCondLst>
                                    <p:cond delay="0"/>
                                  </p:stCondLst>
                                  <p:childTnLst>
                                    <p:set>
                                      <p:cBhvr>
                                        <p:cTn id="54" dur="1" fill="hold">
                                          <p:stCondLst>
                                            <p:cond delay="0"/>
                                          </p:stCondLst>
                                        </p:cTn>
                                        <p:tgtEl>
                                          <p:spTgt spid="63">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nodeType="clickEffect" fill="hold" presetClass="entr" presetID="1">
                                  <p:stCondLst>
                                    <p:cond delay="0"/>
                                  </p:stCondLst>
                                  <p:childTnLst>
                                    <p:set>
                                      <p:cBhvr>
                                        <p:cTn id="58" dur="1" fill="hold">
                                          <p:stCondLst>
                                            <p:cond delay="0"/>
                                          </p:stCondLst>
                                        </p:cTn>
                                        <p:tgtEl>
                                          <p:spTgt spid="63">
                                            <p:txEl>
                                              <p:pRg st="3" end="3"/>
                                            </p:txEl>
                                          </p:spTgt>
                                        </p:tgtEl>
                                        <p:attrNameLst>
                                          <p:attrName>style.visibility</p:attrName>
                                        </p:attrNameLst>
                                      </p:cBhvr>
                                      <p:to>
                                        <p:strVal val="visible"/>
                                      </p:to>
                                    </p:set>
                                  </p:childTnLst>
                                </p:cTn>
                              </p:par>
                              <p:par>
                                <p:cTn id="59" nodeType="withEffect" fill="hold" presetClass="entr" presetID="1">
                                  <p:stCondLst>
                                    <p:cond delay="0"/>
                                  </p:stCondLst>
                                  <p:childTnLst>
                                    <p:set>
                                      <p:cBhvr>
                                        <p:cTn id="60" dur="1" fill="hold">
                                          <p:stCondLst>
                                            <p:cond delay="0"/>
                                          </p:stCondLst>
                                        </p:cTn>
                                        <p:tgtEl>
                                          <p:spTgt spid="63">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What is an Object?</a:t>
            </a:r>
            <a:endParaRPr b="0" lang="en-US" sz="4400" spc="-1" strike="noStrike">
              <a:solidFill>
                <a:srgbClr val="000000"/>
              </a:solidFill>
              <a:latin typeface="Arial"/>
            </a:endParaRPr>
          </a:p>
        </p:txBody>
      </p:sp>
      <p:sp>
        <p:nvSpPr>
          <p:cNvPr id="65"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An object is an </a:t>
            </a:r>
            <a:r>
              <a:rPr b="0" i="1" lang="en-US" sz="2800" spc="-1" strike="noStrike">
                <a:solidFill>
                  <a:schemeClr val="dk1"/>
                </a:solidFill>
                <a:latin typeface="Calibri"/>
              </a:rPr>
              <a:t>instance</a:t>
            </a:r>
            <a:r>
              <a:rPr b="0" lang="en-US" sz="2800" spc="-1" strike="noStrike">
                <a:solidFill>
                  <a:schemeClr val="dk1"/>
                </a:solidFill>
                <a:latin typeface="Calibri"/>
              </a:rPr>
              <a:t> of a class.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Realization of a Class</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Objects represent real-world entities, concepts, or things in your program.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Example: My Car</a:t>
            </a:r>
            <a:endParaRPr b="0" lang="en-US" sz="4400" spc="-1" strike="noStrike">
              <a:solidFill>
                <a:srgbClr val="000000"/>
              </a:solidFill>
              <a:latin typeface="Arial"/>
            </a:endParaRPr>
          </a:p>
        </p:txBody>
      </p:sp>
      <p:grpSp>
        <p:nvGrpSpPr>
          <p:cNvPr id="67" name="Group 12"/>
          <p:cNvGrpSpPr/>
          <p:nvPr/>
        </p:nvGrpSpPr>
        <p:grpSpPr>
          <a:xfrm>
            <a:off x="5149440" y="676080"/>
            <a:ext cx="1892160" cy="1960560"/>
            <a:chOff x="5149440" y="676080"/>
            <a:chExt cx="1892160" cy="1960560"/>
          </a:xfrm>
        </p:grpSpPr>
        <p:sp>
          <p:nvSpPr>
            <p:cNvPr id="68" name="TextBox 3"/>
            <p:cNvSpPr/>
            <p:nvPr/>
          </p:nvSpPr>
          <p:spPr>
            <a:xfrm>
              <a:off x="5149440" y="676080"/>
              <a:ext cx="1892160" cy="242280"/>
            </a:xfrm>
            <a:prstGeom prst="rect">
              <a:avLst/>
            </a:prstGeom>
            <a:noFill/>
            <a:ln w="0">
              <a:solidFill>
                <a:srgbClr val="000000"/>
              </a:solidFill>
            </a:ln>
          </p:spPr>
          <p:style>
            <a:lnRef idx="0"/>
            <a:fillRef idx="0"/>
            <a:effectRef idx="0"/>
            <a:fontRef idx="minor"/>
          </p:style>
          <p:txBody>
            <a:bodyPr lIns="90000" rIns="90000" tIns="45000" bIns="45000" anchor="t">
              <a:spAutoFit/>
            </a:bodyPr>
            <a:p>
              <a:pPr algn="ctr" defTabSz="457200">
                <a:lnSpc>
                  <a:spcPct val="100000"/>
                </a:lnSpc>
              </a:pPr>
              <a:r>
                <a:rPr b="0" lang="en-US" sz="1000" spc="-1" strike="noStrike">
                  <a:solidFill>
                    <a:schemeClr val="dk1"/>
                  </a:solidFill>
                  <a:latin typeface="Calibri"/>
                </a:rPr>
                <a:t>Class: Car</a:t>
              </a:r>
              <a:endParaRPr b="0" lang="en-US" sz="1000" spc="-1" strike="noStrike">
                <a:solidFill>
                  <a:srgbClr val="000000"/>
                </a:solidFill>
                <a:latin typeface="Arial"/>
              </a:endParaRPr>
            </a:p>
          </p:txBody>
        </p:sp>
        <p:sp>
          <p:nvSpPr>
            <p:cNvPr id="69" name="TextBox 4"/>
            <p:cNvSpPr/>
            <p:nvPr/>
          </p:nvSpPr>
          <p:spPr>
            <a:xfrm>
              <a:off x="5149440" y="921960"/>
              <a:ext cx="1892160" cy="852840"/>
            </a:xfrm>
            <a:prstGeom prst="rect">
              <a:avLst/>
            </a:prstGeom>
            <a:noFill/>
            <a:ln w="0">
              <a:solidFill>
                <a:srgbClr val="000000"/>
              </a:solidFill>
            </a:ln>
          </p:spPr>
          <p:style>
            <a:lnRef idx="0"/>
            <a:fillRef idx="0"/>
            <a:effectRef idx="0"/>
            <a:fontRef idx="minor"/>
          </p:style>
          <p:txBody>
            <a:bodyPr lIns="90000" rIns="90000" tIns="45000" bIns="45000" anchor="t">
              <a:spAutoFit/>
            </a:bodyPr>
            <a:p>
              <a:pPr defTabSz="457200">
                <a:lnSpc>
                  <a:spcPct val="100000"/>
                </a:lnSpc>
              </a:pPr>
              <a:r>
                <a:rPr b="0" lang="en-US" sz="1000" spc="-1" strike="noStrike">
                  <a:solidFill>
                    <a:schemeClr val="dk1"/>
                  </a:solidFill>
                  <a:latin typeface="Calibri"/>
                </a:rPr>
                <a:t>Attributes:</a:t>
              </a:r>
              <a:endParaRPr b="0" lang="en-US" sz="1000" spc="-1" strike="noStrike">
                <a:solidFill>
                  <a:srgbClr val="000000"/>
                </a:solidFill>
                <a:latin typeface="Arial"/>
              </a:endParaRPr>
            </a:p>
            <a:p>
              <a:pPr marL="285840" indent="-285840" defTabSz="457200">
                <a:lnSpc>
                  <a:spcPct val="100000"/>
                </a:lnSpc>
                <a:buClr>
                  <a:srgbClr val="000000"/>
                </a:buClr>
                <a:buFont typeface="Arial"/>
                <a:buChar char="•"/>
              </a:pPr>
              <a:r>
                <a:rPr b="0" lang="en-US" sz="1000" spc="-1" strike="noStrike">
                  <a:solidFill>
                    <a:schemeClr val="dk1"/>
                  </a:solidFill>
                  <a:latin typeface="Calibri"/>
                </a:rPr>
                <a:t>Color</a:t>
              </a:r>
              <a:endParaRPr b="0" lang="en-US" sz="1000" spc="-1" strike="noStrike">
                <a:solidFill>
                  <a:srgbClr val="000000"/>
                </a:solidFill>
                <a:latin typeface="Arial"/>
              </a:endParaRPr>
            </a:p>
            <a:p>
              <a:pPr marL="285840" indent="-285840" defTabSz="457200">
                <a:lnSpc>
                  <a:spcPct val="100000"/>
                </a:lnSpc>
                <a:buClr>
                  <a:srgbClr val="000000"/>
                </a:buClr>
                <a:buFont typeface="Arial"/>
                <a:buChar char="•"/>
              </a:pPr>
              <a:r>
                <a:rPr b="0" lang="en-US" sz="1000" spc="-1" strike="noStrike">
                  <a:solidFill>
                    <a:schemeClr val="dk1"/>
                  </a:solidFill>
                  <a:latin typeface="Calibri"/>
                </a:rPr>
                <a:t>Production Year</a:t>
              </a:r>
              <a:endParaRPr b="0" lang="en-US" sz="1000" spc="-1" strike="noStrike">
                <a:solidFill>
                  <a:srgbClr val="000000"/>
                </a:solidFill>
                <a:latin typeface="Arial"/>
              </a:endParaRPr>
            </a:p>
            <a:p>
              <a:pPr marL="285840" indent="-285840" defTabSz="457200">
                <a:lnSpc>
                  <a:spcPct val="100000"/>
                </a:lnSpc>
                <a:buClr>
                  <a:srgbClr val="000000"/>
                </a:buClr>
                <a:buFont typeface="Arial"/>
                <a:buChar char="•"/>
              </a:pPr>
              <a:r>
                <a:rPr b="0" lang="en-US" sz="1000" spc="-1" strike="noStrike">
                  <a:solidFill>
                    <a:schemeClr val="dk1"/>
                  </a:solidFill>
                  <a:latin typeface="Calibri"/>
                </a:rPr>
                <a:t>Maximum Speed</a:t>
              </a:r>
              <a:endParaRPr b="0" lang="en-US" sz="1000" spc="-1" strike="noStrike">
                <a:solidFill>
                  <a:srgbClr val="000000"/>
                </a:solidFill>
                <a:latin typeface="Arial"/>
              </a:endParaRPr>
            </a:p>
            <a:p>
              <a:pPr marL="285840" indent="-285840" defTabSz="457200">
                <a:lnSpc>
                  <a:spcPct val="100000"/>
                </a:lnSpc>
                <a:buClr>
                  <a:srgbClr val="000000"/>
                </a:buClr>
                <a:buFont typeface="Arial"/>
                <a:buChar char="•"/>
              </a:pPr>
              <a:r>
                <a:rPr b="0" lang="en-US" sz="1000" spc="-1" strike="noStrike">
                  <a:solidFill>
                    <a:schemeClr val="dk1"/>
                  </a:solidFill>
                  <a:latin typeface="Calibri"/>
                </a:rPr>
                <a:t>…</a:t>
              </a:r>
              <a:endParaRPr b="0" lang="en-US" sz="1000" spc="-1" strike="noStrike">
                <a:solidFill>
                  <a:srgbClr val="000000"/>
                </a:solidFill>
                <a:latin typeface="Arial"/>
              </a:endParaRPr>
            </a:p>
          </p:txBody>
        </p:sp>
        <p:sp>
          <p:nvSpPr>
            <p:cNvPr id="70" name="TextBox 5"/>
            <p:cNvSpPr/>
            <p:nvPr/>
          </p:nvSpPr>
          <p:spPr>
            <a:xfrm>
              <a:off x="5149440" y="1783800"/>
              <a:ext cx="1892160" cy="852840"/>
            </a:xfrm>
            <a:prstGeom prst="rect">
              <a:avLst/>
            </a:prstGeom>
            <a:noFill/>
            <a:ln w="0">
              <a:solidFill>
                <a:srgbClr val="000000"/>
              </a:solidFill>
            </a:ln>
          </p:spPr>
          <p:style>
            <a:lnRef idx="0"/>
            <a:fillRef idx="0"/>
            <a:effectRef idx="0"/>
            <a:fontRef idx="minor"/>
          </p:style>
          <p:txBody>
            <a:bodyPr lIns="90000" rIns="90000" tIns="45000" bIns="45000" anchor="t">
              <a:spAutoFit/>
            </a:bodyPr>
            <a:p>
              <a:pPr defTabSz="457200">
                <a:lnSpc>
                  <a:spcPct val="100000"/>
                </a:lnSpc>
              </a:pPr>
              <a:r>
                <a:rPr b="0" lang="en-US" sz="1000" spc="-1" strike="noStrike">
                  <a:solidFill>
                    <a:schemeClr val="dk1"/>
                  </a:solidFill>
                  <a:latin typeface="Calibri"/>
                </a:rPr>
                <a:t>Methods:</a:t>
              </a:r>
              <a:endParaRPr b="0" lang="en-US" sz="1000" spc="-1" strike="noStrike">
                <a:solidFill>
                  <a:srgbClr val="000000"/>
                </a:solidFill>
                <a:latin typeface="Arial"/>
              </a:endParaRPr>
            </a:p>
            <a:p>
              <a:pPr marL="285840" indent="-285840" defTabSz="457200">
                <a:lnSpc>
                  <a:spcPct val="100000"/>
                </a:lnSpc>
                <a:buClr>
                  <a:srgbClr val="000000"/>
                </a:buClr>
                <a:buFont typeface="Arial"/>
                <a:buChar char="•"/>
              </a:pPr>
              <a:r>
                <a:rPr b="0" lang="en-US" sz="1000" spc="-1" strike="noStrike">
                  <a:solidFill>
                    <a:schemeClr val="dk1"/>
                  </a:solidFill>
                  <a:latin typeface="Calibri"/>
                </a:rPr>
                <a:t>Accelerate()</a:t>
              </a:r>
              <a:endParaRPr b="0" lang="en-US" sz="1000" spc="-1" strike="noStrike">
                <a:solidFill>
                  <a:srgbClr val="000000"/>
                </a:solidFill>
                <a:latin typeface="Arial"/>
              </a:endParaRPr>
            </a:p>
            <a:p>
              <a:pPr marL="285840" indent="-285840" defTabSz="457200">
                <a:lnSpc>
                  <a:spcPct val="100000"/>
                </a:lnSpc>
                <a:buClr>
                  <a:srgbClr val="000000"/>
                </a:buClr>
                <a:buFont typeface="Arial"/>
                <a:buChar char="•"/>
              </a:pPr>
              <a:r>
                <a:rPr b="0" lang="en-US" sz="1000" spc="-1" strike="noStrike">
                  <a:solidFill>
                    <a:schemeClr val="dk1"/>
                  </a:solidFill>
                  <a:latin typeface="Calibri"/>
                </a:rPr>
                <a:t>Break()</a:t>
              </a:r>
              <a:endParaRPr b="0" lang="en-US" sz="1000" spc="-1" strike="noStrike">
                <a:solidFill>
                  <a:srgbClr val="000000"/>
                </a:solidFill>
                <a:latin typeface="Arial"/>
              </a:endParaRPr>
            </a:p>
            <a:p>
              <a:pPr marL="285840" indent="-285840" defTabSz="457200">
                <a:lnSpc>
                  <a:spcPct val="100000"/>
                </a:lnSpc>
                <a:buClr>
                  <a:srgbClr val="000000"/>
                </a:buClr>
                <a:buFont typeface="Arial"/>
                <a:buChar char="•"/>
              </a:pPr>
              <a:r>
                <a:rPr b="0" lang="en-US" sz="1000" spc="-1" strike="noStrike">
                  <a:solidFill>
                    <a:schemeClr val="dk1"/>
                  </a:solidFill>
                  <a:latin typeface="Calibri"/>
                </a:rPr>
                <a:t>Turn_on_the_lights()</a:t>
              </a:r>
              <a:endParaRPr b="0" lang="en-US" sz="1000" spc="-1" strike="noStrike">
                <a:solidFill>
                  <a:srgbClr val="000000"/>
                </a:solidFill>
                <a:latin typeface="Arial"/>
              </a:endParaRPr>
            </a:p>
            <a:p>
              <a:pPr marL="285840" indent="-285840" defTabSz="457200">
                <a:lnSpc>
                  <a:spcPct val="100000"/>
                </a:lnSpc>
                <a:buClr>
                  <a:srgbClr val="000000"/>
                </a:buClr>
                <a:buFont typeface="Arial"/>
                <a:buChar char="•"/>
              </a:pPr>
              <a:r>
                <a:rPr b="0" lang="en-US" sz="1000" spc="-1" strike="noStrike">
                  <a:solidFill>
                    <a:schemeClr val="dk1"/>
                  </a:solidFill>
                  <a:latin typeface="Calibri"/>
                </a:rPr>
                <a:t>…</a:t>
              </a:r>
              <a:endParaRPr b="0" lang="en-US" sz="1000" spc="-1" strike="noStrike">
                <a:solidFill>
                  <a:srgbClr val="000000"/>
                </a:solidFill>
                <a:latin typeface="Arial"/>
              </a:endParaRPr>
            </a:p>
          </p:txBody>
        </p:sp>
      </p:grpSp>
      <p:sp>
        <p:nvSpPr>
          <p:cNvPr id="71" name="TextBox 6"/>
          <p:cNvSpPr/>
          <p:nvPr/>
        </p:nvSpPr>
        <p:spPr>
          <a:xfrm>
            <a:off x="1142280" y="3051360"/>
            <a:ext cx="3079800" cy="363960"/>
          </a:xfrm>
          <a:prstGeom prst="rect">
            <a:avLst/>
          </a:prstGeom>
          <a:noFill/>
          <a:ln w="0">
            <a:solidFill>
              <a:srgbClr val="000000"/>
            </a:solidFill>
          </a:ln>
        </p:spPr>
        <p:style>
          <a:lnRef idx="0"/>
          <a:fillRef idx="0"/>
          <a:effectRef idx="0"/>
          <a:fontRef idx="minor"/>
        </p:style>
        <p:txBody>
          <a:bodyPr lIns="90000" rIns="90000" tIns="45000" bIns="45000" anchor="t">
            <a:spAutoFit/>
          </a:bodyPr>
          <a:p>
            <a:pPr algn="ctr" defTabSz="457200">
              <a:lnSpc>
                <a:spcPct val="100000"/>
              </a:lnSpc>
            </a:pPr>
            <a:r>
              <a:rPr b="0" lang="en-US" sz="1800" spc="-1" strike="noStrike">
                <a:solidFill>
                  <a:schemeClr val="dk1"/>
                </a:solidFill>
                <a:latin typeface="Calibri"/>
              </a:rPr>
              <a:t>Object: My Car</a:t>
            </a:r>
            <a:endParaRPr b="0" lang="en-US" sz="1800" spc="-1" strike="noStrike">
              <a:solidFill>
                <a:srgbClr val="000000"/>
              </a:solidFill>
              <a:latin typeface="Arial"/>
            </a:endParaRPr>
          </a:p>
        </p:txBody>
      </p:sp>
      <p:sp>
        <p:nvSpPr>
          <p:cNvPr id="72" name="TextBox 7"/>
          <p:cNvSpPr/>
          <p:nvPr/>
        </p:nvSpPr>
        <p:spPr>
          <a:xfrm>
            <a:off x="1142280" y="3420720"/>
            <a:ext cx="3079800" cy="1461240"/>
          </a:xfrm>
          <a:prstGeom prst="rect">
            <a:avLst/>
          </a:prstGeom>
          <a:noFill/>
          <a:ln w="0">
            <a:solidFill>
              <a:srgbClr val="000000"/>
            </a:solid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chemeClr val="dk1"/>
                </a:solidFill>
                <a:latin typeface="Calibri"/>
              </a:rPr>
              <a:t>Attributes:</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Color: Black</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Production Year: 2010</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Maximum Speed: 180</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a:t>
            </a:r>
            <a:endParaRPr b="0" lang="en-US" sz="1800" spc="-1" strike="noStrike">
              <a:solidFill>
                <a:srgbClr val="000000"/>
              </a:solidFill>
              <a:latin typeface="Arial"/>
            </a:endParaRPr>
          </a:p>
        </p:txBody>
      </p:sp>
      <p:sp>
        <p:nvSpPr>
          <p:cNvPr id="73" name="TextBox 8"/>
          <p:cNvSpPr/>
          <p:nvPr/>
        </p:nvSpPr>
        <p:spPr>
          <a:xfrm>
            <a:off x="1142280" y="4897800"/>
            <a:ext cx="3079800" cy="1461240"/>
          </a:xfrm>
          <a:prstGeom prst="rect">
            <a:avLst/>
          </a:prstGeom>
          <a:noFill/>
          <a:ln w="0">
            <a:solidFill>
              <a:srgbClr val="000000"/>
            </a:solid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chemeClr val="dk1"/>
                </a:solidFill>
                <a:latin typeface="Calibri"/>
              </a:rPr>
              <a:t>Methods:</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Accelerate()</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Break()</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Turn_on_the_lights()</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a:t>
            </a:r>
            <a:endParaRPr b="0" lang="en-US" sz="1800" spc="-1" strike="noStrike">
              <a:solidFill>
                <a:srgbClr val="000000"/>
              </a:solidFill>
              <a:latin typeface="Arial"/>
            </a:endParaRPr>
          </a:p>
        </p:txBody>
      </p:sp>
      <p:sp>
        <p:nvSpPr>
          <p:cNvPr id="74" name="TextBox 9"/>
          <p:cNvSpPr/>
          <p:nvPr/>
        </p:nvSpPr>
        <p:spPr>
          <a:xfrm>
            <a:off x="7773120" y="3051360"/>
            <a:ext cx="3079800" cy="363960"/>
          </a:xfrm>
          <a:prstGeom prst="rect">
            <a:avLst/>
          </a:prstGeom>
          <a:noFill/>
          <a:ln w="0">
            <a:solidFill>
              <a:srgbClr val="000000"/>
            </a:solidFill>
          </a:ln>
        </p:spPr>
        <p:style>
          <a:lnRef idx="0"/>
          <a:fillRef idx="0"/>
          <a:effectRef idx="0"/>
          <a:fontRef idx="minor"/>
        </p:style>
        <p:txBody>
          <a:bodyPr lIns="90000" rIns="90000" tIns="45000" bIns="45000" anchor="t">
            <a:spAutoFit/>
          </a:bodyPr>
          <a:p>
            <a:pPr algn="ctr" defTabSz="457200">
              <a:lnSpc>
                <a:spcPct val="100000"/>
              </a:lnSpc>
            </a:pPr>
            <a:r>
              <a:rPr b="0" lang="en-US" sz="1800" spc="-1" strike="noStrike">
                <a:solidFill>
                  <a:schemeClr val="dk1"/>
                </a:solidFill>
                <a:latin typeface="Calibri"/>
              </a:rPr>
              <a:t>Object: Wife’s Car</a:t>
            </a:r>
            <a:endParaRPr b="0" lang="en-US" sz="1800" spc="-1" strike="noStrike">
              <a:solidFill>
                <a:srgbClr val="000000"/>
              </a:solidFill>
              <a:latin typeface="Arial"/>
            </a:endParaRPr>
          </a:p>
        </p:txBody>
      </p:sp>
      <p:sp>
        <p:nvSpPr>
          <p:cNvPr id="75" name="TextBox 10"/>
          <p:cNvSpPr/>
          <p:nvPr/>
        </p:nvSpPr>
        <p:spPr>
          <a:xfrm>
            <a:off x="7773120" y="3420720"/>
            <a:ext cx="3079800" cy="1461240"/>
          </a:xfrm>
          <a:prstGeom prst="rect">
            <a:avLst/>
          </a:prstGeom>
          <a:noFill/>
          <a:ln w="0">
            <a:solidFill>
              <a:srgbClr val="000000"/>
            </a:solid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chemeClr val="dk1"/>
                </a:solidFill>
                <a:latin typeface="Calibri"/>
              </a:rPr>
              <a:t>Attributes:</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Color: White</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Production Year: 2015</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Maximum Speed: 170</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a:t>
            </a:r>
            <a:endParaRPr b="0" lang="en-US" sz="1800" spc="-1" strike="noStrike">
              <a:solidFill>
                <a:srgbClr val="000000"/>
              </a:solidFill>
              <a:latin typeface="Arial"/>
            </a:endParaRPr>
          </a:p>
        </p:txBody>
      </p:sp>
      <p:sp>
        <p:nvSpPr>
          <p:cNvPr id="76" name="TextBox 11"/>
          <p:cNvSpPr/>
          <p:nvPr/>
        </p:nvSpPr>
        <p:spPr>
          <a:xfrm>
            <a:off x="7773120" y="4897800"/>
            <a:ext cx="3079800" cy="1461240"/>
          </a:xfrm>
          <a:prstGeom prst="rect">
            <a:avLst/>
          </a:prstGeom>
          <a:noFill/>
          <a:ln w="0">
            <a:solidFill>
              <a:srgbClr val="000000"/>
            </a:solidFill>
          </a:ln>
        </p:spPr>
        <p:style>
          <a:lnRef idx="0"/>
          <a:fillRef idx="0"/>
          <a:effectRef idx="0"/>
          <a:fontRef idx="minor"/>
        </p:style>
        <p:txBody>
          <a:bodyPr lIns="90000" rIns="90000" tIns="45000" bIns="45000" anchor="t">
            <a:spAutoFit/>
          </a:bodyPr>
          <a:p>
            <a:pPr defTabSz="457200">
              <a:lnSpc>
                <a:spcPct val="100000"/>
              </a:lnSpc>
            </a:pPr>
            <a:r>
              <a:rPr b="0" lang="en-US" sz="1800" spc="-1" strike="noStrike">
                <a:solidFill>
                  <a:schemeClr val="dk1"/>
                </a:solidFill>
                <a:latin typeface="Calibri"/>
              </a:rPr>
              <a:t>Methods:</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Accelerate()</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Break()</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Turn_on_the_lights()</a:t>
            </a:r>
            <a:endParaRPr b="0" lang="en-US" sz="1800" spc="-1" strike="noStrike">
              <a:solidFill>
                <a:srgbClr val="000000"/>
              </a:solidFill>
              <a:latin typeface="Arial"/>
            </a:endParaRPr>
          </a:p>
          <a:p>
            <a:pPr marL="285840" indent="-285840" defTabSz="457200">
              <a:lnSpc>
                <a:spcPct val="100000"/>
              </a:lnSpc>
              <a:buClr>
                <a:srgbClr val="000000"/>
              </a:buClr>
              <a:buFont typeface="Arial"/>
              <a:buChar char="•"/>
            </a:pPr>
            <a:r>
              <a:rPr b="0" lang="en-US" sz="1800" spc="-1" strike="noStrike">
                <a:solidFill>
                  <a:schemeClr val="dk1"/>
                </a:solidFill>
                <a:latin typeface="Calibri"/>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61" dur="indefinite" restart="never" nodeType="tmRoot">
          <p:childTnLst>
            <p:seq>
              <p:cTn id="62" dur="indefinite" nodeType="mainSeq">
                <p:childTnLst>
                  <p:par>
                    <p:cTn id="63" fill="hold">
                      <p:stCondLst>
                        <p:cond delay="indefinite"/>
                      </p:stCondLst>
                      <p:childTnLst>
                        <p:par>
                          <p:cTn id="64" fill="hold">
                            <p:stCondLst>
                              <p:cond delay="0"/>
                            </p:stCondLst>
                            <p:childTnLst>
                              <p:par>
                                <p:cTn id="65" nodeType="clickEffect" fill="hold" presetClass="entr" presetID="1">
                                  <p:stCondLst>
                                    <p:cond delay="0"/>
                                  </p:stCondLst>
                                  <p:childTnLst>
                                    <p:set>
                                      <p:cBhvr>
                                        <p:cTn id="66" dur="1" fill="hold">
                                          <p:stCondLst>
                                            <p:cond delay="0"/>
                                          </p:stCondLst>
                                        </p:cTn>
                                        <p:tgtEl>
                                          <p:spTgt spid="7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7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7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7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7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nodeType="clickEffect" fill="hold" presetClass="entr" presetID="1">
                                  <p:stCondLst>
                                    <p:cond delay="0"/>
                                  </p:stCondLst>
                                  <p:childTnLst>
                                    <p:set>
                                      <p:cBhvr>
                                        <p:cTn id="86"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Benefits of OOP</a:t>
            </a:r>
            <a:endParaRPr b="0" lang="en-US" sz="4400" spc="-1" strike="noStrike">
              <a:solidFill>
                <a:srgbClr val="000000"/>
              </a:solidFill>
              <a:latin typeface="Arial"/>
            </a:endParaRPr>
          </a:p>
        </p:txBody>
      </p:sp>
      <p:sp>
        <p:nvSpPr>
          <p:cNvPr id="78"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81111"/>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Modularity: Helps to organize the code.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Reusability: Encourages code reuse at the Class level.</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Abstraction: Abstract complex systems into simpler, high-level classes/objects.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Encapsulation: Bundling data (attributes) and the methods (functions) that operate on that data into a single unit.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Inheritance: Inherit attributes and methods from ancestors (parent classes).</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Polymorphism: Treat subclasses as if they are of one type, the Superclass.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Scalability: Perform coding on large scale.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Ease of Maintenance: Code organization and modularity makes it easy to debug, localize bugs, and perform maintenance.</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Team Collaboration: Work on individual classes without disturbing one another.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Real-World Modeling: Natural way of thinking, design, and programming.</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87" dur="indefinite" restart="never" nodeType="tmRoot">
          <p:childTnLst>
            <p:seq>
              <p:cTn id="88" dur="indefinite" nodeType="mainSeq">
                <p:childTnLst>
                  <p:par>
                    <p:cTn id="89" fill="hold">
                      <p:stCondLst>
                        <p:cond delay="indefinite"/>
                      </p:stCondLst>
                      <p:childTnLst>
                        <p:par>
                          <p:cTn id="90" fill="hold">
                            <p:stCondLst>
                              <p:cond delay="0"/>
                            </p:stCondLst>
                            <p:childTnLst>
                              <p:par>
                                <p:cTn id="91" nodeType="clickEffect" fill="hold" presetClass="entr" presetID="1">
                                  <p:stCondLst>
                                    <p:cond delay="0"/>
                                  </p:stCondLst>
                                  <p:childTnLst>
                                    <p:set>
                                      <p:cBhvr>
                                        <p:cTn id="92" dur="1" fill="hold">
                                          <p:stCondLst>
                                            <p:cond delay="0"/>
                                          </p:stCondLst>
                                        </p:cTn>
                                        <p:tgtEl>
                                          <p:spTgt spid="78">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nodeType="clickEffect" fill="hold" presetClass="entr" presetID="1">
                                  <p:stCondLst>
                                    <p:cond delay="0"/>
                                  </p:stCondLst>
                                  <p:childTnLst>
                                    <p:set>
                                      <p:cBhvr>
                                        <p:cTn id="96" dur="1" fill="hold">
                                          <p:stCondLst>
                                            <p:cond delay="0"/>
                                          </p:stCondLst>
                                        </p:cTn>
                                        <p:tgtEl>
                                          <p:spTgt spid="78">
                                            <p:txEl>
                                              <p:pRg st="1" end="1"/>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78">
                                            <p:txEl>
                                              <p:pRg st="2" end="2"/>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nodeType="clickEffect" fill="hold" presetClass="entr" presetID="1">
                                  <p:stCondLst>
                                    <p:cond delay="0"/>
                                  </p:stCondLst>
                                  <p:childTnLst>
                                    <p:set>
                                      <p:cBhvr>
                                        <p:cTn id="104" dur="1" fill="hold">
                                          <p:stCondLst>
                                            <p:cond delay="0"/>
                                          </p:stCondLst>
                                        </p:cTn>
                                        <p:tgtEl>
                                          <p:spTgt spid="78">
                                            <p:txEl>
                                              <p:pRg st="3" end="3"/>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nodeType="clickEffect" fill="hold" presetClass="entr" presetID="1">
                                  <p:stCondLst>
                                    <p:cond delay="0"/>
                                  </p:stCondLst>
                                  <p:childTnLst>
                                    <p:set>
                                      <p:cBhvr>
                                        <p:cTn id="108" dur="1" fill="hold">
                                          <p:stCondLst>
                                            <p:cond delay="0"/>
                                          </p:stCondLst>
                                        </p:cTn>
                                        <p:tgtEl>
                                          <p:spTgt spid="78">
                                            <p:txEl>
                                              <p:pRg st="4" end="4"/>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nodeType="clickEffect" fill="hold" presetClass="entr" presetID="1">
                                  <p:stCondLst>
                                    <p:cond delay="0"/>
                                  </p:stCondLst>
                                  <p:childTnLst>
                                    <p:set>
                                      <p:cBhvr>
                                        <p:cTn id="112" dur="1" fill="hold">
                                          <p:stCondLst>
                                            <p:cond delay="0"/>
                                          </p:stCondLst>
                                        </p:cTn>
                                        <p:tgtEl>
                                          <p:spTgt spid="78">
                                            <p:txEl>
                                              <p:pRg st="5" end="5"/>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nodeType="clickEffect" fill="hold" presetClass="entr" presetID="1">
                                  <p:stCondLst>
                                    <p:cond delay="0"/>
                                  </p:stCondLst>
                                  <p:childTnLst>
                                    <p:set>
                                      <p:cBhvr>
                                        <p:cTn id="116" dur="1" fill="hold">
                                          <p:stCondLst>
                                            <p:cond delay="0"/>
                                          </p:stCondLst>
                                        </p:cTn>
                                        <p:tgtEl>
                                          <p:spTgt spid="78">
                                            <p:txEl>
                                              <p:pRg st="6" end="6"/>
                                            </p:txEl>
                                          </p:spTgt>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nodeType="clickEffect" fill="hold" presetClass="entr" presetID="1">
                                  <p:stCondLst>
                                    <p:cond delay="0"/>
                                  </p:stCondLst>
                                  <p:childTnLst>
                                    <p:set>
                                      <p:cBhvr>
                                        <p:cTn id="120" dur="1" fill="hold">
                                          <p:stCondLst>
                                            <p:cond delay="0"/>
                                          </p:stCondLst>
                                        </p:cTn>
                                        <p:tgtEl>
                                          <p:spTgt spid="78">
                                            <p:txEl>
                                              <p:pRg st="7" end="7"/>
                                            </p:txEl>
                                          </p:spTgt>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78">
                                            <p:txEl>
                                              <p:pRg st="8" end="8"/>
                                            </p:txEl>
                                          </p:spTgt>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nodeType="clickEffect" fill="hold" presetClass="entr" presetID="1">
                                  <p:stCondLst>
                                    <p:cond delay="0"/>
                                  </p:stCondLst>
                                  <p:childTnLst>
                                    <p:set>
                                      <p:cBhvr>
                                        <p:cTn id="128" dur="1" fill="hold">
                                          <p:stCondLst>
                                            <p:cond delay="0"/>
                                          </p:stCondLst>
                                        </p:cTn>
                                        <p:tgtEl>
                                          <p:spTgt spid="78">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Abstraction</a:t>
            </a:r>
            <a:endParaRPr b="0" lang="en-US" sz="4400" spc="-1" strike="noStrike">
              <a:solidFill>
                <a:srgbClr val="000000"/>
              </a:solidFill>
              <a:latin typeface="Arial"/>
            </a:endParaRPr>
          </a:p>
        </p:txBody>
      </p:sp>
      <p:sp>
        <p:nvSpPr>
          <p:cNvPr id="80"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fontScale="96666" lnSpcReduction="10000"/>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Conceptualize real-world entities, their relevant attributes and behaviors.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Focus is on essential characteristics of the while ignoring non-essential details.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Example: in a car simulation, "Vehicle" class with attributes like speed and capacity, and methods like "accelerate" and "brake."</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Importance: Abstraction helps in managing complexity by allowing you to break down a system into smaller, more manageable parts. It also promotes code reusability and makes it easier to understand and maintain the software.</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Abstraction – Example</a:t>
            </a:r>
            <a:endParaRPr b="0" lang="en-US" sz="4400" spc="-1" strike="noStrike">
              <a:solidFill>
                <a:srgbClr val="000000"/>
              </a:solidFill>
              <a:latin typeface="Arial"/>
            </a:endParaRPr>
          </a:p>
        </p:txBody>
      </p:sp>
      <p:pic>
        <p:nvPicPr>
          <p:cNvPr id="82" name="Picture 4" descr=""/>
          <p:cNvPicPr/>
          <p:nvPr/>
        </p:nvPicPr>
        <p:blipFill>
          <a:blip r:embed="rId1"/>
          <a:stretch/>
        </p:blipFill>
        <p:spPr>
          <a:xfrm>
            <a:off x="2985480" y="1503000"/>
            <a:ext cx="6907680" cy="453096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Encapsulation</a:t>
            </a:r>
            <a:endParaRPr b="0" lang="en-US" sz="4400" spc="-1" strike="noStrike">
              <a:solidFill>
                <a:srgbClr val="000000"/>
              </a:solidFill>
              <a:latin typeface="Arial"/>
            </a:endParaRPr>
          </a:p>
        </p:txBody>
      </p:sp>
      <p:sp>
        <p:nvSpPr>
          <p:cNvPr id="84"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Concept of bundling data (attributes/properties) and methods (functions/behaviors) that operate on that data into a Class.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Encapsulation enforces data hiding, ensuring that data integrity is maintained and preventing unauthorized modifications.</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Access to data and methods are restricted to the Class.</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pPr>
            <a:r>
              <a:rPr b="0" lang="en-US" sz="2400" spc="-1" strike="noStrike">
                <a:solidFill>
                  <a:schemeClr val="dk1"/>
                </a:solidFill>
                <a:latin typeface="Calibri"/>
              </a:rPr>
              <a:t>Any external access should be done through getters and setters methods.</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Access types: </a:t>
            </a:r>
            <a:endParaRPr b="0" lang="en-US" sz="28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Public: No access restrictions (default)</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Protected: Can access from Class and its subclasses. </a:t>
            </a:r>
            <a:endParaRPr b="0" lang="en-US" sz="2400" spc="-1" strike="noStrike">
              <a:solidFill>
                <a:srgbClr val="000000"/>
              </a:solidFill>
              <a:latin typeface="Arial"/>
            </a:endParaRPr>
          </a:p>
          <a:p>
            <a:pPr lvl="1" marL="685800" indent="-228600" defTabSz="914400">
              <a:lnSpc>
                <a:spcPct val="90000"/>
              </a:lnSpc>
              <a:spcBef>
                <a:spcPts val="499"/>
              </a:spcBef>
              <a:buClr>
                <a:srgbClr val="000000"/>
              </a:buClr>
              <a:buFont typeface="Arial"/>
              <a:buChar char="•"/>
              <a:tabLst>
                <a:tab algn="l" pos="0"/>
              </a:tabLst>
            </a:pPr>
            <a:r>
              <a:rPr b="0" lang="en-US" sz="2400" spc="-1" strike="noStrike">
                <a:solidFill>
                  <a:schemeClr val="dk1"/>
                </a:solidFill>
                <a:latin typeface="Calibri"/>
              </a:rPr>
              <a:t>Private: Can access from Class only.</a:t>
            </a:r>
            <a:endParaRPr b="0" lang="en-US" sz="24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Encapsulation – continued</a:t>
            </a:r>
            <a:endParaRPr b="0" lang="en-US" sz="4400" spc="-1" strike="noStrike">
              <a:solidFill>
                <a:srgbClr val="000000"/>
              </a:solidFill>
              <a:latin typeface="Arial"/>
            </a:endParaRPr>
          </a:p>
        </p:txBody>
      </p:sp>
      <p:sp>
        <p:nvSpPr>
          <p:cNvPr id="86"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Importance: Encapsulation enhances security and maintainability by preventing direct access to internal data, allowing for controlled and consistent interactions with objects. It also supports the principle of information hiding, making it easier to change the internal implementation of a class without affecting its users.</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Encapsulation – Example</a:t>
            </a:r>
            <a:endParaRPr b="0" lang="en-US" sz="4400" spc="-1" strike="noStrike">
              <a:solidFill>
                <a:srgbClr val="000000"/>
              </a:solidFill>
              <a:latin typeface="Arial"/>
            </a:endParaRPr>
          </a:p>
        </p:txBody>
      </p:sp>
      <p:pic>
        <p:nvPicPr>
          <p:cNvPr id="88" name="Content Placeholder 3" descr=""/>
          <p:cNvPicPr/>
          <p:nvPr/>
        </p:nvPicPr>
        <p:blipFill>
          <a:blip r:embed="rId1"/>
          <a:stretch/>
        </p:blipFill>
        <p:spPr>
          <a:xfrm>
            <a:off x="4016520" y="1106640"/>
            <a:ext cx="4157640" cy="50695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Inheritance</a:t>
            </a:r>
            <a:endParaRPr b="0" lang="en-US" sz="4400" spc="-1" strike="noStrike">
              <a:solidFill>
                <a:srgbClr val="000000"/>
              </a:solidFill>
              <a:latin typeface="Arial"/>
            </a:endParaRPr>
          </a:p>
        </p:txBody>
      </p:sp>
      <p:sp>
        <p:nvSpPr>
          <p:cNvPr id="90"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Hierarchical extension mechanism in OOP.</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The subclass inherits attributes and behaviors from the superclass and can extend or override them.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Inheritance facilitates code reuse and allows you to model hierarchical relationships between classes.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Importance: Inheritance promotes code reusability, as you can create new classes that inherit features from existing classes, reducing code duplication. It also simplifies the organization of related classes in a hierarchy, making it easier to understand and maintain the code.</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Inheritance – Example</a:t>
            </a:r>
            <a:endParaRPr b="0" lang="en-US" sz="4400" spc="-1" strike="noStrike">
              <a:solidFill>
                <a:srgbClr val="000000"/>
              </a:solidFill>
              <a:latin typeface="Arial"/>
            </a:endParaRPr>
          </a:p>
        </p:txBody>
      </p:sp>
      <p:pic>
        <p:nvPicPr>
          <p:cNvPr id="92" name="Content Placeholder 3" descr=""/>
          <p:cNvPicPr/>
          <p:nvPr/>
        </p:nvPicPr>
        <p:blipFill>
          <a:blip r:embed="rId1"/>
          <a:stretch/>
        </p:blipFill>
        <p:spPr>
          <a:xfrm>
            <a:off x="3172680" y="1106640"/>
            <a:ext cx="5845320" cy="506952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Polymorphism</a:t>
            </a:r>
            <a:endParaRPr b="0" lang="en-US" sz="4400" spc="-1" strike="noStrike">
              <a:solidFill>
                <a:srgbClr val="000000"/>
              </a:solidFill>
              <a:latin typeface="Arial"/>
            </a:endParaRPr>
          </a:p>
        </p:txBody>
      </p:sp>
      <p:sp>
        <p:nvSpPr>
          <p:cNvPr id="94" name="PlaceHolder 2"/>
          <p:cNvSpPr>
            <a:spLocks noGrp="1"/>
          </p:cNvSpPr>
          <p:nvPr>
            <p:ph/>
          </p:nvPr>
        </p:nvSpPr>
        <p:spPr>
          <a:xfrm>
            <a:off x="838080" y="1107000"/>
            <a:ext cx="10514520" cy="5068800"/>
          </a:xfrm>
          <a:prstGeom prst="rect">
            <a:avLst/>
          </a:prstGeom>
          <a:noFill/>
          <a:ln w="0">
            <a:noFill/>
          </a:ln>
        </p:spPr>
        <p:txBody>
          <a:bodyPr lIns="91440" rIns="91440" tIns="45720" bIns="45720" anchor="t">
            <a:norm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Subclasses are be treated as </a:t>
            </a:r>
            <a:r>
              <a:rPr b="0" i="1" lang="en-US" sz="2800" spc="-1" strike="noStrike">
                <a:solidFill>
                  <a:schemeClr val="dk1"/>
                </a:solidFill>
                <a:latin typeface="Calibri"/>
              </a:rPr>
              <a:t>instances </a:t>
            </a:r>
            <a:r>
              <a:rPr b="0" lang="en-US" sz="2800" spc="-1" strike="noStrike">
                <a:solidFill>
                  <a:schemeClr val="dk1"/>
                </a:solidFill>
                <a:latin typeface="Calibri"/>
              </a:rPr>
              <a:t>of a common superclass. </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It allows objects of different classes to be accessed and manipulated through a common (Class) interface, often through inheritance and method overriding. </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Importance: Polymorphism enhances flexibility and extensibility in OOP. It simplifies code by allowing you to write generic algorithms that can work with various objects without knowing their specific types. This makes it easier to adapt and extend software as new classes are added, leading to more maintainable and scalable code.</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Operator Overloading</a:t>
            </a:r>
            <a:endParaRPr b="0" lang="en-US" sz="4400" spc="-1" strike="noStrike">
              <a:solidFill>
                <a:srgbClr val="000000"/>
              </a:solidFill>
              <a:latin typeface="Arial"/>
            </a:endParaRPr>
          </a:p>
        </p:txBody>
      </p:sp>
      <p:sp>
        <p:nvSpPr>
          <p:cNvPr id="96"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Overloading common operators (such as + operator) to extend the functionality of a (new) class.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tabLst>
                <a:tab algn="l" pos="0"/>
              </a:tabLst>
            </a:pPr>
            <a:r>
              <a:rPr b="0" lang="en-US" sz="2800" spc="-1" strike="noStrike">
                <a:solidFill>
                  <a:schemeClr val="dk1"/>
                </a:solidFill>
                <a:latin typeface="Calibri"/>
              </a:rPr>
              <a:t>Example: Assume we are defining Complex Class and we want arithmetic operators to function on this new class.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Operator Overloading – continued</a:t>
            </a:r>
            <a:endParaRPr b="0" lang="en-US" sz="4400" spc="-1" strike="noStrike">
              <a:solidFill>
                <a:srgbClr val="000000"/>
              </a:solidFill>
              <a:latin typeface="Arial"/>
            </a:endParaRPr>
          </a:p>
        </p:txBody>
      </p:sp>
      <p:pic>
        <p:nvPicPr>
          <p:cNvPr id="98" name="Picture 3" descr=""/>
          <p:cNvPicPr/>
          <p:nvPr/>
        </p:nvPicPr>
        <p:blipFill>
          <a:blip r:embed="rId1"/>
          <a:stretch/>
        </p:blipFill>
        <p:spPr>
          <a:xfrm>
            <a:off x="2400480" y="1136880"/>
            <a:ext cx="7707240" cy="51987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Non-Operator Overloads</a:t>
            </a:r>
            <a:endParaRPr b="0" lang="en-US" sz="4400" spc="-1" strike="noStrike">
              <a:solidFill>
                <a:srgbClr val="000000"/>
              </a:solidFill>
              <a:latin typeface="Arial"/>
            </a:endParaRPr>
          </a:p>
        </p:txBody>
      </p:sp>
      <p:sp>
        <p:nvSpPr>
          <p:cNvPr id="100" name="PlaceHolder 2"/>
          <p:cNvSpPr>
            <a:spLocks noGrp="1"/>
          </p:cNvSpPr>
          <p:nvPr>
            <p:ph/>
          </p:nvPr>
        </p:nvSpPr>
        <p:spPr>
          <a:xfrm>
            <a:off x="838080" y="1107000"/>
            <a:ext cx="10514520" cy="5835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Overloading commonly used Python functions, such as str(), len(), etc.</a:t>
            </a:r>
            <a:endParaRPr b="0" lang="en-US" sz="2800" spc="-1" strike="noStrike">
              <a:solidFill>
                <a:srgbClr val="000000"/>
              </a:solidFill>
              <a:latin typeface="Arial"/>
            </a:endParaRPr>
          </a:p>
        </p:txBody>
      </p:sp>
      <p:pic>
        <p:nvPicPr>
          <p:cNvPr id="101" name="Picture 3" descr=""/>
          <p:cNvPicPr/>
          <p:nvPr/>
        </p:nvPicPr>
        <p:blipFill>
          <a:blip r:embed="rId1"/>
          <a:stretch/>
        </p:blipFill>
        <p:spPr>
          <a:xfrm>
            <a:off x="2371680" y="1890360"/>
            <a:ext cx="7670880" cy="452736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9219960" cy="642960"/>
          </a:xfrm>
          <a:prstGeom prst="rect">
            <a:avLst/>
          </a:prstGeom>
          <a:noFill/>
          <a:ln w="0">
            <a:noFill/>
          </a:ln>
        </p:spPr>
        <p:txBody>
          <a:bodyPr lIns="91440" rIns="91440" tIns="45720" bIns="45720" anchor="ctr">
            <a:normAutofit fontScale="79444"/>
          </a:bodyPr>
          <a:p>
            <a:pPr indent="0" defTabSz="914400">
              <a:lnSpc>
                <a:spcPct val="90000"/>
              </a:lnSpc>
              <a:buNone/>
              <a:tabLst>
                <a:tab algn="l" pos="0"/>
              </a:tabLst>
            </a:pPr>
            <a:r>
              <a:rPr b="1" lang="en-US" sz="4400" spc="-1" strike="noStrike">
                <a:solidFill>
                  <a:srgbClr val="c00000"/>
                </a:solidFill>
                <a:latin typeface="Calibri Light"/>
              </a:rPr>
              <a:t>Named Variables in Function Definitions</a:t>
            </a:r>
            <a:endParaRPr b="0" lang="en-US" sz="4400" spc="-1" strike="noStrike">
              <a:solidFill>
                <a:srgbClr val="000000"/>
              </a:solidFill>
              <a:latin typeface="Arial"/>
            </a:endParaRPr>
          </a:p>
        </p:txBody>
      </p:sp>
      <p:sp>
        <p:nvSpPr>
          <p:cNvPr id="103" name="PlaceHolder 2"/>
          <p:cNvSpPr>
            <a:spLocks noGrp="1"/>
          </p:cNvSpPr>
          <p:nvPr>
            <p:ph/>
          </p:nvPr>
        </p:nvSpPr>
        <p:spPr>
          <a:xfrm>
            <a:off x="838080" y="1107000"/>
            <a:ext cx="10514520" cy="62928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Example: Range Class</a:t>
            </a:r>
            <a:endParaRPr b="0" lang="en-US" sz="2800" spc="-1" strike="noStrike">
              <a:solidFill>
                <a:srgbClr val="000000"/>
              </a:solidFill>
              <a:latin typeface="Arial"/>
            </a:endParaRPr>
          </a:p>
          <a:p>
            <a:pPr indent="0" defTabSz="914400">
              <a:lnSpc>
                <a:spcPct val="90000"/>
              </a:lnSpc>
              <a:spcBef>
                <a:spcPts val="1001"/>
              </a:spcBef>
              <a:buNone/>
              <a:tabLst>
                <a:tab algn="l" pos="0"/>
              </a:tabLst>
            </a:pPr>
            <a:endParaRPr b="0" lang="en-US" sz="2800" spc="-1" strike="noStrike">
              <a:solidFill>
                <a:srgbClr val="000000"/>
              </a:solidFill>
              <a:latin typeface="Arial"/>
            </a:endParaRPr>
          </a:p>
        </p:txBody>
      </p:sp>
      <p:sp>
        <p:nvSpPr>
          <p:cNvPr id="104" name="Rectangle 3"/>
          <p:cNvSpPr/>
          <p:nvPr/>
        </p:nvSpPr>
        <p:spPr>
          <a:xfrm>
            <a:off x="2182320" y="2710080"/>
            <a:ext cx="7826040" cy="821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2400" spc="-1" strike="noStrike">
                <a:solidFill>
                  <a:schemeClr val="dk1"/>
                </a:solidFill>
                <a:latin typeface="Calibri"/>
              </a:rPr>
              <a:t>class RangeClass:</a:t>
            </a:r>
            <a:endParaRPr b="0" lang="en-US" sz="2400" spc="-1" strike="noStrike">
              <a:solidFill>
                <a:srgbClr val="000000"/>
              </a:solidFill>
              <a:latin typeface="Arial"/>
            </a:endParaRPr>
          </a:p>
          <a:p>
            <a:pPr defTabSz="457200">
              <a:lnSpc>
                <a:spcPct val="100000"/>
              </a:lnSpc>
            </a:pPr>
            <a:r>
              <a:rPr b="0" lang="en-US" sz="2400" spc="-1" strike="noStrike">
                <a:solidFill>
                  <a:schemeClr val="dk1"/>
                </a:solidFill>
                <a:latin typeface="Calibri"/>
              </a:rPr>
              <a:t>	</a:t>
            </a:r>
            <a:r>
              <a:rPr b="0" lang="en-US" sz="2400" spc="-1" strike="noStrike">
                <a:solidFill>
                  <a:schemeClr val="dk1"/>
                </a:solidFill>
                <a:latin typeface="Calibri"/>
              </a:rPr>
              <a:t>def __init__ (self, start, stop=None, step=1):</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365040"/>
            <a:ext cx="10514520" cy="642960"/>
          </a:xfrm>
          <a:prstGeom prst="rect">
            <a:avLst/>
          </a:prstGeom>
          <a:noFill/>
          <a:ln w="0">
            <a:noFill/>
          </a:ln>
        </p:spPr>
        <p:txBody>
          <a:bodyPr lIns="91440" rIns="91440" tIns="45720" bIns="45720" anchor="ctr">
            <a:normAutofit fontScale="93333"/>
          </a:bodyPr>
          <a:p>
            <a:pPr indent="0" defTabSz="914400">
              <a:lnSpc>
                <a:spcPct val="90000"/>
              </a:lnSpc>
              <a:buNone/>
              <a:tabLst>
                <a:tab algn="l" pos="0"/>
              </a:tabLst>
            </a:pPr>
            <a:r>
              <a:rPr b="1" lang="en-US" sz="4400" spc="-1" strike="noStrike">
                <a:solidFill>
                  <a:srgbClr val="c00000"/>
                </a:solidFill>
                <a:latin typeface="Calibri Light"/>
              </a:rPr>
              <a:t>Exercises</a:t>
            </a:r>
            <a:endParaRPr b="0" lang="en-US" sz="4400" spc="-1" strike="noStrike">
              <a:solidFill>
                <a:srgbClr val="000000"/>
              </a:solidFill>
              <a:latin typeface="Arial"/>
            </a:endParaRPr>
          </a:p>
        </p:txBody>
      </p:sp>
      <p:sp>
        <p:nvSpPr>
          <p:cNvPr id="106" name="PlaceHolder 2"/>
          <p:cNvSpPr>
            <a:spLocks noGrp="1"/>
          </p:cNvSpPr>
          <p:nvPr>
            <p:ph/>
          </p:nvPr>
        </p:nvSpPr>
        <p:spPr>
          <a:xfrm>
            <a:off x="838080" y="1107000"/>
            <a:ext cx="10514520" cy="506880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Flower</a:t>
            </a:r>
            <a:endParaRPr b="0" lang="en-US" sz="2800" spc="-1" strike="noStrike">
              <a:solidFill>
                <a:srgbClr val="000000"/>
              </a:solidFill>
              <a:latin typeface="Arial"/>
            </a:endParaRPr>
          </a:p>
          <a:p>
            <a:pPr marL="228600" indent="-228600" defTabSz="914400">
              <a:lnSpc>
                <a:spcPct val="90000"/>
              </a:lnSpc>
              <a:spcBef>
                <a:spcPts val="1001"/>
              </a:spcBef>
              <a:buClr>
                <a:srgbClr val="000000"/>
              </a:buClr>
              <a:buFont typeface="Arial"/>
              <a:buChar char="•"/>
            </a:pPr>
            <a:r>
              <a:rPr b="0" lang="en-US" sz="2800" spc="-1" strike="noStrike">
                <a:solidFill>
                  <a:schemeClr val="dk1"/>
                </a:solidFill>
                <a:latin typeface="Calibri"/>
              </a:rPr>
              <a:t>MessagingApp</a:t>
            </a:r>
            <a:endParaRPr b="0" lang="en-US"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item1.xml><?xml version="1.0" encoding="utf-8"?>
<sisl xmlns:xsi="http://www.w3.org/2001/XMLSchema-instance" xmlns:xsd="http://www.w3.org/2001/XMLSchema" xmlns="http://www.boldonjames.com/2008/01/sie/internal/label" sislVersion="0" policy="753fb180-a0f1-47ee-bb6b-5956a4b631ac" origin="userSelected">
  <element uid="id_classification_nonbusiness" value=""/>
  <element uid="3a9ec6f0-1d56-47f3-b78c-2cd80822a847" value=""/>
</sisl>
</file>

<file path=customXml/itemProps1.xml><?xml version="1.0" encoding="utf-8"?>
<ds:datastoreItem xmlns:ds="http://schemas.openxmlformats.org/officeDocument/2006/customXml" ds:itemID="{5AB687A1-251E-47C1-B7B8-A532BF2F9F7D}">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emplate>Office Theme</Template>
  <TotalTime>27606</TotalTime>
  <Application>LibreOffice/24.2.7.2$Linux_X86_64 LibreOffice_project/420$Build-2</Application>
  <AppVersion>15.0000</AppVersion>
  <Words>1471</Words>
  <Paragraphs>182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2018-03-07T03:10:24Z</dcterms:created>
  <dc:creator>Kürşat İNCE</dc:creator>
  <dc:description/>
  <dc:language>en-US</dc:language>
  <cp:lastModifiedBy/>
  <cp:lastPrinted>2025-09-08T06:42:08Z</cp:lastPrinted>
  <dcterms:modified xsi:type="dcterms:W3CDTF">2025-09-08T06:42:14Z</dcterms:modified>
  <cp:revision>666</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vt:i4>
  </property>
  <property fmtid="{D5CDD505-2E9C-101B-9397-08002B2CF9AE}" pid="3" name="Notes">
    <vt:i4>20</vt:i4>
  </property>
  <property fmtid="{D5CDD505-2E9C-101B-9397-08002B2CF9AE}" pid="4" name="PresentationFormat">
    <vt:lpwstr>Widescreen</vt:lpwstr>
  </property>
  <property fmtid="{D5CDD505-2E9C-101B-9397-08002B2CF9AE}" pid="5" name="Slides">
    <vt:i4>20</vt:i4>
  </property>
  <property fmtid="{D5CDD505-2E9C-101B-9397-08002B2CF9AE}" pid="6" name="bjClsUserRVM">
    <vt:lpwstr>[]</vt:lpwstr>
  </property>
  <property fmtid="{D5CDD505-2E9C-101B-9397-08002B2CF9AE}" pid="7" name="bjDocumentLabelXML">
    <vt:lpwstr>&lt;?xml version="1.0" encoding="us-ascii"?&gt;&lt;sisl xmlns:xsi="http://www.w3.org/2001/XMLSchema-instance" xmlns:xsd="http://www.w3.org/2001/XMLSchema" sislVersion="0" policy="753fb180-a0f1-47ee-bb6b-5956a4b631ac" origin="userSelected" xmlns="http://www.boldonj</vt:lpwstr>
  </property>
  <property fmtid="{D5CDD505-2E9C-101B-9397-08002B2CF9AE}" pid="8" name="bjDocumentLabelXML-0">
    <vt:lpwstr>ames.com/2008/01/sie/internal/label"&gt;&lt;element uid="id_classification_nonbusiness" value="" /&gt;&lt;element uid="3a9ec6f0-1d56-47f3-b78c-2cd80822a847" value="" /&gt;&lt;/sisl&gt;</vt:lpwstr>
  </property>
  <property fmtid="{D5CDD505-2E9C-101B-9397-08002B2CF9AE}" pid="9" name="bjDocumentSecurityLabel">
    <vt:lpwstr>TASNİF DIŞI</vt:lpwstr>
  </property>
  <property fmtid="{D5CDD505-2E9C-101B-9397-08002B2CF9AE}" pid="10" name="bjSaver">
    <vt:lpwstr>f8PkN1uJXJwqI9alO3CYacUW7PVwbe+w</vt:lpwstr>
  </property>
  <property fmtid="{D5CDD505-2E9C-101B-9397-08002B2CF9AE}" pid="11" name="docIndexRef">
    <vt:lpwstr>3c4ade84-1b77-4958-b253-7a1280122afc</vt:lpwstr>
  </property>
</Properties>
</file>