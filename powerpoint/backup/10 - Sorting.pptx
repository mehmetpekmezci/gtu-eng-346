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_rels/item1.xml.rels" ContentType="application/vnd.openxmlformats-package.relationships+xml"/>
  <Override PartName="/customXml/item1.xml" ContentType="application/xml"/>
  <Override PartName="/customXml/itemProps1.xml" ContentType="application/vnd.openxmlformats-officedocument.customXmlProperties+xml"/>
  <Override PartName="/ppt/presentation.xml" ContentType="application/vnd.openxmlformats-officedocument.presentationml.presentation.main+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10.png" ContentType="image/png"/>
  <Override PartName="/ppt/media/image7.png" ContentType="image/png"/>
  <Override PartName="/ppt/media/image11.png" ContentType="image/png"/>
  <Override PartName="/ppt/media/image8.png" ContentType="image/png"/>
  <Override PartName="/ppt/media/image12.png" ContentType="image/png"/>
  <Override PartName="/ppt/media/image9.png" ContentType="image/png"/>
  <Override PartName="/ppt/media/image13.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s/_rels/slide26.xml.rels" ContentType="application/vnd.openxmlformats-package.relationships+xml"/>
  <Override PartName="/ppt/slides/_rels/slide9.xml.rels" ContentType="application/vnd.openxmlformats-package.relationships+xml"/>
  <Override PartName="/ppt/slides/_rels/slide14.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5.xml.rels" ContentType="application/vnd.openxmlformats-package.relationships+xml"/>
  <Override PartName="/ppt/slides/_rels/slide22.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27.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1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5.xml.rels" ContentType="application/vnd.openxmlformats-package.relationships+xml"/>
  <Override PartName="/ppt/notesSlides/_rels/notesSlide1.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10.xml.rels" ContentType="application/vnd.openxmlformats-package.relationships+xml"/>
  <Override PartName="/ppt/notesSlides/_rels/notesSlide26.xml.rels" ContentType="application/vnd.openxmlformats-package.relationships+xml"/>
  <Override PartName="/ppt/notesSlides/_rels/notesSlide22.xml.rels" ContentType="application/vnd.openxmlformats-package.relationships+xml"/>
  <Override PartName="/ppt/notesSlides/_rels/notesSlide7.xml.rels" ContentType="application/vnd.openxmlformats-package.relationships+xml"/>
  <Override PartName="/ppt/notesSlides/_rels/notesSlide24.xml.rels" ContentType="application/vnd.openxmlformats-package.relationships+xml"/>
  <Override PartName="/ppt/notesSlides/_rels/notesSlide9.xml.rels" ContentType="application/vnd.openxmlformats-package.relationships+xml"/>
  <Override PartName="/ppt/notesSlides/_rels/notesSlide23.xml.rels" ContentType="application/vnd.openxmlformats-package.relationships+xml"/>
  <Override PartName="/ppt/notesSlides/_rels/notesSlide8.xml.rels" ContentType="application/vnd.openxmlformats-package.relationships+xml"/>
  <Override PartName="/ppt/notesSlides/_rels/notesSlide19.xml.rels" ContentType="application/vnd.openxmlformats-package.relationships+xml"/>
  <Override PartName="/ppt/notesSlides/_rels/notesSlide6.xml.rels" ContentType="application/vnd.openxmlformats-package.relationships+xml"/>
  <Override PartName="/ppt/notesSlides/_rels/notesSlide2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26.xml" ContentType="application/vnd.openxmlformats-officedocument.presentationml.notesSlide+xml"/>
  <Override PartName="/ppt/notesSlides/notesSlide14.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notesMaster" Target="notesMasters/notes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9.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5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5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60" name="PlaceHolder 4"/>
          <p:cNvSpPr>
            <a:spLocks noGrp="1"/>
          </p:cNvSpPr>
          <p:nvPr>
            <p:ph type="dt" idx="22"/>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1" name="PlaceHolder 5"/>
          <p:cNvSpPr>
            <a:spLocks noGrp="1"/>
          </p:cNvSpPr>
          <p:nvPr>
            <p:ph type="ftr" idx="23"/>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2" name="PlaceHolder 6"/>
          <p:cNvSpPr>
            <a:spLocks noGrp="1"/>
          </p:cNvSpPr>
          <p:nvPr>
            <p:ph type="sldNum" idx="24"/>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D853FDCB-4956-4128-A89E-BC70DB8AA99E}"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sldImg"/>
          </p:nvPr>
        </p:nvSpPr>
        <p:spPr>
          <a:xfrm>
            <a:off x="685800" y="1143000"/>
            <a:ext cx="5485320" cy="3085200"/>
          </a:xfrm>
          <a:prstGeom prst="rect">
            <a:avLst/>
          </a:prstGeom>
          <a:ln w="0">
            <a:noFill/>
          </a:ln>
        </p:spPr>
      </p:sp>
      <p:sp>
        <p:nvSpPr>
          <p:cNvPr id="14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48"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149" name="PlaceHolder 4"/>
          <p:cNvSpPr>
            <a:spLocks noGrp="1"/>
          </p:cNvSpPr>
          <p:nvPr>
            <p:ph type="ftr" idx="25"/>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150" name="PlaceHolder 5"/>
          <p:cNvSpPr>
            <a:spLocks noGrp="1"/>
          </p:cNvSpPr>
          <p:nvPr>
            <p:ph type="sldNum" idx="26"/>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A4769E23-74EE-4C88-989C-DDB4E1CAE41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sldImg"/>
          </p:nvPr>
        </p:nvSpPr>
        <p:spPr>
          <a:xfrm>
            <a:off x="685800" y="1143000"/>
            <a:ext cx="5485320" cy="3085200"/>
          </a:xfrm>
          <a:prstGeom prst="rect">
            <a:avLst/>
          </a:prstGeom>
          <a:ln w="0">
            <a:noFill/>
          </a:ln>
        </p:spPr>
      </p:sp>
      <p:sp>
        <p:nvSpPr>
          <p:cNvPr id="15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53"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154" name="PlaceHolder 4"/>
          <p:cNvSpPr>
            <a:spLocks noGrp="1"/>
          </p:cNvSpPr>
          <p:nvPr>
            <p:ph type="ftr" idx="27"/>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155" name="PlaceHolder 5"/>
          <p:cNvSpPr>
            <a:spLocks noGrp="1"/>
          </p:cNvSpPr>
          <p:nvPr>
            <p:ph type="sldNum" idx="28"/>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15C4115A-DDDD-4544-8782-06CDB0A0A25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685800" y="1143000"/>
            <a:ext cx="5485320" cy="3085200"/>
          </a:xfrm>
          <a:prstGeom prst="rect">
            <a:avLst/>
          </a:prstGeom>
          <a:ln w="0">
            <a:noFill/>
          </a:ln>
        </p:spPr>
      </p:sp>
      <p:sp>
        <p:nvSpPr>
          <p:cNvPr id="15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58"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159" name="PlaceHolder 4"/>
          <p:cNvSpPr>
            <a:spLocks noGrp="1"/>
          </p:cNvSpPr>
          <p:nvPr>
            <p:ph type="ftr" idx="29"/>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160" name="PlaceHolder 5"/>
          <p:cNvSpPr>
            <a:spLocks noGrp="1"/>
          </p:cNvSpPr>
          <p:nvPr>
            <p:ph type="sldNum" idx="30"/>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F657E808-BAB6-4C45-8EDB-0D8AFF271FC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sldImg"/>
          </p:nvPr>
        </p:nvSpPr>
        <p:spPr>
          <a:xfrm>
            <a:off x="685800" y="1143000"/>
            <a:ext cx="5485320" cy="3085200"/>
          </a:xfrm>
          <a:prstGeom prst="rect">
            <a:avLst/>
          </a:prstGeom>
          <a:ln w="0">
            <a:noFill/>
          </a:ln>
        </p:spPr>
      </p:sp>
      <p:sp>
        <p:nvSpPr>
          <p:cNvPr id="16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63"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164" name="PlaceHolder 4"/>
          <p:cNvSpPr>
            <a:spLocks noGrp="1"/>
          </p:cNvSpPr>
          <p:nvPr>
            <p:ph type="ftr" idx="31"/>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165" name="PlaceHolder 5"/>
          <p:cNvSpPr>
            <a:spLocks noGrp="1"/>
          </p:cNvSpPr>
          <p:nvPr>
            <p:ph type="sldNum" idx="32"/>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E90692D5-60FA-4AE8-8B6F-108AFC68022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sldImg"/>
          </p:nvPr>
        </p:nvSpPr>
        <p:spPr>
          <a:xfrm>
            <a:off x="685800" y="1143000"/>
            <a:ext cx="5485320" cy="3085200"/>
          </a:xfrm>
          <a:prstGeom prst="rect">
            <a:avLst/>
          </a:prstGeom>
          <a:ln w="0">
            <a:noFill/>
          </a:ln>
        </p:spPr>
      </p:sp>
      <p:sp>
        <p:nvSpPr>
          <p:cNvPr id="16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1200" spc="-1" strike="noStrike">
                <a:solidFill>
                  <a:schemeClr val="dk1"/>
                </a:solidFill>
                <a:latin typeface="+mn-lt"/>
                <a:ea typeface="+mn-ea"/>
              </a:rPr>
              <a:t>Sorting is crucial in data structures for efficient search operations, streamlined insertion/deletion processes, and optimized algorithms. It accelerates retrieval, facilitates range queries, and enhances the performance of various data structures, making it fundamental for improving the speed and effectiveness of data manipulation and analysis.</a:t>
            </a:r>
            <a:endParaRPr b="0" lang="en-US" sz="1200" spc="-1" strike="noStrike">
              <a:solidFill>
                <a:srgbClr val="000000"/>
              </a:solidFill>
              <a:latin typeface="Arial"/>
            </a:endParaRPr>
          </a:p>
        </p:txBody>
      </p:sp>
      <p:sp>
        <p:nvSpPr>
          <p:cNvPr id="168"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169" name="PlaceHolder 4"/>
          <p:cNvSpPr>
            <a:spLocks noGrp="1"/>
          </p:cNvSpPr>
          <p:nvPr>
            <p:ph type="ftr" idx="33"/>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170" name="PlaceHolder 5"/>
          <p:cNvSpPr>
            <a:spLocks noGrp="1"/>
          </p:cNvSpPr>
          <p:nvPr>
            <p:ph type="sldNum" idx="34"/>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0132235C-8C2E-4D68-B145-7069B165576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sldImg"/>
          </p:nvPr>
        </p:nvSpPr>
        <p:spPr>
          <a:xfrm>
            <a:off x="685800" y="1143000"/>
            <a:ext cx="5485320" cy="3085200"/>
          </a:xfrm>
          <a:prstGeom prst="rect">
            <a:avLst/>
          </a:prstGeom>
          <a:ln w="0">
            <a:noFill/>
          </a:ln>
        </p:spPr>
      </p:sp>
      <p:sp>
        <p:nvSpPr>
          <p:cNvPr id="17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1200" spc="-1" strike="noStrike">
                <a:solidFill>
                  <a:schemeClr val="dk1"/>
                </a:solidFill>
                <a:latin typeface="+mn-lt"/>
                <a:ea typeface="+mn-ea"/>
              </a:rPr>
              <a:t>Sorting is crucial in data structures for efficient search operations, streamlined insertion/deletion processes, and optimized algorithms. It accelerates retrieval, facilitates range queries, and enhances the performance of various data structures, making it fundamental for improving the speed and effectiveness of data manipulation and analysis.</a:t>
            </a:r>
            <a:endParaRPr b="0" lang="en-US" sz="1200" spc="-1" strike="noStrike">
              <a:solidFill>
                <a:srgbClr val="000000"/>
              </a:solidFill>
              <a:latin typeface="Arial"/>
            </a:endParaRPr>
          </a:p>
        </p:txBody>
      </p:sp>
      <p:sp>
        <p:nvSpPr>
          <p:cNvPr id="173"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174" name="PlaceHolder 4"/>
          <p:cNvSpPr>
            <a:spLocks noGrp="1"/>
          </p:cNvSpPr>
          <p:nvPr>
            <p:ph type="ftr" idx="35"/>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175" name="PlaceHolder 5"/>
          <p:cNvSpPr>
            <a:spLocks noGrp="1"/>
          </p:cNvSpPr>
          <p:nvPr>
            <p:ph type="sldNum" idx="36"/>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45790924-CE62-442D-B06C-3F6A58BD8ED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Img"/>
          </p:nvPr>
        </p:nvSpPr>
        <p:spPr>
          <a:xfrm>
            <a:off x="685800" y="1143000"/>
            <a:ext cx="5485320" cy="3085200"/>
          </a:xfrm>
          <a:prstGeom prst="rect">
            <a:avLst/>
          </a:prstGeom>
          <a:ln w="0">
            <a:noFill/>
          </a:ln>
        </p:spPr>
      </p:sp>
      <p:sp>
        <p:nvSpPr>
          <p:cNvPr id="17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78"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179" name="PlaceHolder 4"/>
          <p:cNvSpPr>
            <a:spLocks noGrp="1"/>
          </p:cNvSpPr>
          <p:nvPr>
            <p:ph type="ftr" idx="37"/>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180" name="PlaceHolder 5"/>
          <p:cNvSpPr>
            <a:spLocks noGrp="1"/>
          </p:cNvSpPr>
          <p:nvPr>
            <p:ph type="sldNum" idx="38"/>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D3A60881-7C43-46A7-BA8B-307BCB0B192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sldImg"/>
          </p:nvPr>
        </p:nvSpPr>
        <p:spPr>
          <a:xfrm>
            <a:off x="685800" y="1143000"/>
            <a:ext cx="5485320" cy="3085200"/>
          </a:xfrm>
          <a:prstGeom prst="rect">
            <a:avLst/>
          </a:prstGeom>
          <a:ln w="0">
            <a:noFill/>
          </a:ln>
        </p:spPr>
      </p:sp>
      <p:sp>
        <p:nvSpPr>
          <p:cNvPr id="18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83"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184" name="PlaceHolder 4"/>
          <p:cNvSpPr>
            <a:spLocks noGrp="1"/>
          </p:cNvSpPr>
          <p:nvPr>
            <p:ph type="ftr" idx="39"/>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185" name="PlaceHolder 5"/>
          <p:cNvSpPr>
            <a:spLocks noGrp="1"/>
          </p:cNvSpPr>
          <p:nvPr>
            <p:ph type="sldNum" idx="40"/>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FA86ADB8-E6B8-46F4-A3D1-F59188C240B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685800" y="1143000"/>
            <a:ext cx="5485320" cy="3085200"/>
          </a:xfrm>
          <a:prstGeom prst="rect">
            <a:avLst/>
          </a:prstGeom>
          <a:ln w="0">
            <a:noFill/>
          </a:ln>
        </p:spPr>
      </p:sp>
      <p:sp>
        <p:nvSpPr>
          <p:cNvPr id="18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88"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189" name="PlaceHolder 4"/>
          <p:cNvSpPr>
            <a:spLocks noGrp="1"/>
          </p:cNvSpPr>
          <p:nvPr>
            <p:ph type="ftr" idx="41"/>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190" name="PlaceHolder 5"/>
          <p:cNvSpPr>
            <a:spLocks noGrp="1"/>
          </p:cNvSpPr>
          <p:nvPr>
            <p:ph type="sldNum" idx="42"/>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8D75B3EC-F6C7-4228-A93B-CFC2DAB3B09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sldImg"/>
          </p:nvPr>
        </p:nvSpPr>
        <p:spPr>
          <a:xfrm>
            <a:off x="685800" y="1143000"/>
            <a:ext cx="5485320" cy="3085200"/>
          </a:xfrm>
          <a:prstGeom prst="rect">
            <a:avLst/>
          </a:prstGeom>
          <a:ln w="0">
            <a:noFill/>
          </a:ln>
        </p:spPr>
      </p:sp>
      <p:sp>
        <p:nvSpPr>
          <p:cNvPr id="19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3"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194" name="PlaceHolder 4"/>
          <p:cNvSpPr>
            <a:spLocks noGrp="1"/>
          </p:cNvSpPr>
          <p:nvPr>
            <p:ph type="ftr" idx="43"/>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195" name="PlaceHolder 5"/>
          <p:cNvSpPr>
            <a:spLocks noGrp="1"/>
          </p:cNvSpPr>
          <p:nvPr>
            <p:ph type="sldNum" idx="44"/>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67C171F-D536-4D1B-9878-0E7B50152E8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685800" y="1143000"/>
            <a:ext cx="5485320" cy="3085200"/>
          </a:xfrm>
          <a:prstGeom prst="rect">
            <a:avLst/>
          </a:prstGeom>
          <a:ln w="0">
            <a:noFill/>
          </a:ln>
        </p:spPr>
      </p:sp>
      <p:sp>
        <p:nvSpPr>
          <p:cNvPr id="19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8"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199" name="PlaceHolder 4"/>
          <p:cNvSpPr>
            <a:spLocks noGrp="1"/>
          </p:cNvSpPr>
          <p:nvPr>
            <p:ph type="ftr" idx="45"/>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200" name="PlaceHolder 5"/>
          <p:cNvSpPr>
            <a:spLocks noGrp="1"/>
          </p:cNvSpPr>
          <p:nvPr>
            <p:ph type="sldNum" idx="46"/>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D716CE4E-A6F3-400A-B536-CEB408F982F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sldImg"/>
          </p:nvPr>
        </p:nvSpPr>
        <p:spPr>
          <a:xfrm>
            <a:off x="685800" y="1143000"/>
            <a:ext cx="5485320" cy="3085200"/>
          </a:xfrm>
          <a:prstGeom prst="rect">
            <a:avLst/>
          </a:prstGeom>
          <a:ln w="0">
            <a:noFill/>
          </a:ln>
        </p:spPr>
      </p:sp>
      <p:sp>
        <p:nvSpPr>
          <p:cNvPr id="20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03"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204" name="PlaceHolder 4"/>
          <p:cNvSpPr>
            <a:spLocks noGrp="1"/>
          </p:cNvSpPr>
          <p:nvPr>
            <p:ph type="ftr" idx="47"/>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205" name="PlaceHolder 5"/>
          <p:cNvSpPr>
            <a:spLocks noGrp="1"/>
          </p:cNvSpPr>
          <p:nvPr>
            <p:ph type="sldNum" idx="48"/>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5B6014A-377C-4396-B857-8BB21CE19AF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sldImg"/>
          </p:nvPr>
        </p:nvSpPr>
        <p:spPr>
          <a:xfrm>
            <a:off x="685800" y="1143000"/>
            <a:ext cx="5485320" cy="3085200"/>
          </a:xfrm>
          <a:prstGeom prst="rect">
            <a:avLst/>
          </a:prstGeom>
          <a:ln w="0">
            <a:noFill/>
          </a:ln>
        </p:spPr>
      </p:sp>
      <p:sp>
        <p:nvSpPr>
          <p:cNvPr id="20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08"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209" name="PlaceHolder 4"/>
          <p:cNvSpPr>
            <a:spLocks noGrp="1"/>
          </p:cNvSpPr>
          <p:nvPr>
            <p:ph type="ftr" idx="49"/>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210" name="PlaceHolder 5"/>
          <p:cNvSpPr>
            <a:spLocks noGrp="1"/>
          </p:cNvSpPr>
          <p:nvPr>
            <p:ph type="sldNum" idx="50"/>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21DEE28-5471-47B7-A9CD-D81BAF3D9FE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685800" y="1143000"/>
            <a:ext cx="5485320" cy="3085200"/>
          </a:xfrm>
          <a:prstGeom prst="rect">
            <a:avLst/>
          </a:prstGeom>
          <a:ln w="0">
            <a:noFill/>
          </a:ln>
        </p:spPr>
      </p:sp>
      <p:sp>
        <p:nvSpPr>
          <p:cNvPr id="21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3"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214" name="PlaceHolder 4"/>
          <p:cNvSpPr>
            <a:spLocks noGrp="1"/>
          </p:cNvSpPr>
          <p:nvPr>
            <p:ph type="ftr" idx="51"/>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215" name="PlaceHolder 5"/>
          <p:cNvSpPr>
            <a:spLocks noGrp="1"/>
          </p:cNvSpPr>
          <p:nvPr>
            <p:ph type="sldNum" idx="52"/>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7F728A6-EF3F-46EF-9748-2E6E694E0C2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sldImg"/>
          </p:nvPr>
        </p:nvSpPr>
        <p:spPr>
          <a:xfrm>
            <a:off x="685800" y="1143000"/>
            <a:ext cx="5485320" cy="3085200"/>
          </a:xfrm>
          <a:prstGeom prst="rect">
            <a:avLst/>
          </a:prstGeom>
          <a:ln w="0">
            <a:noFill/>
          </a:ln>
        </p:spPr>
      </p:sp>
      <p:sp>
        <p:nvSpPr>
          <p:cNvPr id="21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8"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219" name="PlaceHolder 4"/>
          <p:cNvSpPr>
            <a:spLocks noGrp="1"/>
          </p:cNvSpPr>
          <p:nvPr>
            <p:ph type="ftr" idx="53"/>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220" name="PlaceHolder 5"/>
          <p:cNvSpPr>
            <a:spLocks noGrp="1"/>
          </p:cNvSpPr>
          <p:nvPr>
            <p:ph type="sldNum" idx="54"/>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F2F73CCE-4512-472D-8C6B-CAD8B5B8182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685800" y="1143000"/>
            <a:ext cx="5485320" cy="3085200"/>
          </a:xfrm>
          <a:prstGeom prst="rect">
            <a:avLst/>
          </a:prstGeom>
          <a:ln w="0">
            <a:noFill/>
          </a:ln>
        </p:spPr>
      </p:sp>
      <p:sp>
        <p:nvSpPr>
          <p:cNvPr id="22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3"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224" name="PlaceHolder 4"/>
          <p:cNvSpPr>
            <a:spLocks noGrp="1"/>
          </p:cNvSpPr>
          <p:nvPr>
            <p:ph type="ftr" idx="55"/>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225" name="PlaceHolder 5"/>
          <p:cNvSpPr>
            <a:spLocks noGrp="1"/>
          </p:cNvSpPr>
          <p:nvPr>
            <p:ph type="sldNum" idx="56"/>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58203C5-F1C0-46F3-BAA5-AC2565D3530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sldImg"/>
          </p:nvPr>
        </p:nvSpPr>
        <p:spPr>
          <a:xfrm>
            <a:off x="685800" y="1143000"/>
            <a:ext cx="5485320" cy="3085200"/>
          </a:xfrm>
          <a:prstGeom prst="rect">
            <a:avLst/>
          </a:prstGeom>
          <a:ln w="0">
            <a:noFill/>
          </a:ln>
        </p:spPr>
      </p:sp>
      <p:sp>
        <p:nvSpPr>
          <p:cNvPr id="22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8"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229" name="PlaceHolder 4"/>
          <p:cNvSpPr>
            <a:spLocks noGrp="1"/>
          </p:cNvSpPr>
          <p:nvPr>
            <p:ph type="ftr" idx="57"/>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230" name="PlaceHolder 5"/>
          <p:cNvSpPr>
            <a:spLocks noGrp="1"/>
          </p:cNvSpPr>
          <p:nvPr>
            <p:ph type="sldNum" idx="58"/>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D0FA074-6BEC-4947-BFD6-B33816622C8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sldImg"/>
          </p:nvPr>
        </p:nvSpPr>
        <p:spPr>
          <a:xfrm>
            <a:off x="685800" y="1143000"/>
            <a:ext cx="5485320" cy="3085200"/>
          </a:xfrm>
          <a:prstGeom prst="rect">
            <a:avLst/>
          </a:prstGeom>
          <a:ln w="0">
            <a:noFill/>
          </a:ln>
        </p:spPr>
      </p:sp>
      <p:sp>
        <p:nvSpPr>
          <p:cNvPr id="23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3"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234" name="PlaceHolder 4"/>
          <p:cNvSpPr>
            <a:spLocks noGrp="1"/>
          </p:cNvSpPr>
          <p:nvPr>
            <p:ph type="ftr" idx="59"/>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235" name="PlaceHolder 5"/>
          <p:cNvSpPr>
            <a:spLocks noGrp="1"/>
          </p:cNvSpPr>
          <p:nvPr>
            <p:ph type="sldNum" idx="60"/>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A5D1077-FE5E-4CCB-A070-BFBFEF69E5E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685800" y="1143000"/>
            <a:ext cx="5485320" cy="3085200"/>
          </a:xfrm>
          <a:prstGeom prst="rect">
            <a:avLst/>
          </a:prstGeom>
          <a:ln w="0">
            <a:noFill/>
          </a:ln>
        </p:spPr>
      </p:sp>
      <p:sp>
        <p:nvSpPr>
          <p:cNvPr id="23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8"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239" name="PlaceHolder 4"/>
          <p:cNvSpPr>
            <a:spLocks noGrp="1"/>
          </p:cNvSpPr>
          <p:nvPr>
            <p:ph type="ftr" idx="61"/>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240" name="PlaceHolder 5"/>
          <p:cNvSpPr>
            <a:spLocks noGrp="1"/>
          </p:cNvSpPr>
          <p:nvPr>
            <p:ph type="sldNum" idx="62"/>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C6CEC08-770B-4E2B-8D66-56F7C794E84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685800" y="1143000"/>
            <a:ext cx="5485320" cy="3085200"/>
          </a:xfrm>
          <a:prstGeom prst="rect">
            <a:avLst/>
          </a:prstGeom>
          <a:ln w="0">
            <a:noFill/>
          </a:ln>
        </p:spPr>
      </p:sp>
      <p:sp>
        <p:nvSpPr>
          <p:cNvPr id="24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3"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244" name="PlaceHolder 4"/>
          <p:cNvSpPr>
            <a:spLocks noGrp="1"/>
          </p:cNvSpPr>
          <p:nvPr>
            <p:ph type="ftr" idx="63"/>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245" name="PlaceHolder 5"/>
          <p:cNvSpPr>
            <a:spLocks noGrp="1"/>
          </p:cNvSpPr>
          <p:nvPr>
            <p:ph type="sldNum" idx="64"/>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7F76CD1-45FD-4035-804D-4DCDC2AE925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sldImg"/>
          </p:nvPr>
        </p:nvSpPr>
        <p:spPr>
          <a:xfrm>
            <a:off x="685800" y="1143000"/>
            <a:ext cx="5485320" cy="3085200"/>
          </a:xfrm>
          <a:prstGeom prst="rect">
            <a:avLst/>
          </a:prstGeom>
          <a:ln w="0">
            <a:noFill/>
          </a:ln>
        </p:spPr>
      </p:sp>
      <p:sp>
        <p:nvSpPr>
          <p:cNvPr id="24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8"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249" name="PlaceHolder 4"/>
          <p:cNvSpPr>
            <a:spLocks noGrp="1"/>
          </p:cNvSpPr>
          <p:nvPr>
            <p:ph type="ftr" idx="65"/>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250" name="PlaceHolder 5"/>
          <p:cNvSpPr>
            <a:spLocks noGrp="1"/>
          </p:cNvSpPr>
          <p:nvPr>
            <p:ph type="sldNum" idx="66"/>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1F153D1-6BB3-4760-A7FB-98507C6D27F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sldImg"/>
          </p:nvPr>
        </p:nvSpPr>
        <p:spPr>
          <a:xfrm>
            <a:off x="685800" y="1143000"/>
            <a:ext cx="5485320" cy="3085200"/>
          </a:xfrm>
          <a:prstGeom prst="rect">
            <a:avLst/>
          </a:prstGeom>
          <a:ln w="0">
            <a:noFill/>
          </a:ln>
        </p:spPr>
      </p:sp>
      <p:sp>
        <p:nvSpPr>
          <p:cNvPr id="25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53"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254" name="PlaceHolder 4"/>
          <p:cNvSpPr>
            <a:spLocks noGrp="1"/>
          </p:cNvSpPr>
          <p:nvPr>
            <p:ph type="ftr" idx="67"/>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255" name="PlaceHolder 5"/>
          <p:cNvSpPr>
            <a:spLocks noGrp="1"/>
          </p:cNvSpPr>
          <p:nvPr>
            <p:ph type="sldNum" idx="68"/>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06C616B-1BB1-442B-8A62-5B5FFE237B4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sldImg"/>
          </p:nvPr>
        </p:nvSpPr>
        <p:spPr>
          <a:xfrm>
            <a:off x="685800" y="1143000"/>
            <a:ext cx="5485320" cy="3085200"/>
          </a:xfrm>
          <a:prstGeom prst="rect">
            <a:avLst/>
          </a:prstGeom>
          <a:ln w="0">
            <a:noFill/>
          </a:ln>
        </p:spPr>
      </p:sp>
      <p:sp>
        <p:nvSpPr>
          <p:cNvPr id="25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58"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259" name="PlaceHolder 4"/>
          <p:cNvSpPr>
            <a:spLocks noGrp="1"/>
          </p:cNvSpPr>
          <p:nvPr>
            <p:ph type="ftr" idx="69"/>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260" name="PlaceHolder 5"/>
          <p:cNvSpPr>
            <a:spLocks noGrp="1"/>
          </p:cNvSpPr>
          <p:nvPr>
            <p:ph type="sldNum" idx="70"/>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11E4298-FFE7-4ACF-98E9-1BF79E0EDE5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sldImg"/>
          </p:nvPr>
        </p:nvSpPr>
        <p:spPr>
          <a:xfrm>
            <a:off x="685800" y="1143000"/>
            <a:ext cx="5485320" cy="3085200"/>
          </a:xfrm>
          <a:prstGeom prst="rect">
            <a:avLst/>
          </a:prstGeom>
          <a:ln w="0">
            <a:noFill/>
          </a:ln>
        </p:spPr>
      </p:sp>
      <p:sp>
        <p:nvSpPr>
          <p:cNvPr id="26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63"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264" name="PlaceHolder 4"/>
          <p:cNvSpPr>
            <a:spLocks noGrp="1"/>
          </p:cNvSpPr>
          <p:nvPr>
            <p:ph type="ftr" idx="71"/>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265" name="PlaceHolder 5"/>
          <p:cNvSpPr>
            <a:spLocks noGrp="1"/>
          </p:cNvSpPr>
          <p:nvPr>
            <p:ph type="sldNum" idx="72"/>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8EFD2C31-A246-49E3-85D0-799DCF5A075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sldImg"/>
          </p:nvPr>
        </p:nvSpPr>
        <p:spPr>
          <a:xfrm>
            <a:off x="685800" y="1143000"/>
            <a:ext cx="5485320" cy="3085200"/>
          </a:xfrm>
          <a:prstGeom prst="rect">
            <a:avLst/>
          </a:prstGeom>
          <a:ln w="0">
            <a:noFill/>
          </a:ln>
        </p:spPr>
      </p:sp>
      <p:sp>
        <p:nvSpPr>
          <p:cNvPr id="26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68"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269" name="PlaceHolder 4"/>
          <p:cNvSpPr>
            <a:spLocks noGrp="1"/>
          </p:cNvSpPr>
          <p:nvPr>
            <p:ph type="ftr" idx="73"/>
          </p:nvPr>
        </p:nvSpPr>
        <p:spPr>
          <a:xfrm>
            <a:off x="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270" name="PlaceHolder 5"/>
          <p:cNvSpPr>
            <a:spLocks noGrp="1"/>
          </p:cNvSpPr>
          <p:nvPr>
            <p:ph type="sldNum" idx="74"/>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56511F13-9ED8-422B-B5E0-EF053B89F60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 name="PlaceHolder 2"/>
          <p:cNvSpPr>
            <a:spLocks noGrp="1"/>
          </p:cNvSpPr>
          <p:nvPr>
            <p:ph type="subTitle"/>
          </p:nvPr>
        </p:nvSpPr>
        <p:spPr>
          <a:xfrm>
            <a:off x="838080" y="1107000"/>
            <a:ext cx="10514520" cy="50688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76F25CDE-CDFF-4069-B501-94C48CE2B658}"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 name="PlaceHolder 2"/>
          <p:cNvSpPr>
            <a:spLocks noGrp="1"/>
          </p:cNvSpPr>
          <p:nvPr>
            <p:ph/>
          </p:nvPr>
        </p:nvSpPr>
        <p:spPr>
          <a:xfrm>
            <a:off x="838080" y="1107000"/>
            <a:ext cx="10514520" cy="50688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55295652-FB18-4869-8B87-1FB6B66EDABC}"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4062E462-1108-4449-A2CE-6AEE6E849353}"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 name="PlaceHolder 2"/>
          <p:cNvSpPr>
            <a:spLocks noGrp="1"/>
          </p:cNvSpPr>
          <p:nvPr>
            <p:ph/>
          </p:nvPr>
        </p:nvSpPr>
        <p:spPr>
          <a:xfrm>
            <a:off x="838080" y="1107000"/>
            <a:ext cx="5131080" cy="50688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3"/>
          <p:cNvSpPr>
            <a:spLocks noGrp="1"/>
          </p:cNvSpPr>
          <p:nvPr>
            <p:ph/>
          </p:nvPr>
        </p:nvSpPr>
        <p:spPr>
          <a:xfrm>
            <a:off x="6226200" y="1107000"/>
            <a:ext cx="5131080" cy="50688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59543107-C544-4534-A2D3-0FF642774C3D}" type="slidenum">
              <a:t>&lt;#&gt;</a:t>
            </a:fld>
          </a:p>
        </p:txBody>
      </p:sp>
      <p:sp>
        <p:nvSpPr>
          <p:cNvPr id="7" name="PlaceHolder 6"/>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3"/>
          </p:nvPr>
        </p:nvSpPr>
        <p:spPr/>
        <p:txBody>
          <a:bodyPr/>
          <a:p>
            <a:r>
              <a:t>Footer</a:t>
            </a:r>
          </a:p>
        </p:txBody>
      </p:sp>
      <p:sp>
        <p:nvSpPr>
          <p:cNvPr id="4" name="PlaceHolder 3"/>
          <p:cNvSpPr>
            <a:spLocks noGrp="1"/>
          </p:cNvSpPr>
          <p:nvPr>
            <p:ph type="sldNum" idx="14"/>
          </p:nvPr>
        </p:nvSpPr>
        <p:spPr/>
        <p:txBody>
          <a:bodyPr/>
          <a:p>
            <a:fld id="{6010818D-BD8E-456C-9C97-1576EEC79139}" type="slidenum">
              <a:t>&lt;#&gt;</a:t>
            </a:fld>
          </a:p>
        </p:txBody>
      </p:sp>
      <p:sp>
        <p:nvSpPr>
          <p:cNvPr id="5" name="PlaceHolder 4"/>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A16E7054-011F-4B05-8C0D-391231CD35AA}"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aşlık Slaydı">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and Tex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6" name="PlaceHolder 2"/>
          <p:cNvSpPr>
            <a:spLocks noGrp="1"/>
          </p:cNvSpPr>
          <p:nvPr>
            <p:ph/>
          </p:nvPr>
        </p:nvSpPr>
        <p:spPr>
          <a:xfrm>
            <a:off x="838080" y="1107000"/>
            <a:ext cx="10514520" cy="50688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725E676F-73C9-49A5-A166-0DA8D1407AA5}" type="slidenum">
              <a:t>&lt;#&gt;</a:t>
            </a:fld>
          </a:p>
        </p:txBody>
      </p:sp>
      <p:sp>
        <p:nvSpPr>
          <p:cNvPr id="6" name="PlaceHolder 5"/>
          <p:cNvSpPr>
            <a:spLocks noGrp="1"/>
          </p:cNvSpPr>
          <p:nvPr>
            <p:ph type="dt" idx="2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slideLayout" Target="../slideLayouts/slideLayout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1" name="Picture 4" descr="Gebze Technical University"/>
          <p:cNvPicPr/>
          <p:nvPr/>
        </p:nvPicPr>
        <p:blipFill>
          <a:blip r:embed="rId2"/>
          <a:stretch/>
        </p:blipFill>
        <p:spPr>
          <a:xfrm>
            <a:off x="10150560" y="-89640"/>
            <a:ext cx="2158920" cy="1013040"/>
          </a:xfrm>
          <a:prstGeom prst="rect">
            <a:avLst/>
          </a:prstGeom>
          <a:ln w="0">
            <a:noFill/>
          </a:ln>
        </p:spPr>
      </p:pic>
      <p:sp>
        <p:nvSpPr>
          <p:cNvPr id="2"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 name="PlaceHolder 2"/>
          <p:cNvSpPr>
            <a:spLocks noGrp="1"/>
          </p:cNvSpPr>
          <p:nvPr>
            <p:ph type="ftr" idx="1"/>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 name="PlaceHolder 3"/>
          <p:cNvSpPr>
            <a:spLocks noGrp="1"/>
          </p:cNvSpPr>
          <p:nvPr>
            <p:ph type="sldNum" idx="2"/>
          </p:nvPr>
        </p:nvSpPr>
        <p:spPr>
          <a:xfrm>
            <a:off x="8610480" y="6356520"/>
            <a:ext cx="27421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32269F6A-5F88-4AF3-9F3C-6A3B7F6BB14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 name="PlaceHolder 4"/>
          <p:cNvSpPr>
            <a:spLocks noGrp="1"/>
          </p:cNvSpPr>
          <p:nvPr>
            <p:ph type="dt" idx="3"/>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10" name="Picture 4" descr="Gebze Technical University"/>
          <p:cNvPicPr/>
          <p:nvPr/>
        </p:nvPicPr>
        <p:blipFill>
          <a:blip r:embed="rId2"/>
          <a:stretch/>
        </p:blipFill>
        <p:spPr>
          <a:xfrm>
            <a:off x="10150560" y="-89640"/>
            <a:ext cx="2158920" cy="1013040"/>
          </a:xfrm>
          <a:prstGeom prst="rect">
            <a:avLst/>
          </a:prstGeom>
          <a:ln w="0">
            <a:noFill/>
          </a:ln>
        </p:spPr>
      </p:pic>
      <p:sp>
        <p:nvSpPr>
          <p:cNvPr id="11"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 name="PlaceHolder 2"/>
          <p:cNvSpPr>
            <a:spLocks noGrp="1"/>
          </p:cNvSpPr>
          <p:nvPr>
            <p:ph type="body"/>
          </p:nvPr>
        </p:nvSpPr>
        <p:spPr>
          <a:xfrm>
            <a:off x="838080" y="1107000"/>
            <a:ext cx="10514520" cy="5068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 name="PlaceHolder 3"/>
          <p:cNvSpPr>
            <a:spLocks noGrp="1"/>
          </p:cNvSpPr>
          <p:nvPr>
            <p:ph type="ftr" idx="4"/>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 name="PlaceHolder 4"/>
          <p:cNvSpPr>
            <a:spLocks noGrp="1"/>
          </p:cNvSpPr>
          <p:nvPr>
            <p:ph type="sldNum" idx="5"/>
          </p:nvPr>
        </p:nvSpPr>
        <p:spPr>
          <a:xfrm>
            <a:off x="8610480" y="6356520"/>
            <a:ext cx="27421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3C368064-240E-4D74-BF7A-37D41332D6D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5" name="PlaceHolder 5"/>
          <p:cNvSpPr>
            <a:spLocks noGrp="1"/>
          </p:cNvSpPr>
          <p:nvPr>
            <p:ph type="dt" idx="6"/>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19" name="Picture 4" descr="Gebze Technical University"/>
          <p:cNvPicPr/>
          <p:nvPr/>
        </p:nvPicPr>
        <p:blipFill>
          <a:blip r:embed="rId2"/>
          <a:stretch/>
        </p:blipFill>
        <p:spPr>
          <a:xfrm>
            <a:off x="10150560" y="-89640"/>
            <a:ext cx="2158920" cy="1013040"/>
          </a:xfrm>
          <a:prstGeom prst="rect">
            <a:avLst/>
          </a:prstGeom>
          <a:ln w="0">
            <a:noFill/>
          </a:ln>
        </p:spPr>
      </p:pic>
      <p:sp>
        <p:nvSpPr>
          <p:cNvPr id="20" name="PlaceHolder 1"/>
          <p:cNvSpPr>
            <a:spLocks noGrp="1"/>
          </p:cNvSpPr>
          <p:nvPr>
            <p:ph type="ftr" idx="7"/>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1" name="PlaceHolder 2"/>
          <p:cNvSpPr>
            <a:spLocks noGrp="1"/>
          </p:cNvSpPr>
          <p:nvPr>
            <p:ph type="sldNum" idx="8"/>
          </p:nvPr>
        </p:nvSpPr>
        <p:spPr>
          <a:xfrm>
            <a:off x="8610480" y="6356520"/>
            <a:ext cx="27421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79B22735-B2EC-4798-98B9-76382B85806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2" name="PlaceHolder 3"/>
          <p:cNvSpPr>
            <a:spLocks noGrp="1"/>
          </p:cNvSpPr>
          <p:nvPr>
            <p:ph type="dt" idx="9"/>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24" name="Picture 4" descr="Gebze Technical University"/>
          <p:cNvPicPr/>
          <p:nvPr/>
        </p:nvPicPr>
        <p:blipFill>
          <a:blip r:embed="rId2"/>
          <a:stretch/>
        </p:blipFill>
        <p:spPr>
          <a:xfrm>
            <a:off x="10150560" y="-89640"/>
            <a:ext cx="2158920" cy="1013040"/>
          </a:xfrm>
          <a:prstGeom prst="rect">
            <a:avLst/>
          </a:prstGeom>
          <a:ln w="0">
            <a:noFill/>
          </a:ln>
        </p:spPr>
      </p:pic>
      <p:sp>
        <p:nvSpPr>
          <p:cNvPr id="25"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6" name="PlaceHolder 2"/>
          <p:cNvSpPr>
            <a:spLocks noGrp="1"/>
          </p:cNvSpPr>
          <p:nvPr>
            <p:ph type="body"/>
          </p:nvPr>
        </p:nvSpPr>
        <p:spPr>
          <a:xfrm>
            <a:off x="838080" y="1107000"/>
            <a:ext cx="5130720" cy="5068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 name="PlaceHolder 3"/>
          <p:cNvSpPr>
            <a:spLocks noGrp="1"/>
          </p:cNvSpPr>
          <p:nvPr>
            <p:ph type="body"/>
          </p:nvPr>
        </p:nvSpPr>
        <p:spPr>
          <a:xfrm>
            <a:off x="6226200" y="1107000"/>
            <a:ext cx="5130720" cy="5068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 name="PlaceHolder 4"/>
          <p:cNvSpPr>
            <a:spLocks noGrp="1"/>
          </p:cNvSpPr>
          <p:nvPr>
            <p:ph type="ftr" idx="10"/>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9" name="PlaceHolder 5"/>
          <p:cNvSpPr>
            <a:spLocks noGrp="1"/>
          </p:cNvSpPr>
          <p:nvPr>
            <p:ph type="sldNum" idx="11"/>
          </p:nvPr>
        </p:nvSpPr>
        <p:spPr>
          <a:xfrm>
            <a:off x="8610480" y="6356520"/>
            <a:ext cx="27421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529779E8-64DF-4200-9C89-82E22435BA1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0" name="PlaceHolder 6"/>
          <p:cNvSpPr>
            <a:spLocks noGrp="1"/>
          </p:cNvSpPr>
          <p:nvPr>
            <p:ph type="dt" idx="12"/>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35" name="Picture 4" descr="Gebze Technical University"/>
          <p:cNvPicPr/>
          <p:nvPr/>
        </p:nvPicPr>
        <p:blipFill>
          <a:blip r:embed="rId2"/>
          <a:stretch/>
        </p:blipFill>
        <p:spPr>
          <a:xfrm>
            <a:off x="10150560" y="-89640"/>
            <a:ext cx="2158920" cy="1013040"/>
          </a:xfrm>
          <a:prstGeom prst="rect">
            <a:avLst/>
          </a:prstGeom>
          <a:ln w="0">
            <a:noFill/>
          </a:ln>
        </p:spPr>
      </p:pic>
      <p:sp>
        <p:nvSpPr>
          <p:cNvPr id="36"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 name="PlaceHolder 2"/>
          <p:cNvSpPr>
            <a:spLocks noGrp="1"/>
          </p:cNvSpPr>
          <p:nvPr>
            <p:ph type="ftr" idx="13"/>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8" name="PlaceHolder 3"/>
          <p:cNvSpPr>
            <a:spLocks noGrp="1"/>
          </p:cNvSpPr>
          <p:nvPr>
            <p:ph type="sldNum" idx="14"/>
          </p:nvPr>
        </p:nvSpPr>
        <p:spPr>
          <a:xfrm>
            <a:off x="8610480" y="6356520"/>
            <a:ext cx="27421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C52CE775-E54A-49CC-8F83-D7665C3F690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9" name="PlaceHolder 4"/>
          <p:cNvSpPr>
            <a:spLocks noGrp="1"/>
          </p:cNvSpPr>
          <p:nvPr>
            <p:ph type="dt" idx="15"/>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42" name="Picture 4" descr="Gebze Technical University"/>
          <p:cNvPicPr/>
          <p:nvPr/>
        </p:nvPicPr>
        <p:blipFill>
          <a:blip r:embed="rId2"/>
          <a:stretch/>
        </p:blipFill>
        <p:spPr>
          <a:xfrm>
            <a:off x="10150560" y="-89640"/>
            <a:ext cx="2158920" cy="1013040"/>
          </a:xfrm>
          <a:prstGeom prst="rect">
            <a:avLst/>
          </a:prstGeom>
          <a:ln w="0">
            <a:noFill/>
          </a:ln>
        </p:spPr>
      </p:pic>
      <p:sp>
        <p:nvSpPr>
          <p:cNvPr id="43" name="PlaceHolder 1"/>
          <p:cNvSpPr>
            <a:spLocks noGrp="1"/>
          </p:cNvSpPr>
          <p:nvPr>
            <p:ph type="ftr" idx="16"/>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2"/>
          <p:cNvSpPr>
            <a:spLocks noGrp="1"/>
          </p:cNvSpPr>
          <p:nvPr>
            <p:ph type="sldNum" idx="17"/>
          </p:nvPr>
        </p:nvSpPr>
        <p:spPr>
          <a:xfrm>
            <a:off x="8610480" y="6356520"/>
            <a:ext cx="27421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821B47B4-2337-491B-88CC-C863C1C9405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5" name="PlaceHolder 3"/>
          <p:cNvSpPr>
            <a:spLocks noGrp="1"/>
          </p:cNvSpPr>
          <p:nvPr>
            <p:ph type="dt" idx="18"/>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47" name="Picture 4" descr="Gebze Technical University"/>
          <p:cNvPicPr/>
          <p:nvPr/>
        </p:nvPicPr>
        <p:blipFill>
          <a:blip r:embed="rId2"/>
          <a:stretch/>
        </p:blipFill>
        <p:spPr>
          <a:xfrm>
            <a:off x="10150560" y="-89640"/>
            <a:ext cx="2158920" cy="10130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49" name="Picture 4" descr="Gebze Technical University"/>
          <p:cNvPicPr/>
          <p:nvPr/>
        </p:nvPicPr>
        <p:blipFill>
          <a:blip r:embed="rId2"/>
          <a:stretch/>
        </p:blipFill>
        <p:spPr>
          <a:xfrm>
            <a:off x="10150560" y="-89640"/>
            <a:ext cx="2158920" cy="1013040"/>
          </a:xfrm>
          <a:prstGeom prst="rect">
            <a:avLst/>
          </a:prstGeom>
          <a:ln w="0">
            <a:noFill/>
          </a:ln>
        </p:spPr>
      </p:pic>
      <p:sp>
        <p:nvSpPr>
          <p:cNvPr id="50"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1" name="PlaceHolder 2"/>
          <p:cNvSpPr>
            <a:spLocks noGrp="1"/>
          </p:cNvSpPr>
          <p:nvPr>
            <p:ph type="body"/>
          </p:nvPr>
        </p:nvSpPr>
        <p:spPr>
          <a:xfrm>
            <a:off x="838080" y="1107000"/>
            <a:ext cx="10514520" cy="5068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2" name="PlaceHolder 3"/>
          <p:cNvSpPr>
            <a:spLocks noGrp="1"/>
          </p:cNvSpPr>
          <p:nvPr>
            <p:ph type="ftr" idx="19"/>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3" name="PlaceHolder 4"/>
          <p:cNvSpPr>
            <a:spLocks noGrp="1"/>
          </p:cNvSpPr>
          <p:nvPr>
            <p:ph type="sldNum" idx="20"/>
          </p:nvPr>
        </p:nvSpPr>
        <p:spPr>
          <a:xfrm>
            <a:off x="8610480" y="6356520"/>
            <a:ext cx="27421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733C4748-C258-4F64-B500-4B27897D946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4" name="PlaceHolder 5"/>
          <p:cNvSpPr>
            <a:spLocks noGrp="1"/>
          </p:cNvSpPr>
          <p:nvPr>
            <p:ph type="dt" idx="21"/>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s/_rels/slide1.xml.rels><?xml version="1.0" encoding="UTF-8"?>
<Relationships xmlns="http://schemas.openxmlformats.org/package/2006/relationships"><Relationship Id="rId1" Type="http://schemas.openxmlformats.org/officeDocument/2006/relationships/hyperlink" Target="mailto:mpekmezci@gtu.edu.tr" TargetMode="External"/><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hyperlink" Target="https://www.geeksforgeeks.org/inversion-count-in-array-using-merge-sort/" TargetMode="External"/><Relationship Id="rId2" Type="http://schemas.openxmlformats.org/officeDocument/2006/relationships/slideLayout" Target="../slideLayouts/slideLayout2.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1341000" y="1252800"/>
            <a:ext cx="9142920" cy="2998080"/>
          </a:xfrm>
          <a:prstGeom prst="rect">
            <a:avLst/>
          </a:prstGeom>
          <a:noFill/>
          <a:ln w="0">
            <a:noFill/>
          </a:ln>
        </p:spPr>
        <p:txBody>
          <a:bodyPr lIns="91440" rIns="91440" tIns="45720" bIns="45720" anchor="b">
            <a:normAutofit fontScale="75000" lnSpcReduction="10000"/>
          </a:bodyPr>
          <a:p>
            <a:pPr indent="0" algn="ctr" defTabSz="914400">
              <a:lnSpc>
                <a:spcPct val="90000"/>
              </a:lnSpc>
              <a:buNone/>
              <a:tabLst>
                <a:tab algn="l" pos="0"/>
              </a:tabLst>
            </a:pPr>
            <a:r>
              <a:rPr b="1" lang="en-US" sz="6000" spc="-1" strike="noStrike">
                <a:solidFill>
                  <a:srgbClr val="c00000"/>
                </a:solidFill>
                <a:latin typeface="Calibri Light"/>
              </a:rPr>
              <a:t>ENG 346</a:t>
            </a:r>
            <a:br>
              <a:rPr sz="6000"/>
            </a:br>
            <a:r>
              <a:rPr b="1" lang="en-US" sz="6000" spc="-1" strike="noStrike">
                <a:solidFill>
                  <a:srgbClr val="c00000"/>
                </a:solidFill>
                <a:latin typeface="Calibri Light"/>
              </a:rPr>
              <a:t>Data Structures and Algorithms for Artificial Intelligence</a:t>
            </a:r>
            <a:br>
              <a:rPr sz="6000"/>
            </a:br>
            <a:r>
              <a:rPr b="1" lang="en-US" sz="4900" spc="-1" strike="noStrike">
                <a:solidFill>
                  <a:schemeClr val="dk1"/>
                </a:solidFill>
                <a:latin typeface="Calibri Light"/>
              </a:rPr>
              <a:t>Sorting</a:t>
            </a:r>
            <a:endParaRPr b="0" lang="en-US" sz="4900" spc="-1" strike="noStrike">
              <a:solidFill>
                <a:srgbClr val="000000"/>
              </a:solidFill>
              <a:latin typeface="Arial"/>
            </a:endParaRPr>
          </a:p>
        </p:txBody>
      </p:sp>
      <p:sp>
        <p:nvSpPr>
          <p:cNvPr id="64" name="PlaceHolder 2"/>
          <p:cNvSpPr>
            <a:spLocks noGrp="1"/>
          </p:cNvSpPr>
          <p:nvPr>
            <p:ph type="subTitle"/>
          </p:nvPr>
        </p:nvSpPr>
        <p:spPr>
          <a:xfrm>
            <a:off x="1496520" y="4462200"/>
            <a:ext cx="9142920" cy="1004760"/>
          </a:xfrm>
          <a:prstGeom prst="rect">
            <a:avLst/>
          </a:prstGeom>
          <a:noFill/>
          <a:ln w="0">
            <a:noFill/>
          </a:ln>
        </p:spPr>
        <p:txBody>
          <a:bodyPr lIns="91440" rIns="91440" tIns="45720" bIns="45720" anchor="t">
            <a:noAutofit/>
          </a:bodyPr>
          <a:p>
            <a:pPr indent="0" algn="ctr" defTabSz="914400">
              <a:lnSpc>
                <a:spcPct val="90000"/>
              </a:lnSpc>
              <a:spcBef>
                <a:spcPts val="1001"/>
              </a:spcBef>
              <a:buNone/>
              <a:tabLst>
                <a:tab algn="l" pos="0"/>
              </a:tabLst>
            </a:pPr>
            <a:r>
              <a:rPr b="0" lang="en-US" sz="2400" spc="-1" strike="noStrike">
                <a:solidFill>
                  <a:schemeClr val="dk1"/>
                </a:solidFill>
                <a:latin typeface="Calibri"/>
              </a:rPr>
              <a:t>Dr. Mehmet PEKMEZCİ</a:t>
            </a:r>
            <a:endParaRPr b="0" lang="en-US" sz="2400" spc="-1" strike="noStrike">
              <a:solidFill>
                <a:srgbClr val="000000"/>
              </a:solidFill>
              <a:latin typeface="Arial"/>
            </a:endParaRPr>
          </a:p>
          <a:p>
            <a:pPr indent="0" algn="ctr" defTabSz="914400">
              <a:lnSpc>
                <a:spcPct val="90000"/>
              </a:lnSpc>
              <a:spcBef>
                <a:spcPts val="1001"/>
              </a:spcBef>
              <a:buNone/>
              <a:tabLst>
                <a:tab algn="l" pos="0"/>
              </a:tabLst>
            </a:pPr>
            <a:r>
              <a:rPr b="0" lang="en-US" sz="2400" spc="-1" strike="noStrike">
                <a:solidFill>
                  <a:schemeClr val="dk1"/>
                </a:solidFill>
                <a:latin typeface="Calibri"/>
                <a:hlinkClick r:id="rId1"/>
              </a:rPr>
              <a:t>mpekmezci@gtu.edu.tr</a:t>
            </a:r>
            <a:endParaRPr b="0" lang="en-US" sz="2400" spc="-1" strike="noStrike">
              <a:solidFill>
                <a:srgbClr val="000000"/>
              </a:solidFill>
              <a:latin typeface="Arial"/>
            </a:endParaRPr>
          </a:p>
          <a:p>
            <a:pPr indent="0" algn="ctr" defTabSz="914400">
              <a:lnSpc>
                <a:spcPct val="90000"/>
              </a:lnSpc>
              <a:spcBef>
                <a:spcPts val="1001"/>
              </a:spcBef>
              <a:buNone/>
              <a:tabLst>
                <a:tab algn="l" pos="0"/>
              </a:tabLst>
            </a:pPr>
            <a:r>
              <a:rPr b="0" lang="en-US" sz="2400" spc="-1" strike="noStrike">
                <a:solidFill>
                  <a:schemeClr val="dk1"/>
                </a:solidFill>
                <a:latin typeface="Calibri"/>
              </a:rPr>
              <a:t>https://github.com/mehmetpekmezci/GTU-ENG-346</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Agenda</a:t>
            </a:r>
            <a:endParaRPr b="0" lang="en-US" sz="4400" spc="-1" strike="noStrike">
              <a:solidFill>
                <a:srgbClr val="000000"/>
              </a:solidFill>
              <a:latin typeface="Arial"/>
            </a:endParaRPr>
          </a:p>
        </p:txBody>
      </p:sp>
      <p:sp>
        <p:nvSpPr>
          <p:cNvPr id="66" name="PlaceHolder 2"/>
          <p:cNvSpPr>
            <a:spLocks noGrp="1"/>
          </p:cNvSpPr>
          <p:nvPr>
            <p:ph/>
          </p:nvPr>
        </p:nvSpPr>
        <p:spPr>
          <a:xfrm>
            <a:off x="838080" y="1107000"/>
            <a:ext cx="10514520" cy="50688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Bubble Sort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Selection Sort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Insertion Sort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Selection Sort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Quick Sort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Merge Sort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Heap Sort</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Complexity</a:t>
            </a:r>
            <a:endParaRPr b="0" lang="en-US" sz="4400" spc="-1" strike="noStrike">
              <a:solidFill>
                <a:srgbClr val="000000"/>
              </a:solidFill>
              <a:latin typeface="Arial"/>
            </a:endParaRPr>
          </a:p>
        </p:txBody>
      </p:sp>
      <p:pic>
        <p:nvPicPr>
          <p:cNvPr id="68" name="" descr=""/>
          <p:cNvPicPr/>
          <p:nvPr/>
        </p:nvPicPr>
        <p:blipFill>
          <a:blip r:embed="rId1"/>
          <a:stretch/>
        </p:blipFill>
        <p:spPr>
          <a:xfrm>
            <a:off x="1235880" y="1008360"/>
            <a:ext cx="9965160" cy="562068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838080" y="108000"/>
            <a:ext cx="10514520" cy="1157040"/>
          </a:xfrm>
          <a:prstGeom prst="rect">
            <a:avLst/>
          </a:prstGeom>
          <a:noFill/>
          <a:ln w="0">
            <a:noFill/>
          </a:ln>
        </p:spPr>
        <p:txBody>
          <a:bodyPr lIns="0" rIns="0" tIns="12600" bIns="0" anchor="ctr">
            <a:noAutofit/>
          </a:bodyPr>
          <a:p>
            <a:pPr marL="12600" indent="0" defTabSz="914400">
              <a:lnSpc>
                <a:spcPct val="150000"/>
              </a:lnSpc>
              <a:spcBef>
                <a:spcPts val="99"/>
              </a:spcBef>
              <a:buNone/>
              <a:tabLst>
                <a:tab algn="l" pos="0"/>
              </a:tabLst>
            </a:pPr>
            <a:r>
              <a:rPr b="0" lang="en-US" sz="4400" spc="-1" strike="noStrike">
                <a:solidFill>
                  <a:srgbClr val="c00000"/>
                </a:solidFill>
                <a:latin typeface="Times New Roman"/>
              </a:rPr>
              <a:t>S</a:t>
            </a:r>
            <a:r>
              <a:rPr b="0" lang="en-US" sz="4400" spc="7" strike="noStrike">
                <a:solidFill>
                  <a:srgbClr val="c00000"/>
                </a:solidFill>
                <a:latin typeface="Times New Roman"/>
              </a:rPr>
              <a:t>O</a:t>
            </a:r>
            <a:r>
              <a:rPr b="0" lang="en-US" sz="4400" spc="-66" strike="noStrike">
                <a:solidFill>
                  <a:srgbClr val="c00000"/>
                </a:solidFill>
                <a:latin typeface="Times New Roman"/>
              </a:rPr>
              <a:t>R</a:t>
            </a:r>
            <a:r>
              <a:rPr b="0" lang="en-US" sz="4400" spc="4" strike="noStrike">
                <a:solidFill>
                  <a:srgbClr val="c00000"/>
                </a:solidFill>
                <a:latin typeface="Times New Roman"/>
              </a:rPr>
              <a:t>TING</a:t>
            </a:r>
            <a:endParaRPr b="0" lang="en-US" sz="4400" spc="-1" strike="noStrike">
              <a:solidFill>
                <a:srgbClr val="000000"/>
              </a:solidFill>
              <a:latin typeface="Arial"/>
            </a:endParaRPr>
          </a:p>
        </p:txBody>
      </p:sp>
      <p:sp>
        <p:nvSpPr>
          <p:cNvPr id="70" name="PlaceHolder 2"/>
          <p:cNvSpPr>
            <a:spLocks noGrp="1"/>
          </p:cNvSpPr>
          <p:nvPr>
            <p:ph/>
          </p:nvPr>
        </p:nvSpPr>
        <p:spPr>
          <a:xfrm>
            <a:off x="838080" y="1107000"/>
            <a:ext cx="10514520" cy="1092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48" strike="noStrike">
                <a:solidFill>
                  <a:schemeClr val="dk1"/>
                </a:solidFill>
                <a:latin typeface="Times New Roman"/>
              </a:rPr>
              <a:t>Sorting </a:t>
            </a:r>
            <a:r>
              <a:rPr b="0" lang="en-US" sz="2800" spc="-1" strike="noStrike">
                <a:solidFill>
                  <a:schemeClr val="dk1"/>
                </a:solidFill>
                <a:latin typeface="Times New Roman"/>
              </a:rPr>
              <a:t>refers to </a:t>
            </a:r>
            <a:r>
              <a:rPr b="0" lang="en-US" sz="2800" spc="-7" strike="noStrike">
                <a:solidFill>
                  <a:schemeClr val="dk1"/>
                </a:solidFill>
                <a:latin typeface="Times New Roman"/>
              </a:rPr>
              <a:t>operations </a:t>
            </a:r>
            <a:r>
              <a:rPr b="0" lang="en-US" sz="2800" spc="-1" strike="noStrike">
                <a:solidFill>
                  <a:schemeClr val="dk1"/>
                </a:solidFill>
                <a:latin typeface="Times New Roman"/>
              </a:rPr>
              <a:t>of  </a:t>
            </a:r>
            <a:r>
              <a:rPr b="0" lang="en-US" sz="2800" spc="-7" strike="noStrike">
                <a:solidFill>
                  <a:schemeClr val="dk1"/>
                </a:solidFill>
                <a:latin typeface="Times New Roman"/>
              </a:rPr>
              <a:t>arranging </a:t>
            </a:r>
            <a:r>
              <a:rPr b="0" lang="en-US" sz="2800" spc="-1" strike="noStrike">
                <a:solidFill>
                  <a:schemeClr val="dk1"/>
                </a:solidFill>
                <a:latin typeface="Times New Roman"/>
              </a:rPr>
              <a:t>a set of </a:t>
            </a:r>
            <a:r>
              <a:rPr b="0" lang="en-US" sz="2800" spc="-7" strike="noStrike">
                <a:solidFill>
                  <a:schemeClr val="dk1"/>
                </a:solidFill>
                <a:latin typeface="Times New Roman"/>
              </a:rPr>
              <a:t>data </a:t>
            </a:r>
            <a:r>
              <a:rPr b="0" lang="en-US" sz="2800" spc="-1" strike="noStrike">
                <a:solidFill>
                  <a:schemeClr val="dk1"/>
                </a:solidFill>
                <a:latin typeface="Times New Roman"/>
              </a:rPr>
              <a:t>in a</a:t>
            </a:r>
            <a:r>
              <a:rPr b="0" lang="en-US" sz="2800" spc="-86" strike="noStrike">
                <a:solidFill>
                  <a:schemeClr val="dk1"/>
                </a:solidFill>
                <a:latin typeface="Times New Roman"/>
              </a:rPr>
              <a:t> </a:t>
            </a:r>
            <a:r>
              <a:rPr b="0" lang="en-US" sz="2800" spc="-7" strike="noStrike">
                <a:solidFill>
                  <a:schemeClr val="dk1"/>
                </a:solidFill>
                <a:latin typeface="Times New Roman"/>
              </a:rPr>
              <a:t>given  </a:t>
            </a:r>
            <a:r>
              <a:rPr b="0" lang="en-US" sz="2800" spc="-35" strike="noStrike">
                <a:solidFill>
                  <a:schemeClr val="dk1"/>
                </a:solidFill>
                <a:latin typeface="Times New Roman"/>
              </a:rPr>
              <a:t>order.</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graphicFrame>
        <p:nvGraphicFramePr>
          <p:cNvPr id="71" name="object 4"/>
          <p:cNvGraphicFramePr/>
          <p:nvPr/>
        </p:nvGraphicFramePr>
        <p:xfrm>
          <a:off x="1635480" y="3595680"/>
          <a:ext cx="5035320" cy="603720"/>
        </p:xfrm>
        <a:graphic>
          <a:graphicData uri="http://schemas.openxmlformats.org/drawingml/2006/table">
            <a:tbl>
              <a:tblPr/>
              <a:tblGrid>
                <a:gridCol w="838080"/>
                <a:gridCol w="841680"/>
                <a:gridCol w="841680"/>
                <a:gridCol w="838080"/>
                <a:gridCol w="838080"/>
                <a:gridCol w="838080"/>
              </a:tblGrid>
              <a:tr h="533160">
                <a:tc>
                  <a:txBody>
                    <a:bodyPr anchor="t">
                      <a:noAutofit/>
                    </a:bodyPr>
                    <a:p>
                      <a:pPr marL="173880" defTabSz="914400">
                        <a:lnSpc>
                          <a:spcPct val="100000"/>
                        </a:lnSpc>
                        <a:spcBef>
                          <a:spcPts val="315"/>
                        </a:spcBef>
                      </a:pPr>
                      <a:r>
                        <a:rPr b="0" lang="en-US" sz="1800" spc="-7" strike="noStrike">
                          <a:solidFill>
                            <a:schemeClr val="dk1"/>
                          </a:solidFill>
                          <a:latin typeface="Arial"/>
                        </a:rPr>
                        <a:t>10</a:t>
                      </a:r>
                      <a:endParaRPr b="0" lang="en-US" sz="1800" spc="-1" strike="noStrike">
                        <a:solidFill>
                          <a:srgbClr val="000000"/>
                        </a:solidFill>
                        <a:latin typeface="Arial"/>
                      </a:endParaRPr>
                    </a:p>
                  </a:txBody>
                  <a:tcPr anchor="t" marL="91440" marR="91440">
                    <a:lnL w="28080">
                      <a:solidFill>
                        <a:srgbClr val="ba6025"/>
                      </a:solidFill>
                      <a:prstDash val="solid"/>
                    </a:lnL>
                    <a:lnR w="28080">
                      <a:solidFill>
                        <a:srgbClr val="ba6025"/>
                      </a:solidFill>
                      <a:prstDash val="solid"/>
                    </a:lnR>
                    <a:lnT w="28080">
                      <a:solidFill>
                        <a:srgbClr val="ba6025"/>
                      </a:solidFill>
                      <a:prstDash val="solid"/>
                    </a:lnT>
                    <a:lnB w="28080">
                      <a:solidFill>
                        <a:srgbClr val="ba6025"/>
                      </a:solidFill>
                      <a:prstDash val="solid"/>
                    </a:lnB>
                    <a:solidFill>
                      <a:srgbClr val="fd8537"/>
                    </a:solidFill>
                  </a:tcPr>
                </a:tc>
                <a:tc>
                  <a:txBody>
                    <a:bodyPr anchor="t">
                      <a:noAutofit/>
                    </a:bodyPr>
                    <a:p>
                      <a:pPr marL="250920" defTabSz="914400">
                        <a:lnSpc>
                          <a:spcPct val="100000"/>
                        </a:lnSpc>
                        <a:spcBef>
                          <a:spcPts val="315"/>
                        </a:spcBef>
                      </a:pPr>
                      <a:r>
                        <a:rPr b="0" lang="en-US" sz="1800" spc="-7" strike="noStrike">
                          <a:solidFill>
                            <a:schemeClr val="dk1"/>
                          </a:solidFill>
                          <a:latin typeface="Arial"/>
                        </a:rPr>
                        <a:t>20</a:t>
                      </a:r>
                      <a:endParaRPr b="0" lang="en-US" sz="1800" spc="-1" strike="noStrike">
                        <a:solidFill>
                          <a:srgbClr val="000000"/>
                        </a:solidFill>
                        <a:latin typeface="Arial"/>
                      </a:endParaRPr>
                    </a:p>
                  </a:txBody>
                  <a:tcPr anchor="t" marL="91440" marR="91440">
                    <a:lnL w="28080">
                      <a:solidFill>
                        <a:srgbClr val="ba6025"/>
                      </a:solidFill>
                      <a:prstDash val="solid"/>
                    </a:lnL>
                    <a:lnR w="38160">
                      <a:solidFill>
                        <a:srgbClr val="ba6025"/>
                      </a:solidFill>
                      <a:prstDash val="solid"/>
                    </a:lnR>
                    <a:lnT w="28080">
                      <a:solidFill>
                        <a:srgbClr val="ba6025"/>
                      </a:solidFill>
                      <a:prstDash val="solid"/>
                    </a:lnT>
                    <a:lnB w="28080">
                      <a:solidFill>
                        <a:srgbClr val="ba6025"/>
                      </a:solidFill>
                      <a:prstDash val="solid"/>
                    </a:lnB>
                    <a:solidFill>
                      <a:srgbClr val="fd8537"/>
                    </a:solidFill>
                  </a:tcPr>
                </a:tc>
                <a:tc>
                  <a:txBody>
                    <a:bodyPr anchor="t">
                      <a:noAutofit/>
                    </a:bodyPr>
                    <a:p>
                      <a:pPr marL="323280" defTabSz="914400">
                        <a:lnSpc>
                          <a:spcPct val="100000"/>
                        </a:lnSpc>
                        <a:spcBef>
                          <a:spcPts val="315"/>
                        </a:spcBef>
                      </a:pPr>
                      <a:r>
                        <a:rPr b="0" lang="en-US" sz="1800" spc="-7" strike="noStrike">
                          <a:solidFill>
                            <a:schemeClr val="dk1"/>
                          </a:solidFill>
                          <a:latin typeface="Arial"/>
                        </a:rPr>
                        <a:t>30</a:t>
                      </a:r>
                      <a:endParaRPr b="0" lang="en-US" sz="1800" spc="-1" strike="noStrike">
                        <a:solidFill>
                          <a:srgbClr val="000000"/>
                        </a:solidFill>
                        <a:latin typeface="Arial"/>
                      </a:endParaRPr>
                    </a:p>
                  </a:txBody>
                  <a:tcPr anchor="t" marL="91440" marR="91440">
                    <a:lnL w="38160">
                      <a:solidFill>
                        <a:srgbClr val="ba6025"/>
                      </a:solidFill>
                      <a:prstDash val="solid"/>
                    </a:lnL>
                    <a:lnR w="28080">
                      <a:solidFill>
                        <a:srgbClr val="ba6025"/>
                      </a:solidFill>
                      <a:prstDash val="solid"/>
                    </a:lnR>
                    <a:lnT w="28080">
                      <a:solidFill>
                        <a:srgbClr val="ba6025"/>
                      </a:solidFill>
                      <a:prstDash val="solid"/>
                    </a:lnT>
                    <a:lnB w="28080">
                      <a:solidFill>
                        <a:srgbClr val="ba6025"/>
                      </a:solidFill>
                      <a:prstDash val="solid"/>
                    </a:lnB>
                    <a:solidFill>
                      <a:srgbClr val="fd8537"/>
                    </a:solidFill>
                  </a:tcPr>
                </a:tc>
                <a:tc>
                  <a:txBody>
                    <a:bodyPr anchor="t">
                      <a:noAutofit/>
                    </a:bodyPr>
                    <a:p>
                      <a:pPr marL="395640" defTabSz="914400">
                        <a:lnSpc>
                          <a:spcPct val="100000"/>
                        </a:lnSpc>
                        <a:spcBef>
                          <a:spcPts val="315"/>
                        </a:spcBef>
                      </a:pPr>
                      <a:r>
                        <a:rPr b="0" lang="en-US" sz="1800" spc="-7" strike="noStrike">
                          <a:solidFill>
                            <a:schemeClr val="dk1"/>
                          </a:solidFill>
                          <a:latin typeface="Arial"/>
                        </a:rPr>
                        <a:t>40</a:t>
                      </a:r>
                      <a:endParaRPr b="0" lang="en-US" sz="1800" spc="-1" strike="noStrike">
                        <a:solidFill>
                          <a:srgbClr val="000000"/>
                        </a:solidFill>
                        <a:latin typeface="Arial"/>
                      </a:endParaRPr>
                    </a:p>
                  </a:txBody>
                  <a:tcPr anchor="t" marL="91440" marR="91440">
                    <a:lnL w="28080">
                      <a:solidFill>
                        <a:srgbClr val="ba6025"/>
                      </a:solidFill>
                      <a:prstDash val="solid"/>
                    </a:lnL>
                    <a:lnR w="28080">
                      <a:solidFill>
                        <a:srgbClr val="ba6025"/>
                      </a:solidFill>
                      <a:prstDash val="solid"/>
                    </a:lnR>
                    <a:lnT w="28080">
                      <a:solidFill>
                        <a:srgbClr val="ba6025"/>
                      </a:solidFill>
                      <a:prstDash val="solid"/>
                    </a:lnT>
                    <a:lnB w="28080">
                      <a:solidFill>
                        <a:srgbClr val="ba6025"/>
                      </a:solidFill>
                      <a:prstDash val="solid"/>
                    </a:lnB>
                    <a:solidFill>
                      <a:srgbClr val="fd8537"/>
                    </a:solidFill>
                  </a:tcPr>
                </a:tc>
                <a:tc>
                  <a:txBody>
                    <a:bodyPr anchor="t">
                      <a:noAutofit/>
                    </a:bodyPr>
                    <a:p>
                      <a:pPr marL="472320" defTabSz="914400">
                        <a:lnSpc>
                          <a:spcPct val="100000"/>
                        </a:lnSpc>
                        <a:spcBef>
                          <a:spcPts val="315"/>
                        </a:spcBef>
                      </a:pPr>
                      <a:r>
                        <a:rPr b="0" lang="en-US" sz="1800" spc="-1" strike="noStrike">
                          <a:solidFill>
                            <a:schemeClr val="dk1"/>
                          </a:solidFill>
                          <a:latin typeface="Arial"/>
                        </a:rPr>
                        <a:t>50</a:t>
                      </a:r>
                      <a:endParaRPr b="0" lang="en-US" sz="1800" spc="-1" strike="noStrike">
                        <a:solidFill>
                          <a:srgbClr val="000000"/>
                        </a:solidFill>
                        <a:latin typeface="Arial"/>
                      </a:endParaRPr>
                    </a:p>
                  </a:txBody>
                  <a:tcPr anchor="t" marL="91440" marR="91440">
                    <a:lnL w="28080">
                      <a:solidFill>
                        <a:srgbClr val="ba6025"/>
                      </a:solidFill>
                      <a:prstDash val="solid"/>
                    </a:lnL>
                    <a:lnR w="28080">
                      <a:solidFill>
                        <a:srgbClr val="ba6025"/>
                      </a:solidFill>
                      <a:prstDash val="solid"/>
                    </a:lnR>
                    <a:lnT w="28080">
                      <a:solidFill>
                        <a:srgbClr val="ba6025"/>
                      </a:solidFill>
                      <a:prstDash val="solid"/>
                    </a:lnT>
                    <a:lnB w="28080">
                      <a:solidFill>
                        <a:srgbClr val="ba6025"/>
                      </a:solidFill>
                      <a:prstDash val="solid"/>
                    </a:lnB>
                    <a:solidFill>
                      <a:srgbClr val="fd8537"/>
                    </a:solidFill>
                  </a:tcPr>
                </a:tc>
                <a:tc>
                  <a:txBody>
                    <a:bodyPr anchor="t">
                      <a:noAutofit/>
                    </a:bodyPr>
                    <a:p>
                      <a:pPr marL="395640" defTabSz="914400">
                        <a:lnSpc>
                          <a:spcPct val="100000"/>
                        </a:lnSpc>
                        <a:spcBef>
                          <a:spcPts val="315"/>
                        </a:spcBef>
                      </a:pPr>
                      <a:r>
                        <a:rPr b="0" lang="en-US" sz="1800" spc="-1" strike="noStrike">
                          <a:solidFill>
                            <a:schemeClr val="dk1"/>
                          </a:solidFill>
                          <a:latin typeface="Arial"/>
                        </a:rPr>
                        <a:t>60</a:t>
                      </a:r>
                      <a:endParaRPr b="0" lang="en-US" sz="1800" spc="-1" strike="noStrike">
                        <a:solidFill>
                          <a:srgbClr val="000000"/>
                        </a:solidFill>
                        <a:latin typeface="Arial"/>
                      </a:endParaRPr>
                    </a:p>
                  </a:txBody>
                  <a:tcPr anchor="t" marL="91440" marR="91440">
                    <a:lnL w="28080">
                      <a:solidFill>
                        <a:srgbClr val="ba6025"/>
                      </a:solidFill>
                      <a:prstDash val="solid"/>
                    </a:lnL>
                    <a:lnR w="28080">
                      <a:solidFill>
                        <a:srgbClr val="ba6025"/>
                      </a:solidFill>
                      <a:prstDash val="solid"/>
                    </a:lnR>
                    <a:lnT w="28080">
                      <a:solidFill>
                        <a:srgbClr val="ba6025"/>
                      </a:solidFill>
                      <a:prstDash val="solid"/>
                    </a:lnT>
                    <a:lnB w="28080">
                      <a:solidFill>
                        <a:srgbClr val="ba6025"/>
                      </a:solidFill>
                      <a:prstDash val="solid"/>
                    </a:lnB>
                    <a:solidFill>
                      <a:srgbClr val="fd8537"/>
                    </a:solidFill>
                  </a:tcPr>
                </a:tc>
              </a:tr>
            </a:tbl>
          </a:graphicData>
        </a:graphic>
      </p:graphicFrame>
      <p:graphicFrame>
        <p:nvGraphicFramePr>
          <p:cNvPr id="72" name="object 5"/>
          <p:cNvGraphicFramePr/>
          <p:nvPr/>
        </p:nvGraphicFramePr>
        <p:xfrm>
          <a:off x="1635480" y="2376720"/>
          <a:ext cx="5035320" cy="603720"/>
        </p:xfrm>
        <a:graphic>
          <a:graphicData uri="http://schemas.openxmlformats.org/drawingml/2006/table">
            <a:tbl>
              <a:tblPr/>
              <a:tblGrid>
                <a:gridCol w="838080"/>
                <a:gridCol w="841680"/>
                <a:gridCol w="841680"/>
                <a:gridCol w="838080"/>
                <a:gridCol w="838080"/>
                <a:gridCol w="838080"/>
              </a:tblGrid>
              <a:tr h="533160">
                <a:tc>
                  <a:txBody>
                    <a:bodyPr anchor="t">
                      <a:noAutofit/>
                    </a:bodyPr>
                    <a:p>
                      <a:pPr marL="173880" defTabSz="914400">
                        <a:lnSpc>
                          <a:spcPct val="100000"/>
                        </a:lnSpc>
                        <a:spcBef>
                          <a:spcPts val="309"/>
                        </a:spcBef>
                      </a:pPr>
                      <a:r>
                        <a:rPr b="0" lang="en-US" sz="1800" spc="-7" strike="noStrike">
                          <a:solidFill>
                            <a:schemeClr val="dk1"/>
                          </a:solidFill>
                          <a:latin typeface="Arial"/>
                        </a:rPr>
                        <a:t>30</a:t>
                      </a:r>
                      <a:endParaRPr b="0" lang="en-US" sz="1800" spc="-1" strike="noStrike">
                        <a:solidFill>
                          <a:srgbClr val="000000"/>
                        </a:solidFill>
                        <a:latin typeface="Arial"/>
                      </a:endParaRPr>
                    </a:p>
                  </a:txBody>
                  <a:tcPr anchor="t" marL="91440" marR="91440">
                    <a:lnL w="28080">
                      <a:solidFill>
                        <a:srgbClr val="ba6025"/>
                      </a:solidFill>
                      <a:prstDash val="solid"/>
                    </a:lnL>
                    <a:lnR w="28080">
                      <a:solidFill>
                        <a:srgbClr val="ba6025"/>
                      </a:solidFill>
                      <a:prstDash val="solid"/>
                    </a:lnR>
                    <a:lnT w="28080">
                      <a:solidFill>
                        <a:srgbClr val="ba6025"/>
                      </a:solidFill>
                      <a:prstDash val="solid"/>
                    </a:lnT>
                    <a:lnB w="28080">
                      <a:solidFill>
                        <a:srgbClr val="ba6025"/>
                      </a:solidFill>
                      <a:prstDash val="solid"/>
                    </a:lnB>
                    <a:solidFill>
                      <a:srgbClr val="fd8537"/>
                    </a:solidFill>
                  </a:tcPr>
                </a:tc>
                <a:tc>
                  <a:txBody>
                    <a:bodyPr anchor="t">
                      <a:noAutofit/>
                    </a:bodyPr>
                    <a:p>
                      <a:pPr marL="250920" defTabSz="914400">
                        <a:lnSpc>
                          <a:spcPct val="100000"/>
                        </a:lnSpc>
                        <a:spcBef>
                          <a:spcPts val="309"/>
                        </a:spcBef>
                      </a:pPr>
                      <a:r>
                        <a:rPr b="0" lang="en-US" sz="1800" spc="-7" strike="noStrike">
                          <a:solidFill>
                            <a:schemeClr val="dk1"/>
                          </a:solidFill>
                          <a:latin typeface="Arial"/>
                        </a:rPr>
                        <a:t>10</a:t>
                      </a:r>
                      <a:endParaRPr b="0" lang="en-US" sz="1800" spc="-1" strike="noStrike">
                        <a:solidFill>
                          <a:srgbClr val="000000"/>
                        </a:solidFill>
                        <a:latin typeface="Arial"/>
                      </a:endParaRPr>
                    </a:p>
                  </a:txBody>
                  <a:tcPr anchor="t" marL="91440" marR="91440">
                    <a:lnL w="28080">
                      <a:solidFill>
                        <a:srgbClr val="ba6025"/>
                      </a:solidFill>
                      <a:prstDash val="solid"/>
                    </a:lnL>
                    <a:lnR w="38160">
                      <a:solidFill>
                        <a:srgbClr val="ba6025"/>
                      </a:solidFill>
                      <a:prstDash val="solid"/>
                    </a:lnR>
                    <a:lnT w="28080">
                      <a:solidFill>
                        <a:srgbClr val="ba6025"/>
                      </a:solidFill>
                      <a:prstDash val="solid"/>
                    </a:lnT>
                    <a:lnB w="28080">
                      <a:solidFill>
                        <a:srgbClr val="ba6025"/>
                      </a:solidFill>
                      <a:prstDash val="solid"/>
                    </a:lnB>
                    <a:solidFill>
                      <a:srgbClr val="fd8537"/>
                    </a:solidFill>
                  </a:tcPr>
                </a:tc>
                <a:tc>
                  <a:txBody>
                    <a:bodyPr anchor="t">
                      <a:noAutofit/>
                    </a:bodyPr>
                    <a:p>
                      <a:pPr marL="323280" defTabSz="914400">
                        <a:lnSpc>
                          <a:spcPct val="100000"/>
                        </a:lnSpc>
                        <a:spcBef>
                          <a:spcPts val="309"/>
                        </a:spcBef>
                      </a:pPr>
                      <a:r>
                        <a:rPr b="0" lang="en-US" sz="1800" spc="-7" strike="noStrike">
                          <a:solidFill>
                            <a:schemeClr val="dk1"/>
                          </a:solidFill>
                          <a:latin typeface="Arial"/>
                        </a:rPr>
                        <a:t>60</a:t>
                      </a:r>
                      <a:endParaRPr b="0" lang="en-US" sz="1800" spc="-1" strike="noStrike">
                        <a:solidFill>
                          <a:srgbClr val="000000"/>
                        </a:solidFill>
                        <a:latin typeface="Arial"/>
                      </a:endParaRPr>
                    </a:p>
                  </a:txBody>
                  <a:tcPr anchor="t" marL="91440" marR="91440">
                    <a:lnL w="38160">
                      <a:solidFill>
                        <a:srgbClr val="ba6025"/>
                      </a:solidFill>
                      <a:prstDash val="solid"/>
                    </a:lnL>
                    <a:lnR w="28080">
                      <a:solidFill>
                        <a:srgbClr val="ba6025"/>
                      </a:solidFill>
                      <a:prstDash val="solid"/>
                    </a:lnR>
                    <a:lnT w="28080">
                      <a:solidFill>
                        <a:srgbClr val="ba6025"/>
                      </a:solidFill>
                      <a:prstDash val="solid"/>
                    </a:lnT>
                    <a:lnB w="28080">
                      <a:solidFill>
                        <a:srgbClr val="ba6025"/>
                      </a:solidFill>
                      <a:prstDash val="solid"/>
                    </a:lnB>
                    <a:solidFill>
                      <a:srgbClr val="fd8537"/>
                    </a:solidFill>
                  </a:tcPr>
                </a:tc>
                <a:tc>
                  <a:txBody>
                    <a:bodyPr anchor="t">
                      <a:noAutofit/>
                    </a:bodyPr>
                    <a:p>
                      <a:pPr marL="395640" defTabSz="914400">
                        <a:lnSpc>
                          <a:spcPct val="100000"/>
                        </a:lnSpc>
                        <a:spcBef>
                          <a:spcPts val="309"/>
                        </a:spcBef>
                      </a:pPr>
                      <a:r>
                        <a:rPr b="0" lang="en-US" sz="1800" spc="-7" strike="noStrike">
                          <a:solidFill>
                            <a:schemeClr val="dk1"/>
                          </a:solidFill>
                          <a:latin typeface="Arial"/>
                        </a:rPr>
                        <a:t>20</a:t>
                      </a:r>
                      <a:endParaRPr b="0" lang="en-US" sz="1800" spc="-1" strike="noStrike">
                        <a:solidFill>
                          <a:srgbClr val="000000"/>
                        </a:solidFill>
                        <a:latin typeface="Arial"/>
                      </a:endParaRPr>
                    </a:p>
                  </a:txBody>
                  <a:tcPr anchor="t" marL="91440" marR="91440">
                    <a:lnL w="28080">
                      <a:solidFill>
                        <a:srgbClr val="ba6025"/>
                      </a:solidFill>
                      <a:prstDash val="solid"/>
                    </a:lnL>
                    <a:lnR w="28080">
                      <a:solidFill>
                        <a:srgbClr val="ba6025"/>
                      </a:solidFill>
                      <a:prstDash val="solid"/>
                    </a:lnR>
                    <a:lnT w="28080">
                      <a:solidFill>
                        <a:srgbClr val="ba6025"/>
                      </a:solidFill>
                      <a:prstDash val="solid"/>
                    </a:lnT>
                    <a:lnB w="28080">
                      <a:solidFill>
                        <a:srgbClr val="ba6025"/>
                      </a:solidFill>
                      <a:prstDash val="solid"/>
                    </a:lnB>
                    <a:solidFill>
                      <a:srgbClr val="fd8537"/>
                    </a:solidFill>
                  </a:tcPr>
                </a:tc>
                <a:tc>
                  <a:txBody>
                    <a:bodyPr anchor="t">
                      <a:noAutofit/>
                    </a:bodyPr>
                    <a:p>
                      <a:pPr marL="472320" defTabSz="914400">
                        <a:lnSpc>
                          <a:spcPct val="100000"/>
                        </a:lnSpc>
                        <a:spcBef>
                          <a:spcPts val="309"/>
                        </a:spcBef>
                      </a:pPr>
                      <a:r>
                        <a:rPr b="0" lang="en-US" sz="1800" spc="-1" strike="noStrike">
                          <a:solidFill>
                            <a:schemeClr val="dk1"/>
                          </a:solidFill>
                          <a:latin typeface="Arial"/>
                        </a:rPr>
                        <a:t>50</a:t>
                      </a:r>
                      <a:endParaRPr b="0" lang="en-US" sz="1800" spc="-1" strike="noStrike">
                        <a:solidFill>
                          <a:srgbClr val="000000"/>
                        </a:solidFill>
                        <a:latin typeface="Arial"/>
                      </a:endParaRPr>
                    </a:p>
                  </a:txBody>
                  <a:tcPr anchor="t" marL="91440" marR="91440">
                    <a:lnL w="28080">
                      <a:solidFill>
                        <a:srgbClr val="ba6025"/>
                      </a:solidFill>
                      <a:prstDash val="solid"/>
                    </a:lnL>
                    <a:lnR w="28080">
                      <a:solidFill>
                        <a:srgbClr val="ba6025"/>
                      </a:solidFill>
                      <a:prstDash val="solid"/>
                    </a:lnR>
                    <a:lnT w="28080">
                      <a:solidFill>
                        <a:srgbClr val="ba6025"/>
                      </a:solidFill>
                      <a:prstDash val="solid"/>
                    </a:lnT>
                    <a:lnB w="28080">
                      <a:solidFill>
                        <a:srgbClr val="ba6025"/>
                      </a:solidFill>
                      <a:prstDash val="solid"/>
                    </a:lnB>
                    <a:solidFill>
                      <a:srgbClr val="fd8537"/>
                    </a:solidFill>
                  </a:tcPr>
                </a:tc>
                <a:tc>
                  <a:txBody>
                    <a:bodyPr anchor="t">
                      <a:noAutofit/>
                    </a:bodyPr>
                    <a:p>
                      <a:pPr marL="395640" defTabSz="914400">
                        <a:lnSpc>
                          <a:spcPct val="100000"/>
                        </a:lnSpc>
                        <a:spcBef>
                          <a:spcPts val="309"/>
                        </a:spcBef>
                      </a:pPr>
                      <a:r>
                        <a:rPr b="0" lang="en-US" sz="1800" spc="-1" strike="noStrike">
                          <a:solidFill>
                            <a:schemeClr val="dk1"/>
                          </a:solidFill>
                          <a:latin typeface="Arial"/>
                        </a:rPr>
                        <a:t>40</a:t>
                      </a:r>
                      <a:endParaRPr b="0" lang="en-US" sz="1800" spc="-1" strike="noStrike">
                        <a:solidFill>
                          <a:srgbClr val="000000"/>
                        </a:solidFill>
                        <a:latin typeface="Arial"/>
                      </a:endParaRPr>
                    </a:p>
                  </a:txBody>
                  <a:tcPr anchor="t" marL="91440" marR="91440">
                    <a:lnL w="28080">
                      <a:solidFill>
                        <a:srgbClr val="ba6025"/>
                      </a:solidFill>
                      <a:prstDash val="solid"/>
                    </a:lnL>
                    <a:lnR w="28080">
                      <a:solidFill>
                        <a:srgbClr val="ba6025"/>
                      </a:solidFill>
                      <a:prstDash val="solid"/>
                    </a:lnR>
                    <a:lnT w="28080">
                      <a:solidFill>
                        <a:srgbClr val="ba6025"/>
                      </a:solidFill>
                      <a:prstDash val="solid"/>
                    </a:lnT>
                    <a:lnB w="28080">
                      <a:solidFill>
                        <a:srgbClr val="ba6025"/>
                      </a:solidFill>
                      <a:prstDash val="solid"/>
                    </a:lnB>
                    <a:solidFill>
                      <a:srgbClr val="fd8537"/>
                    </a:solidFill>
                  </a:tcPr>
                </a:tc>
              </a:tr>
            </a:tbl>
          </a:graphicData>
        </a:graphic>
      </p:graphicFrame>
      <p:grpSp>
        <p:nvGrpSpPr>
          <p:cNvPr id="73" name="object 6"/>
          <p:cNvGrpSpPr/>
          <p:nvPr/>
        </p:nvGrpSpPr>
        <p:grpSpPr>
          <a:xfrm>
            <a:off x="6685200" y="2389680"/>
            <a:ext cx="2970720" cy="532440"/>
            <a:chOff x="6685200" y="2389680"/>
            <a:chExt cx="2970720" cy="532440"/>
          </a:xfrm>
        </p:grpSpPr>
        <p:sp>
          <p:nvSpPr>
            <p:cNvPr id="74" name="object 7"/>
            <p:cNvSpPr/>
            <p:nvPr/>
          </p:nvSpPr>
          <p:spPr>
            <a:xfrm>
              <a:off x="6685200" y="2389680"/>
              <a:ext cx="684720" cy="532440"/>
            </a:xfrm>
            <a:custGeom>
              <a:avLst/>
              <a:gdLst>
                <a:gd name="textAreaLeft" fmla="*/ 0 w 684720"/>
                <a:gd name="textAreaRight" fmla="*/ 685800 w 684720"/>
                <a:gd name="textAreaTop" fmla="*/ 0 h 532440"/>
                <a:gd name="textAreaBottom" fmla="*/ 533520 h 532440"/>
              </a:gdLst>
              <a:ahLst/>
              <a:rect l="textAreaLeft" t="textAreaTop" r="textAreaRight" b="textAreaBottom"/>
              <a:pathLst>
                <a:path w="685800" h="533400">
                  <a:moveTo>
                    <a:pt x="419100" y="0"/>
                  </a:moveTo>
                  <a:lnTo>
                    <a:pt x="419100" y="133350"/>
                  </a:lnTo>
                  <a:lnTo>
                    <a:pt x="0" y="133350"/>
                  </a:lnTo>
                  <a:lnTo>
                    <a:pt x="0" y="400050"/>
                  </a:lnTo>
                  <a:lnTo>
                    <a:pt x="419100" y="400050"/>
                  </a:lnTo>
                  <a:lnTo>
                    <a:pt x="419100" y="533400"/>
                  </a:lnTo>
                  <a:lnTo>
                    <a:pt x="685800" y="266700"/>
                  </a:lnTo>
                  <a:lnTo>
                    <a:pt x="419100" y="0"/>
                  </a:lnTo>
                  <a:close/>
                </a:path>
              </a:pathLst>
            </a:custGeom>
            <a:solidFill>
              <a:srgbClr val="ffe636"/>
            </a:solidFill>
            <a:ln w="0">
              <a:noFill/>
            </a:ln>
          </p:spPr>
          <p:style>
            <a:lnRef idx="0"/>
            <a:fillRef idx="0"/>
            <a:effectRef idx="0"/>
            <a:fontRef idx="minor"/>
          </p:style>
          <p:txBody>
            <a:bodyPr lIns="0" rIns="0" tIns="0" bIns="0" anchor="t">
              <a:noAutofit/>
            </a:bodyPr>
            <a:p>
              <a:pPr defTabSz="457200">
                <a:lnSpc>
                  <a:spcPct val="150000"/>
                </a:lnSpc>
              </a:pPr>
              <a:endParaRPr b="0" lang="en-US" sz="2400" spc="-1" strike="noStrike">
                <a:solidFill>
                  <a:schemeClr val="dk1"/>
                </a:solidFill>
                <a:latin typeface="Times New Roman"/>
              </a:endParaRPr>
            </a:p>
          </p:txBody>
        </p:sp>
        <p:sp>
          <p:nvSpPr>
            <p:cNvPr id="75" name="object 8"/>
            <p:cNvSpPr/>
            <p:nvPr/>
          </p:nvSpPr>
          <p:spPr>
            <a:xfrm>
              <a:off x="6685200" y="2389680"/>
              <a:ext cx="684720" cy="532440"/>
            </a:xfrm>
            <a:custGeom>
              <a:avLst/>
              <a:gdLst>
                <a:gd name="textAreaLeft" fmla="*/ 0 w 684720"/>
                <a:gd name="textAreaRight" fmla="*/ 685800 w 684720"/>
                <a:gd name="textAreaTop" fmla="*/ 0 h 532440"/>
                <a:gd name="textAreaBottom" fmla="*/ 533520 h 532440"/>
              </a:gdLst>
              <a:ahLst/>
              <a:rect l="textAreaLeft" t="textAreaTop" r="textAreaRight" b="textAreaBottom"/>
              <a:pathLst>
                <a:path w="685800" h="533400">
                  <a:moveTo>
                    <a:pt x="0" y="133350"/>
                  </a:moveTo>
                  <a:lnTo>
                    <a:pt x="419100" y="133350"/>
                  </a:lnTo>
                  <a:lnTo>
                    <a:pt x="419100" y="0"/>
                  </a:lnTo>
                  <a:lnTo>
                    <a:pt x="685800" y="266700"/>
                  </a:lnTo>
                  <a:lnTo>
                    <a:pt x="419100" y="533400"/>
                  </a:lnTo>
                  <a:lnTo>
                    <a:pt x="419100" y="400050"/>
                  </a:lnTo>
                  <a:lnTo>
                    <a:pt x="0" y="400050"/>
                  </a:lnTo>
                  <a:lnTo>
                    <a:pt x="0" y="133350"/>
                  </a:lnTo>
                  <a:close/>
                </a:path>
              </a:pathLst>
            </a:custGeom>
            <a:noFill/>
            <a:ln w="25908">
              <a:solidFill>
                <a:srgbClr val="ceb500"/>
              </a:solidFill>
              <a:round/>
            </a:ln>
          </p:spPr>
          <p:style>
            <a:lnRef idx="0"/>
            <a:fillRef idx="0"/>
            <a:effectRef idx="0"/>
            <a:fontRef idx="minor"/>
          </p:style>
          <p:txBody>
            <a:bodyPr lIns="0" rIns="0" tIns="0" bIns="0" anchor="t">
              <a:noAutofit/>
            </a:bodyPr>
            <a:p>
              <a:pPr defTabSz="457200">
                <a:lnSpc>
                  <a:spcPct val="150000"/>
                </a:lnSpc>
              </a:pPr>
              <a:endParaRPr b="0" lang="en-US" sz="2400" spc="-1" strike="noStrike">
                <a:solidFill>
                  <a:schemeClr val="dk1"/>
                </a:solidFill>
                <a:latin typeface="Times New Roman"/>
              </a:endParaRPr>
            </a:p>
          </p:txBody>
        </p:sp>
        <p:sp>
          <p:nvSpPr>
            <p:cNvPr id="76" name="object 9"/>
            <p:cNvSpPr/>
            <p:nvPr/>
          </p:nvSpPr>
          <p:spPr>
            <a:xfrm>
              <a:off x="7371000" y="2389680"/>
              <a:ext cx="2284920" cy="532440"/>
            </a:xfrm>
            <a:custGeom>
              <a:avLst/>
              <a:gdLst>
                <a:gd name="textAreaLeft" fmla="*/ 0 w 2284920"/>
                <a:gd name="textAreaRight" fmla="*/ 2286000 w 2284920"/>
                <a:gd name="textAreaTop" fmla="*/ 0 h 532440"/>
                <a:gd name="textAreaBottom" fmla="*/ 533520 h 532440"/>
              </a:gdLst>
              <a:ahLst/>
              <a:rect l="textAreaLeft" t="textAreaTop" r="textAreaRight" b="textAreaBottom"/>
              <a:pathLst>
                <a:path w="2286000" h="533400">
                  <a:moveTo>
                    <a:pt x="2197099" y="0"/>
                  </a:moveTo>
                  <a:lnTo>
                    <a:pt x="88900" y="0"/>
                  </a:lnTo>
                  <a:lnTo>
                    <a:pt x="54274" y="6979"/>
                  </a:lnTo>
                  <a:lnTo>
                    <a:pt x="26019" y="26019"/>
                  </a:lnTo>
                  <a:lnTo>
                    <a:pt x="6979" y="54274"/>
                  </a:lnTo>
                  <a:lnTo>
                    <a:pt x="0" y="88900"/>
                  </a:lnTo>
                  <a:lnTo>
                    <a:pt x="0" y="444500"/>
                  </a:lnTo>
                  <a:lnTo>
                    <a:pt x="6979" y="479125"/>
                  </a:lnTo>
                  <a:lnTo>
                    <a:pt x="26019" y="507380"/>
                  </a:lnTo>
                  <a:lnTo>
                    <a:pt x="54274" y="526420"/>
                  </a:lnTo>
                  <a:lnTo>
                    <a:pt x="88900" y="533400"/>
                  </a:lnTo>
                  <a:lnTo>
                    <a:pt x="2197099" y="533400"/>
                  </a:lnTo>
                  <a:lnTo>
                    <a:pt x="2231725" y="526420"/>
                  </a:lnTo>
                  <a:lnTo>
                    <a:pt x="2259980" y="507380"/>
                  </a:lnTo>
                  <a:lnTo>
                    <a:pt x="2279020" y="479125"/>
                  </a:lnTo>
                  <a:lnTo>
                    <a:pt x="2285999" y="444500"/>
                  </a:lnTo>
                  <a:lnTo>
                    <a:pt x="2285999" y="88900"/>
                  </a:lnTo>
                  <a:lnTo>
                    <a:pt x="2279020" y="54274"/>
                  </a:lnTo>
                  <a:lnTo>
                    <a:pt x="2259980" y="26019"/>
                  </a:lnTo>
                  <a:lnTo>
                    <a:pt x="2231725" y="6979"/>
                  </a:lnTo>
                  <a:lnTo>
                    <a:pt x="2197099" y="0"/>
                  </a:lnTo>
                  <a:close/>
                </a:path>
              </a:pathLst>
            </a:custGeom>
            <a:solidFill>
              <a:srgbClr val="ffffff"/>
            </a:solidFill>
            <a:ln w="0">
              <a:noFill/>
            </a:ln>
          </p:spPr>
          <p:style>
            <a:lnRef idx="0"/>
            <a:fillRef idx="0"/>
            <a:effectRef idx="0"/>
            <a:fontRef idx="minor"/>
          </p:style>
          <p:txBody>
            <a:bodyPr lIns="0" rIns="0" tIns="0" bIns="0" anchor="t">
              <a:noAutofit/>
            </a:bodyPr>
            <a:p>
              <a:pPr defTabSz="457200">
                <a:lnSpc>
                  <a:spcPct val="150000"/>
                </a:lnSpc>
              </a:pPr>
              <a:endParaRPr b="0" lang="en-US" sz="2400" spc="-1" strike="noStrike">
                <a:solidFill>
                  <a:schemeClr val="dk1"/>
                </a:solidFill>
                <a:latin typeface="Times New Roman"/>
              </a:endParaRPr>
            </a:p>
          </p:txBody>
        </p:sp>
        <p:sp>
          <p:nvSpPr>
            <p:cNvPr id="77" name="object 10"/>
            <p:cNvSpPr/>
            <p:nvPr/>
          </p:nvSpPr>
          <p:spPr>
            <a:xfrm>
              <a:off x="7371000" y="2389680"/>
              <a:ext cx="2284920" cy="532440"/>
            </a:xfrm>
            <a:custGeom>
              <a:avLst/>
              <a:gdLst>
                <a:gd name="textAreaLeft" fmla="*/ 0 w 2284920"/>
                <a:gd name="textAreaRight" fmla="*/ 2286000 w 2284920"/>
                <a:gd name="textAreaTop" fmla="*/ 0 h 532440"/>
                <a:gd name="textAreaBottom" fmla="*/ 533520 h 532440"/>
              </a:gdLst>
              <a:ahLst/>
              <a:rect l="textAreaLeft" t="textAreaTop" r="textAreaRight" b="textAreaBottom"/>
              <a:pathLst>
                <a:path w="2286000" h="533400">
                  <a:moveTo>
                    <a:pt x="0" y="88900"/>
                  </a:moveTo>
                  <a:lnTo>
                    <a:pt x="6979" y="54274"/>
                  </a:lnTo>
                  <a:lnTo>
                    <a:pt x="26019" y="26019"/>
                  </a:lnTo>
                  <a:lnTo>
                    <a:pt x="54274" y="6979"/>
                  </a:lnTo>
                  <a:lnTo>
                    <a:pt x="88900" y="0"/>
                  </a:lnTo>
                  <a:lnTo>
                    <a:pt x="2197099" y="0"/>
                  </a:lnTo>
                  <a:lnTo>
                    <a:pt x="2231725" y="6979"/>
                  </a:lnTo>
                  <a:lnTo>
                    <a:pt x="2259980" y="26019"/>
                  </a:lnTo>
                  <a:lnTo>
                    <a:pt x="2279020" y="54274"/>
                  </a:lnTo>
                  <a:lnTo>
                    <a:pt x="2285999" y="88900"/>
                  </a:lnTo>
                  <a:lnTo>
                    <a:pt x="2285999" y="444500"/>
                  </a:lnTo>
                  <a:lnTo>
                    <a:pt x="2279020" y="479125"/>
                  </a:lnTo>
                  <a:lnTo>
                    <a:pt x="2259980" y="507380"/>
                  </a:lnTo>
                  <a:lnTo>
                    <a:pt x="2231725" y="526420"/>
                  </a:lnTo>
                  <a:lnTo>
                    <a:pt x="2197099" y="533400"/>
                  </a:lnTo>
                  <a:lnTo>
                    <a:pt x="88900" y="533400"/>
                  </a:lnTo>
                  <a:lnTo>
                    <a:pt x="54274" y="526420"/>
                  </a:lnTo>
                  <a:lnTo>
                    <a:pt x="26019" y="507380"/>
                  </a:lnTo>
                  <a:lnTo>
                    <a:pt x="6979" y="479125"/>
                  </a:lnTo>
                  <a:lnTo>
                    <a:pt x="0" y="444500"/>
                  </a:lnTo>
                  <a:lnTo>
                    <a:pt x="0" y="88900"/>
                  </a:lnTo>
                  <a:close/>
                </a:path>
              </a:pathLst>
            </a:custGeom>
            <a:noFill/>
            <a:ln w="25908">
              <a:solidFill>
                <a:srgbClr val="ba6025"/>
              </a:solidFill>
              <a:round/>
            </a:ln>
          </p:spPr>
          <p:style>
            <a:lnRef idx="0"/>
            <a:fillRef idx="0"/>
            <a:effectRef idx="0"/>
            <a:fontRef idx="minor"/>
          </p:style>
          <p:txBody>
            <a:bodyPr lIns="0" rIns="0" tIns="0" bIns="0" anchor="t">
              <a:noAutofit/>
            </a:bodyPr>
            <a:p>
              <a:pPr defTabSz="457200">
                <a:lnSpc>
                  <a:spcPct val="150000"/>
                </a:lnSpc>
              </a:pPr>
              <a:endParaRPr b="0" lang="en-US" sz="2400" spc="-1" strike="noStrike">
                <a:solidFill>
                  <a:schemeClr val="dk1"/>
                </a:solidFill>
                <a:latin typeface="Times New Roman"/>
              </a:endParaRPr>
            </a:p>
          </p:txBody>
        </p:sp>
      </p:grpSp>
      <p:grpSp>
        <p:nvGrpSpPr>
          <p:cNvPr id="78" name="object 11"/>
          <p:cNvGrpSpPr/>
          <p:nvPr/>
        </p:nvGrpSpPr>
        <p:grpSpPr>
          <a:xfrm>
            <a:off x="6773400" y="3620880"/>
            <a:ext cx="2970720" cy="576720"/>
            <a:chOff x="6773400" y="3620880"/>
            <a:chExt cx="2970720" cy="576720"/>
          </a:xfrm>
        </p:grpSpPr>
        <p:sp>
          <p:nvSpPr>
            <p:cNvPr id="79" name="object 12"/>
            <p:cNvSpPr/>
            <p:nvPr/>
          </p:nvSpPr>
          <p:spPr>
            <a:xfrm>
              <a:off x="6773400" y="3620880"/>
              <a:ext cx="684720" cy="576720"/>
            </a:xfrm>
            <a:custGeom>
              <a:avLst/>
              <a:gdLst>
                <a:gd name="textAreaLeft" fmla="*/ 0 w 684720"/>
                <a:gd name="textAreaRight" fmla="*/ 685800 w 684720"/>
                <a:gd name="textAreaTop" fmla="*/ 0 h 576720"/>
                <a:gd name="textAreaBottom" fmla="*/ 577800 h 576720"/>
              </a:gdLst>
              <a:ahLst/>
              <a:rect l="textAreaLeft" t="textAreaTop" r="textAreaRight" b="textAreaBottom"/>
              <a:pathLst>
                <a:path w="685800" h="577850">
                  <a:moveTo>
                    <a:pt x="397001" y="0"/>
                  </a:moveTo>
                  <a:lnTo>
                    <a:pt x="397001" y="144399"/>
                  </a:lnTo>
                  <a:lnTo>
                    <a:pt x="0" y="144399"/>
                  </a:lnTo>
                  <a:lnTo>
                    <a:pt x="0" y="433197"/>
                  </a:lnTo>
                  <a:lnTo>
                    <a:pt x="397001" y="433197"/>
                  </a:lnTo>
                  <a:lnTo>
                    <a:pt x="397001" y="577596"/>
                  </a:lnTo>
                  <a:lnTo>
                    <a:pt x="685800" y="288797"/>
                  </a:lnTo>
                  <a:lnTo>
                    <a:pt x="397001" y="0"/>
                  </a:lnTo>
                  <a:close/>
                </a:path>
              </a:pathLst>
            </a:custGeom>
            <a:solidFill>
              <a:srgbClr val="ffe636"/>
            </a:solidFill>
            <a:ln w="0">
              <a:noFill/>
            </a:ln>
          </p:spPr>
          <p:style>
            <a:lnRef idx="0"/>
            <a:fillRef idx="0"/>
            <a:effectRef idx="0"/>
            <a:fontRef idx="minor"/>
          </p:style>
          <p:txBody>
            <a:bodyPr lIns="0" rIns="0" tIns="0" bIns="0" anchor="t">
              <a:noAutofit/>
            </a:bodyPr>
            <a:p>
              <a:pPr defTabSz="457200">
                <a:lnSpc>
                  <a:spcPct val="150000"/>
                </a:lnSpc>
              </a:pPr>
              <a:endParaRPr b="0" lang="en-US" sz="2400" spc="-1" strike="noStrike">
                <a:solidFill>
                  <a:schemeClr val="dk1"/>
                </a:solidFill>
                <a:latin typeface="Times New Roman"/>
              </a:endParaRPr>
            </a:p>
          </p:txBody>
        </p:sp>
        <p:sp>
          <p:nvSpPr>
            <p:cNvPr id="80" name="object 13"/>
            <p:cNvSpPr/>
            <p:nvPr/>
          </p:nvSpPr>
          <p:spPr>
            <a:xfrm>
              <a:off x="6773400" y="3620880"/>
              <a:ext cx="684720" cy="576720"/>
            </a:xfrm>
            <a:custGeom>
              <a:avLst/>
              <a:gdLst>
                <a:gd name="textAreaLeft" fmla="*/ 0 w 684720"/>
                <a:gd name="textAreaRight" fmla="*/ 685800 w 684720"/>
                <a:gd name="textAreaTop" fmla="*/ 0 h 576720"/>
                <a:gd name="textAreaBottom" fmla="*/ 577800 h 576720"/>
              </a:gdLst>
              <a:ahLst/>
              <a:rect l="textAreaLeft" t="textAreaTop" r="textAreaRight" b="textAreaBottom"/>
              <a:pathLst>
                <a:path w="685800" h="577850">
                  <a:moveTo>
                    <a:pt x="0" y="144399"/>
                  </a:moveTo>
                  <a:lnTo>
                    <a:pt x="397001" y="144399"/>
                  </a:lnTo>
                  <a:lnTo>
                    <a:pt x="397001" y="0"/>
                  </a:lnTo>
                  <a:lnTo>
                    <a:pt x="685800" y="288797"/>
                  </a:lnTo>
                  <a:lnTo>
                    <a:pt x="397001" y="577596"/>
                  </a:lnTo>
                  <a:lnTo>
                    <a:pt x="397001" y="433197"/>
                  </a:lnTo>
                  <a:lnTo>
                    <a:pt x="0" y="433197"/>
                  </a:lnTo>
                  <a:lnTo>
                    <a:pt x="0" y="144399"/>
                  </a:lnTo>
                  <a:close/>
                </a:path>
              </a:pathLst>
            </a:custGeom>
            <a:noFill/>
            <a:ln w="25908">
              <a:solidFill>
                <a:srgbClr val="ceb500"/>
              </a:solidFill>
              <a:round/>
            </a:ln>
          </p:spPr>
          <p:style>
            <a:lnRef idx="0"/>
            <a:fillRef idx="0"/>
            <a:effectRef idx="0"/>
            <a:fontRef idx="minor"/>
          </p:style>
          <p:txBody>
            <a:bodyPr lIns="0" rIns="0" tIns="0" bIns="0" anchor="t">
              <a:noAutofit/>
            </a:bodyPr>
            <a:p>
              <a:pPr defTabSz="457200">
                <a:lnSpc>
                  <a:spcPct val="150000"/>
                </a:lnSpc>
              </a:pPr>
              <a:endParaRPr b="0" lang="en-US" sz="2400" spc="-1" strike="noStrike">
                <a:solidFill>
                  <a:schemeClr val="dk1"/>
                </a:solidFill>
                <a:latin typeface="Times New Roman"/>
              </a:endParaRPr>
            </a:p>
          </p:txBody>
        </p:sp>
        <p:sp>
          <p:nvSpPr>
            <p:cNvPr id="81" name="object 14"/>
            <p:cNvSpPr/>
            <p:nvPr/>
          </p:nvSpPr>
          <p:spPr>
            <a:xfrm>
              <a:off x="7459200" y="3620880"/>
              <a:ext cx="2284920" cy="532440"/>
            </a:xfrm>
            <a:custGeom>
              <a:avLst/>
              <a:gdLst>
                <a:gd name="textAreaLeft" fmla="*/ 0 w 2284920"/>
                <a:gd name="textAreaRight" fmla="*/ 2286000 w 2284920"/>
                <a:gd name="textAreaTop" fmla="*/ 0 h 532440"/>
                <a:gd name="textAreaBottom" fmla="*/ 533520 h 532440"/>
              </a:gdLst>
              <a:ahLst/>
              <a:rect l="textAreaLeft" t="textAreaTop" r="textAreaRight" b="textAreaBottom"/>
              <a:pathLst>
                <a:path w="2286000" h="533400">
                  <a:moveTo>
                    <a:pt x="2197099" y="0"/>
                  </a:moveTo>
                  <a:lnTo>
                    <a:pt x="88900" y="0"/>
                  </a:lnTo>
                  <a:lnTo>
                    <a:pt x="54274" y="6979"/>
                  </a:lnTo>
                  <a:lnTo>
                    <a:pt x="26019" y="26019"/>
                  </a:lnTo>
                  <a:lnTo>
                    <a:pt x="6979" y="54274"/>
                  </a:lnTo>
                  <a:lnTo>
                    <a:pt x="0" y="88900"/>
                  </a:lnTo>
                  <a:lnTo>
                    <a:pt x="0" y="444500"/>
                  </a:lnTo>
                  <a:lnTo>
                    <a:pt x="6979" y="479103"/>
                  </a:lnTo>
                  <a:lnTo>
                    <a:pt x="26019" y="507361"/>
                  </a:lnTo>
                  <a:lnTo>
                    <a:pt x="54274" y="526413"/>
                  </a:lnTo>
                  <a:lnTo>
                    <a:pt x="88900" y="533400"/>
                  </a:lnTo>
                  <a:lnTo>
                    <a:pt x="2197099" y="533400"/>
                  </a:lnTo>
                  <a:lnTo>
                    <a:pt x="2231725" y="526413"/>
                  </a:lnTo>
                  <a:lnTo>
                    <a:pt x="2259980" y="507361"/>
                  </a:lnTo>
                  <a:lnTo>
                    <a:pt x="2279020" y="479103"/>
                  </a:lnTo>
                  <a:lnTo>
                    <a:pt x="2285999" y="444500"/>
                  </a:lnTo>
                  <a:lnTo>
                    <a:pt x="2285999" y="88900"/>
                  </a:lnTo>
                  <a:lnTo>
                    <a:pt x="2279020" y="54274"/>
                  </a:lnTo>
                  <a:lnTo>
                    <a:pt x="2259980" y="26019"/>
                  </a:lnTo>
                  <a:lnTo>
                    <a:pt x="2231725" y="6979"/>
                  </a:lnTo>
                  <a:lnTo>
                    <a:pt x="2197099" y="0"/>
                  </a:lnTo>
                  <a:close/>
                </a:path>
              </a:pathLst>
            </a:custGeom>
            <a:solidFill>
              <a:srgbClr val="ffffff"/>
            </a:solidFill>
            <a:ln w="0">
              <a:noFill/>
            </a:ln>
          </p:spPr>
          <p:style>
            <a:lnRef idx="0"/>
            <a:fillRef idx="0"/>
            <a:effectRef idx="0"/>
            <a:fontRef idx="minor"/>
          </p:style>
          <p:txBody>
            <a:bodyPr lIns="0" rIns="0" tIns="0" bIns="0" anchor="t">
              <a:noAutofit/>
            </a:bodyPr>
            <a:p>
              <a:pPr defTabSz="457200">
                <a:lnSpc>
                  <a:spcPct val="150000"/>
                </a:lnSpc>
              </a:pPr>
              <a:endParaRPr b="0" lang="en-US" sz="2400" spc="-1" strike="noStrike">
                <a:solidFill>
                  <a:schemeClr val="dk1"/>
                </a:solidFill>
                <a:latin typeface="Times New Roman"/>
              </a:endParaRPr>
            </a:p>
          </p:txBody>
        </p:sp>
        <p:sp>
          <p:nvSpPr>
            <p:cNvPr id="82" name="object 15"/>
            <p:cNvSpPr/>
            <p:nvPr/>
          </p:nvSpPr>
          <p:spPr>
            <a:xfrm>
              <a:off x="7459200" y="3620880"/>
              <a:ext cx="2284920" cy="532440"/>
            </a:xfrm>
            <a:custGeom>
              <a:avLst/>
              <a:gdLst>
                <a:gd name="textAreaLeft" fmla="*/ 0 w 2284920"/>
                <a:gd name="textAreaRight" fmla="*/ 2286000 w 2284920"/>
                <a:gd name="textAreaTop" fmla="*/ 0 h 532440"/>
                <a:gd name="textAreaBottom" fmla="*/ 533520 h 532440"/>
              </a:gdLst>
              <a:ahLst/>
              <a:rect l="textAreaLeft" t="textAreaTop" r="textAreaRight" b="textAreaBottom"/>
              <a:pathLst>
                <a:path w="2286000" h="533400">
                  <a:moveTo>
                    <a:pt x="0" y="88900"/>
                  </a:moveTo>
                  <a:lnTo>
                    <a:pt x="6979" y="54274"/>
                  </a:lnTo>
                  <a:lnTo>
                    <a:pt x="26019" y="26019"/>
                  </a:lnTo>
                  <a:lnTo>
                    <a:pt x="54274" y="6979"/>
                  </a:lnTo>
                  <a:lnTo>
                    <a:pt x="88900" y="0"/>
                  </a:lnTo>
                  <a:lnTo>
                    <a:pt x="2197099" y="0"/>
                  </a:lnTo>
                  <a:lnTo>
                    <a:pt x="2231725" y="6979"/>
                  </a:lnTo>
                  <a:lnTo>
                    <a:pt x="2259980" y="26019"/>
                  </a:lnTo>
                  <a:lnTo>
                    <a:pt x="2279020" y="54274"/>
                  </a:lnTo>
                  <a:lnTo>
                    <a:pt x="2285999" y="88900"/>
                  </a:lnTo>
                  <a:lnTo>
                    <a:pt x="2285999" y="444500"/>
                  </a:lnTo>
                  <a:lnTo>
                    <a:pt x="2279020" y="479103"/>
                  </a:lnTo>
                  <a:lnTo>
                    <a:pt x="2259980" y="507361"/>
                  </a:lnTo>
                  <a:lnTo>
                    <a:pt x="2231725" y="526413"/>
                  </a:lnTo>
                  <a:lnTo>
                    <a:pt x="2197099" y="533400"/>
                  </a:lnTo>
                  <a:lnTo>
                    <a:pt x="88900" y="533400"/>
                  </a:lnTo>
                  <a:lnTo>
                    <a:pt x="54274" y="526413"/>
                  </a:lnTo>
                  <a:lnTo>
                    <a:pt x="26019" y="507361"/>
                  </a:lnTo>
                  <a:lnTo>
                    <a:pt x="6979" y="479103"/>
                  </a:lnTo>
                  <a:lnTo>
                    <a:pt x="0" y="444500"/>
                  </a:lnTo>
                  <a:lnTo>
                    <a:pt x="0" y="88900"/>
                  </a:lnTo>
                  <a:close/>
                </a:path>
              </a:pathLst>
            </a:custGeom>
            <a:noFill/>
            <a:ln w="25908">
              <a:solidFill>
                <a:srgbClr val="ba6025"/>
              </a:solidFill>
              <a:round/>
            </a:ln>
          </p:spPr>
          <p:style>
            <a:lnRef idx="0"/>
            <a:fillRef idx="0"/>
            <a:effectRef idx="0"/>
            <a:fontRef idx="minor"/>
          </p:style>
          <p:txBody>
            <a:bodyPr lIns="0" rIns="0" tIns="0" bIns="0" anchor="t">
              <a:noAutofit/>
            </a:bodyPr>
            <a:p>
              <a:pPr defTabSz="457200">
                <a:lnSpc>
                  <a:spcPct val="150000"/>
                </a:lnSpc>
              </a:pPr>
              <a:endParaRPr b="0" lang="en-US" sz="2400" spc="-1" strike="noStrike">
                <a:solidFill>
                  <a:schemeClr val="dk1"/>
                </a:solidFill>
                <a:latin typeface="Times New Roman"/>
              </a:endParaRPr>
            </a:p>
          </p:txBody>
        </p:sp>
      </p:grpSp>
      <p:sp>
        <p:nvSpPr>
          <p:cNvPr id="83" name="object 16"/>
          <p:cNvSpPr/>
          <p:nvPr/>
        </p:nvSpPr>
        <p:spPr>
          <a:xfrm>
            <a:off x="7658640" y="2343960"/>
            <a:ext cx="1709640" cy="560880"/>
          </a:xfrm>
          <a:prstGeom prst="rect">
            <a:avLst/>
          </a:prstGeom>
          <a:noFill/>
          <a:ln w="0">
            <a:noFill/>
          </a:ln>
        </p:spPr>
        <p:style>
          <a:lnRef idx="0"/>
          <a:fillRef idx="0"/>
          <a:effectRef idx="0"/>
          <a:fontRef idx="minor"/>
        </p:style>
        <p:txBody>
          <a:bodyPr lIns="0" rIns="0" tIns="12600" bIns="0" anchor="t">
            <a:spAutoFit/>
          </a:bodyPr>
          <a:p>
            <a:pPr marL="12600" defTabSz="457200">
              <a:lnSpc>
                <a:spcPct val="150000"/>
              </a:lnSpc>
              <a:spcBef>
                <a:spcPts val="99"/>
              </a:spcBef>
            </a:pPr>
            <a:r>
              <a:rPr b="0" lang="en-US" sz="2400" spc="-7" strike="noStrike">
                <a:solidFill>
                  <a:schemeClr val="dk1"/>
                </a:solidFill>
                <a:latin typeface="Times New Roman"/>
              </a:rPr>
              <a:t>Unsorted</a:t>
            </a:r>
            <a:r>
              <a:rPr b="0" lang="en-US" sz="2400" spc="-55" strike="noStrike">
                <a:solidFill>
                  <a:schemeClr val="dk1"/>
                </a:solidFill>
                <a:latin typeface="Times New Roman"/>
              </a:rPr>
              <a:t> </a:t>
            </a:r>
            <a:r>
              <a:rPr b="0" lang="en-US" sz="2400" spc="-7" strike="noStrike">
                <a:solidFill>
                  <a:schemeClr val="dk1"/>
                </a:solidFill>
                <a:latin typeface="Times New Roman"/>
              </a:rPr>
              <a:t>List</a:t>
            </a:r>
            <a:endParaRPr b="0" lang="en-US" sz="2400" spc="-1" strike="noStrike">
              <a:solidFill>
                <a:srgbClr val="000000"/>
              </a:solidFill>
              <a:latin typeface="Arial"/>
            </a:endParaRPr>
          </a:p>
        </p:txBody>
      </p:sp>
      <p:sp>
        <p:nvSpPr>
          <p:cNvPr id="84" name="object 17"/>
          <p:cNvSpPr/>
          <p:nvPr/>
        </p:nvSpPr>
        <p:spPr>
          <a:xfrm>
            <a:off x="7785000" y="3579120"/>
            <a:ext cx="1633320" cy="560880"/>
          </a:xfrm>
          <a:prstGeom prst="rect">
            <a:avLst/>
          </a:prstGeom>
          <a:noFill/>
          <a:ln w="0">
            <a:noFill/>
          </a:ln>
        </p:spPr>
        <p:style>
          <a:lnRef idx="0"/>
          <a:fillRef idx="0"/>
          <a:effectRef idx="0"/>
          <a:fontRef idx="minor"/>
        </p:style>
        <p:txBody>
          <a:bodyPr lIns="0" rIns="0" tIns="12600" bIns="0" anchor="t">
            <a:spAutoFit/>
          </a:bodyPr>
          <a:p>
            <a:pPr marL="12600" defTabSz="457200">
              <a:lnSpc>
                <a:spcPct val="150000"/>
              </a:lnSpc>
              <a:spcBef>
                <a:spcPts val="99"/>
              </a:spcBef>
            </a:pPr>
            <a:r>
              <a:rPr b="0" lang="en-US" sz="2400" spc="-7" strike="noStrike">
                <a:solidFill>
                  <a:schemeClr val="dk1"/>
                </a:solidFill>
                <a:latin typeface="Times New Roman"/>
              </a:rPr>
              <a:t>Sorted</a:t>
            </a:r>
            <a:r>
              <a:rPr b="0" lang="en-US" sz="2400" spc="-80" strike="noStrike">
                <a:solidFill>
                  <a:schemeClr val="dk1"/>
                </a:solidFill>
                <a:latin typeface="Times New Roman"/>
              </a:rPr>
              <a:t> </a:t>
            </a:r>
            <a:r>
              <a:rPr b="0" lang="en-US" sz="2400" spc="-1" strike="noStrike">
                <a:solidFill>
                  <a:schemeClr val="dk1"/>
                </a:solidFill>
                <a:latin typeface="Times New Roman"/>
              </a:rPr>
              <a:t>List</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Sorting</a:t>
            </a:r>
            <a:endParaRPr b="0" lang="en-US" sz="4400" spc="-1" strike="noStrike">
              <a:solidFill>
                <a:srgbClr val="000000"/>
              </a:solidFill>
              <a:latin typeface="Arial"/>
            </a:endParaRPr>
          </a:p>
        </p:txBody>
      </p:sp>
      <p:sp>
        <p:nvSpPr>
          <p:cNvPr id="86" name="PlaceHolder 2"/>
          <p:cNvSpPr>
            <a:spLocks noGrp="1"/>
          </p:cNvSpPr>
          <p:nvPr>
            <p:ph/>
          </p:nvPr>
        </p:nvSpPr>
        <p:spPr>
          <a:xfrm>
            <a:off x="838080" y="1107000"/>
            <a:ext cx="10514520" cy="5068800"/>
          </a:xfrm>
          <a:prstGeom prst="rect">
            <a:avLst/>
          </a:prstGeom>
          <a:noFill/>
          <a:ln w="0">
            <a:noFill/>
          </a:ln>
        </p:spPr>
        <p:txBody>
          <a:bodyPr lIns="91440" rIns="91440" tIns="45720" bIns="45720" anchor="t">
            <a:normAutofit fontScale="87222" lnSpcReduction="10000"/>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Search Operations: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Sorted data allows for efficient search operations. Binary search, for example, can be performed on a sorted array or list in O(log n) time, which is significantly faster than linear search on unsorted data (O(n)).</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Insertion and Deletion:</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In certain data structures like binary search trees, maintaining sorted order simplifies and accelerates the process of insertion and deletion. It ensures that the tree remains balanced and allows for faster search operations.</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Efficient Merging:</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When working with data structures like heaps or priority queues, merging two sorted structures becomes a more straightforward task. This is particularly important in applications such as external sorting.</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Range Queries: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Sorting facilitates efficient range queries. For example, finding all elements within a given range in a sorted array or list can be done much more efficiently than in an unsorted structure.</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86">
                                            <p:txEl>
                                              <p:pRg st="0" end="0"/>
                                            </p:txEl>
                                          </p:spTgt>
                                        </p:tgtEl>
                                        <p:attrNameLst>
                                          <p:attrName>style.visibility</p:attrName>
                                        </p:attrNameLst>
                                      </p:cBhvr>
                                      <p:to>
                                        <p:strVal val="visible"/>
                                      </p:to>
                                    </p:set>
                                  </p:childTnLst>
                                </p:cTn>
                              </p:par>
                              <p:par>
                                <p:cTn id="7" nodeType="withEffect" fill="hold" presetClass="entr" presetID="1">
                                  <p:stCondLst>
                                    <p:cond delay="0"/>
                                  </p:stCondLst>
                                  <p:childTnLst>
                                    <p:set>
                                      <p:cBhvr>
                                        <p:cTn id="8" dur="1" fill="hold">
                                          <p:stCondLst>
                                            <p:cond delay="0"/>
                                          </p:stCondLst>
                                        </p:cTn>
                                        <p:tgtEl>
                                          <p:spTgt spid="8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nodeType="clickEffect" fill="hold" presetClass="entr" presetID="1">
                                  <p:stCondLst>
                                    <p:cond delay="0"/>
                                  </p:stCondLst>
                                  <p:childTnLst>
                                    <p:set>
                                      <p:cBhvr>
                                        <p:cTn id="12" dur="1" fill="hold">
                                          <p:stCondLst>
                                            <p:cond delay="0"/>
                                          </p:stCondLst>
                                        </p:cTn>
                                        <p:tgtEl>
                                          <p:spTgt spid="86">
                                            <p:txEl>
                                              <p:pRg st="2" end="2"/>
                                            </p:txEl>
                                          </p:spTgt>
                                        </p:tgtEl>
                                        <p:attrNameLst>
                                          <p:attrName>style.visibility</p:attrName>
                                        </p:attrNameLst>
                                      </p:cBhvr>
                                      <p:to>
                                        <p:strVal val="visible"/>
                                      </p:to>
                                    </p:set>
                                  </p:childTnLst>
                                </p:cTn>
                              </p:par>
                              <p:par>
                                <p:cTn id="13" nodeType="withEffect" fill="hold" presetClass="entr" presetID="1">
                                  <p:stCondLst>
                                    <p:cond delay="0"/>
                                  </p:stCondLst>
                                  <p:childTnLst>
                                    <p:set>
                                      <p:cBhvr>
                                        <p:cTn id="14" dur="1" fill="hold">
                                          <p:stCondLst>
                                            <p:cond delay="0"/>
                                          </p:stCondLst>
                                        </p:cTn>
                                        <p:tgtEl>
                                          <p:spTgt spid="8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0"/>
                                          </p:stCondLst>
                                        </p:cTn>
                                        <p:tgtEl>
                                          <p:spTgt spid="86">
                                            <p:txEl>
                                              <p:pRg st="4" end="4"/>
                                            </p:txEl>
                                          </p:spTgt>
                                        </p:tgtEl>
                                        <p:attrNameLst>
                                          <p:attrName>style.visibility</p:attrName>
                                        </p:attrNameLst>
                                      </p:cBhvr>
                                      <p:to>
                                        <p:strVal val="visible"/>
                                      </p:to>
                                    </p:set>
                                  </p:childTnLst>
                                </p:cTn>
                              </p:par>
                              <p:par>
                                <p:cTn id="19" nodeType="withEffect" fill="hold" presetClass="entr" presetID="1">
                                  <p:stCondLst>
                                    <p:cond delay="0"/>
                                  </p:stCondLst>
                                  <p:childTnLst>
                                    <p:set>
                                      <p:cBhvr>
                                        <p:cTn id="20" dur="1" fill="hold">
                                          <p:stCondLst>
                                            <p:cond delay="0"/>
                                          </p:stCondLst>
                                        </p:cTn>
                                        <p:tgtEl>
                                          <p:spTgt spid="86">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nodeType="clickEffect" fill="hold" presetClass="entr" presetID="1">
                                  <p:stCondLst>
                                    <p:cond delay="0"/>
                                  </p:stCondLst>
                                  <p:childTnLst>
                                    <p:set>
                                      <p:cBhvr>
                                        <p:cTn id="24" dur="1" fill="hold">
                                          <p:stCondLst>
                                            <p:cond delay="0"/>
                                          </p:stCondLst>
                                        </p:cTn>
                                        <p:tgtEl>
                                          <p:spTgt spid="86">
                                            <p:txEl>
                                              <p:pRg st="6" end="6"/>
                                            </p:txEl>
                                          </p:spTgt>
                                        </p:tgtEl>
                                        <p:attrNameLst>
                                          <p:attrName>style.visibility</p:attrName>
                                        </p:attrNameLst>
                                      </p:cBhvr>
                                      <p:to>
                                        <p:strVal val="visible"/>
                                      </p:to>
                                    </p:set>
                                  </p:childTnLst>
                                </p:cTn>
                              </p:par>
                              <p:par>
                                <p:cTn id="25" nodeType="withEffect" fill="hold" presetClass="entr" presetID="1">
                                  <p:stCondLst>
                                    <p:cond delay="0"/>
                                  </p:stCondLst>
                                  <p:childTnLst>
                                    <p:set>
                                      <p:cBhvr>
                                        <p:cTn id="26" dur="1" fill="hold">
                                          <p:stCondLst>
                                            <p:cond delay="0"/>
                                          </p:stCondLst>
                                        </p:cTn>
                                        <p:tgtEl>
                                          <p:spTgt spid="86">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Sorting</a:t>
            </a:r>
            <a:endParaRPr b="0" lang="en-US" sz="4400" spc="-1" strike="noStrike">
              <a:solidFill>
                <a:srgbClr val="000000"/>
              </a:solidFill>
              <a:latin typeface="Arial"/>
            </a:endParaRPr>
          </a:p>
        </p:txBody>
      </p:sp>
      <p:sp>
        <p:nvSpPr>
          <p:cNvPr id="88" name="PlaceHolder 2"/>
          <p:cNvSpPr>
            <a:spLocks noGrp="1"/>
          </p:cNvSpPr>
          <p:nvPr>
            <p:ph/>
          </p:nvPr>
        </p:nvSpPr>
        <p:spPr>
          <a:xfrm>
            <a:off x="838080" y="1107000"/>
            <a:ext cx="10514520" cy="5068800"/>
          </a:xfrm>
          <a:prstGeom prst="rect">
            <a:avLst/>
          </a:prstGeom>
          <a:noFill/>
          <a:ln w="0">
            <a:noFill/>
          </a:ln>
        </p:spPr>
        <p:txBody>
          <a:bodyPr lIns="91440" rIns="91440" tIns="45720" bIns="45720" anchor="t">
            <a:normAutofit fontScale="84444"/>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Data Retrieval:</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In scenarios where data needs to be retrieved in a specific order, having the data pre-sorted simplifies and speeds up the retrieval process. This is particularly important in databases and information retrieval systems.</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Optimizing Algorithms: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Certain algorithms and data structures perform better or are easier to implement when working with sorted data. For example, dynamic programming algorithms may take advantage of sorted input to optimize their runtime.</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Duplicate Removal:</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Sorting facilitates the removal of duplicates in a dataset. Adjacent duplicate elements can be easily identified and removed in a single pass through sorted data.</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Intersection of Sets: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When working with sets, determining the intersection of two sets becomes more efficient if the sets are sorted. This is especially relevant in applications involving database queries.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7" dur="indefinite" restart="never" nodeType="tmRoot">
          <p:childTnLst>
            <p:seq>
              <p:cTn id="28" dur="indefinite" nodeType="mainSeq">
                <p:childTnLst>
                  <p:par>
                    <p:cTn id="29" fill="hold">
                      <p:stCondLst>
                        <p:cond delay="indefinite"/>
                      </p:stCondLst>
                      <p:childTnLst>
                        <p:par>
                          <p:cTn id="30" fill="hold">
                            <p:stCondLst>
                              <p:cond delay="0"/>
                            </p:stCondLst>
                            <p:childTnLst>
                              <p:par>
                                <p:cTn id="31" nodeType="clickEffect" fill="hold" presetClass="entr" presetID="1">
                                  <p:stCondLst>
                                    <p:cond delay="0"/>
                                  </p:stCondLst>
                                  <p:childTnLst>
                                    <p:set>
                                      <p:cBhvr>
                                        <p:cTn id="32" dur="1" fill="hold">
                                          <p:stCondLst>
                                            <p:cond delay="0"/>
                                          </p:stCondLst>
                                        </p:cTn>
                                        <p:tgtEl>
                                          <p:spTgt spid="88">
                                            <p:txEl>
                                              <p:pRg st="0" end="0"/>
                                            </p:txEl>
                                          </p:spTgt>
                                        </p:tgtEl>
                                        <p:attrNameLst>
                                          <p:attrName>style.visibility</p:attrName>
                                        </p:attrNameLst>
                                      </p:cBhvr>
                                      <p:to>
                                        <p:strVal val="visible"/>
                                      </p:to>
                                    </p:set>
                                  </p:childTnLst>
                                </p:cTn>
                              </p:par>
                              <p:par>
                                <p:cTn id="33" nodeType="withEffect" fill="hold" presetClass="entr" presetID="1">
                                  <p:stCondLst>
                                    <p:cond delay="0"/>
                                  </p:stCondLst>
                                  <p:childTnLst>
                                    <p:set>
                                      <p:cBhvr>
                                        <p:cTn id="34" dur="1" fill="hold">
                                          <p:stCondLst>
                                            <p:cond delay="0"/>
                                          </p:stCondLst>
                                        </p:cTn>
                                        <p:tgtEl>
                                          <p:spTgt spid="88">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nodeType="clickEffect" fill="hold" presetClass="entr" presetID="1">
                                  <p:stCondLst>
                                    <p:cond delay="0"/>
                                  </p:stCondLst>
                                  <p:childTnLst>
                                    <p:set>
                                      <p:cBhvr>
                                        <p:cTn id="38" dur="1" fill="hold">
                                          <p:stCondLst>
                                            <p:cond delay="0"/>
                                          </p:stCondLst>
                                        </p:cTn>
                                        <p:tgtEl>
                                          <p:spTgt spid="88">
                                            <p:txEl>
                                              <p:pRg st="2" end="2"/>
                                            </p:txEl>
                                          </p:spTgt>
                                        </p:tgtEl>
                                        <p:attrNameLst>
                                          <p:attrName>style.visibility</p:attrName>
                                        </p:attrNameLst>
                                      </p:cBhvr>
                                      <p:to>
                                        <p:strVal val="visible"/>
                                      </p:to>
                                    </p:set>
                                  </p:childTnLst>
                                </p:cTn>
                              </p:par>
                              <p:par>
                                <p:cTn id="39" nodeType="withEffect" fill="hold" presetClass="entr" presetID="1">
                                  <p:stCondLst>
                                    <p:cond delay="0"/>
                                  </p:stCondLst>
                                  <p:childTnLst>
                                    <p:set>
                                      <p:cBhvr>
                                        <p:cTn id="40" dur="1" fill="hold">
                                          <p:stCondLst>
                                            <p:cond delay="0"/>
                                          </p:stCondLst>
                                        </p:cTn>
                                        <p:tgtEl>
                                          <p:spTgt spid="88">
                                            <p:txEl>
                                              <p:pRg st="3" end="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nodeType="clickEffect" fill="hold" presetClass="entr" presetID="1">
                                  <p:stCondLst>
                                    <p:cond delay="0"/>
                                  </p:stCondLst>
                                  <p:childTnLst>
                                    <p:set>
                                      <p:cBhvr>
                                        <p:cTn id="44" dur="1" fill="hold">
                                          <p:stCondLst>
                                            <p:cond delay="0"/>
                                          </p:stCondLst>
                                        </p:cTn>
                                        <p:tgtEl>
                                          <p:spTgt spid="88">
                                            <p:txEl>
                                              <p:pRg st="4" end="4"/>
                                            </p:txEl>
                                          </p:spTgt>
                                        </p:tgtEl>
                                        <p:attrNameLst>
                                          <p:attrName>style.visibility</p:attrName>
                                        </p:attrNameLst>
                                      </p:cBhvr>
                                      <p:to>
                                        <p:strVal val="visible"/>
                                      </p:to>
                                    </p:set>
                                  </p:childTnLst>
                                </p:cTn>
                              </p:par>
                              <p:par>
                                <p:cTn id="45" nodeType="withEffect" fill="hold" presetClass="entr" presetID="1">
                                  <p:stCondLst>
                                    <p:cond delay="0"/>
                                  </p:stCondLst>
                                  <p:childTnLst>
                                    <p:set>
                                      <p:cBhvr>
                                        <p:cTn id="46" dur="1" fill="hold">
                                          <p:stCondLst>
                                            <p:cond delay="0"/>
                                          </p:stCondLst>
                                        </p:cTn>
                                        <p:tgtEl>
                                          <p:spTgt spid="88">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nodeType="clickEffect" fill="hold" presetClass="entr" presetID="1">
                                  <p:stCondLst>
                                    <p:cond delay="0"/>
                                  </p:stCondLst>
                                  <p:childTnLst>
                                    <p:set>
                                      <p:cBhvr>
                                        <p:cTn id="50" dur="1" fill="hold">
                                          <p:stCondLst>
                                            <p:cond delay="0"/>
                                          </p:stCondLst>
                                        </p:cTn>
                                        <p:tgtEl>
                                          <p:spTgt spid="88">
                                            <p:txEl>
                                              <p:pRg st="6" end="6"/>
                                            </p:txEl>
                                          </p:spTgt>
                                        </p:tgtEl>
                                        <p:attrNameLst>
                                          <p:attrName>style.visibility</p:attrName>
                                        </p:attrNameLst>
                                      </p:cBhvr>
                                      <p:to>
                                        <p:strVal val="visible"/>
                                      </p:to>
                                    </p:set>
                                  </p:childTnLst>
                                </p:cTn>
                              </p:par>
                              <p:par>
                                <p:cTn id="51" nodeType="withEffect" fill="hold" presetClass="entr" presetID="1">
                                  <p:stCondLst>
                                    <p:cond delay="0"/>
                                  </p:stCondLst>
                                  <p:childTnLst>
                                    <p:set>
                                      <p:cBhvr>
                                        <p:cTn id="52" dur="1" fill="hold">
                                          <p:stCondLst>
                                            <p:cond delay="0"/>
                                          </p:stCondLst>
                                        </p:cTn>
                                        <p:tgtEl>
                                          <p:spTgt spid="88">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Applications of Sorting</a:t>
            </a:r>
            <a:endParaRPr b="0" lang="en-US" sz="4400" spc="-1" strike="noStrike">
              <a:solidFill>
                <a:srgbClr val="000000"/>
              </a:solidFill>
              <a:latin typeface="Arial"/>
            </a:endParaRPr>
          </a:p>
        </p:txBody>
      </p:sp>
      <p:sp>
        <p:nvSpPr>
          <p:cNvPr id="90" name="PlaceHolder 2"/>
          <p:cNvSpPr>
            <a:spLocks noGrp="1"/>
          </p:cNvSpPr>
          <p:nvPr>
            <p:ph/>
          </p:nvPr>
        </p:nvSpPr>
        <p:spPr>
          <a:xfrm>
            <a:off x="838080" y="1107000"/>
            <a:ext cx="10514520" cy="50688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Search Algorithms: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Efficient searching often relies on pre-sorted data, improving search times.</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Database Indexing: </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Crucial for creating indexes in databases, allowing for faster query operations.</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E-commerce and Online Marketplaces: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Used to display products in a particular order, such as by price or popularity.</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Log Analysis: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Sorting log entries by timestamp aids in identifying patterns and analyzing system behavior.</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Task Scheduling:</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Sorting is applied in scheduling tasks to optimize the order in which they are executed.</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53" dur="indefinite" restart="never" nodeType="tmRoot">
          <p:childTnLst>
            <p:seq>
              <p:cTn id="54" dur="indefinite" nodeType="mainSeq">
                <p:childTnLst>
                  <p:par>
                    <p:cTn id="55" fill="hold">
                      <p:stCondLst>
                        <p:cond delay="indefinite"/>
                      </p:stCondLst>
                      <p:childTnLst>
                        <p:par>
                          <p:cTn id="56" fill="hold">
                            <p:stCondLst>
                              <p:cond delay="0"/>
                            </p:stCondLst>
                            <p:childTnLst>
                              <p:par>
                                <p:cTn id="57" nodeType="clickEffect" fill="hold" presetClass="entr" presetID="1">
                                  <p:stCondLst>
                                    <p:cond delay="0"/>
                                  </p:stCondLst>
                                  <p:childTnLst>
                                    <p:set>
                                      <p:cBhvr>
                                        <p:cTn id="58" dur="1" fill="hold">
                                          <p:stCondLst>
                                            <p:cond delay="0"/>
                                          </p:stCondLst>
                                        </p:cTn>
                                        <p:tgtEl>
                                          <p:spTgt spid="90">
                                            <p:txEl>
                                              <p:pRg st="0" end="0"/>
                                            </p:txEl>
                                          </p:spTgt>
                                        </p:tgtEl>
                                        <p:attrNameLst>
                                          <p:attrName>style.visibility</p:attrName>
                                        </p:attrNameLst>
                                      </p:cBhvr>
                                      <p:to>
                                        <p:strVal val="visible"/>
                                      </p:to>
                                    </p:set>
                                  </p:childTnLst>
                                </p:cTn>
                              </p:par>
                              <p:par>
                                <p:cTn id="59" nodeType="withEffect" fill="hold" presetClass="entr" presetID="1">
                                  <p:stCondLst>
                                    <p:cond delay="0"/>
                                  </p:stCondLst>
                                  <p:childTnLst>
                                    <p:set>
                                      <p:cBhvr>
                                        <p:cTn id="60" dur="1" fill="hold">
                                          <p:stCondLst>
                                            <p:cond delay="0"/>
                                          </p:stCondLst>
                                        </p:cTn>
                                        <p:tgtEl>
                                          <p:spTgt spid="90">
                                            <p:txEl>
                                              <p:pRg st="1" end="1"/>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nodeType="clickEffect" fill="hold" presetClass="entr" presetID="1">
                                  <p:stCondLst>
                                    <p:cond delay="0"/>
                                  </p:stCondLst>
                                  <p:childTnLst>
                                    <p:set>
                                      <p:cBhvr>
                                        <p:cTn id="64" dur="1" fill="hold">
                                          <p:stCondLst>
                                            <p:cond delay="0"/>
                                          </p:stCondLst>
                                        </p:cTn>
                                        <p:tgtEl>
                                          <p:spTgt spid="90">
                                            <p:txEl>
                                              <p:pRg st="2" end="2"/>
                                            </p:txEl>
                                          </p:spTgt>
                                        </p:tgtEl>
                                        <p:attrNameLst>
                                          <p:attrName>style.visibility</p:attrName>
                                        </p:attrNameLst>
                                      </p:cBhvr>
                                      <p:to>
                                        <p:strVal val="visible"/>
                                      </p:to>
                                    </p:set>
                                  </p:childTnLst>
                                </p:cTn>
                              </p:par>
                              <p:par>
                                <p:cTn id="65" nodeType="withEffect" fill="hold" presetClass="entr" presetID="1">
                                  <p:stCondLst>
                                    <p:cond delay="0"/>
                                  </p:stCondLst>
                                  <p:childTnLst>
                                    <p:set>
                                      <p:cBhvr>
                                        <p:cTn id="66" dur="1" fill="hold">
                                          <p:stCondLst>
                                            <p:cond delay="0"/>
                                          </p:stCondLst>
                                        </p:cTn>
                                        <p:tgtEl>
                                          <p:spTgt spid="90">
                                            <p:txEl>
                                              <p:pRg st="3" end="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nodeType="clickEffect" fill="hold" presetClass="entr" presetID="1">
                                  <p:stCondLst>
                                    <p:cond delay="0"/>
                                  </p:stCondLst>
                                  <p:childTnLst>
                                    <p:set>
                                      <p:cBhvr>
                                        <p:cTn id="70" dur="1" fill="hold">
                                          <p:stCondLst>
                                            <p:cond delay="0"/>
                                          </p:stCondLst>
                                        </p:cTn>
                                        <p:tgtEl>
                                          <p:spTgt spid="90">
                                            <p:txEl>
                                              <p:pRg st="4" end="4"/>
                                            </p:txEl>
                                          </p:spTgt>
                                        </p:tgtEl>
                                        <p:attrNameLst>
                                          <p:attrName>style.visibility</p:attrName>
                                        </p:attrNameLst>
                                      </p:cBhvr>
                                      <p:to>
                                        <p:strVal val="visible"/>
                                      </p:to>
                                    </p:set>
                                  </p:childTnLst>
                                </p:cTn>
                              </p:par>
                              <p:par>
                                <p:cTn id="71" nodeType="withEffect" fill="hold" presetClass="entr" presetID="1">
                                  <p:stCondLst>
                                    <p:cond delay="0"/>
                                  </p:stCondLst>
                                  <p:childTnLst>
                                    <p:set>
                                      <p:cBhvr>
                                        <p:cTn id="72" dur="1" fill="hold">
                                          <p:stCondLst>
                                            <p:cond delay="0"/>
                                          </p:stCondLst>
                                        </p:cTn>
                                        <p:tgtEl>
                                          <p:spTgt spid="90">
                                            <p:txEl>
                                              <p:pRg st="5" end="5"/>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nodeType="clickEffect" fill="hold" presetClass="entr" presetID="1">
                                  <p:stCondLst>
                                    <p:cond delay="0"/>
                                  </p:stCondLst>
                                  <p:childTnLst>
                                    <p:set>
                                      <p:cBhvr>
                                        <p:cTn id="76" dur="1" fill="hold">
                                          <p:stCondLst>
                                            <p:cond delay="0"/>
                                          </p:stCondLst>
                                        </p:cTn>
                                        <p:tgtEl>
                                          <p:spTgt spid="90">
                                            <p:txEl>
                                              <p:pRg st="6" end="6"/>
                                            </p:txEl>
                                          </p:spTgt>
                                        </p:tgtEl>
                                        <p:attrNameLst>
                                          <p:attrName>style.visibility</p:attrName>
                                        </p:attrNameLst>
                                      </p:cBhvr>
                                      <p:to>
                                        <p:strVal val="visible"/>
                                      </p:to>
                                    </p:set>
                                  </p:childTnLst>
                                </p:cTn>
                              </p:par>
                              <p:par>
                                <p:cTn id="77" nodeType="withEffect" fill="hold" presetClass="entr" presetID="1">
                                  <p:stCondLst>
                                    <p:cond delay="0"/>
                                  </p:stCondLst>
                                  <p:childTnLst>
                                    <p:set>
                                      <p:cBhvr>
                                        <p:cTn id="78" dur="1" fill="hold">
                                          <p:stCondLst>
                                            <p:cond delay="0"/>
                                          </p:stCondLst>
                                        </p:cTn>
                                        <p:tgtEl>
                                          <p:spTgt spid="90">
                                            <p:txEl>
                                              <p:pRg st="7" end="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nodeType="clickEffect" fill="hold" presetClass="entr" presetID="1">
                                  <p:stCondLst>
                                    <p:cond delay="0"/>
                                  </p:stCondLst>
                                  <p:childTnLst>
                                    <p:set>
                                      <p:cBhvr>
                                        <p:cTn id="82" dur="1" fill="hold">
                                          <p:stCondLst>
                                            <p:cond delay="0"/>
                                          </p:stCondLst>
                                        </p:cTn>
                                        <p:tgtEl>
                                          <p:spTgt spid="90">
                                            <p:txEl>
                                              <p:pRg st="8" end="8"/>
                                            </p:txEl>
                                          </p:spTgt>
                                        </p:tgtEl>
                                        <p:attrNameLst>
                                          <p:attrName>style.visibility</p:attrName>
                                        </p:attrNameLst>
                                      </p:cBhvr>
                                      <p:to>
                                        <p:strVal val="visible"/>
                                      </p:to>
                                    </p:set>
                                  </p:childTnLst>
                                </p:cTn>
                              </p:par>
                              <p:par>
                                <p:cTn id="83" nodeType="withEffect" fill="hold" presetClass="entr" presetID="1">
                                  <p:stCondLst>
                                    <p:cond delay="0"/>
                                  </p:stCondLst>
                                  <p:childTnLst>
                                    <p:set>
                                      <p:cBhvr>
                                        <p:cTn id="84" dur="1" fill="hold">
                                          <p:stCondLst>
                                            <p:cond delay="0"/>
                                          </p:stCondLst>
                                        </p:cTn>
                                        <p:tgtEl>
                                          <p:spTgt spid="90">
                                            <p:txEl>
                                              <p:pRg st="9" end="9"/>
                                            </p:txEl>
                                          </p:spTgt>
                                        </p:tgtEl>
                                        <p:attrNameLst>
                                          <p:attrName>style.visibility</p:attrName>
                                        </p:attrNameLst>
                                      </p:cBhvr>
                                      <p:to>
                                        <p:strVal val="visible"/>
                                      </p:to>
                                    </p:set>
                                  </p:childTnLst>
                                </p:cTn>
                              </p:par>
                              <p:par>
                                <p:cTn id="85" nodeType="withEffect" fill="hold" presetClass="entr" presetID="1">
                                  <p:stCondLst>
                                    <p:cond delay="0"/>
                                  </p:stCondLst>
                                  <p:childTnLst>
                                    <p:set>
                                      <p:cBhvr>
                                        <p:cTn id="86" dur="1" fill="hold">
                                          <p:stCondLst>
                                            <p:cond delay="0"/>
                                          </p:stCondLst>
                                        </p:cTn>
                                        <p:tgtEl>
                                          <p:spTgt spid="90">
                                            <p:txEl>
                                              <p:pRg st="10" end="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838080" y="108000"/>
            <a:ext cx="10514520" cy="1157040"/>
          </a:xfrm>
          <a:prstGeom prst="rect">
            <a:avLst/>
          </a:prstGeom>
          <a:noFill/>
          <a:ln w="0">
            <a:noFill/>
          </a:ln>
        </p:spPr>
        <p:txBody>
          <a:bodyPr lIns="0" rIns="0" tIns="12600" bIns="0" anchor="ctr">
            <a:noAutofit/>
          </a:bodyPr>
          <a:p>
            <a:pPr marL="12600" indent="0" defTabSz="914400">
              <a:lnSpc>
                <a:spcPct val="100000"/>
              </a:lnSpc>
              <a:spcBef>
                <a:spcPts val="99"/>
              </a:spcBef>
              <a:buNone/>
              <a:tabLst>
                <a:tab algn="l" pos="0"/>
              </a:tabLst>
            </a:pPr>
            <a:r>
              <a:rPr b="0" lang="en-US" sz="4400" spc="-1" strike="noStrike">
                <a:solidFill>
                  <a:srgbClr val="c00000"/>
                </a:solidFill>
                <a:latin typeface="Times New Roman"/>
              </a:rPr>
              <a:t>Types of Sorting</a:t>
            </a:r>
            <a:endParaRPr b="0" lang="en-US" sz="4400" spc="-1" strike="noStrike">
              <a:solidFill>
                <a:srgbClr val="000000"/>
              </a:solidFill>
              <a:latin typeface="Arial"/>
            </a:endParaRPr>
          </a:p>
        </p:txBody>
      </p:sp>
      <p:sp>
        <p:nvSpPr>
          <p:cNvPr id="92" name="PlaceHolder 2"/>
          <p:cNvSpPr>
            <a:spLocks noGrp="1"/>
          </p:cNvSpPr>
          <p:nvPr>
            <p:ph/>
          </p:nvPr>
        </p:nvSpPr>
        <p:spPr>
          <a:xfrm>
            <a:off x="838080" y="1107000"/>
            <a:ext cx="10514520" cy="50688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Internal Sorting: </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If all the data to be sorted can be  adjusted in main memory then it is  called as Internal Sorting.</a:t>
            </a:r>
            <a:endParaRPr b="0" lang="en-US" sz="24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External Sorting: </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If data to be stored is large and requires  external memory then the type is called  as External Sorting.</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87" dur="indefinite" restart="never" nodeType="tmRoot">
          <p:childTnLst>
            <p:seq>
              <p:cTn id="88" dur="indefinite" nodeType="mainSeq">
                <p:childTnLst>
                  <p:par>
                    <p:cTn id="89" fill="hold">
                      <p:stCondLst>
                        <p:cond delay="indefinite"/>
                      </p:stCondLst>
                      <p:childTnLst>
                        <p:par>
                          <p:cTn id="90" fill="hold">
                            <p:stCondLst>
                              <p:cond delay="0"/>
                            </p:stCondLst>
                            <p:childTnLst>
                              <p:par>
                                <p:cTn id="91" nodeType="clickEffect" fill="hold" presetClass="entr" presetID="1">
                                  <p:stCondLst>
                                    <p:cond delay="0"/>
                                  </p:stCondLst>
                                  <p:childTnLst>
                                    <p:set>
                                      <p:cBhvr>
                                        <p:cTn id="92" dur="1" fill="hold">
                                          <p:stCondLst>
                                            <p:cond delay="0"/>
                                          </p:stCondLst>
                                        </p:cTn>
                                        <p:tgtEl>
                                          <p:spTgt spid="92">
                                            <p:txEl>
                                              <p:pRg st="0" end="0"/>
                                            </p:txEl>
                                          </p:spTgt>
                                        </p:tgtEl>
                                        <p:attrNameLst>
                                          <p:attrName>style.visibility</p:attrName>
                                        </p:attrNameLst>
                                      </p:cBhvr>
                                      <p:to>
                                        <p:strVal val="visible"/>
                                      </p:to>
                                    </p:set>
                                  </p:childTnLst>
                                </p:cTn>
                              </p:par>
                              <p:par>
                                <p:cTn id="93" nodeType="withEffect" fill="hold" presetClass="entr" presetID="1">
                                  <p:stCondLst>
                                    <p:cond delay="0"/>
                                  </p:stCondLst>
                                  <p:childTnLst>
                                    <p:set>
                                      <p:cBhvr>
                                        <p:cTn id="94" dur="1" fill="hold">
                                          <p:stCondLst>
                                            <p:cond delay="0"/>
                                          </p:stCondLst>
                                        </p:cTn>
                                        <p:tgtEl>
                                          <p:spTgt spid="92">
                                            <p:txEl>
                                              <p:pRg st="1" end="1"/>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nodeType="clickEffect" fill="hold" presetClass="entr" presetID="1">
                                  <p:stCondLst>
                                    <p:cond delay="0"/>
                                  </p:stCondLst>
                                  <p:childTnLst>
                                    <p:set>
                                      <p:cBhvr>
                                        <p:cTn id="98" dur="1" fill="hold">
                                          <p:stCondLst>
                                            <p:cond delay="0"/>
                                          </p:stCondLst>
                                        </p:cTn>
                                        <p:tgtEl>
                                          <p:spTgt spid="92">
                                            <p:txEl>
                                              <p:pRg st="3" end="3"/>
                                            </p:txEl>
                                          </p:spTgt>
                                        </p:tgtEl>
                                        <p:attrNameLst>
                                          <p:attrName>style.visibility</p:attrName>
                                        </p:attrNameLst>
                                      </p:cBhvr>
                                      <p:to>
                                        <p:strVal val="visible"/>
                                      </p:to>
                                    </p:set>
                                  </p:childTnLst>
                                </p:cTn>
                              </p:par>
                              <p:par>
                                <p:cTn id="99" nodeType="withEffect" fill="hold" presetClass="entr" presetID="1">
                                  <p:stCondLst>
                                    <p:cond delay="0"/>
                                  </p:stCondLst>
                                  <p:childTnLst>
                                    <p:set>
                                      <p:cBhvr>
                                        <p:cTn id="100" dur="1" fill="hold">
                                          <p:stCondLst>
                                            <p:cond delay="0"/>
                                          </p:stCondLst>
                                        </p:cTn>
                                        <p:tgtEl>
                                          <p:spTgt spid="92">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108000"/>
            <a:ext cx="10514520" cy="1157040"/>
          </a:xfrm>
          <a:prstGeom prst="rect">
            <a:avLst/>
          </a:prstGeom>
          <a:noFill/>
          <a:ln w="0">
            <a:noFill/>
          </a:ln>
        </p:spPr>
        <p:txBody>
          <a:bodyPr lIns="0" rIns="0" tIns="12600" bIns="0" anchor="ctr">
            <a:noAutofit/>
          </a:bodyPr>
          <a:p>
            <a:pPr marL="12600" indent="0" algn="just" defTabSz="914400">
              <a:lnSpc>
                <a:spcPct val="90000"/>
              </a:lnSpc>
              <a:spcBef>
                <a:spcPts val="99"/>
              </a:spcBef>
              <a:buNone/>
              <a:tabLst>
                <a:tab algn="l" pos="0"/>
              </a:tabLst>
            </a:pPr>
            <a:r>
              <a:rPr b="0" lang="en-US" sz="4400" spc="-1" strike="noStrike">
                <a:solidFill>
                  <a:srgbClr val="c00000"/>
                </a:solidFill>
                <a:latin typeface="Times New Roman"/>
              </a:rPr>
              <a:t>Bubble Sort</a:t>
            </a:r>
            <a:endParaRPr b="0" lang="en-US" sz="4400" spc="-1" strike="noStrike">
              <a:solidFill>
                <a:srgbClr val="000000"/>
              </a:solidFill>
              <a:latin typeface="Arial"/>
            </a:endParaRPr>
          </a:p>
        </p:txBody>
      </p:sp>
      <p:sp>
        <p:nvSpPr>
          <p:cNvPr id="94" name="PlaceHolder 2"/>
          <p:cNvSpPr>
            <a:spLocks noGrp="1"/>
          </p:cNvSpPr>
          <p:nvPr>
            <p:ph/>
          </p:nvPr>
        </p:nvSpPr>
        <p:spPr>
          <a:xfrm>
            <a:off x="838080" y="1107000"/>
            <a:ext cx="10514520" cy="5068800"/>
          </a:xfrm>
          <a:prstGeom prst="rect">
            <a:avLst/>
          </a:prstGeom>
          <a:noFill/>
          <a:ln w="0">
            <a:noFill/>
          </a:ln>
        </p:spPr>
        <p:txBody>
          <a:bodyPr lIns="91440" rIns="91440" tIns="45720" bIns="45720" anchor="t">
            <a:normAutofit fontScale="93333"/>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Works by repeatedly swapping the adjacent elements if they are in the wrong order.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Not suitable for large data sets as its average and worst-case time complexity are quite high.</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Data is sorted in multiple passes. </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After the first pass, the maximum element goes to end (its correct position). </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After second pass, the second largest element goes to second last position.</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After k passes, the largest k elements must have been moved to the last k positions.</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In a pass, consider remaining elements and compare all adjacent and swap if larger element is before a smaller element. If we keep doing this, we get the largest (among the remaining elements) at its correct position.</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0" lang="en-US" sz="4400" spc="-1" strike="noStrike">
                <a:solidFill>
                  <a:srgbClr val="c00000"/>
                </a:solidFill>
                <a:latin typeface="Times New Roman"/>
              </a:rPr>
              <a:t>Bubble Sort – algorithm </a:t>
            </a:r>
            <a:endParaRPr b="0" lang="en-US" sz="4400" spc="-1" strike="noStrike">
              <a:solidFill>
                <a:srgbClr val="000000"/>
              </a:solidFill>
              <a:latin typeface="Arial"/>
            </a:endParaRPr>
          </a:p>
        </p:txBody>
      </p:sp>
      <p:sp>
        <p:nvSpPr>
          <p:cNvPr id="96" name="PlaceHolder 2"/>
          <p:cNvSpPr>
            <a:spLocks noGrp="1"/>
          </p:cNvSpPr>
          <p:nvPr>
            <p:ph/>
          </p:nvPr>
        </p:nvSpPr>
        <p:spPr>
          <a:xfrm>
            <a:off x="1681920" y="1009080"/>
            <a:ext cx="8827200" cy="506880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tr-TR" sz="1800" spc="-1" strike="noStrike">
                <a:solidFill>
                  <a:schemeClr val="dk1"/>
                </a:solidFill>
                <a:latin typeface="Consolas"/>
              </a:rPr>
              <a:t>def bubbleSort(arr):</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n = len(arr)</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 Traverse through all array elements</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for i in range(n):</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swapped = False</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 Last i elements are already in place</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for j in range(0, n-i-1):</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 Traverse the array from 0 to n-i-1</a:t>
            </a:r>
            <a:r>
              <a:rPr b="0" lang="en-US" sz="1800" spc="-1" strike="noStrike">
                <a:solidFill>
                  <a:schemeClr val="dk1"/>
                </a:solidFill>
                <a:latin typeface="Consolas"/>
              </a:rPr>
              <a:t> </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en-US" sz="1800" spc="-1" strike="noStrike">
                <a:solidFill>
                  <a:schemeClr val="dk1"/>
                </a:solidFill>
                <a:latin typeface="Consolas"/>
              </a:rPr>
              <a:t>            </a:t>
            </a:r>
            <a:r>
              <a:rPr b="0" lang="en-US" sz="1800" spc="-1" strike="noStrike">
                <a:solidFill>
                  <a:schemeClr val="dk1"/>
                </a:solidFill>
                <a:latin typeface="Consolas"/>
              </a:rPr>
              <a:t># </a:t>
            </a:r>
            <a:r>
              <a:rPr b="0" lang="tr-TR" sz="1800" spc="-1" strike="noStrike">
                <a:solidFill>
                  <a:schemeClr val="dk1"/>
                </a:solidFill>
                <a:latin typeface="Consolas"/>
              </a:rPr>
              <a:t>Swap if the element is greater</a:t>
            </a:r>
            <a:r>
              <a:rPr b="0" lang="en-US" sz="1800" spc="-1" strike="noStrike">
                <a:solidFill>
                  <a:schemeClr val="dk1"/>
                </a:solidFill>
                <a:latin typeface="Consolas"/>
              </a:rPr>
              <a:t> </a:t>
            </a:r>
            <a:r>
              <a:rPr b="0" lang="tr-TR" sz="1800" spc="-1" strike="noStrike">
                <a:solidFill>
                  <a:schemeClr val="dk1"/>
                </a:solidFill>
                <a:latin typeface="Consolas"/>
              </a:rPr>
              <a:t>than the next element</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if arr[j] &gt; arr[j+1]:</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arr[j], arr[j+1] = arr[j+1], arr[j]</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swapped = True</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if (swapped == False):</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break</a:t>
            </a:r>
            <a:endParaRPr b="0" lang="en-US" sz="1800" spc="-1" strike="noStrike">
              <a:solidFill>
                <a:srgbClr val="000000"/>
              </a:solidFill>
              <a:latin typeface="Arial"/>
            </a:endParaRPr>
          </a:p>
          <a:p>
            <a:pPr indent="0" defTabSz="914400">
              <a:lnSpc>
                <a:spcPct val="90000"/>
              </a:lnSpc>
              <a:spcBef>
                <a:spcPts val="1001"/>
              </a:spcBef>
              <a:buNone/>
              <a:tabLst>
                <a:tab algn="l" pos="0"/>
              </a:tabLst>
            </a:pPr>
            <a:endParaRPr b="0" lang="en-US" sz="1800" spc="-1" strike="noStrike">
              <a:solidFill>
                <a:srgbClr val="000000"/>
              </a:solidFill>
              <a:latin typeface="Arial"/>
            </a:endParaRPr>
          </a:p>
        </p:txBody>
      </p:sp>
      <p:sp>
        <p:nvSpPr>
          <p:cNvPr id="97" name="TextBox 4"/>
          <p:cNvSpPr/>
          <p:nvPr/>
        </p:nvSpPr>
        <p:spPr>
          <a:xfrm>
            <a:off x="9288360" y="5949000"/>
            <a:ext cx="277200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tr-TR" sz="1800" spc="-1" strike="noStrike">
                <a:solidFill>
                  <a:srgbClr val="273239"/>
                </a:solidFill>
                <a:latin typeface="Nunito"/>
              </a:rPr>
              <a:t>Time Complexity: </a:t>
            </a:r>
            <a:r>
              <a:rPr b="0" lang="tr-TR" sz="1800" spc="-1" strike="noStrike">
                <a:solidFill>
                  <a:srgbClr val="273239"/>
                </a:solidFill>
                <a:latin typeface="Nunito"/>
              </a:rPr>
              <a:t>O(n</a:t>
            </a:r>
            <a:r>
              <a:rPr b="0" lang="tr-TR" sz="1800" spc="-1" strike="noStrike" baseline="30000">
                <a:solidFill>
                  <a:srgbClr val="273239"/>
                </a:solidFill>
                <a:latin typeface="Nunito"/>
              </a:rPr>
              <a:t>2</a:t>
            </a:r>
            <a:r>
              <a:rPr b="0" lang="tr-TR" sz="1800" spc="-1" strike="noStrike">
                <a:solidFill>
                  <a:srgbClr val="273239"/>
                </a:solidFill>
                <a:latin typeface="Nunito"/>
              </a:rPr>
              <a:t>)</a:t>
            </a:r>
            <a:br>
              <a:rPr sz="1800"/>
            </a:br>
            <a:r>
              <a:rPr b="1" lang="tr-TR" sz="1800" spc="-1" strike="noStrike">
                <a:solidFill>
                  <a:srgbClr val="273239"/>
                </a:solidFill>
                <a:latin typeface="Nunito"/>
              </a:rPr>
              <a:t>Auxiliary Space:</a:t>
            </a:r>
            <a:r>
              <a:rPr b="0" lang="tr-TR" sz="1800" spc="-1" strike="noStrike">
                <a:solidFill>
                  <a:srgbClr val="273239"/>
                </a:solidFill>
                <a:latin typeface="Nunito"/>
              </a:rPr>
              <a:t> O(1)</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01" dur="indefinite" restart="never" nodeType="tmRoot">
          <p:childTnLst>
            <p:seq>
              <p:cTn id="102" dur="indefinite" nodeType="mainSeq">
                <p:childTnLst>
                  <p:par>
                    <p:cTn id="103" fill="hold">
                      <p:stCondLst>
                        <p:cond delay="indefinite"/>
                      </p:stCondLst>
                      <p:childTnLst>
                        <p:par>
                          <p:cTn id="104" fill="hold">
                            <p:stCondLst>
                              <p:cond delay="0"/>
                            </p:stCondLst>
                            <p:childTnLst>
                              <p:par>
                                <p:cTn id="105" nodeType="clickEffect" fill="hold" presetClass="entr" presetID="1">
                                  <p:stCondLst>
                                    <p:cond delay="0"/>
                                  </p:stCondLst>
                                  <p:childTnLst>
                                    <p:set>
                                      <p:cBhvr>
                                        <p:cTn id="106"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0" lang="en-US" sz="4400" spc="-1" strike="noStrike">
                <a:solidFill>
                  <a:srgbClr val="c00000"/>
                </a:solidFill>
                <a:latin typeface="Times New Roman"/>
              </a:rPr>
              <a:t>Bubble Sort</a:t>
            </a:r>
            <a:endParaRPr b="0" lang="en-US" sz="4400" spc="-1" strike="noStrike">
              <a:solidFill>
                <a:srgbClr val="000000"/>
              </a:solidFill>
              <a:latin typeface="Arial"/>
            </a:endParaRPr>
          </a:p>
        </p:txBody>
      </p:sp>
      <p:pic>
        <p:nvPicPr>
          <p:cNvPr id="99" name="Content Placeholder 5" descr=""/>
          <p:cNvPicPr/>
          <p:nvPr/>
        </p:nvPicPr>
        <p:blipFill>
          <a:blip r:embed="rId1"/>
          <a:stretch/>
        </p:blipFill>
        <p:spPr>
          <a:xfrm>
            <a:off x="1809720" y="1498680"/>
            <a:ext cx="8571600" cy="428508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0" lang="en-US" sz="4400" spc="-1" strike="noStrike">
                <a:solidFill>
                  <a:srgbClr val="c00000"/>
                </a:solidFill>
                <a:latin typeface="Times New Roman"/>
              </a:rPr>
              <a:t>Bubble Sort</a:t>
            </a:r>
            <a:endParaRPr b="0" lang="en-US" sz="4400" spc="-1" strike="noStrike">
              <a:solidFill>
                <a:srgbClr val="000000"/>
              </a:solidFill>
              <a:latin typeface="Arial"/>
            </a:endParaRPr>
          </a:p>
        </p:txBody>
      </p:sp>
      <p:pic>
        <p:nvPicPr>
          <p:cNvPr id="101" name="Content Placeholder 4" descr=""/>
          <p:cNvPicPr/>
          <p:nvPr/>
        </p:nvPicPr>
        <p:blipFill>
          <a:blip r:embed="rId1"/>
          <a:stretch/>
        </p:blipFill>
        <p:spPr>
          <a:xfrm>
            <a:off x="1814400" y="1488960"/>
            <a:ext cx="8561880" cy="430416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0" lang="en-US" sz="4400" spc="-1" strike="noStrike">
                <a:solidFill>
                  <a:srgbClr val="c00000"/>
                </a:solidFill>
                <a:latin typeface="Times New Roman"/>
              </a:rPr>
              <a:t>Bubble Sort</a:t>
            </a:r>
            <a:endParaRPr b="0" lang="en-US" sz="4400" spc="-1" strike="noStrike">
              <a:solidFill>
                <a:srgbClr val="000000"/>
              </a:solidFill>
              <a:latin typeface="Arial"/>
            </a:endParaRPr>
          </a:p>
        </p:txBody>
      </p:sp>
      <p:pic>
        <p:nvPicPr>
          <p:cNvPr id="103" name="Content Placeholder 4" descr=""/>
          <p:cNvPicPr/>
          <p:nvPr/>
        </p:nvPicPr>
        <p:blipFill>
          <a:blip r:embed="rId1"/>
          <a:stretch/>
        </p:blipFill>
        <p:spPr>
          <a:xfrm>
            <a:off x="1819440" y="1508040"/>
            <a:ext cx="8552520" cy="426600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Bubble Sort – continued </a:t>
            </a:r>
            <a:endParaRPr b="0" lang="en-US" sz="4400" spc="-1" strike="noStrike">
              <a:solidFill>
                <a:srgbClr val="000000"/>
              </a:solidFill>
              <a:latin typeface="Arial"/>
            </a:endParaRPr>
          </a:p>
        </p:txBody>
      </p:sp>
      <p:sp>
        <p:nvSpPr>
          <p:cNvPr id="105" name="PlaceHolder 2"/>
          <p:cNvSpPr>
            <a:spLocks noGrp="1"/>
          </p:cNvSpPr>
          <p:nvPr>
            <p:ph/>
          </p:nvPr>
        </p:nvSpPr>
        <p:spPr>
          <a:xfrm>
            <a:off x="838080" y="1107000"/>
            <a:ext cx="10514520" cy="5068800"/>
          </a:xfrm>
          <a:prstGeom prst="rect">
            <a:avLst/>
          </a:prstGeom>
          <a:noFill/>
          <a:ln w="0">
            <a:noFill/>
          </a:ln>
        </p:spPr>
        <p:txBody>
          <a:bodyPr lIns="91440" rIns="91440" tIns="45720" bIns="45720" anchor="t">
            <a:normAutofit fontScale="81111"/>
          </a:bodyPr>
          <a:p>
            <a:pPr indent="0" defTabSz="914400">
              <a:lnSpc>
                <a:spcPct val="90000"/>
              </a:lnSpc>
              <a:spcBef>
                <a:spcPts val="1001"/>
              </a:spcBef>
              <a:buNone/>
              <a:tabLst>
                <a:tab algn="l" pos="0"/>
              </a:tabLst>
            </a:pPr>
            <a:r>
              <a:rPr b="1" lang="en-US" sz="2800" spc="-1" strike="noStrike">
                <a:solidFill>
                  <a:srgbClr val="273239"/>
                </a:solidFill>
                <a:latin typeface="Nunito"/>
              </a:rPr>
              <a:t>Advantages of Bubble Sort:</a:t>
            </a:r>
            <a:endParaRPr b="0" lang="en-US" sz="28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800" spc="-1" strike="noStrike">
                <a:solidFill>
                  <a:srgbClr val="273239"/>
                </a:solidFill>
                <a:latin typeface="Nunito"/>
              </a:rPr>
              <a:t>Bubble sort is easy to understand and implement.</a:t>
            </a:r>
            <a:endParaRPr b="0" lang="en-US" sz="28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800" spc="-1" strike="noStrike">
                <a:solidFill>
                  <a:srgbClr val="273239"/>
                </a:solidFill>
                <a:latin typeface="Nunito"/>
              </a:rPr>
              <a:t>It does not require any additional memory space.</a:t>
            </a:r>
            <a:endParaRPr b="0" lang="en-US" sz="28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800" spc="-1" strike="noStrike">
                <a:solidFill>
                  <a:srgbClr val="273239"/>
                </a:solidFill>
                <a:latin typeface="Nunito"/>
              </a:rPr>
              <a:t>It is a stable sorting algorithm, meaning that elements with the same key value maintain their relative order in the sorted output.</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r>
              <a:rPr b="1" lang="en-US" sz="2800" spc="-1" strike="noStrike">
                <a:solidFill>
                  <a:srgbClr val="273239"/>
                </a:solidFill>
                <a:latin typeface="Nunito"/>
              </a:rPr>
              <a:t>Disadvantages of Bubble Sort:</a:t>
            </a:r>
            <a:endParaRPr b="0" lang="en-US" sz="28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800" spc="-1" strike="noStrike">
                <a:solidFill>
                  <a:srgbClr val="273239"/>
                </a:solidFill>
                <a:latin typeface="Nunito"/>
              </a:rPr>
              <a:t>Bubble sort has a time complexity of O(n</a:t>
            </a:r>
            <a:r>
              <a:rPr b="0" lang="en-US" sz="2800" spc="-1" strike="noStrike" baseline="30000">
                <a:solidFill>
                  <a:srgbClr val="273239"/>
                </a:solidFill>
                <a:latin typeface="Nunito"/>
              </a:rPr>
              <a:t>2</a:t>
            </a:r>
            <a:r>
              <a:rPr b="0" lang="en-US" sz="2800" spc="-1" strike="noStrike">
                <a:solidFill>
                  <a:srgbClr val="273239"/>
                </a:solidFill>
                <a:latin typeface="Nunito"/>
              </a:rPr>
              <a:t>) which makes it very slow for large data sets.</a:t>
            </a:r>
            <a:endParaRPr b="0" lang="en-US" sz="28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800" spc="-1" strike="noStrike">
                <a:solidFill>
                  <a:srgbClr val="273239"/>
                </a:solidFill>
                <a:latin typeface="Nunito"/>
              </a:rPr>
              <a:t>Bubble sort is a comparison-based sorting algorithm, which means that it requires a comparison operator to determine the relative order of elements in the input data set. It can limit the efficiency of the algorithm in certain cases.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838080" y="108000"/>
            <a:ext cx="10514520" cy="1157040"/>
          </a:xfrm>
          <a:prstGeom prst="rect">
            <a:avLst/>
          </a:prstGeom>
          <a:noFill/>
          <a:ln w="0">
            <a:noFill/>
          </a:ln>
        </p:spPr>
        <p:txBody>
          <a:bodyPr lIns="0" rIns="0" tIns="12600" bIns="0" anchor="ctr">
            <a:noAutofit/>
          </a:bodyPr>
          <a:p>
            <a:pPr marL="12600" indent="0" algn="just" defTabSz="914400">
              <a:lnSpc>
                <a:spcPct val="90000"/>
              </a:lnSpc>
              <a:spcBef>
                <a:spcPts val="99"/>
              </a:spcBef>
              <a:buNone/>
              <a:tabLst>
                <a:tab algn="l" pos="0"/>
              </a:tabLst>
            </a:pPr>
            <a:r>
              <a:rPr b="0" lang="en-US" sz="4400" spc="-1" strike="noStrike">
                <a:solidFill>
                  <a:srgbClr val="c00000"/>
                </a:solidFill>
                <a:latin typeface="Times New Roman"/>
              </a:rPr>
              <a:t>Selection Sort</a:t>
            </a:r>
            <a:endParaRPr b="0" lang="en-US" sz="4400" spc="-1" strike="noStrike">
              <a:solidFill>
                <a:srgbClr val="000000"/>
              </a:solidFill>
              <a:latin typeface="Arial"/>
            </a:endParaRPr>
          </a:p>
        </p:txBody>
      </p:sp>
      <p:sp>
        <p:nvSpPr>
          <p:cNvPr id="107" name="PlaceHolder 2"/>
          <p:cNvSpPr>
            <a:spLocks noGrp="1"/>
          </p:cNvSpPr>
          <p:nvPr>
            <p:ph/>
          </p:nvPr>
        </p:nvSpPr>
        <p:spPr>
          <a:xfrm>
            <a:off x="838080" y="1107000"/>
            <a:ext cx="10514520" cy="50688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Comparison-based sorting algorithm.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Sorts an array by repeatedly selecting the smallest (or largest) element from the unsorted portion and swapping it with the first unsorted element.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This process continues until the entire array is sorted.</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First, find the smallest element and swap it with the first element. This way we get the smallest element at its correct position.</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Then find the smallest </a:t>
            </a:r>
            <a:r>
              <a:rPr b="0" i="1" lang="en-US" sz="2800" spc="-1" strike="noStrike">
                <a:solidFill>
                  <a:schemeClr val="dk1"/>
                </a:solidFill>
                <a:latin typeface="Calibri"/>
              </a:rPr>
              <a:t>among remaining elements </a:t>
            </a:r>
            <a:r>
              <a:rPr b="0" lang="en-US" sz="2800" spc="-1" strike="noStrike">
                <a:solidFill>
                  <a:schemeClr val="dk1"/>
                </a:solidFill>
                <a:latin typeface="Calibri"/>
              </a:rPr>
              <a:t>(or second smallest) and move it to its correct position by swapping.</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Keep doing this until we get all elements moved to correct position.</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Selection Sort - algorithm</a:t>
            </a:r>
            <a:endParaRPr b="0" lang="en-US" sz="4400" spc="-1" strike="noStrike">
              <a:solidFill>
                <a:srgbClr val="000000"/>
              </a:solidFill>
              <a:latin typeface="Arial"/>
            </a:endParaRPr>
          </a:p>
        </p:txBody>
      </p:sp>
      <p:sp>
        <p:nvSpPr>
          <p:cNvPr id="109" name="PlaceHolder 2"/>
          <p:cNvSpPr>
            <a:spLocks noGrp="1"/>
          </p:cNvSpPr>
          <p:nvPr>
            <p:ph/>
          </p:nvPr>
        </p:nvSpPr>
        <p:spPr>
          <a:xfrm>
            <a:off x="1905120" y="1107000"/>
            <a:ext cx="8380800" cy="538488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tr-TR" sz="1800" spc="-1" strike="noStrike">
                <a:solidFill>
                  <a:schemeClr val="dk1"/>
                </a:solidFill>
                <a:latin typeface="Consolas"/>
              </a:rPr>
              <a:t>def selection_sort(arr):</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n = len(arr)</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for i in range(n - 1):</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 Assume the current position holds</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 the minimum element</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min_idx = i</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 Iterate through the unsorted portion</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 to find the actual minimum</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for j in range(i + 1, n):</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if arr[j] &lt; arr[min_idx]:</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 Update min_idx if a smaller element is found</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min_idx = j</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 Move minimum element to its correct position</a:t>
            </a:r>
            <a:endParaRPr b="0" lang="en-US" sz="1800" spc="-1" strike="noStrike">
              <a:solidFill>
                <a:srgbClr val="000000"/>
              </a:solidFill>
              <a:latin typeface="Arial"/>
            </a:endParaRPr>
          </a:p>
          <a:p>
            <a:pPr indent="0" defTabSz="914400">
              <a:lnSpc>
                <a:spcPct val="90000"/>
              </a:lnSpc>
              <a:spcBef>
                <a:spcPts val="1001"/>
              </a:spcBef>
              <a:buNone/>
              <a:tabLst>
                <a:tab algn="l" pos="0"/>
              </a:tabLst>
            </a:pPr>
            <a:r>
              <a:rPr b="0" lang="tr-TR" sz="1800" spc="-1" strike="noStrike">
                <a:solidFill>
                  <a:schemeClr val="dk1"/>
                </a:solidFill>
                <a:latin typeface="Consolas"/>
              </a:rPr>
              <a:t>        </a:t>
            </a:r>
            <a:r>
              <a:rPr b="0" lang="tr-TR" sz="1800" spc="-1" strike="noStrike">
                <a:solidFill>
                  <a:schemeClr val="dk1"/>
                </a:solidFill>
                <a:latin typeface="Consolas"/>
              </a:rPr>
              <a:t>arr[i], arr[min_idx] = arr[min_idx], arr[i]</a:t>
            </a:r>
            <a:endParaRPr b="0" lang="en-US" sz="1800" spc="-1" strike="noStrike">
              <a:solidFill>
                <a:srgbClr val="000000"/>
              </a:solidFill>
              <a:latin typeface="Arial"/>
            </a:endParaRPr>
          </a:p>
          <a:p>
            <a:pPr indent="0" defTabSz="914400">
              <a:lnSpc>
                <a:spcPct val="90000"/>
              </a:lnSpc>
              <a:spcBef>
                <a:spcPts val="1001"/>
              </a:spcBef>
              <a:buNone/>
              <a:tabLst>
                <a:tab algn="l" pos="0"/>
              </a:tabLst>
            </a:pPr>
            <a:br>
              <a:rPr sz="1800"/>
            </a:br>
            <a:endParaRPr b="0" lang="en-US" sz="1800" spc="-1" strike="noStrike">
              <a:solidFill>
                <a:srgbClr val="000000"/>
              </a:solidFill>
              <a:latin typeface="Arial"/>
            </a:endParaRPr>
          </a:p>
          <a:p>
            <a:pPr indent="0" defTabSz="914400">
              <a:lnSpc>
                <a:spcPct val="90000"/>
              </a:lnSpc>
              <a:spcBef>
                <a:spcPts val="1001"/>
              </a:spcBef>
              <a:buNone/>
              <a:tabLst>
                <a:tab algn="l" pos="0"/>
              </a:tabLst>
            </a:pPr>
            <a:endParaRPr b="0" lang="en-US" sz="1800" spc="-1" strike="noStrike">
              <a:solidFill>
                <a:srgbClr val="000000"/>
              </a:solidFill>
              <a:latin typeface="Arial"/>
            </a:endParaRPr>
          </a:p>
        </p:txBody>
      </p:sp>
      <p:sp>
        <p:nvSpPr>
          <p:cNvPr id="110" name="TextBox 3"/>
          <p:cNvSpPr/>
          <p:nvPr/>
        </p:nvSpPr>
        <p:spPr>
          <a:xfrm>
            <a:off x="9266400" y="5846400"/>
            <a:ext cx="277200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tr-TR" sz="1800" spc="-1" strike="noStrike">
                <a:solidFill>
                  <a:srgbClr val="273239"/>
                </a:solidFill>
                <a:latin typeface="Nunito"/>
              </a:rPr>
              <a:t>Time Complexity: </a:t>
            </a:r>
            <a:r>
              <a:rPr b="0" lang="tr-TR" sz="1800" spc="-1" strike="noStrike">
                <a:solidFill>
                  <a:srgbClr val="273239"/>
                </a:solidFill>
                <a:latin typeface="Nunito"/>
              </a:rPr>
              <a:t>O(n</a:t>
            </a:r>
            <a:r>
              <a:rPr b="0" lang="tr-TR" sz="1800" spc="-1" strike="noStrike" baseline="30000">
                <a:solidFill>
                  <a:srgbClr val="273239"/>
                </a:solidFill>
                <a:latin typeface="Nunito"/>
              </a:rPr>
              <a:t>2</a:t>
            </a:r>
            <a:r>
              <a:rPr b="0" lang="tr-TR" sz="1800" spc="-1" strike="noStrike">
                <a:solidFill>
                  <a:srgbClr val="273239"/>
                </a:solidFill>
                <a:latin typeface="Nunito"/>
              </a:rPr>
              <a:t>)</a:t>
            </a:r>
            <a:br>
              <a:rPr sz="1800"/>
            </a:br>
            <a:r>
              <a:rPr b="1" lang="tr-TR" sz="1800" spc="-1" strike="noStrike">
                <a:solidFill>
                  <a:srgbClr val="273239"/>
                </a:solidFill>
                <a:latin typeface="Nunito"/>
              </a:rPr>
              <a:t>Auxiliary Space:</a:t>
            </a:r>
            <a:r>
              <a:rPr b="0" lang="tr-TR" sz="1800" spc="-1" strike="noStrike">
                <a:solidFill>
                  <a:srgbClr val="273239"/>
                </a:solidFill>
                <a:latin typeface="Nunito"/>
              </a:rPr>
              <a:t> O(1)</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07" dur="indefinite" restart="never" nodeType="tmRoot">
          <p:childTnLst>
            <p:seq>
              <p:cTn id="108" dur="indefinite" nodeType="mainSeq">
                <p:childTnLst>
                  <p:par>
                    <p:cTn id="109" fill="hold">
                      <p:stCondLst>
                        <p:cond delay="indefinite"/>
                      </p:stCondLst>
                      <p:childTnLst>
                        <p:par>
                          <p:cTn id="110" fill="hold">
                            <p:stCondLst>
                              <p:cond delay="0"/>
                            </p:stCondLst>
                            <p:childTnLst>
                              <p:par>
                                <p:cTn id="111" nodeType="clickEffect" fill="hold" presetClass="entr" presetID="1">
                                  <p:stCondLst>
                                    <p:cond delay="0"/>
                                  </p:stCondLst>
                                  <p:childTnLst>
                                    <p:set>
                                      <p:cBhvr>
                                        <p:cTn id="112"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a:bodyPr>
          <a:p>
            <a:pPr indent="0" algn="ctr">
              <a:buNone/>
            </a:pPr>
            <a:endParaRPr b="0" lang="en-US" sz="1800" spc="-1" strike="noStrike">
              <a:solidFill>
                <a:srgbClr val="000000"/>
              </a:solidFill>
              <a:latin typeface="Arial"/>
            </a:endParaRPr>
          </a:p>
        </p:txBody>
      </p:sp>
      <p:pic>
        <p:nvPicPr>
          <p:cNvPr id="112" name="Content Placeholder 5" descr=""/>
          <p:cNvPicPr/>
          <p:nvPr/>
        </p:nvPicPr>
        <p:blipFill>
          <a:blip r:embed="rId1"/>
          <a:stretch/>
        </p:blipFill>
        <p:spPr>
          <a:xfrm>
            <a:off x="2281320" y="1731960"/>
            <a:ext cx="7628400" cy="381852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a:bodyPr>
          <a:p>
            <a:pPr indent="0" algn="ctr">
              <a:buNone/>
            </a:pPr>
            <a:endParaRPr b="0" lang="en-US" sz="1800" spc="-1" strike="noStrike">
              <a:solidFill>
                <a:srgbClr val="000000"/>
              </a:solidFill>
              <a:latin typeface="Arial"/>
            </a:endParaRPr>
          </a:p>
        </p:txBody>
      </p:sp>
      <p:pic>
        <p:nvPicPr>
          <p:cNvPr id="114" name="Content Placeholder 4" descr=""/>
          <p:cNvPicPr/>
          <p:nvPr/>
        </p:nvPicPr>
        <p:blipFill>
          <a:blip r:embed="rId1"/>
          <a:stretch/>
        </p:blipFill>
        <p:spPr>
          <a:xfrm>
            <a:off x="2281320" y="1731960"/>
            <a:ext cx="7628400" cy="381852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a:bodyPr>
          <a:p>
            <a:pPr indent="0" algn="ctr">
              <a:buNone/>
            </a:pPr>
            <a:endParaRPr b="0" lang="en-US" sz="1800" spc="-1" strike="noStrike">
              <a:solidFill>
                <a:srgbClr val="000000"/>
              </a:solidFill>
              <a:latin typeface="Arial"/>
            </a:endParaRPr>
          </a:p>
        </p:txBody>
      </p:sp>
      <p:pic>
        <p:nvPicPr>
          <p:cNvPr id="116" name="Content Placeholder 4" descr=""/>
          <p:cNvPicPr/>
          <p:nvPr/>
        </p:nvPicPr>
        <p:blipFill>
          <a:blip r:embed="rId1"/>
          <a:stretch/>
        </p:blipFill>
        <p:spPr>
          <a:xfrm>
            <a:off x="2281320" y="1731960"/>
            <a:ext cx="7628400" cy="381852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a:bodyPr>
          <a:p>
            <a:pPr indent="0" algn="ctr">
              <a:buNone/>
            </a:pPr>
            <a:endParaRPr b="0" lang="en-US" sz="1800" spc="-1" strike="noStrike">
              <a:solidFill>
                <a:srgbClr val="000000"/>
              </a:solidFill>
              <a:latin typeface="Arial"/>
            </a:endParaRPr>
          </a:p>
        </p:txBody>
      </p:sp>
      <p:pic>
        <p:nvPicPr>
          <p:cNvPr id="118" name="Content Placeholder 4" descr=""/>
          <p:cNvPicPr/>
          <p:nvPr/>
        </p:nvPicPr>
        <p:blipFill>
          <a:blip r:embed="rId1"/>
          <a:stretch/>
        </p:blipFill>
        <p:spPr>
          <a:xfrm>
            <a:off x="2281320" y="1731960"/>
            <a:ext cx="7628400" cy="381852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a:bodyPr>
          <a:p>
            <a:pPr indent="0" algn="ctr">
              <a:buNone/>
            </a:pPr>
            <a:endParaRPr b="0" lang="en-US" sz="1800" spc="-1" strike="noStrike">
              <a:solidFill>
                <a:srgbClr val="000000"/>
              </a:solidFill>
              <a:latin typeface="Arial"/>
            </a:endParaRPr>
          </a:p>
        </p:txBody>
      </p:sp>
      <p:pic>
        <p:nvPicPr>
          <p:cNvPr id="120" name="Content Placeholder 4" descr=""/>
          <p:cNvPicPr/>
          <p:nvPr/>
        </p:nvPicPr>
        <p:blipFill>
          <a:blip r:embed="rId1"/>
          <a:stretch/>
        </p:blipFill>
        <p:spPr>
          <a:xfrm>
            <a:off x="2281320" y="1731960"/>
            <a:ext cx="7628400" cy="381852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a:bodyPr>
          <a:p>
            <a:pPr indent="0" algn="ctr">
              <a:buNone/>
            </a:pPr>
            <a:endParaRPr b="0" lang="en-US" sz="1800" spc="-1" strike="noStrike">
              <a:solidFill>
                <a:srgbClr val="000000"/>
              </a:solidFill>
              <a:latin typeface="Arial"/>
            </a:endParaRPr>
          </a:p>
        </p:txBody>
      </p:sp>
      <p:pic>
        <p:nvPicPr>
          <p:cNvPr id="122" name="Content Placeholder 4" descr=""/>
          <p:cNvPicPr/>
          <p:nvPr/>
        </p:nvPicPr>
        <p:blipFill>
          <a:blip r:embed="rId1"/>
          <a:stretch/>
        </p:blipFill>
        <p:spPr>
          <a:xfrm>
            <a:off x="2281320" y="1731960"/>
            <a:ext cx="7628400" cy="381852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Selection Sort</a:t>
            </a:r>
            <a:endParaRPr b="0" lang="en-US" sz="4400" spc="-1" strike="noStrike">
              <a:solidFill>
                <a:srgbClr val="000000"/>
              </a:solidFill>
              <a:latin typeface="Arial"/>
            </a:endParaRPr>
          </a:p>
        </p:txBody>
      </p:sp>
      <p:sp>
        <p:nvSpPr>
          <p:cNvPr id="124" name="PlaceHolder 2"/>
          <p:cNvSpPr>
            <a:spLocks noGrp="1"/>
          </p:cNvSpPr>
          <p:nvPr>
            <p:ph/>
          </p:nvPr>
        </p:nvSpPr>
        <p:spPr>
          <a:xfrm>
            <a:off x="838080" y="1107000"/>
            <a:ext cx="10514520" cy="5068800"/>
          </a:xfrm>
          <a:prstGeom prst="rect">
            <a:avLst/>
          </a:prstGeom>
          <a:noFill/>
          <a:ln w="0">
            <a:noFill/>
          </a:ln>
        </p:spPr>
        <p:txBody>
          <a:bodyPr lIns="91440" rIns="91440" tIns="45720" bIns="45720" anchor="t">
            <a:normAutofit fontScale="71666"/>
          </a:bodyPr>
          <a:p>
            <a:pPr indent="0" defTabSz="914400">
              <a:lnSpc>
                <a:spcPct val="90000"/>
              </a:lnSpc>
              <a:spcBef>
                <a:spcPts val="1001"/>
              </a:spcBef>
              <a:buNone/>
              <a:tabLst>
                <a:tab algn="l" pos="0"/>
              </a:tabLst>
            </a:pPr>
            <a:r>
              <a:rPr b="1" lang="en-US" sz="2800" spc="-1" strike="noStrike">
                <a:solidFill>
                  <a:srgbClr val="273239"/>
                </a:solidFill>
                <a:latin typeface="Nunito"/>
              </a:rPr>
              <a:t>Advantages of Selection Sort</a:t>
            </a:r>
            <a:endParaRPr b="0" lang="en-US" sz="28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800" spc="-1" strike="noStrike">
                <a:solidFill>
                  <a:srgbClr val="273239"/>
                </a:solidFill>
                <a:latin typeface="Nunito"/>
              </a:rPr>
              <a:t>Easy to understand and implement, making it ideal for teaching basic sorting concepts.</a:t>
            </a:r>
            <a:endParaRPr b="0" lang="en-US" sz="28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800" spc="-1" strike="noStrike">
                <a:solidFill>
                  <a:srgbClr val="273239"/>
                </a:solidFill>
                <a:latin typeface="Nunito"/>
              </a:rPr>
              <a:t>Requires only a constant O(1) extra memory space.</a:t>
            </a:r>
            <a:endParaRPr b="0" lang="en-US" sz="28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800" spc="-1" strike="noStrike">
                <a:solidFill>
                  <a:srgbClr val="273239"/>
                </a:solidFill>
                <a:latin typeface="Nunito"/>
              </a:rPr>
              <a:t>It requires less number of swaps (or memory writes) compared to many other standard algorithms. Therefore it can be simple algorithm choice when memory writes are costly.</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r>
              <a:rPr b="1" lang="en-US" sz="2800" spc="-1" strike="noStrike">
                <a:solidFill>
                  <a:srgbClr val="273239"/>
                </a:solidFill>
                <a:latin typeface="Nunito"/>
              </a:rPr>
              <a:t>Disadvantages of the Selection Sort</a:t>
            </a:r>
            <a:endParaRPr b="0" lang="en-US" sz="28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800" spc="-1" strike="noStrike">
                <a:solidFill>
                  <a:srgbClr val="273239"/>
                </a:solidFill>
                <a:latin typeface="Nunito"/>
              </a:rPr>
              <a:t>Selection sort has a time complexity of O(n^2) makes it slower compared to algorithms like Quick Sort or Merge Sort.</a:t>
            </a:r>
            <a:endParaRPr b="0" lang="en-US" sz="28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800" spc="-1" strike="noStrike">
                <a:solidFill>
                  <a:srgbClr val="273239"/>
                </a:solidFill>
                <a:latin typeface="Nunito"/>
              </a:rPr>
              <a:t>Does not maintain the relative order of equal elements.</a:t>
            </a:r>
            <a:endParaRPr b="0" lang="en-US" sz="28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800" spc="-1" strike="noStrike">
                <a:solidFill>
                  <a:srgbClr val="273239"/>
                </a:solidFill>
                <a:latin typeface="Nunito"/>
              </a:rPr>
              <a:t>Does not preserve the relative order of items with equal keys which means it is not stable.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838080" y="108000"/>
            <a:ext cx="10514520" cy="1157040"/>
          </a:xfrm>
          <a:prstGeom prst="rect">
            <a:avLst/>
          </a:prstGeom>
          <a:noFill/>
          <a:ln w="0">
            <a:noFill/>
          </a:ln>
        </p:spPr>
        <p:txBody>
          <a:bodyPr lIns="0" rIns="0" tIns="12600" bIns="0" anchor="ctr">
            <a:noAutofit/>
          </a:bodyPr>
          <a:p>
            <a:pPr marL="12600" indent="0" algn="just" defTabSz="914400">
              <a:lnSpc>
                <a:spcPct val="90000"/>
              </a:lnSpc>
              <a:spcBef>
                <a:spcPts val="99"/>
              </a:spcBef>
              <a:buNone/>
              <a:tabLst>
                <a:tab algn="l" pos="0"/>
              </a:tabLst>
            </a:pPr>
            <a:r>
              <a:rPr b="0" lang="en-US" sz="4400" spc="-1" strike="noStrike">
                <a:solidFill>
                  <a:srgbClr val="c00000"/>
                </a:solidFill>
                <a:latin typeface="Times New Roman"/>
              </a:rPr>
              <a:t>Insertion Sort</a:t>
            </a:r>
            <a:endParaRPr b="0" lang="en-US" sz="4400" spc="-1" strike="noStrike">
              <a:solidFill>
                <a:srgbClr val="000000"/>
              </a:solidFill>
              <a:latin typeface="Arial"/>
            </a:endParaRPr>
          </a:p>
        </p:txBody>
      </p:sp>
      <p:sp>
        <p:nvSpPr>
          <p:cNvPr id="126" name="PlaceHolder 2"/>
          <p:cNvSpPr>
            <a:spLocks noGrp="1"/>
          </p:cNvSpPr>
          <p:nvPr>
            <p:ph/>
          </p:nvPr>
        </p:nvSpPr>
        <p:spPr>
          <a:xfrm>
            <a:off x="838080" y="1107000"/>
            <a:ext cx="10514520" cy="50688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Simple sorting algorithm that works by iteratively inserting each element of an unsorted list into its correct position in a sorted portion of the list.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It is like sorting playing cards in your hands.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You split the cards into two groups: </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the sorted cards and the unsorted cards. </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Then, you pick a card from the unsorted group and put it in the right place in the sorted group.</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Insertion Sort – algorithm </a:t>
            </a:r>
            <a:endParaRPr b="0" lang="en-US" sz="4400" spc="-1" strike="noStrike">
              <a:solidFill>
                <a:srgbClr val="000000"/>
              </a:solidFill>
              <a:latin typeface="Arial"/>
            </a:endParaRPr>
          </a:p>
        </p:txBody>
      </p:sp>
      <p:sp>
        <p:nvSpPr>
          <p:cNvPr id="128" name="PlaceHolder 2"/>
          <p:cNvSpPr>
            <a:spLocks noGrp="1"/>
          </p:cNvSpPr>
          <p:nvPr>
            <p:ph/>
          </p:nvPr>
        </p:nvSpPr>
        <p:spPr>
          <a:xfrm>
            <a:off x="1432080" y="1182240"/>
            <a:ext cx="9326520" cy="5068800"/>
          </a:xfrm>
          <a:prstGeom prst="rect">
            <a:avLst/>
          </a:prstGeom>
          <a:noFill/>
          <a:ln w="0">
            <a:noFill/>
          </a:ln>
        </p:spPr>
        <p:txBody>
          <a:bodyPr lIns="91440" rIns="91440" tIns="45720" bIns="45720" anchor="t">
            <a:normAutofit fontScale="77777"/>
          </a:bodyPr>
          <a:p>
            <a:pPr indent="0" defTabSz="914400">
              <a:lnSpc>
                <a:spcPct val="90000"/>
              </a:lnSpc>
              <a:spcBef>
                <a:spcPts val="1001"/>
              </a:spcBef>
              <a:buNone/>
              <a:tabLst>
                <a:tab algn="l" pos="0"/>
              </a:tabLst>
            </a:pPr>
            <a:r>
              <a:rPr b="0" lang="en-US" sz="2800" spc="-1" strike="noStrike">
                <a:solidFill>
                  <a:schemeClr val="dk1"/>
                </a:solidFill>
                <a:latin typeface="Consolas"/>
              </a:rPr>
              <a:t>def insertionSort(arr):</a:t>
            </a: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chemeClr val="dk1"/>
                </a:solidFill>
                <a:latin typeface="Consolas"/>
              </a:rPr>
              <a:t>    </a:t>
            </a:r>
            <a:r>
              <a:rPr b="0" lang="en-US" sz="2800" spc="-1" strike="noStrike">
                <a:solidFill>
                  <a:schemeClr val="dk1"/>
                </a:solidFill>
                <a:latin typeface="Consolas"/>
              </a:rPr>
              <a:t>for i in range(1, len(arr)):</a:t>
            </a: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chemeClr val="dk1"/>
                </a:solidFill>
                <a:latin typeface="Consolas"/>
              </a:rPr>
              <a:t>        </a:t>
            </a:r>
            <a:r>
              <a:rPr b="0" lang="en-US" sz="2800" spc="-1" strike="noStrike">
                <a:solidFill>
                  <a:schemeClr val="dk1"/>
                </a:solidFill>
                <a:latin typeface="Consolas"/>
              </a:rPr>
              <a:t>key = arr[i]</a:t>
            </a: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chemeClr val="dk1"/>
                </a:solidFill>
                <a:latin typeface="Consolas"/>
              </a:rPr>
              <a:t>        </a:t>
            </a:r>
            <a:r>
              <a:rPr b="0" lang="en-US" sz="2800" spc="-1" strike="noStrike">
                <a:solidFill>
                  <a:schemeClr val="dk1"/>
                </a:solidFill>
                <a:latin typeface="Consolas"/>
              </a:rPr>
              <a:t>j = i - 1</a:t>
            </a:r>
            <a:endParaRPr b="0" lang="en-US" sz="2800" spc="-1" strike="noStrike">
              <a:solidFill>
                <a:srgbClr val="000000"/>
              </a:solidFill>
              <a:latin typeface="Arial"/>
            </a:endParaRPr>
          </a:p>
          <a:p>
            <a:pPr indent="0" defTabSz="914400">
              <a:lnSpc>
                <a:spcPct val="90000"/>
              </a:lnSpc>
              <a:spcBef>
                <a:spcPts val="1001"/>
              </a:spcBef>
              <a:buNone/>
              <a:tabLst>
                <a:tab algn="l" pos="0"/>
              </a:tabLst>
            </a:pPr>
            <a:br>
              <a:rPr sz="2800"/>
            </a:br>
            <a:r>
              <a:rPr b="0" lang="en-US" sz="2800" spc="-1" strike="noStrike">
                <a:solidFill>
                  <a:schemeClr val="dk1"/>
                </a:solidFill>
                <a:latin typeface="Consolas"/>
              </a:rPr>
              <a:t>        </a:t>
            </a:r>
            <a:r>
              <a:rPr b="0" lang="en-US" sz="2800" spc="-1" strike="noStrike">
                <a:solidFill>
                  <a:schemeClr val="dk1"/>
                </a:solidFill>
                <a:latin typeface="Consolas"/>
              </a:rPr>
              <a:t># Move elements of arr[0..i-1], that are</a:t>
            </a: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chemeClr val="dk1"/>
                </a:solidFill>
                <a:latin typeface="Consolas"/>
              </a:rPr>
              <a:t>        </a:t>
            </a:r>
            <a:r>
              <a:rPr b="0" lang="en-US" sz="2800" spc="-1" strike="noStrike">
                <a:solidFill>
                  <a:schemeClr val="dk1"/>
                </a:solidFill>
                <a:latin typeface="Consolas"/>
              </a:rPr>
              <a:t># greater than key, to one position ahead</a:t>
            </a: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chemeClr val="dk1"/>
                </a:solidFill>
                <a:latin typeface="Consolas"/>
              </a:rPr>
              <a:t>        </a:t>
            </a:r>
            <a:r>
              <a:rPr b="0" lang="en-US" sz="2800" spc="-1" strike="noStrike">
                <a:solidFill>
                  <a:schemeClr val="dk1"/>
                </a:solidFill>
                <a:latin typeface="Consolas"/>
              </a:rPr>
              <a:t># of their current position</a:t>
            </a: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chemeClr val="dk1"/>
                </a:solidFill>
                <a:latin typeface="Consolas"/>
              </a:rPr>
              <a:t>        </a:t>
            </a:r>
            <a:r>
              <a:rPr b="0" lang="en-US" sz="2800" spc="-1" strike="noStrike">
                <a:solidFill>
                  <a:schemeClr val="dk1"/>
                </a:solidFill>
                <a:latin typeface="Consolas"/>
              </a:rPr>
              <a:t>while j &gt;= 0 and key &lt; arr[j]:</a:t>
            </a: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chemeClr val="dk1"/>
                </a:solidFill>
                <a:latin typeface="Consolas"/>
              </a:rPr>
              <a:t>            </a:t>
            </a:r>
            <a:r>
              <a:rPr b="0" lang="en-US" sz="2800" spc="-1" strike="noStrike">
                <a:solidFill>
                  <a:schemeClr val="dk1"/>
                </a:solidFill>
                <a:latin typeface="Consolas"/>
              </a:rPr>
              <a:t>arr[j + 1] = arr[j]</a:t>
            </a: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chemeClr val="dk1"/>
                </a:solidFill>
                <a:latin typeface="Consolas"/>
              </a:rPr>
              <a:t>            </a:t>
            </a:r>
            <a:r>
              <a:rPr b="0" lang="en-US" sz="2800" spc="-1" strike="noStrike">
                <a:solidFill>
                  <a:schemeClr val="dk1"/>
                </a:solidFill>
                <a:latin typeface="Consolas"/>
              </a:rPr>
              <a:t>j -= 1</a:t>
            </a: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chemeClr val="dk1"/>
                </a:solidFill>
                <a:latin typeface="Consolas"/>
              </a:rPr>
              <a:t>        </a:t>
            </a:r>
            <a:r>
              <a:rPr b="0" lang="en-US" sz="2800" spc="-1" strike="noStrike">
                <a:solidFill>
                  <a:schemeClr val="dk1"/>
                </a:solidFill>
                <a:latin typeface="Consolas"/>
              </a:rPr>
              <a:t>arr[j + 1] = key</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129" name="TextBox 3"/>
          <p:cNvSpPr/>
          <p:nvPr/>
        </p:nvSpPr>
        <p:spPr>
          <a:xfrm>
            <a:off x="9266400" y="5846400"/>
            <a:ext cx="277200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tr-TR" sz="1800" spc="-1" strike="noStrike">
                <a:solidFill>
                  <a:srgbClr val="273239"/>
                </a:solidFill>
                <a:latin typeface="Nunito"/>
              </a:rPr>
              <a:t>Time Complexity: </a:t>
            </a:r>
            <a:r>
              <a:rPr b="0" lang="tr-TR" sz="1800" spc="-1" strike="noStrike">
                <a:solidFill>
                  <a:srgbClr val="273239"/>
                </a:solidFill>
                <a:latin typeface="Nunito"/>
              </a:rPr>
              <a:t>O(n</a:t>
            </a:r>
            <a:r>
              <a:rPr b="0" lang="tr-TR" sz="1800" spc="-1" strike="noStrike" baseline="30000">
                <a:solidFill>
                  <a:srgbClr val="273239"/>
                </a:solidFill>
                <a:latin typeface="Nunito"/>
              </a:rPr>
              <a:t>2</a:t>
            </a:r>
            <a:r>
              <a:rPr b="0" lang="tr-TR" sz="1800" spc="-1" strike="noStrike">
                <a:solidFill>
                  <a:srgbClr val="273239"/>
                </a:solidFill>
                <a:latin typeface="Nunito"/>
              </a:rPr>
              <a:t>)</a:t>
            </a:r>
            <a:br>
              <a:rPr sz="1800"/>
            </a:br>
            <a:r>
              <a:rPr b="1" lang="tr-TR" sz="1800" spc="-1" strike="noStrike">
                <a:solidFill>
                  <a:srgbClr val="273239"/>
                </a:solidFill>
                <a:latin typeface="Nunito"/>
              </a:rPr>
              <a:t>Auxiliary Space:</a:t>
            </a:r>
            <a:r>
              <a:rPr b="0" lang="tr-TR" sz="1800" spc="-1" strike="noStrike">
                <a:solidFill>
                  <a:srgbClr val="273239"/>
                </a:solidFill>
                <a:latin typeface="Nunito"/>
              </a:rPr>
              <a:t> O(1)</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13" dur="indefinite" restart="never" nodeType="tmRoot">
          <p:childTnLst>
            <p:seq>
              <p:cTn id="114" dur="indefinite" nodeType="mainSeq">
                <p:childTnLst>
                  <p:par>
                    <p:cTn id="115" fill="hold">
                      <p:stCondLst>
                        <p:cond delay="indefinite"/>
                      </p:stCondLst>
                      <p:childTnLst>
                        <p:par>
                          <p:cTn id="116" fill="hold">
                            <p:stCondLst>
                              <p:cond delay="0"/>
                            </p:stCondLst>
                            <p:childTnLst>
                              <p:par>
                                <p:cTn id="117" nodeType="clickEffect" fill="hold" presetClass="entr" presetID="1">
                                  <p:stCondLst>
                                    <p:cond delay="0"/>
                                  </p:stCondLst>
                                  <p:childTnLst>
                                    <p:set>
                                      <p:cBhvr>
                                        <p:cTn id="118"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Insertion Sort – continued </a:t>
            </a:r>
            <a:endParaRPr b="0" lang="en-US" sz="4400" spc="-1" strike="noStrike">
              <a:solidFill>
                <a:srgbClr val="000000"/>
              </a:solidFill>
              <a:latin typeface="Arial"/>
            </a:endParaRPr>
          </a:p>
        </p:txBody>
      </p:sp>
      <p:pic>
        <p:nvPicPr>
          <p:cNvPr id="131" name="Content Placeholder 5" descr=""/>
          <p:cNvPicPr/>
          <p:nvPr/>
        </p:nvPicPr>
        <p:blipFill>
          <a:blip r:embed="rId1"/>
          <a:stretch/>
        </p:blipFill>
        <p:spPr>
          <a:xfrm>
            <a:off x="2559960" y="2030040"/>
            <a:ext cx="7070760" cy="322236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Insertion Sort – continued </a:t>
            </a:r>
            <a:endParaRPr b="0" lang="en-US" sz="4400" spc="-1" strike="noStrike">
              <a:solidFill>
                <a:srgbClr val="000000"/>
              </a:solidFill>
              <a:latin typeface="Arial"/>
            </a:endParaRPr>
          </a:p>
        </p:txBody>
      </p:sp>
      <p:sp>
        <p:nvSpPr>
          <p:cNvPr id="133" name="PlaceHolder 2"/>
          <p:cNvSpPr>
            <a:spLocks noGrp="1"/>
          </p:cNvSpPr>
          <p:nvPr>
            <p:ph/>
          </p:nvPr>
        </p:nvSpPr>
        <p:spPr>
          <a:xfrm>
            <a:off x="838080" y="1107000"/>
            <a:ext cx="10514520" cy="5068800"/>
          </a:xfrm>
          <a:prstGeom prst="rect">
            <a:avLst/>
          </a:prstGeom>
          <a:noFill/>
          <a:ln w="0">
            <a:noFill/>
          </a:ln>
        </p:spPr>
        <p:txBody>
          <a:bodyPr lIns="91440" rIns="91440" tIns="45720" bIns="45720" anchor="t">
            <a:normAutofit fontScale="79444"/>
          </a:bodyPr>
          <a:p>
            <a:pPr indent="0" defTabSz="914400">
              <a:lnSpc>
                <a:spcPct val="90000"/>
              </a:lnSpc>
              <a:spcBef>
                <a:spcPts val="1001"/>
              </a:spcBef>
              <a:buNone/>
              <a:tabLst>
                <a:tab algn="l" pos="0"/>
              </a:tabLst>
            </a:pPr>
            <a:r>
              <a:rPr b="1" lang="en-US" sz="2800" spc="-1" strike="noStrike">
                <a:solidFill>
                  <a:srgbClr val="273239"/>
                </a:solidFill>
                <a:latin typeface="Nunito"/>
              </a:rPr>
              <a:t>Advantages of Insertion Sort:</a:t>
            </a:r>
            <a:endParaRPr b="0" lang="en-US" sz="28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600" spc="-1" strike="noStrike">
                <a:solidFill>
                  <a:srgbClr val="273239"/>
                </a:solidFill>
                <a:latin typeface="Nunito"/>
              </a:rPr>
              <a:t>Simple and easy to implement.</a:t>
            </a:r>
            <a:endParaRPr b="0" lang="en-US" sz="26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600" spc="-1" strike="noStrike">
                <a:solidFill>
                  <a:srgbClr val="273239"/>
                </a:solidFill>
                <a:latin typeface="Nunito"/>
              </a:rPr>
              <a:t>Stable sorting algorithm.</a:t>
            </a:r>
            <a:endParaRPr b="0" lang="en-US" sz="26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600" spc="-1" strike="noStrike">
                <a:solidFill>
                  <a:srgbClr val="273239"/>
                </a:solidFill>
                <a:latin typeface="Nunito"/>
              </a:rPr>
              <a:t>Efficient for small lists and nearly sorted lists.</a:t>
            </a:r>
            <a:endParaRPr b="0" lang="en-US" sz="26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600" spc="-1" strike="noStrike">
                <a:solidFill>
                  <a:srgbClr val="273239"/>
                </a:solidFill>
                <a:latin typeface="Nunito"/>
              </a:rPr>
              <a:t>Space-efficient as it is an in-place algorithm.</a:t>
            </a:r>
            <a:endParaRPr b="0" lang="en-US" sz="26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600" spc="-1" strike="noStrike">
                <a:solidFill>
                  <a:srgbClr val="273239"/>
                </a:solidFill>
                <a:latin typeface="Nunito"/>
              </a:rPr>
              <a:t>Adoptive. the </a:t>
            </a:r>
            <a:r>
              <a:rPr b="0" lang="en-US" sz="2600" spc="-1" strike="noStrike" u="sng">
                <a:solidFill>
                  <a:srgbClr val="0563c1"/>
                </a:solidFill>
                <a:uFillTx/>
                <a:latin typeface="Nunito"/>
                <a:hlinkClick r:id="rId1"/>
              </a:rPr>
              <a:t>number of inversions</a:t>
            </a:r>
            <a:r>
              <a:rPr b="0" lang="en-US" sz="2600" spc="-1" strike="noStrike">
                <a:solidFill>
                  <a:srgbClr val="273239"/>
                </a:solidFill>
                <a:latin typeface="Nunito"/>
              </a:rPr>
              <a:t> is directly proportional to number of swaps. For example, no swapping happens for a sorted array and it takes O(n) time only.</a:t>
            </a:r>
            <a:endParaRPr b="0" lang="en-US" sz="26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r>
              <a:rPr b="1" lang="en-US" sz="2800" spc="-1" strike="noStrike">
                <a:solidFill>
                  <a:srgbClr val="273239"/>
                </a:solidFill>
                <a:latin typeface="Nunito"/>
              </a:rPr>
              <a:t>Disadvantages of Insertion Sort:</a:t>
            </a:r>
            <a:endParaRPr b="0" lang="en-US" sz="28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600" spc="-1" strike="noStrike">
                <a:solidFill>
                  <a:srgbClr val="273239"/>
                </a:solidFill>
                <a:latin typeface="Nunito"/>
              </a:rPr>
              <a:t>Inefficient for large lists.</a:t>
            </a:r>
            <a:endParaRPr b="0" lang="en-US" sz="26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600" spc="-1" strike="noStrike">
                <a:solidFill>
                  <a:srgbClr val="273239"/>
                </a:solidFill>
                <a:latin typeface="Nunito"/>
              </a:rPr>
              <a:t>Not as efficient as other sorting algorithms (e.g., merge sort, quick sort) for most cases.</a:t>
            </a:r>
            <a:endParaRPr b="0" lang="en-US" sz="26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Merge Sort </a:t>
            </a:r>
            <a:endParaRPr b="0" lang="en-US" sz="4400" spc="-1" strike="noStrike">
              <a:solidFill>
                <a:srgbClr val="000000"/>
              </a:solidFill>
              <a:latin typeface="Arial"/>
            </a:endParaRPr>
          </a:p>
        </p:txBody>
      </p:sp>
      <p:sp>
        <p:nvSpPr>
          <p:cNvPr id="135" name="PlaceHolder 2"/>
          <p:cNvSpPr>
            <a:spLocks noGrp="1"/>
          </p:cNvSpPr>
          <p:nvPr>
            <p:ph/>
          </p:nvPr>
        </p:nvSpPr>
        <p:spPr>
          <a:xfrm>
            <a:off x="838080" y="1107000"/>
            <a:ext cx="10514520" cy="5068800"/>
          </a:xfrm>
          <a:prstGeom prst="rect">
            <a:avLst/>
          </a:prstGeom>
          <a:noFill/>
          <a:ln w="0">
            <a:noFill/>
          </a:ln>
        </p:spPr>
        <p:txBody>
          <a:bodyPr lIns="91440" rIns="91440" tIns="45720" bIns="45720" anchor="t">
            <a:normAutofit/>
          </a:bodyPr>
          <a:p>
            <a:pPr marL="216000" indent="-216000" defTabSz="914400">
              <a:lnSpc>
                <a:spcPct val="90000"/>
              </a:lnSpc>
              <a:spcBef>
                <a:spcPts val="1191"/>
              </a:spcBef>
              <a:spcAft>
                <a:spcPts val="992"/>
              </a:spcAft>
              <a:buClr>
                <a:srgbClr val="000000"/>
              </a:buClr>
              <a:buFont typeface="OpenSymbol"/>
              <a:buAutoNum type="arabicParenR"/>
              <a:tabLst>
                <a:tab algn="l" pos="0"/>
              </a:tabLst>
            </a:pPr>
            <a:r>
              <a:rPr b="1" lang="en-US" sz="2800" spc="-1" strike="noStrike" u="sng">
                <a:solidFill>
                  <a:srgbClr val="273239"/>
                </a:solidFill>
                <a:uFillTx/>
                <a:latin typeface="Nunito"/>
              </a:rPr>
              <a:t>Divide:</a:t>
            </a:r>
            <a:r>
              <a:rPr b="1" lang="en-US" sz="2800" spc="-1" strike="noStrike">
                <a:solidFill>
                  <a:srgbClr val="273239"/>
                </a:solidFill>
                <a:latin typeface="Nunito"/>
              </a:rPr>
              <a:t> Divide the list or array recursively into two halves until it can no more be divided. </a:t>
            </a:r>
            <a:endParaRPr b="0" lang="en-US" sz="2800" spc="-1" strike="noStrike">
              <a:solidFill>
                <a:srgbClr val="000000"/>
              </a:solidFill>
              <a:latin typeface="Arial"/>
            </a:endParaRPr>
          </a:p>
          <a:p>
            <a:pPr marL="216000" indent="-216000" defTabSz="914400">
              <a:lnSpc>
                <a:spcPct val="90000"/>
              </a:lnSpc>
              <a:spcBef>
                <a:spcPts val="1191"/>
              </a:spcBef>
              <a:spcAft>
                <a:spcPts val="992"/>
              </a:spcAft>
              <a:buClr>
                <a:srgbClr val="000000"/>
              </a:buClr>
              <a:buFont typeface="OpenSymbol"/>
              <a:buAutoNum type="arabicParenR"/>
              <a:tabLst>
                <a:tab algn="l" pos="0"/>
              </a:tabLst>
            </a:pPr>
            <a:r>
              <a:rPr b="1" lang="en-US" sz="2800" spc="-1" strike="noStrike" u="sng">
                <a:solidFill>
                  <a:srgbClr val="273239"/>
                </a:solidFill>
                <a:uFillTx/>
                <a:latin typeface="Nunito"/>
              </a:rPr>
              <a:t>Conquer:</a:t>
            </a:r>
            <a:r>
              <a:rPr b="1" lang="en-US" sz="2800" spc="-1" strike="noStrike">
                <a:solidFill>
                  <a:srgbClr val="273239"/>
                </a:solidFill>
                <a:latin typeface="Nunito"/>
              </a:rPr>
              <a:t> Each subarray is sorted individually using the merge sort algorithm. </a:t>
            </a:r>
            <a:endParaRPr b="0" lang="en-US" sz="2800" spc="-1" strike="noStrike">
              <a:solidFill>
                <a:srgbClr val="000000"/>
              </a:solidFill>
              <a:latin typeface="Arial"/>
            </a:endParaRPr>
          </a:p>
          <a:p>
            <a:pPr marL="216000" indent="-216000" defTabSz="914400">
              <a:lnSpc>
                <a:spcPct val="90000"/>
              </a:lnSpc>
              <a:spcBef>
                <a:spcPts val="1191"/>
              </a:spcBef>
              <a:spcAft>
                <a:spcPts val="992"/>
              </a:spcAft>
              <a:buClr>
                <a:srgbClr val="000000"/>
              </a:buClr>
              <a:buFont typeface="OpenSymbol"/>
              <a:buAutoNum type="arabicParenR"/>
              <a:tabLst>
                <a:tab algn="l" pos="0"/>
              </a:tabLst>
            </a:pPr>
            <a:r>
              <a:rPr b="1" lang="en-US" sz="2800" spc="-1" strike="noStrike" u="sng">
                <a:solidFill>
                  <a:srgbClr val="273239"/>
                </a:solidFill>
                <a:uFillTx/>
                <a:latin typeface="Nunito"/>
              </a:rPr>
              <a:t>Merge:</a:t>
            </a:r>
            <a:r>
              <a:rPr b="1" lang="en-US" sz="2800" spc="-1" strike="noStrike">
                <a:solidFill>
                  <a:srgbClr val="273239"/>
                </a:solidFill>
                <a:latin typeface="Nunito"/>
              </a:rPr>
              <a:t> The sorted subarrays are merged back together in sorted order. The process continues until all elements from both subarrays have been merged. </a:t>
            </a:r>
            <a:endParaRPr b="0" lang="en-US" sz="2800" spc="-1" strike="noStrike">
              <a:solidFill>
                <a:srgbClr val="000000"/>
              </a:solidFill>
              <a:latin typeface="Arial"/>
            </a:endParaRPr>
          </a:p>
          <a:p>
            <a:pPr indent="0" defTabSz="914400">
              <a:lnSpc>
                <a:spcPct val="90000"/>
              </a:lnSpc>
              <a:spcBef>
                <a:spcPts val="1191"/>
              </a:spcBef>
              <a:spcAft>
                <a:spcPts val="992"/>
              </a:spcAft>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Merge Sort </a:t>
            </a:r>
            <a:endParaRPr b="0" lang="en-US" sz="4400" spc="-1" strike="noStrike">
              <a:solidFill>
                <a:srgbClr val="000000"/>
              </a:solidFill>
              <a:latin typeface="Arial"/>
            </a:endParaRPr>
          </a:p>
        </p:txBody>
      </p:sp>
      <p:sp>
        <p:nvSpPr>
          <p:cNvPr id="137" name=""/>
          <p:cNvSpPr/>
          <p:nvPr/>
        </p:nvSpPr>
        <p:spPr>
          <a:xfrm>
            <a:off x="129600" y="1008360"/>
            <a:ext cx="5077080" cy="3161880"/>
          </a:xfrm>
          <a:prstGeom prst="rect">
            <a:avLst/>
          </a:prstGeom>
          <a:noFill/>
          <a:ln w="0">
            <a:solidFill>
              <a:srgbClr val="3465a4"/>
            </a:solid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rPr>
              <a:t>def merge(left, right):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result =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i = j = 0</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while i &lt; len(left) and j &lt; len(right):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if left[i] &lt; right[j]: result.append(left[i]); i += 1</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else: result.append(right[j]); j += 1</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result.extend(left[i:])</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result.extend(right[j:])</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return result</a:t>
            </a:r>
            <a:endParaRPr b="0" lang="en-US" sz="1800" spc="-1" strike="noStrike">
              <a:solidFill>
                <a:srgbClr val="000000"/>
              </a:solidFill>
              <a:latin typeface="Arial"/>
            </a:endParaRPr>
          </a:p>
        </p:txBody>
      </p:sp>
      <p:sp>
        <p:nvSpPr>
          <p:cNvPr id="138" name=""/>
          <p:cNvSpPr/>
          <p:nvPr/>
        </p:nvSpPr>
        <p:spPr>
          <a:xfrm>
            <a:off x="5308560" y="1007280"/>
            <a:ext cx="6819120" cy="3929760"/>
          </a:xfrm>
          <a:prstGeom prst="rect">
            <a:avLst/>
          </a:prstGeom>
          <a:noFill/>
          <a:ln w="0">
            <a:solidFill>
              <a:srgbClr val="3465a4"/>
            </a:solid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rPr>
              <a:t>def mergeSort(arr):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step = 1  # Starting with sub-arrays of length 1</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length = len(arr)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while step &lt; length:</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for i in range(0, length, 2 * step):</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left = arr[i:i + step]</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right = arr[i + step:i + 2 * step]</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merged = merge(left, right)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 Place the merged array back into the original array</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for j, val in enumerate(merged): arr[i + j] = val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step *= 2  # Double the sub-array length for the next iteration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return arr</a:t>
            </a:r>
            <a:endParaRPr b="0" lang="en-US" sz="1800" spc="-1" strike="noStrike">
              <a:solidFill>
                <a:srgbClr val="000000"/>
              </a:solidFill>
              <a:latin typeface="Arial"/>
            </a:endParaRPr>
          </a:p>
        </p:txBody>
      </p:sp>
      <p:sp>
        <p:nvSpPr>
          <p:cNvPr id="139" name=""/>
          <p:cNvSpPr/>
          <p:nvPr/>
        </p:nvSpPr>
        <p:spPr>
          <a:xfrm>
            <a:off x="3200400" y="5257800"/>
            <a:ext cx="4645800" cy="858240"/>
          </a:xfrm>
          <a:prstGeom prst="rect">
            <a:avLst/>
          </a:prstGeom>
          <a:noFill/>
          <a:ln w="0">
            <a:solidFill>
              <a:srgbClr val="3465a4"/>
            </a:solid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rPr>
              <a:t>unsortedArr = [3, 7, 6, -10, 15, 23.5, 55, -13]</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sortedArr = mergeSort(unsortedArr)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print("Sorted array:", sortedArr)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Merge Sort </a:t>
            </a:r>
            <a:endParaRPr b="0" lang="en-US" sz="4400" spc="-1" strike="noStrike">
              <a:solidFill>
                <a:srgbClr val="000000"/>
              </a:solidFill>
              <a:latin typeface="Arial"/>
            </a:endParaRPr>
          </a:p>
        </p:txBody>
      </p:sp>
      <p:pic>
        <p:nvPicPr>
          <p:cNvPr id="141" name="" descr=""/>
          <p:cNvPicPr/>
          <p:nvPr/>
        </p:nvPicPr>
        <p:blipFill>
          <a:blip r:embed="rId1"/>
          <a:stretch/>
        </p:blipFill>
        <p:spPr>
          <a:xfrm>
            <a:off x="3144960" y="997920"/>
            <a:ext cx="6227280" cy="5260680"/>
          </a:xfrm>
          <a:prstGeom prst="rect">
            <a:avLst/>
          </a:prstGeom>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Merge Sort </a:t>
            </a:r>
            <a:endParaRPr b="0" lang="en-US" sz="4400" spc="-1" strike="noStrike">
              <a:solidFill>
                <a:srgbClr val="000000"/>
              </a:solidFill>
              <a:latin typeface="Arial"/>
            </a:endParaRPr>
          </a:p>
        </p:txBody>
      </p:sp>
      <p:sp>
        <p:nvSpPr>
          <p:cNvPr id="143" name="PlaceHolder 2"/>
          <p:cNvSpPr>
            <a:spLocks noGrp="1"/>
          </p:cNvSpPr>
          <p:nvPr>
            <p:ph/>
          </p:nvPr>
        </p:nvSpPr>
        <p:spPr>
          <a:xfrm>
            <a:off x="838080" y="1107000"/>
            <a:ext cx="10514520" cy="5068800"/>
          </a:xfrm>
          <a:prstGeom prst="rect">
            <a:avLst/>
          </a:prstGeom>
          <a:noFill/>
          <a:ln w="0">
            <a:noFill/>
          </a:ln>
        </p:spPr>
        <p:txBody>
          <a:bodyPr lIns="91440" rIns="91440" tIns="45720" bIns="45720" anchor="t">
            <a:normAutofit fontScale="73333"/>
          </a:bodyPr>
          <a:p>
            <a:pPr indent="0" defTabSz="914400">
              <a:lnSpc>
                <a:spcPct val="90000"/>
              </a:lnSpc>
              <a:spcBef>
                <a:spcPts val="1001"/>
              </a:spcBef>
              <a:buNone/>
              <a:tabLst>
                <a:tab algn="l" pos="0"/>
              </a:tabLst>
            </a:pPr>
            <a:r>
              <a:rPr b="1" lang="en-US" sz="2800" spc="-1" strike="noStrike">
                <a:solidFill>
                  <a:srgbClr val="273239"/>
                </a:solidFill>
                <a:latin typeface="Nunito"/>
              </a:rPr>
              <a:t>Advantages of Merge Sort:</a:t>
            </a:r>
            <a:endParaRPr b="0" lang="en-US" sz="28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600" spc="-1" strike="noStrike">
                <a:solidFill>
                  <a:srgbClr val="273239"/>
                </a:solidFill>
                <a:latin typeface="Nunito"/>
              </a:rPr>
              <a:t>   </a:t>
            </a:r>
            <a:r>
              <a:rPr b="0" lang="en-US" sz="2600" spc="-1" strike="noStrike" u="sng">
                <a:solidFill>
                  <a:srgbClr val="273239"/>
                </a:solidFill>
                <a:uFillTx/>
                <a:latin typeface="Nunito"/>
              </a:rPr>
              <a:t> </a:t>
            </a:r>
            <a:r>
              <a:rPr b="0" lang="en-US" sz="2600" spc="-1" strike="noStrike" u="sng">
                <a:solidFill>
                  <a:srgbClr val="273239"/>
                </a:solidFill>
                <a:uFillTx/>
                <a:latin typeface="Nunito"/>
              </a:rPr>
              <a:t>Consistent Performance: </a:t>
            </a:r>
            <a:r>
              <a:rPr b="0" lang="en-US" sz="2600" spc="-1" strike="noStrike">
                <a:solidFill>
                  <a:srgbClr val="273239"/>
                </a:solidFill>
                <a:latin typeface="Nunito"/>
              </a:rPr>
              <a:t>Merge Sort has a time complexity of O(n log n) in all cases: best, average, and worst. This makes it highly predictable and reliable for sorting large datasets.</a:t>
            </a:r>
            <a:endParaRPr b="0" lang="en-US" sz="26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600" spc="-1" strike="noStrike">
                <a:solidFill>
                  <a:srgbClr val="273239"/>
                </a:solidFill>
                <a:latin typeface="Nunito"/>
              </a:rPr>
              <a:t>    </a:t>
            </a:r>
            <a:r>
              <a:rPr b="0" lang="en-US" sz="2600" spc="-1" strike="noStrike" u="sng">
                <a:solidFill>
                  <a:srgbClr val="273239"/>
                </a:solidFill>
                <a:uFillTx/>
                <a:latin typeface="Nunito"/>
              </a:rPr>
              <a:t>Stable Sorting:</a:t>
            </a:r>
            <a:r>
              <a:rPr b="0" lang="en-US" sz="2600" spc="-1" strike="noStrike">
                <a:solidFill>
                  <a:srgbClr val="273239"/>
                </a:solidFill>
                <a:latin typeface="Nunito"/>
              </a:rPr>
              <a:t> Merge Sort is a stable sorting algorithm, meaning it preserves the relative order of equal elements. This is important in applications where the original order of equal elements must be maintained.</a:t>
            </a:r>
            <a:endParaRPr b="0" lang="en-US" sz="26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600" spc="-1" strike="noStrike">
                <a:solidFill>
                  <a:srgbClr val="273239"/>
                </a:solidFill>
                <a:latin typeface="Nunito"/>
              </a:rPr>
              <a:t>   </a:t>
            </a:r>
            <a:r>
              <a:rPr b="0" lang="en-US" sz="2600" spc="-1" strike="noStrike" u="sng">
                <a:solidFill>
                  <a:srgbClr val="273239"/>
                </a:solidFill>
                <a:uFillTx/>
                <a:latin typeface="Nunito"/>
              </a:rPr>
              <a:t> </a:t>
            </a:r>
            <a:r>
              <a:rPr b="0" lang="en-US" sz="2600" spc="-1" strike="noStrike" u="sng">
                <a:solidFill>
                  <a:srgbClr val="273239"/>
                </a:solidFill>
                <a:uFillTx/>
                <a:latin typeface="Nunito"/>
              </a:rPr>
              <a:t>Efficient for Large Datasets:</a:t>
            </a:r>
            <a:r>
              <a:rPr b="0" lang="en-US" sz="2600" spc="-1" strike="noStrike">
                <a:solidFill>
                  <a:srgbClr val="273239"/>
                </a:solidFill>
                <a:latin typeface="Nunito"/>
              </a:rPr>
              <a:t> Due to its O(n log n) time complexity, Merge Sort is highly efficient for sorting large datasets. It outperforms simpler algorithms like Bubble Sort, Insertion Sort, and Selection Sort for larger inputs.</a:t>
            </a:r>
            <a:endParaRPr b="0" lang="en-US" sz="26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600" spc="-1" strike="noStrike">
                <a:solidFill>
                  <a:srgbClr val="273239"/>
                </a:solidFill>
                <a:latin typeface="Nunito"/>
              </a:rPr>
              <a:t>   </a:t>
            </a:r>
            <a:r>
              <a:rPr b="0" lang="en-US" sz="2600" spc="-1" strike="noStrike" u="sng">
                <a:solidFill>
                  <a:srgbClr val="273239"/>
                </a:solidFill>
                <a:uFillTx/>
                <a:latin typeface="Nunito"/>
              </a:rPr>
              <a:t> </a:t>
            </a:r>
            <a:r>
              <a:rPr b="0" lang="en-US" sz="2600" spc="-1" strike="noStrike" u="sng">
                <a:solidFill>
                  <a:srgbClr val="273239"/>
                </a:solidFill>
                <a:uFillTx/>
                <a:latin typeface="Nunito"/>
              </a:rPr>
              <a:t>Parallelizable: </a:t>
            </a:r>
            <a:r>
              <a:rPr b="0" lang="en-US" sz="2600" spc="-1" strike="noStrike">
                <a:solidFill>
                  <a:srgbClr val="273239"/>
                </a:solidFill>
                <a:latin typeface="Nunito"/>
              </a:rPr>
              <a:t>Merge Sort can be easily parallelized because the divide step splits the array into independent subarrays that can be sorted concurrently. This makes it suitable for multi-threaded or distributed computing environments.</a:t>
            </a:r>
            <a:endParaRPr b="0" lang="en-US" sz="2600" spc="-1" strike="noStrike">
              <a:solidFill>
                <a:srgbClr val="000000"/>
              </a:solidFill>
              <a:latin typeface="Arial"/>
            </a:endParaRPr>
          </a:p>
          <a:p>
            <a:pPr marL="228600" indent="-228600" defTabSz="914400">
              <a:lnSpc>
                <a:spcPct val="90000"/>
              </a:lnSpc>
              <a:spcBef>
                <a:spcPts val="1001"/>
              </a:spcBef>
              <a:buClr>
                <a:srgbClr val="273239"/>
              </a:buClr>
              <a:buFont typeface="Arial"/>
              <a:buChar char="•"/>
              <a:tabLst>
                <a:tab algn="l" pos="0"/>
              </a:tabLst>
            </a:pPr>
            <a:r>
              <a:rPr b="0" lang="en-US" sz="2600" spc="-1" strike="noStrike">
                <a:solidFill>
                  <a:srgbClr val="273239"/>
                </a:solidFill>
                <a:latin typeface="Nunito"/>
              </a:rPr>
              <a:t>    </a:t>
            </a:r>
            <a:r>
              <a:rPr b="0" lang="en-US" sz="2600" spc="-1" strike="noStrike" u="sng">
                <a:solidFill>
                  <a:srgbClr val="273239"/>
                </a:solidFill>
                <a:uFillTx/>
                <a:latin typeface="Nunito"/>
              </a:rPr>
              <a:t>Suitable for External Sorting: </a:t>
            </a:r>
            <a:r>
              <a:rPr b="0" lang="en-US" sz="2600" spc="-1" strike="noStrike">
                <a:solidFill>
                  <a:srgbClr val="273239"/>
                </a:solidFill>
                <a:latin typeface="Nunito"/>
              </a:rPr>
              <a:t>Merge Sort is well-suited for external sorting, where the data to be sorted is too large to fit into memory. It efficiently handles data stored on disk by dividing it into smaller chunks, sorting them, and then merging them.</a:t>
            </a:r>
            <a:endParaRPr b="0" lang="en-US" sz="26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Merge Sort </a:t>
            </a:r>
            <a:endParaRPr b="0" lang="en-US" sz="4400" spc="-1" strike="noStrike">
              <a:solidFill>
                <a:srgbClr val="000000"/>
              </a:solidFill>
              <a:latin typeface="Arial"/>
            </a:endParaRPr>
          </a:p>
        </p:txBody>
      </p:sp>
      <p:sp>
        <p:nvSpPr>
          <p:cNvPr id="145" name="PlaceHolder 2"/>
          <p:cNvSpPr>
            <a:spLocks noGrp="1"/>
          </p:cNvSpPr>
          <p:nvPr>
            <p:ph/>
          </p:nvPr>
        </p:nvSpPr>
        <p:spPr>
          <a:xfrm>
            <a:off x="838080" y="1107000"/>
            <a:ext cx="10514520" cy="5068800"/>
          </a:xfrm>
          <a:prstGeom prst="rect">
            <a:avLst/>
          </a:prstGeom>
          <a:noFill/>
          <a:ln w="0">
            <a:noFill/>
          </a:ln>
        </p:spPr>
        <p:txBody>
          <a:bodyPr lIns="91440" rIns="91440" tIns="45720" bIns="45720" anchor="t">
            <a:normAutofit fontScale="66111"/>
          </a:bodyPr>
          <a:p>
            <a:pPr indent="0" defTabSz="914400">
              <a:lnSpc>
                <a:spcPct val="90000"/>
              </a:lnSpc>
              <a:spcBef>
                <a:spcPts val="1001"/>
              </a:spcBef>
              <a:buNone/>
              <a:tabLst>
                <a:tab algn="l" pos="0"/>
              </a:tabLst>
            </a:pPr>
            <a:r>
              <a:rPr b="1" lang="en-US" sz="2800" spc="-1" strike="noStrike">
                <a:solidFill>
                  <a:srgbClr val="273239"/>
                </a:solidFill>
                <a:latin typeface="Nunito"/>
              </a:rPr>
              <a:t>Disadvantages of Merge Sort:</a:t>
            </a:r>
            <a:endParaRPr b="0" lang="en-US" sz="2800" spc="-1" strike="noStrike">
              <a:solidFill>
                <a:srgbClr val="000000"/>
              </a:solidFill>
              <a:latin typeface="Arial"/>
            </a:endParaRPr>
          </a:p>
          <a:p>
            <a:pPr marL="228600" indent="-228600" defTabSz="914400">
              <a:lnSpc>
                <a:spcPct val="90000"/>
              </a:lnSpc>
              <a:spcBef>
                <a:spcPts val="1191"/>
              </a:spcBef>
              <a:spcAft>
                <a:spcPts val="992"/>
              </a:spcAft>
              <a:buClr>
                <a:srgbClr val="273239"/>
              </a:buClr>
              <a:buFont typeface="Arial"/>
              <a:buChar char="•"/>
              <a:tabLst>
                <a:tab algn="l" pos="0"/>
              </a:tabLst>
            </a:pPr>
            <a:r>
              <a:rPr b="0" lang="en-US" sz="2600" spc="-1" strike="noStrike" u="sng">
                <a:solidFill>
                  <a:srgbClr val="273239"/>
                </a:solidFill>
                <a:uFillTx/>
                <a:latin typeface="Nunito"/>
              </a:rPr>
              <a:t>Space Complexity:</a:t>
            </a:r>
            <a:r>
              <a:rPr b="0" lang="en-US" sz="2600" spc="-1" strike="noStrike">
                <a:solidFill>
                  <a:srgbClr val="273239"/>
                </a:solidFill>
                <a:latin typeface="Nunito"/>
              </a:rPr>
              <a:t> Merge Sort requires O(n) additional space for the temporary array used during merging. This makes it less space-efficient compared to in-place sorting algorithms like Quick Sort, Heap Sort, or Bubble Sort.</a:t>
            </a:r>
            <a:endParaRPr b="0" lang="en-US" sz="2600" spc="-1" strike="noStrike">
              <a:solidFill>
                <a:srgbClr val="000000"/>
              </a:solidFill>
              <a:latin typeface="Arial"/>
            </a:endParaRPr>
          </a:p>
          <a:p>
            <a:pPr marL="228600" indent="-228600" defTabSz="914400">
              <a:lnSpc>
                <a:spcPct val="90000"/>
              </a:lnSpc>
              <a:spcBef>
                <a:spcPts val="1191"/>
              </a:spcBef>
              <a:spcAft>
                <a:spcPts val="992"/>
              </a:spcAft>
              <a:buClr>
                <a:srgbClr val="273239"/>
              </a:buClr>
              <a:buFont typeface="Arial"/>
              <a:buChar char="•"/>
              <a:tabLst>
                <a:tab algn="l" pos="0"/>
              </a:tabLst>
            </a:pPr>
            <a:r>
              <a:rPr b="0" lang="en-US" sz="2600" spc="-1" strike="noStrike" u="sng">
                <a:solidFill>
                  <a:srgbClr val="273239"/>
                </a:solidFill>
                <a:uFillTx/>
                <a:latin typeface="Nunito"/>
              </a:rPr>
              <a:t>Not In-Place:</a:t>
            </a:r>
            <a:r>
              <a:rPr b="0" lang="en-US" sz="2600" spc="-1" strike="noStrike">
                <a:solidFill>
                  <a:srgbClr val="273239"/>
                </a:solidFill>
                <a:latin typeface="Nunito"/>
              </a:rPr>
              <a:t> Merge Sort is not an in-place sorting algorithm, meaning it requires additional memory proportional to the size of the input array. This can be a limitation in memory-constrained environments.</a:t>
            </a:r>
            <a:endParaRPr b="0" lang="en-US" sz="2600" spc="-1" strike="noStrike">
              <a:solidFill>
                <a:srgbClr val="000000"/>
              </a:solidFill>
              <a:latin typeface="Arial"/>
            </a:endParaRPr>
          </a:p>
          <a:p>
            <a:pPr marL="228600" indent="-228600" defTabSz="914400">
              <a:lnSpc>
                <a:spcPct val="90000"/>
              </a:lnSpc>
              <a:spcBef>
                <a:spcPts val="1191"/>
              </a:spcBef>
              <a:spcAft>
                <a:spcPts val="992"/>
              </a:spcAft>
              <a:buClr>
                <a:srgbClr val="273239"/>
              </a:buClr>
              <a:buFont typeface="Arial"/>
              <a:buChar char="•"/>
              <a:tabLst>
                <a:tab algn="l" pos="0"/>
              </a:tabLst>
            </a:pPr>
            <a:r>
              <a:rPr b="0" lang="en-US" sz="2600" spc="-1" strike="noStrike" u="sng">
                <a:solidFill>
                  <a:srgbClr val="273239"/>
                </a:solidFill>
                <a:uFillTx/>
                <a:latin typeface="Nunito"/>
              </a:rPr>
              <a:t>Slower for Small Datasets:</a:t>
            </a:r>
            <a:r>
              <a:rPr b="0" lang="en-US" sz="2600" spc="-1" strike="noStrike">
                <a:solidFill>
                  <a:srgbClr val="273239"/>
                </a:solidFill>
                <a:latin typeface="Nunito"/>
              </a:rPr>
              <a:t> For small datasets, Merge Sort may be slower than simpler algorithms like Insertion Sort or Bubble Sort due to its higher overhead (e.g., recursive calls and merging).</a:t>
            </a:r>
            <a:endParaRPr b="0" lang="en-US" sz="2600" spc="-1" strike="noStrike">
              <a:solidFill>
                <a:srgbClr val="000000"/>
              </a:solidFill>
              <a:latin typeface="Arial"/>
            </a:endParaRPr>
          </a:p>
          <a:p>
            <a:pPr marL="228600" indent="-228600" defTabSz="914400">
              <a:lnSpc>
                <a:spcPct val="90000"/>
              </a:lnSpc>
              <a:spcBef>
                <a:spcPts val="1191"/>
              </a:spcBef>
              <a:spcAft>
                <a:spcPts val="992"/>
              </a:spcAft>
              <a:buClr>
                <a:srgbClr val="273239"/>
              </a:buClr>
              <a:buFont typeface="Arial"/>
              <a:buChar char="•"/>
              <a:tabLst>
                <a:tab algn="l" pos="0"/>
              </a:tabLst>
            </a:pPr>
            <a:r>
              <a:rPr b="0" lang="en-US" sz="2600" spc="-1" strike="noStrike" u="sng">
                <a:solidFill>
                  <a:srgbClr val="273239"/>
                </a:solidFill>
                <a:uFillTx/>
                <a:latin typeface="Nunito"/>
              </a:rPr>
              <a:t>Recursive Overhead:</a:t>
            </a:r>
            <a:r>
              <a:rPr b="0" lang="en-US" sz="2600" spc="-1" strike="noStrike">
                <a:solidFill>
                  <a:srgbClr val="273239"/>
                </a:solidFill>
                <a:latin typeface="Nunito"/>
              </a:rPr>
              <a:t> Merge Sort relies heavily on recursion, which can lead to additional overhead in terms of function calls and stack space. In some cases, this can impact performance, especially for very large datasets.</a:t>
            </a:r>
            <a:endParaRPr b="0" lang="en-US" sz="2600" spc="-1" strike="noStrike">
              <a:solidFill>
                <a:srgbClr val="000000"/>
              </a:solidFill>
              <a:latin typeface="Arial"/>
            </a:endParaRPr>
          </a:p>
          <a:p>
            <a:pPr marL="228600" indent="-228600" defTabSz="914400">
              <a:lnSpc>
                <a:spcPct val="90000"/>
              </a:lnSpc>
              <a:spcBef>
                <a:spcPts val="1191"/>
              </a:spcBef>
              <a:spcAft>
                <a:spcPts val="992"/>
              </a:spcAft>
              <a:buClr>
                <a:srgbClr val="273239"/>
              </a:buClr>
              <a:buFont typeface="Arial"/>
              <a:buChar char="•"/>
              <a:tabLst>
                <a:tab algn="l" pos="0"/>
              </a:tabLst>
            </a:pPr>
            <a:r>
              <a:rPr b="0" lang="en-US" sz="2600" spc="-1" strike="noStrike" u="sng">
                <a:solidFill>
                  <a:srgbClr val="273239"/>
                </a:solidFill>
                <a:uFillTx/>
                <a:latin typeface="Nunito"/>
              </a:rPr>
              <a:t>Complex Implementation:</a:t>
            </a:r>
            <a:r>
              <a:rPr b="0" lang="en-US" sz="2600" spc="-1" strike="noStrike">
                <a:solidFill>
                  <a:srgbClr val="273239"/>
                </a:solidFill>
                <a:latin typeface="Nunito"/>
              </a:rPr>
              <a:t> While the concept of Merge Sort is straightforward, its implementation can be more complex compared to simpler algorithms like Bubble Sort or Insertion Sort. This can make it harder to debug and maintain.</a:t>
            </a:r>
            <a:endParaRPr b="0" lang="en-US" sz="26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item1.xml><?xml version="1.0" encoding="utf-8"?>
<sisl xmlns:xsd="http://www.w3.org/2001/XMLSchema" xmlns:xsi="http://www.w3.org/2001/XMLSchema-instance" xmlns="http://www.boldonjames.com/2008/01/sie/internal/label" sislVersion="0" policy="753fb180-a0f1-47ee-bb6b-5956a4b631ac" origin="userSelected">
  <element uid="id_classification_nonbusiness" value=""/>
  <element uid="3a9ec6f0-1d56-47f3-b78c-2cd80822a847" value=""/>
</sisl>
</file>

<file path=customXml/itemProps1.xml><?xml version="1.0" encoding="utf-8"?>
<ds:datastoreItem xmlns:ds="http://schemas.openxmlformats.org/officeDocument/2006/customXml" ds:itemID="{86989B42-BD0E-4B09-A539-BFE5556DAFCB}">
  <ds:schemaRefs>
    <ds:schemaRef ds:uri="http://www.w3.org/2001/XMLSchema"/>
    <ds:schemaRef ds:uri="http://www.boldonjames.com/2008/01/sie/internal/label"/>
  </ds:schemaRefs>
</ds:datastoreItem>
</file>

<file path=docProps/app.xml><?xml version="1.0" encoding="utf-8"?>
<Properties xmlns="http://schemas.openxmlformats.org/officeDocument/2006/extended-properties" xmlns:vt="http://schemas.openxmlformats.org/officeDocument/2006/docPropsVTypes">
  <Template>Office Theme</Template>
  <TotalTime>34325</TotalTime>
  <Application>LibreOffice/24.2.7.2$Linux_X86_64 LibreOffice_project/420$Build-2</Application>
  <AppVersion>15.0000</AppVersion>
  <Words>1710</Words>
  <Paragraphs>191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2018-03-07T03:10:24Z</dcterms:created>
  <dc:creator>Kürşat İNCE</dc:creator>
  <dc:description/>
  <dc:language>en-US</dc:language>
  <cp:lastModifiedBy/>
  <dcterms:modified xsi:type="dcterms:W3CDTF">2025-09-12T23:18:15Z</dcterms:modified>
  <cp:revision>758</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24</vt:i4>
  </property>
  <property fmtid="{D5CDD505-2E9C-101B-9397-08002B2CF9AE}" pid="3" name="PresentationFormat">
    <vt:lpwstr>Widescreen</vt:lpwstr>
  </property>
  <property fmtid="{D5CDD505-2E9C-101B-9397-08002B2CF9AE}" pid="4" name="Slides">
    <vt:i4>26</vt:i4>
  </property>
  <property fmtid="{D5CDD505-2E9C-101B-9397-08002B2CF9AE}" pid="5" name="bjClsUserRVM">
    <vt:lpwstr>[]</vt:lpwstr>
  </property>
  <property fmtid="{D5CDD505-2E9C-101B-9397-08002B2CF9AE}" pid="6" name="bjDocumentLabelXML">
    <vt:lpwstr>&lt;?xml version="1.0" encoding="us-ascii"?&gt;&lt;sisl xmlns:xsd="http://www.w3.org/2001/XMLSchema" xmlns:xsi="http://www.w3.org/2001/XMLSchema-instance" sislVersion="0" policy="753fb180-a0f1-47ee-bb6b-5956a4b631ac" origin="userSelected" xmlns="http://www.boldonj</vt:lpwstr>
  </property>
  <property fmtid="{D5CDD505-2E9C-101B-9397-08002B2CF9AE}" pid="7" name="bjDocumentLabelXML-0">
    <vt:lpwstr>ames.com/2008/01/sie/internal/label"&gt;&lt;element uid="id_classification_nonbusiness" value="" /&gt;&lt;element uid="3a9ec6f0-1d56-47f3-b78c-2cd80822a847" value="" /&gt;&lt;/sisl&gt;</vt:lpwstr>
  </property>
  <property fmtid="{D5CDD505-2E9C-101B-9397-08002B2CF9AE}" pid="8" name="bjDocumentSecurityLabel">
    <vt:lpwstr>TASNİF DIŞI</vt:lpwstr>
  </property>
  <property fmtid="{D5CDD505-2E9C-101B-9397-08002B2CF9AE}" pid="9" name="bjSaver">
    <vt:lpwstr>f8PkN1uJXJwqI9alO3CYacUW7PVwbe+w</vt:lpwstr>
  </property>
  <property fmtid="{D5CDD505-2E9C-101B-9397-08002B2CF9AE}" pid="10" name="docIndexRef">
    <vt:lpwstr>3c4ade84-1b77-4958-b253-7a1280122afc</vt:lpwstr>
  </property>
</Properties>
</file>