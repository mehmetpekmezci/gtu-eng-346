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_rels/item1.xml.rels" ContentType="application/vnd.openxmlformats-package.relationships+xml"/>
  <Override PartName="/customXml/item1.xml" ContentType="application/xml"/>
  <Override PartName="/customXml/itemProps1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8.png" ContentType="image/png"/>
  <Override PartName="/ppt/media/image12.png" ContentType="image/png"/>
  <Override PartName="/ppt/media/image3.png" ContentType="image/png"/>
  <Override PartName="/ppt/media/image9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6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20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7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dt" idx="19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ftr" idx="20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sldNum" idx="21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5AE57BC-4C39-4B5D-8909-95D55321685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 type="ftr" idx="22"/>
          </p:nvPr>
        </p:nvSpPr>
        <p:spPr>
          <a:xfrm>
            <a:off x="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16" name="PlaceHolder 5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BC60555-5052-43AC-9FC5-F40A9876A70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ftr" idx="24"/>
          </p:nvPr>
        </p:nvSpPr>
        <p:spPr>
          <a:xfrm>
            <a:off x="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3A8350A-7A34-4109-AE09-91B0406287A6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 type="ftr" idx="26"/>
          </p:nvPr>
        </p:nvSpPr>
        <p:spPr>
          <a:xfrm>
            <a:off x="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4D95D71-286A-4091-BE13-1402B635D80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ftr" idx="28"/>
          </p:nvPr>
        </p:nvSpPr>
        <p:spPr>
          <a:xfrm>
            <a:off x="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" name="PlaceHolder 5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30EAA63-AB53-4D65-ACAE-B12917EBCDA4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ftr" idx="30"/>
          </p:nvPr>
        </p:nvSpPr>
        <p:spPr>
          <a:xfrm>
            <a:off x="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" name="PlaceHolder 5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BA1869D-05FD-4EE6-A600-0137E23007B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 type="ftr" idx="32"/>
          </p:nvPr>
        </p:nvSpPr>
        <p:spPr>
          <a:xfrm>
            <a:off x="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" name="PlaceHolder 5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6775D52-213E-479F-B9C7-534F2D9F2BE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45" name="PlaceHolder 4"/>
          <p:cNvSpPr>
            <a:spLocks noGrp="1"/>
          </p:cNvSpPr>
          <p:nvPr>
            <p:ph type="ftr" idx="34"/>
          </p:nvPr>
        </p:nvSpPr>
        <p:spPr>
          <a:xfrm>
            <a:off x="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" name="PlaceHolder 5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0BDC98C-081B-4D18-B821-602D52AAD1DC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50" name="PlaceHolder 4"/>
          <p:cNvSpPr>
            <a:spLocks noGrp="1"/>
          </p:cNvSpPr>
          <p:nvPr>
            <p:ph type="ftr" idx="36"/>
          </p:nvPr>
        </p:nvSpPr>
        <p:spPr>
          <a:xfrm>
            <a:off x="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" name="PlaceHolder 5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35BABB-FB56-4629-9BCC-26A49FAF32E8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 type="ftr" idx="38"/>
          </p:nvPr>
        </p:nvSpPr>
        <p:spPr>
          <a:xfrm>
            <a:off x="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FB22D2B-D6D4-44B5-9A9F-AABD10F64FA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 type="ftr" idx="40"/>
          </p:nvPr>
        </p:nvSpPr>
        <p:spPr>
          <a:xfrm>
            <a:off x="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A56BCB7-72D8-4936-9D7C-DCEF1785DEA6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65" name="PlaceHolder 4"/>
          <p:cNvSpPr>
            <a:spLocks noGrp="1"/>
          </p:cNvSpPr>
          <p:nvPr>
            <p:ph type="ftr" idx="42"/>
          </p:nvPr>
        </p:nvSpPr>
        <p:spPr>
          <a:xfrm>
            <a:off x="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" name="PlaceHolder 5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9508351-8D45-4F7D-ACC4-E02A245C6356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838080" y="1107000"/>
            <a:ext cx="10515240" cy="50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DA3C2C-2516-4AE0-924D-5D155994078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5240" cy="50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B9F4D0-A1FC-4F40-9B61-44F2DE8FD2C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5651CA28-5921-438F-9871-AB0421BC89C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5131080" cy="50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6226200" y="1107000"/>
            <a:ext cx="5131080" cy="50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AEBB901-9203-48D7-B233-5DC42600CBE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021C462-DA4B-45AD-B35F-8344320B3FD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8644C048-A1AC-482E-9938-4F9C19090E5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Box 6"/>
          <p:cNvSpPr/>
          <p:nvPr/>
        </p:nvSpPr>
        <p:spPr>
          <a:xfrm>
            <a:off x="41400" y="6539040"/>
            <a:ext cx="5150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9640" cy="101376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6000" spc="-1" strike="noStrike">
                <a:solidFill>
                  <a:srgbClr val="c00000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ED198A5-4764-4DA7-9C79-0EA578ACF9A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6"/>
          <p:cNvSpPr/>
          <p:nvPr/>
        </p:nvSpPr>
        <p:spPr>
          <a:xfrm>
            <a:off x="41400" y="6539040"/>
            <a:ext cx="5150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9640" cy="1013760"/>
          </a:xfrm>
          <a:prstGeom prst="rect">
            <a:avLst/>
          </a:prstGeom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1107000"/>
            <a:ext cx="10515240" cy="50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F62EB57-94B9-4E37-81E9-C59342F2BE8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6"/>
          <p:cNvSpPr/>
          <p:nvPr/>
        </p:nvSpPr>
        <p:spPr>
          <a:xfrm>
            <a:off x="41400" y="6539040"/>
            <a:ext cx="5150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9640" cy="1013760"/>
          </a:xfrm>
          <a:prstGeom prst="rect">
            <a:avLst/>
          </a:prstGeom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6000" spc="-1" strike="noStrike">
                <a:solidFill>
                  <a:srgbClr val="c00000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EA4EFFF-2811-4970-BCB5-04D7E5901FA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6"/>
          <p:cNvSpPr/>
          <p:nvPr/>
        </p:nvSpPr>
        <p:spPr>
          <a:xfrm>
            <a:off x="41400" y="6539040"/>
            <a:ext cx="5150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9640" cy="1013760"/>
          </a:xfrm>
          <a:prstGeom prst="rect">
            <a:avLst/>
          </a:prstGeom>
          <a:ln w="0">
            <a:noFill/>
          </a:ln>
        </p:spPr>
      </p:pic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103760"/>
            <a:ext cx="5181120" cy="507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103760"/>
            <a:ext cx="5181120" cy="507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92BBBB0-7833-4344-BE3D-093E38B7DEC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6"/>
          <p:cNvSpPr/>
          <p:nvPr/>
        </p:nvSpPr>
        <p:spPr>
          <a:xfrm>
            <a:off x="41400" y="6539040"/>
            <a:ext cx="5150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9640" cy="1013760"/>
          </a:xfrm>
          <a:prstGeom prst="rect">
            <a:avLst/>
          </a:prstGeom>
          <a:ln w="0">
            <a:noFill/>
          </a:ln>
        </p:spPr>
      </p:pic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9DE7795-CB07-40CE-9CED-94B6CAB4250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6"/>
          <p:cNvSpPr/>
          <p:nvPr/>
        </p:nvSpPr>
        <p:spPr>
          <a:xfrm>
            <a:off x="41400" y="6539040"/>
            <a:ext cx="5150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9640" cy="1013760"/>
          </a:xfrm>
          <a:prstGeom prst="rect">
            <a:avLst/>
          </a:prstGeom>
          <a:ln w="0"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4EE012B-0057-4357-AC00-6D20CE59E2D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6"/>
          <p:cNvSpPr/>
          <p:nvPr/>
        </p:nvSpPr>
        <p:spPr>
          <a:xfrm>
            <a:off x="41400" y="6539040"/>
            <a:ext cx="5150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9640" cy="1013760"/>
          </a:xfrm>
          <a:prstGeom prst="rect">
            <a:avLst/>
          </a:prstGeom>
          <a:ln w="0">
            <a:noFill/>
          </a:ln>
        </p:spPr>
      </p:pic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391680" y="183600"/>
            <a:ext cx="10515240" cy="39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630" spc="-1" strike="noStrike">
                <a:solidFill>
                  <a:srgbClr val="e30613"/>
                </a:solidFill>
                <a:latin typeface="Tahoma"/>
                <a:ea typeface="Tahoma"/>
              </a:rPr>
              <a:t>Click to edit Master title style</a:t>
            </a:r>
            <a:endParaRPr b="0" lang="en-US" sz="363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391680" y="924120"/>
            <a:ext cx="11406960" cy="5151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341000" y="1252800"/>
            <a:ext cx="9143640" cy="299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74988" lnSpcReduction="10000"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6000" spc="-1" strike="noStrike">
                <a:solidFill>
                  <a:srgbClr val="c00000"/>
                </a:solidFill>
                <a:latin typeface="Calibri Light"/>
              </a:rPr>
              <a:t>ENG 346</a:t>
            </a:r>
            <a:br>
              <a:rPr sz="6000"/>
            </a:br>
            <a:r>
              <a:rPr b="1" lang="en-US" sz="6000" spc="-1" strike="noStrike">
                <a:solidFill>
                  <a:srgbClr val="c00000"/>
                </a:solidFill>
                <a:latin typeface="Calibri Light"/>
              </a:rPr>
              <a:t>Data Structures and Algorithms for Artificial Intelligence</a:t>
            </a:r>
            <a:br>
              <a:rPr sz="6000"/>
            </a:br>
            <a:r>
              <a:rPr b="1" lang="en-US" sz="4900" spc="-1" strike="noStrike">
                <a:solidFill>
                  <a:schemeClr val="dk1"/>
                </a:solidFill>
                <a:latin typeface="Calibri Light"/>
              </a:rPr>
              <a:t>Data Visualizations</a:t>
            </a:r>
            <a:endParaRPr b="0" lang="en-US" sz="49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1496520" y="4462200"/>
            <a:ext cx="9143640" cy="100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Dr. Mehmet PEKMEZCİ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mpekmezci@gtu.edu.tr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Visualization Libraries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5240" cy="50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Matplotlib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Seaborn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Plotly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Ggplot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…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Types of Features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5240" cy="50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Numerical: Values with numeric types (int, float, etc.). 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Examples: age, salary, height.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Categorical Features: Features that can take one of a limited number of values. 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Examples: gender (male, female), color (red, blue, green).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Ordinal Features: Categorical features that have a clear ordering. 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Examples: T-shirt size (S, M, L, XL).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Binary Features: A special case of categorical features with only two categories. 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Examples: is_smoker (yes, no), has_subscription (true, false).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Text Features: Features that contain textual data.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Types of Plots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5240" cy="50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550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Line Charts: Display trends.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Scatter Plots: Investigate relationships between two variables.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Bar Charts: Summarize categorical data and compare different categories.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Pie Charts: Illustrate proportions of a whole for categorical variables.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Histograms: Explore the distribution of individual variables.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Box Plots : Show the distribution and skewness of data, identify outliers.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Heatmaps: Visualize correlation matrices to understand relationships between variables.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Violin Plots: Similar to box plots but also display the probability density of the data.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Density Plots: Visualize the distribution of a single variable.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imports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5240" cy="50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import numpy as np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import pandas as pd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import matplotlib.pyplot as plt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import seaborn as sns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%matplotlib inline # for Notebooks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>
              <a:buNone/>
            </a:pPr>
            <a:endParaRPr b="1" lang="en-US" sz="4400" spc="-1" strike="noStrike">
              <a:solidFill>
                <a:srgbClr val="c00000"/>
              </a:solidFill>
              <a:latin typeface="Calibri Light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5240" cy="50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# 1</a:t>
            </a:r>
            <a:r>
              <a:rPr b="0" lang="en-US" sz="2800" spc="-1" strike="noStrike" baseline="30000">
                <a:solidFill>
                  <a:schemeClr val="dk1"/>
                </a:solidFill>
                <a:latin typeface="Calibri"/>
              </a:rPr>
              <a:t>st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cycle of 1</a:t>
            </a:r>
            <a:r>
              <a:rPr b="0" lang="en-US" sz="2800" spc="-1" strike="noStrike" baseline="30000">
                <a:solidFill>
                  <a:schemeClr val="dk1"/>
                </a:solidFill>
                <a:latin typeface="Calibri"/>
              </a:rPr>
              <a:t>st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unit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u1c1_df = df_X_s.loc[(df_A.unit == 1) &amp; (df_A.cycle == 1)].reindex()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Line Plots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960840" y="1296720"/>
            <a:ext cx="10515240" cy="13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0336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plt.plot(x, y, …)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Example: </a:t>
            </a:r>
            <a:r>
              <a:rPr b="0" lang="pl-PL" sz="2800" spc="-1" strike="noStrike">
                <a:solidFill>
                  <a:schemeClr val="dk1"/>
                </a:solidFill>
                <a:latin typeface="Calibri"/>
              </a:rPr>
              <a:t>plt.plot(u1c1_df.T24)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2" name="Picture 2" descr=""/>
          <p:cNvPicPr/>
          <p:nvPr/>
        </p:nvPicPr>
        <p:blipFill>
          <a:blip r:embed="rId1"/>
          <a:stretch/>
        </p:blipFill>
        <p:spPr>
          <a:xfrm>
            <a:off x="5835240" y="1863720"/>
            <a:ext cx="5940360" cy="4628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Line Plots – continued 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960840" y="1296720"/>
            <a:ext cx="10515240" cy="84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l-PL" sz="2800" spc="-1" strike="noStrike">
                <a:solidFill>
                  <a:schemeClr val="dk1"/>
                </a:solidFill>
                <a:latin typeface="Calibri"/>
              </a:rPr>
              <a:t>plt.plot(u1c1_df.P2)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5" name="Picture 2" descr=""/>
          <p:cNvPicPr/>
          <p:nvPr/>
        </p:nvPicPr>
        <p:blipFill>
          <a:blip r:embed="rId1"/>
          <a:stretch/>
        </p:blipFill>
        <p:spPr>
          <a:xfrm>
            <a:off x="5408280" y="1607760"/>
            <a:ext cx="6411960" cy="4971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Line Plots – continued 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960840" y="1296720"/>
            <a:ext cx="10515240" cy="13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l-PL" sz="2800" spc="-1" strike="noStrike">
                <a:solidFill>
                  <a:schemeClr val="dk1"/>
                </a:solidFill>
                <a:latin typeface="Calibri"/>
              </a:rPr>
              <a:t>plt.plot(u1c1_df.T24)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l-PL" sz="2800" spc="-1" strike="noStrike">
                <a:solidFill>
                  <a:schemeClr val="dk1"/>
                </a:solidFill>
                <a:latin typeface="Calibri"/>
              </a:rPr>
              <a:t>plt.plot(u1c1_df.P2)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8" name="Picture 4" descr=""/>
          <p:cNvPicPr/>
          <p:nvPr/>
        </p:nvPicPr>
        <p:blipFill>
          <a:blip r:embed="rId1"/>
          <a:stretch/>
        </p:blipFill>
        <p:spPr>
          <a:xfrm>
            <a:off x="5352480" y="1379160"/>
            <a:ext cx="6561720" cy="5113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Line Plots – continued 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960840" y="1296720"/>
            <a:ext cx="10515240" cy="13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56058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fig, ax1 = plt.subplots()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ax2 = ax1.twinx()  # instantiate a second axes that shares the same x-axis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ax1.plot(u1c1_df.T24, color='blue')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ax2.plot(u1c1_df.P2, color='red')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1" name="Picture 4" descr=""/>
          <p:cNvPicPr/>
          <p:nvPr/>
        </p:nvPicPr>
        <p:blipFill>
          <a:blip r:embed="rId1"/>
          <a:stretch/>
        </p:blipFill>
        <p:spPr>
          <a:xfrm>
            <a:off x="5977080" y="1965960"/>
            <a:ext cx="6090840" cy="452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Scatter Plots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960840" y="1296720"/>
            <a:ext cx="10515240" cy="163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7480" lnSpcReduction="10000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plt.scatter(x, y, …)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Example: 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plt.scatter(u1c1_df.T24, u1c1_df.T30)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4" name="Picture 2" descr=""/>
          <p:cNvPicPr/>
          <p:nvPr/>
        </p:nvPicPr>
        <p:blipFill>
          <a:blip r:embed="rId1"/>
          <a:stretch/>
        </p:blipFill>
        <p:spPr>
          <a:xfrm>
            <a:off x="5962680" y="1706040"/>
            <a:ext cx="5752800" cy="4438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Bar Charts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5495400" cy="50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52845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plt.bar()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Example: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fig, ax = plt.subplots()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fruits = ['apple', 'blueberry', 'cherry', 'orange']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counts = [40, 100, 30, 55]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bar_labels = ['red', 'blue', '_red', 'orange']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bar_colors = ['tab:red', 'tab:blue', 'tab:red', 'tab:orange']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ax.bar(fruits, counts, label=bar_labels, color=bar_colors)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ax.set_ylabel('fruit supply')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ax.set_title('Fruit supply by kind and color')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ax.legend(title='Fruit color')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7" name="Picture 6" descr="Fruit supply by kind and color"/>
          <p:cNvPicPr/>
          <p:nvPr/>
        </p:nvPicPr>
        <p:blipFill>
          <a:blip r:embed="rId1"/>
          <a:stretch/>
        </p:blipFill>
        <p:spPr>
          <a:xfrm>
            <a:off x="5735520" y="1334520"/>
            <a:ext cx="6456240" cy="4842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Pie Charts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7089840" cy="50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plt.pie()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Example: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labels = 'Frogs', 'Hogs', 'Dogs', 'Logs'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sizes = [15, 30, 45, 10]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fig, ax = plt.subplots(figsize=(10,8))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ax.pie(sizes, labels=labels, autopct='%1.1f%%')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90" name="Picture 2" descr=""/>
          <p:cNvPicPr/>
          <p:nvPr/>
        </p:nvPicPr>
        <p:blipFill>
          <a:blip r:embed="rId1"/>
          <a:stretch/>
        </p:blipFill>
        <p:spPr>
          <a:xfrm>
            <a:off x="6278040" y="1258200"/>
            <a:ext cx="5501880" cy="5501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Histogram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4547520" cy="50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plt.hist()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Example: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plt.hist(ux_cycles, bins=20)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93" name="Picture 4" descr=""/>
          <p:cNvPicPr/>
          <p:nvPr/>
        </p:nvPicPr>
        <p:blipFill>
          <a:blip r:embed="rId1"/>
          <a:stretch/>
        </p:blipFill>
        <p:spPr>
          <a:xfrm>
            <a:off x="5051520" y="1348560"/>
            <a:ext cx="6751080" cy="5261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Box Plots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4592160" cy="50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plt.boxplot()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Example: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plt.boxplot(u1c1_df.T24)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96" name="Picture 2" descr=""/>
          <p:cNvPicPr/>
          <p:nvPr/>
        </p:nvPicPr>
        <p:blipFill>
          <a:blip r:embed="rId1"/>
          <a:stretch/>
        </p:blipFill>
        <p:spPr>
          <a:xfrm>
            <a:off x="4643280" y="1107000"/>
            <a:ext cx="7043760" cy="5488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Box Plots – continued 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4592160" cy="50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plt.boxplot(u1c1_df[["T24", "T30", "T48"]])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99" name="Picture 2" descr=""/>
          <p:cNvPicPr/>
          <p:nvPr/>
        </p:nvPicPr>
        <p:blipFill>
          <a:blip r:embed="rId1"/>
          <a:stretch/>
        </p:blipFill>
        <p:spPr>
          <a:xfrm>
            <a:off x="5200200" y="1423080"/>
            <a:ext cx="6571080" cy="506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Heatmaps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5618160" cy="50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sns.heatmap()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sns.heatmap(u1c1_df.corr(), annot=True)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2" name="Picture 2" descr=""/>
          <p:cNvPicPr/>
          <p:nvPr/>
        </p:nvPicPr>
        <p:blipFill>
          <a:blip r:embed="rId1"/>
          <a:stretch/>
        </p:blipFill>
        <p:spPr>
          <a:xfrm>
            <a:off x="6010560" y="1341360"/>
            <a:ext cx="6084000" cy="5124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Violin Plots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4547520" cy="50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plt.violinplot()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Example: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plt.violinplot(u1c1_df.T24)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5" name="Picture 2" descr=""/>
          <p:cNvPicPr/>
          <p:nvPr/>
        </p:nvPicPr>
        <p:blipFill>
          <a:blip r:embed="rId1"/>
          <a:stretch/>
        </p:blipFill>
        <p:spPr>
          <a:xfrm>
            <a:off x="4884120" y="1326960"/>
            <a:ext cx="6747120" cy="5257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Violin Plots – continued 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4547520" cy="50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chemeClr val="dk1"/>
                </a:solidFill>
                <a:latin typeface="Calibri"/>
              </a:rPr>
              <a:t>plt.violinplot(u1c1_df[["T24", "T30", "T48"]])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8" name="Picture 2" descr=""/>
          <p:cNvPicPr/>
          <p:nvPr/>
        </p:nvPicPr>
        <p:blipFill>
          <a:blip r:embed="rId1"/>
          <a:stretch/>
        </p:blipFill>
        <p:spPr>
          <a:xfrm>
            <a:off x="4875120" y="1315800"/>
            <a:ext cx="6973920" cy="5380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Density Plots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4937760" cy="50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sns.distplot()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Example: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sns.displot(u1c1_df.T24, kde=True)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11" name="Picture 2" descr=""/>
          <p:cNvPicPr/>
          <p:nvPr/>
        </p:nvPicPr>
        <p:blipFill>
          <a:blip r:embed="rId1"/>
          <a:stretch/>
        </p:blipFill>
        <p:spPr>
          <a:xfrm>
            <a:off x="6415560" y="1423080"/>
            <a:ext cx="5096880" cy="5082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item1.xml><?xml version="1.0" encoding="utf-8"?>
<sisl xmlns:xsi="http://www.w3.org/2001/XMLSchema-instance" xmlns:xsd="http://www.w3.org/2001/XMLSchema" xmlns="http://www.boldonjames.com/2008/01/sie/internal/label" sislVersion="0" policy="753fb180-a0f1-47ee-bb6b-5956a4b631ac" origin="userSelected">
  <element uid="id_classification_nonbusiness" value=""/>
  <element uid="3a9ec6f0-1d56-47f3-b78c-2cd80822a847" value=""/>
</sisl>
</file>

<file path=customXml/itemProps1.xml><?xml version="1.0" encoding="utf-8"?>
<ds:datastoreItem xmlns:ds="http://schemas.openxmlformats.org/officeDocument/2006/customXml" ds:itemID="{93BE93E4-33CE-48DC-9737-664AEF639E69}">
  <ds:schemaRefs>
    <ds:schemaRef ds:uri="http://www.w3.org/2001/XMLSchema"/>
    <ds:schemaRef ds:uri="http://www.boldonjames.com/2008/01/sie/internal/lab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33231</TotalTime>
  <Application>LibreOffice/24.2.7.2$Linux_X86_64 LibreOffice_project/420$Build-2</Application>
  <AppVersion>15.0000</AppVersion>
  <Words>789</Words>
  <Paragraphs>120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2018-03-07T03:10:24Z</dcterms:created>
  <dc:creator>Kürşat İNCE</dc:creator>
  <dc:description/>
  <dc:language>en-US</dc:language>
  <cp:lastModifiedBy/>
  <cp:lastPrinted>2024-05-30T21:18:54Z</cp:lastPrinted>
  <dcterms:modified xsi:type="dcterms:W3CDTF">2025-08-19T22:37:23Z</dcterms:modified>
  <cp:revision>730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Widescreen</vt:lpwstr>
  </property>
  <property fmtid="{D5CDD505-2E9C-101B-9397-08002B2CF9AE}" pid="4" name="Slides">
    <vt:i4>20</vt:i4>
  </property>
  <property fmtid="{D5CDD505-2E9C-101B-9397-08002B2CF9AE}" pid="5" name="bjClsUserRVM">
    <vt:lpwstr>[]</vt:lpwstr>
  </property>
  <property fmtid="{D5CDD505-2E9C-101B-9397-08002B2CF9AE}" pid="6" name="bjDocumentLabelXML">
    <vt:lpwstr>&lt;?xml version="1.0" encoding="us-ascii"?&gt;&lt;sisl xmlns:xsi="http://www.w3.org/2001/XMLSchema-instance" xmlns:xsd="http://www.w3.org/2001/XMLSchema" sislVersion="0" policy="753fb180-a0f1-47ee-bb6b-5956a4b631ac" origin="userSelected" xmlns="http://www.boldonj</vt:lpwstr>
  </property>
  <property fmtid="{D5CDD505-2E9C-101B-9397-08002B2CF9AE}" pid="7" name="bjDocumentLabelXML-0">
    <vt:lpwstr>ames.com/2008/01/sie/internal/label"&gt;&lt;element uid="id_classification_nonbusiness" value="" /&gt;&lt;element uid="3a9ec6f0-1d56-47f3-b78c-2cd80822a847" value="" /&gt;&lt;/sisl&gt;</vt:lpwstr>
  </property>
  <property fmtid="{D5CDD505-2E9C-101B-9397-08002B2CF9AE}" pid="8" name="bjDocumentSecurityLabel">
    <vt:lpwstr>TASNİF DIŞI</vt:lpwstr>
  </property>
  <property fmtid="{D5CDD505-2E9C-101B-9397-08002B2CF9AE}" pid="9" name="bjSaver">
    <vt:lpwstr>f8PkN1uJXJwqI9alO3CYacUW7PVwbe+w</vt:lpwstr>
  </property>
  <property fmtid="{D5CDD505-2E9C-101B-9397-08002B2CF9AE}" pid="10" name="docIndexRef">
    <vt:lpwstr>3c4ade84-1b77-4958-b253-7a1280122afc</vt:lpwstr>
  </property>
</Properties>
</file>