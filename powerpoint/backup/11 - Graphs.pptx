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_rels/item1.xml.rels" ContentType="application/vnd.openxmlformats-package.relationships+xml"/>
  <Override PartName="/customXml/item1.xml" ContentType="application/xml"/>
  <Override PartName="/customXml/itemProps1.xml" ContentType="application/vnd.openxmlformats-officedocument.customXmlProperties+xml"/>
  <Override PartName="/ppt/presentation.xml" ContentType="application/vnd.openxmlformats-officedocument.presentationml.presentation.main+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2.wmf" ContentType="image/x-wmf"/>
  <Override PartName="/ppt/media/image14.png" ContentType="image/png"/>
  <Override PartName="/ppt/media/image5.png" ContentType="image/png"/>
  <Override PartName="/ppt/media/image15.png" ContentType="image/png"/>
  <Override PartName="/ppt/media/image6.png" ContentType="image/png"/>
  <Override PartName="/ppt/media/image10.png" ContentType="image/png"/>
  <Override PartName="/ppt/media/image1.png" ContentType="image/png"/>
  <Override PartName="/ppt/media/image16.png" ContentType="image/png"/>
  <Override PartName="/ppt/media/image7.png" ContentType="image/png"/>
  <Override PartName="/ppt/media/image11.png" ContentType="image/png"/>
  <Override PartName="/ppt/media/image8.png" ContentType="image/png"/>
  <Override PartName="/ppt/media/image3.png" ContentType="image/png"/>
  <Override PartName="/ppt/media/image12.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embeddings/oleObject1.bin" ContentType="application/vnd.openxmlformats-officedocument.oleObject"/>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51.xml.rels" ContentType="application/vnd.openxmlformats-package.relationships+xml"/>
  <Override PartName="/ppt/slides/_rels/slide50.xml.rels" ContentType="application/vnd.openxmlformats-package.relationships+xml"/>
  <Override PartName="/ppt/slides/_rels/slide45.xml.rels" ContentType="application/vnd.openxmlformats-package.relationships+xml"/>
  <Override PartName="/ppt/slides/_rels/slide44.xml.rels" ContentType="application/vnd.openxmlformats-package.relationships+xml"/>
  <Override PartName="/ppt/slides/_rels/slide43.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1.xml.rels" ContentType="application/vnd.openxmlformats-package.relationships+xml"/>
  <Override PartName="/ppt/slides/_rels/slide55.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62.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xml.rels" ContentType="application/vnd.openxmlformats-package.relationships+xml"/>
  <Override PartName="/ppt/slides/_rels/slide56.xml.rels" ContentType="application/vnd.openxmlformats-package.relationships+xml"/>
  <Override PartName="/ppt/slides/_rels/slide10.xml.rels" ContentType="application/vnd.openxmlformats-package.relationships+xml"/>
  <Override PartName="/ppt/slides/_rels/slide47.xml.rels" ContentType="application/vnd.openxmlformats-package.relationships+xml"/>
  <Override PartName="/ppt/slides/_rels/slide46.xml.rels" ContentType="application/vnd.openxmlformats-package.relationships+xml"/>
  <Override PartName="/ppt/slides/_rels/slide11.xml.rels" ContentType="application/vnd.openxmlformats-package.relationships+xml"/>
  <Override PartName="/ppt/slides/_rels/slide48.xml.rels" ContentType="application/vnd.openxmlformats-package.relationships+xml"/>
  <Override PartName="/ppt/slides/_rels/slide17.xml.rels" ContentType="application/vnd.openxmlformats-package.relationships+xml"/>
  <Override PartName="/ppt/slides/_rels/slide54.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58.xml.rels" ContentType="application/vnd.openxmlformats-package.relationships+xml"/>
  <Override PartName="/ppt/slides/_rels/slide16.xml.rels" ContentType="application/vnd.openxmlformats-package.relationships+xml"/>
  <Override PartName="/ppt/slides/_rels/slide53.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57.xml.rels" ContentType="application/vnd.openxmlformats-package.relationships+xml"/>
  <Override PartName="/ppt/slides/_rels/slide18.xml.rels" ContentType="application/vnd.openxmlformats-package.relationships+xml"/>
  <Override PartName="/ppt/slides/_rels/slide60.xml.rels" ContentType="application/vnd.openxmlformats-package.relationships+xml"/>
  <Override PartName="/ppt/slides/_rels/slide52.xml.rels" ContentType="application/vnd.openxmlformats-package.relationships+xml"/>
  <Override PartName="/ppt/slides/_rels/slide64.xml.rels" ContentType="application/vnd.openxmlformats-package.relationships+xml"/>
  <Override PartName="/ppt/slides/_rels/slide27.xml.rels" ContentType="application/vnd.openxmlformats-package.relationships+xml"/>
  <Override PartName="/ppt/slides/_rels/slide15.xml.rels" ContentType="application/vnd.openxmlformats-package.relationships+xml"/>
  <Override PartName="/ppt/slides/_rels/slide61.xml.rels" ContentType="application/vnd.openxmlformats-package.relationships+xml"/>
  <Override PartName="/ppt/slides/_rels/slide19.xml.rels" ContentType="application/vnd.openxmlformats-package.relationships+xml"/>
  <Override PartName="/ppt/slides/_rels/slide63.xml.rels" ContentType="application/vnd.openxmlformats-package.relationships+xml"/>
  <Override PartName="/ppt/slides/_rels/slide14.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12.xml.rels" ContentType="application/vnd.openxmlformats-package.relationships+xml"/>
  <Override PartName="/ppt/slides/_rels/slide4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59.xml.rels" ContentType="application/vnd.openxmlformats-package.relationships+xml"/>
  <Override PartName="/ppt/slides/_rels/slide13.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38.xml.rels" ContentType="application/vnd.openxmlformats-package.relationships+xml"/>
  <Override PartName="/ppt/slides/_rels/slide39.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18.xml" ContentType="application/vnd.openxmlformats-officedocument.presentationml.slide+xml"/>
  <Override PartName="/ppt/slides/slide60.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48.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4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46.xml" ContentType="application/vnd.openxmlformats-officedocument.presentationml.slide+xml"/>
  <Override PartName="/ppt/slides/slide1.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62.xml" ContentType="application/vnd.openxmlformats-officedocument.presentationml.slide+xml"/>
  <Override PartName="/ppt/slides/slide64.xml" ContentType="application/vnd.openxmlformats-officedocument.presentationml.slide+xml"/>
  <Override PartName="/ppt/slides/slide27.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61.xml" ContentType="application/vnd.openxmlformats-officedocument.presentationml.slide+xml"/>
  <Override PartName="/ppt/slides/slide19.xml" ContentType="application/vnd.openxmlformats-officedocument.presentationml.slide+xml"/>
  <Override PartName="/ppt/slides/slide63.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Slides/_rels/notesSlide1.xml.rels" ContentType="application/vnd.openxmlformats-package.relationships+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Lst>
  <p:notesMasterIdLst>
    <p:notesMasterId r:id="rId11"/>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notesMaster" Target="notesMasters/notes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6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7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1" name="PlaceHolder 4"/>
          <p:cNvSpPr>
            <a:spLocks noGrp="1"/>
          </p:cNvSpPr>
          <p:nvPr>
            <p:ph type="dt" idx="25"/>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2" name="PlaceHolder 5"/>
          <p:cNvSpPr>
            <a:spLocks noGrp="1"/>
          </p:cNvSpPr>
          <p:nvPr>
            <p:ph type="ftr" idx="26"/>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3" name="PlaceHolder 6"/>
          <p:cNvSpPr>
            <a:spLocks noGrp="1"/>
          </p:cNvSpPr>
          <p:nvPr>
            <p:ph type="sldNum" idx="27"/>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8CADDA5C-1A77-442F-8EA1-80BF4F5C6A1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5" name="PlaceHolder 1"/>
          <p:cNvSpPr>
            <a:spLocks noGrp="1"/>
          </p:cNvSpPr>
          <p:nvPr>
            <p:ph type="sldImg"/>
          </p:nvPr>
        </p:nvSpPr>
        <p:spPr>
          <a:xfrm>
            <a:off x="685800" y="1143000"/>
            <a:ext cx="5484960" cy="3084840"/>
          </a:xfrm>
          <a:prstGeom prst="rect">
            <a:avLst/>
          </a:prstGeom>
          <a:ln w="0">
            <a:noFill/>
          </a:ln>
        </p:spPr>
      </p:sp>
      <p:sp>
        <p:nvSpPr>
          <p:cNvPr id="147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477" name="PlaceHolder 3"/>
          <p:cNvSpPr>
            <a:spLocks noGrp="1"/>
          </p:cNvSpPr>
          <p:nvPr>
            <p:ph type="hdr"/>
          </p:nvPr>
        </p:nvSpPr>
        <p:spPr>
          <a:xfrm>
            <a:off x="0" y="0"/>
            <a:ext cx="2970360" cy="457200"/>
          </a:xfrm>
          <a:prstGeom prst="rect">
            <a:avLst/>
          </a:prstGeom>
          <a:noFill/>
          <a:ln w="0">
            <a:noFill/>
          </a:ln>
        </p:spPr>
        <p:txBody>
          <a:bodyPr lIns="91440" rIns="91440" tIns="45720" bIns="45720" anchor="t">
            <a:noAutofit/>
          </a:bodyPr>
          <a:p>
            <a:pPr indent="0">
              <a:buNone/>
            </a:pPr>
            <a:endParaRPr b="0" lang="en-US" sz="1800" spc="-1" strike="noStrike">
              <a:solidFill>
                <a:srgbClr val="000000"/>
              </a:solidFill>
              <a:latin typeface="Times New Roman"/>
            </a:endParaRPr>
          </a:p>
        </p:txBody>
      </p:sp>
      <p:sp>
        <p:nvSpPr>
          <p:cNvPr id="1478" name="PlaceHolder 4"/>
          <p:cNvSpPr>
            <a:spLocks noGrp="1"/>
          </p:cNvSpPr>
          <p:nvPr>
            <p:ph type="ftr" idx="92"/>
          </p:nvPr>
        </p:nvSpPr>
        <p:spPr>
          <a:xfrm>
            <a:off x="0" y="8685360"/>
            <a:ext cx="2970360" cy="457200"/>
          </a:xfrm>
          <a:prstGeom prst="rect">
            <a:avLst/>
          </a:prstGeom>
          <a:noFill/>
          <a:ln w="0">
            <a:noFill/>
          </a:ln>
        </p:spPr>
        <p:txBody>
          <a:bodyPr lIns="91440" rIns="91440" tIns="45720" bIns="45720" anchor="b">
            <a:noAutofit/>
          </a:bodyPr>
          <a:p>
            <a:pPr indent="0">
              <a:buNone/>
            </a:pPr>
            <a:endParaRPr b="0" lang="en-US" sz="1400" spc="-1" strike="noStrike">
              <a:solidFill>
                <a:srgbClr val="000000"/>
              </a:solidFill>
              <a:latin typeface="Times New Roman"/>
            </a:endParaRPr>
          </a:p>
        </p:txBody>
      </p:sp>
      <p:sp>
        <p:nvSpPr>
          <p:cNvPr id="1479" name="PlaceHolder 5"/>
          <p:cNvSpPr>
            <a:spLocks noGrp="1"/>
          </p:cNvSpPr>
          <p:nvPr>
            <p:ph type="sldNum" idx="93"/>
          </p:nvPr>
        </p:nvSpPr>
        <p:spPr>
          <a:xfrm>
            <a:off x="3884760" y="8685360"/>
            <a:ext cx="2970360" cy="45720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24C9DA40-8F5A-45A2-B4D4-A95334FB018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4160" cy="642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type="subTitle"/>
          </p:nvPr>
        </p:nvSpPr>
        <p:spPr>
          <a:xfrm>
            <a:off x="838080" y="1107000"/>
            <a:ext cx="10514160" cy="50684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AA60654D-B52B-4EC2-A7FC-BA7879A66829}"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4160" cy="642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 name="PlaceHolder 2"/>
          <p:cNvSpPr>
            <a:spLocks noGrp="1"/>
          </p:cNvSpPr>
          <p:nvPr>
            <p:ph/>
          </p:nvPr>
        </p:nvSpPr>
        <p:spPr>
          <a:xfrm>
            <a:off x="838080" y="1107000"/>
            <a:ext cx="10514160" cy="5068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6AC84E4A-CDCA-452D-83DA-6EE65A601503}"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724B14A9-7C83-4435-B5AB-C44402D4D899}"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4160" cy="642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838080" y="1107000"/>
            <a:ext cx="5130720" cy="5068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6225840" y="1107000"/>
            <a:ext cx="5130720" cy="5068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94F330D2-D35F-497A-9E2C-2716EBC42528}"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4160" cy="642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593676DD-6FE8-48B4-AE10-C19C9B0DE4AA}" type="slidenum">
              <a:t>&lt;#&gt;</a:t>
            </a:fld>
          </a:p>
        </p:txBody>
      </p:sp>
      <p:sp>
        <p:nvSpPr>
          <p:cNvPr id="5" name="PlaceHolder 4"/>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EB460A2C-B5EA-4795-9ED6-5567D4230A37}"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şlık Slaydı">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bl" preserve="1">
  <p:cSld name="Title and Table">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4160" cy="642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6" name="PlaceHolder 2"/>
          <p:cNvSpPr>
            <a:spLocks noGrp="1"/>
          </p:cNvSpPr>
          <p:nvPr>
            <p:ph/>
          </p:nvPr>
        </p:nvSpPr>
        <p:spPr>
          <a:xfrm>
            <a:off x="838080" y="1107000"/>
            <a:ext cx="10514160" cy="5068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87DCA0DF-DE0F-4777-9FD5-0B3358A643E2}"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Obj" preserve="1">
  <p:cSld name="Title, Text,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365040"/>
            <a:ext cx="10514160" cy="6426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6" name="PlaceHolder 2"/>
          <p:cNvSpPr>
            <a:spLocks noGrp="1"/>
          </p:cNvSpPr>
          <p:nvPr>
            <p:ph/>
          </p:nvPr>
        </p:nvSpPr>
        <p:spPr>
          <a:xfrm>
            <a:off x="838080" y="1107000"/>
            <a:ext cx="10514160" cy="5068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7" name="PlaceHolder 3"/>
          <p:cNvSpPr>
            <a:spLocks noGrp="1"/>
          </p:cNvSpPr>
          <p:nvPr>
            <p:ph/>
          </p:nvPr>
        </p:nvSpPr>
        <p:spPr>
          <a:xfrm>
            <a:off x="838080" y="1107000"/>
            <a:ext cx="10514160" cy="50684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5990740F-2C26-4286-97BC-190B07D63A3A}" type="slidenum">
              <a:t>&lt;#&gt;</a:t>
            </a:fld>
          </a:p>
        </p:txBody>
      </p:sp>
      <p:sp>
        <p:nvSpPr>
          <p:cNvPr id="7" name="PlaceHolder 6"/>
          <p:cNvSpPr>
            <a:spLocks noGrp="1"/>
          </p:cNvSpPr>
          <p:nvPr>
            <p:ph type="dt" idx="2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slideLayout" Target="../slideLayouts/slideLayout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TextBox 6"/>
          <p:cNvSpPr/>
          <p:nvPr/>
        </p:nvSpPr>
        <p:spPr>
          <a:xfrm>
            <a:off x="41400" y="6539040"/>
            <a:ext cx="51498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 name="Picture 4" descr="Gebze Technical University"/>
          <p:cNvPicPr/>
          <p:nvPr/>
        </p:nvPicPr>
        <p:blipFill>
          <a:blip r:embed="rId2"/>
          <a:stretch/>
        </p:blipFill>
        <p:spPr>
          <a:xfrm>
            <a:off x="10150560" y="-89640"/>
            <a:ext cx="2158560" cy="1012680"/>
          </a:xfrm>
          <a:prstGeom prst="rect">
            <a:avLst/>
          </a:prstGeom>
          <a:ln w="0">
            <a:noFill/>
          </a:ln>
        </p:spPr>
      </p:pic>
      <p:sp>
        <p:nvSpPr>
          <p:cNvPr id="2" name="PlaceHolder 1"/>
          <p:cNvSpPr>
            <a:spLocks noGrp="1"/>
          </p:cNvSpPr>
          <p:nvPr>
            <p:ph type="title"/>
          </p:nvPr>
        </p:nvSpPr>
        <p:spPr>
          <a:xfrm>
            <a:off x="838080" y="365040"/>
            <a:ext cx="10514160" cy="642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 name="PlaceHolder 2"/>
          <p:cNvSpPr>
            <a:spLocks noGrp="1"/>
          </p:cNvSpPr>
          <p:nvPr>
            <p:ph type="ftr" idx="1"/>
          </p:nvPr>
        </p:nvSpPr>
        <p:spPr>
          <a:xfrm>
            <a:off x="4038480" y="6356520"/>
            <a:ext cx="411336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3"/>
          <p:cNvSpPr>
            <a:spLocks noGrp="1"/>
          </p:cNvSpPr>
          <p:nvPr>
            <p:ph type="sldNum" idx="2"/>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B627810-D62D-4D38-B794-1790EE46E05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 name="PlaceHolder 4"/>
          <p:cNvSpPr>
            <a:spLocks noGrp="1"/>
          </p:cNvSpPr>
          <p:nvPr>
            <p:ph type="dt" idx="3"/>
          </p:nvPr>
        </p:nvSpPr>
        <p:spPr>
          <a:xfrm>
            <a:off x="838080" y="6356520"/>
            <a:ext cx="274176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TextBox 6"/>
          <p:cNvSpPr/>
          <p:nvPr/>
        </p:nvSpPr>
        <p:spPr>
          <a:xfrm>
            <a:off x="41400" y="6539040"/>
            <a:ext cx="51498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0" name="Picture 4" descr="Gebze Technical University"/>
          <p:cNvPicPr/>
          <p:nvPr/>
        </p:nvPicPr>
        <p:blipFill>
          <a:blip r:embed="rId2"/>
          <a:stretch/>
        </p:blipFill>
        <p:spPr>
          <a:xfrm>
            <a:off x="10150560" y="-89640"/>
            <a:ext cx="2158560" cy="1012680"/>
          </a:xfrm>
          <a:prstGeom prst="rect">
            <a:avLst/>
          </a:prstGeom>
          <a:ln w="0">
            <a:noFill/>
          </a:ln>
        </p:spPr>
      </p:pic>
      <p:sp>
        <p:nvSpPr>
          <p:cNvPr id="11" name="PlaceHolder 1"/>
          <p:cNvSpPr>
            <a:spLocks noGrp="1"/>
          </p:cNvSpPr>
          <p:nvPr>
            <p:ph type="title"/>
          </p:nvPr>
        </p:nvSpPr>
        <p:spPr>
          <a:xfrm>
            <a:off x="838080" y="365040"/>
            <a:ext cx="10514160" cy="642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 name="PlaceHolder 2"/>
          <p:cNvSpPr>
            <a:spLocks noGrp="1"/>
          </p:cNvSpPr>
          <p:nvPr>
            <p:ph type="body"/>
          </p:nvPr>
        </p:nvSpPr>
        <p:spPr>
          <a:xfrm>
            <a:off x="838080" y="1107000"/>
            <a:ext cx="10514160" cy="5068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 name="PlaceHolder 3"/>
          <p:cNvSpPr>
            <a:spLocks noGrp="1"/>
          </p:cNvSpPr>
          <p:nvPr>
            <p:ph type="ftr" idx="4"/>
          </p:nvPr>
        </p:nvSpPr>
        <p:spPr>
          <a:xfrm>
            <a:off x="4038480" y="6356520"/>
            <a:ext cx="411336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 name="PlaceHolder 4"/>
          <p:cNvSpPr>
            <a:spLocks noGrp="1"/>
          </p:cNvSpPr>
          <p:nvPr>
            <p:ph type="sldNum" idx="5"/>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DAD7DE8-7E65-47E5-8BE5-2C9DADF236F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5" name="PlaceHolder 5"/>
          <p:cNvSpPr>
            <a:spLocks noGrp="1"/>
          </p:cNvSpPr>
          <p:nvPr>
            <p:ph type="dt" idx="6"/>
          </p:nvPr>
        </p:nvSpPr>
        <p:spPr>
          <a:xfrm>
            <a:off x="838080" y="6356520"/>
            <a:ext cx="274176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TextBox 6"/>
          <p:cNvSpPr/>
          <p:nvPr/>
        </p:nvSpPr>
        <p:spPr>
          <a:xfrm>
            <a:off x="41400" y="6539040"/>
            <a:ext cx="51498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9" name="Picture 4" descr="Gebze Technical University"/>
          <p:cNvPicPr/>
          <p:nvPr/>
        </p:nvPicPr>
        <p:blipFill>
          <a:blip r:embed="rId2"/>
          <a:stretch/>
        </p:blipFill>
        <p:spPr>
          <a:xfrm>
            <a:off x="10150560" y="-89640"/>
            <a:ext cx="2158560" cy="1012680"/>
          </a:xfrm>
          <a:prstGeom prst="rect">
            <a:avLst/>
          </a:prstGeom>
          <a:ln w="0">
            <a:noFill/>
          </a:ln>
        </p:spPr>
      </p:pic>
      <p:sp>
        <p:nvSpPr>
          <p:cNvPr id="20" name="PlaceHolder 1"/>
          <p:cNvSpPr>
            <a:spLocks noGrp="1"/>
          </p:cNvSpPr>
          <p:nvPr>
            <p:ph type="ftr" idx="7"/>
          </p:nvPr>
        </p:nvSpPr>
        <p:spPr>
          <a:xfrm>
            <a:off x="4038480" y="6356520"/>
            <a:ext cx="411336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 name="PlaceHolder 2"/>
          <p:cNvSpPr>
            <a:spLocks noGrp="1"/>
          </p:cNvSpPr>
          <p:nvPr>
            <p:ph type="sldNum" idx="8"/>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DA74904-059F-4582-A90D-996F76D2995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2" name="PlaceHolder 3"/>
          <p:cNvSpPr>
            <a:spLocks noGrp="1"/>
          </p:cNvSpPr>
          <p:nvPr>
            <p:ph type="dt" idx="9"/>
          </p:nvPr>
        </p:nvSpPr>
        <p:spPr>
          <a:xfrm>
            <a:off x="838080" y="6356520"/>
            <a:ext cx="274176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TextBox 6"/>
          <p:cNvSpPr/>
          <p:nvPr/>
        </p:nvSpPr>
        <p:spPr>
          <a:xfrm>
            <a:off x="41400" y="6539040"/>
            <a:ext cx="51498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24" name="Picture 4" descr="Gebze Technical University"/>
          <p:cNvPicPr/>
          <p:nvPr/>
        </p:nvPicPr>
        <p:blipFill>
          <a:blip r:embed="rId2"/>
          <a:stretch/>
        </p:blipFill>
        <p:spPr>
          <a:xfrm>
            <a:off x="10150560" y="-89640"/>
            <a:ext cx="2158560" cy="1012680"/>
          </a:xfrm>
          <a:prstGeom prst="rect">
            <a:avLst/>
          </a:prstGeom>
          <a:ln w="0">
            <a:noFill/>
          </a:ln>
        </p:spPr>
      </p:pic>
      <p:sp>
        <p:nvSpPr>
          <p:cNvPr id="25" name="PlaceHolder 1"/>
          <p:cNvSpPr>
            <a:spLocks noGrp="1"/>
          </p:cNvSpPr>
          <p:nvPr>
            <p:ph type="title"/>
          </p:nvPr>
        </p:nvSpPr>
        <p:spPr>
          <a:xfrm>
            <a:off x="838080" y="365040"/>
            <a:ext cx="10514160" cy="642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 name="PlaceHolder 2"/>
          <p:cNvSpPr>
            <a:spLocks noGrp="1"/>
          </p:cNvSpPr>
          <p:nvPr>
            <p:ph type="body"/>
          </p:nvPr>
        </p:nvSpPr>
        <p:spPr>
          <a:xfrm>
            <a:off x="838080" y="1107000"/>
            <a:ext cx="5130720" cy="5068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3"/>
          <p:cNvSpPr>
            <a:spLocks noGrp="1"/>
          </p:cNvSpPr>
          <p:nvPr>
            <p:ph type="body"/>
          </p:nvPr>
        </p:nvSpPr>
        <p:spPr>
          <a:xfrm>
            <a:off x="6226200" y="1107000"/>
            <a:ext cx="5130720" cy="5068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4"/>
          <p:cNvSpPr>
            <a:spLocks noGrp="1"/>
          </p:cNvSpPr>
          <p:nvPr>
            <p:ph type="ftr" idx="10"/>
          </p:nvPr>
        </p:nvSpPr>
        <p:spPr>
          <a:xfrm>
            <a:off x="4038480" y="6356520"/>
            <a:ext cx="411336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9" name="PlaceHolder 5"/>
          <p:cNvSpPr>
            <a:spLocks noGrp="1"/>
          </p:cNvSpPr>
          <p:nvPr>
            <p:ph type="sldNum" idx="11"/>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E2C0E98-FB6E-4882-AD06-3BCF45E0F2F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0" name="PlaceHolder 6"/>
          <p:cNvSpPr>
            <a:spLocks noGrp="1"/>
          </p:cNvSpPr>
          <p:nvPr>
            <p:ph type="dt" idx="12"/>
          </p:nvPr>
        </p:nvSpPr>
        <p:spPr>
          <a:xfrm>
            <a:off x="838080" y="6356520"/>
            <a:ext cx="274176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TextBox 6"/>
          <p:cNvSpPr/>
          <p:nvPr/>
        </p:nvSpPr>
        <p:spPr>
          <a:xfrm>
            <a:off x="41400" y="6539040"/>
            <a:ext cx="51498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35" name="Picture 4" descr="Gebze Technical University"/>
          <p:cNvPicPr/>
          <p:nvPr/>
        </p:nvPicPr>
        <p:blipFill>
          <a:blip r:embed="rId2"/>
          <a:stretch/>
        </p:blipFill>
        <p:spPr>
          <a:xfrm>
            <a:off x="10150560" y="-89640"/>
            <a:ext cx="2158560" cy="1012680"/>
          </a:xfrm>
          <a:prstGeom prst="rect">
            <a:avLst/>
          </a:prstGeom>
          <a:ln w="0">
            <a:noFill/>
          </a:ln>
        </p:spPr>
      </p:pic>
      <p:sp>
        <p:nvSpPr>
          <p:cNvPr id="36" name="PlaceHolder 1"/>
          <p:cNvSpPr>
            <a:spLocks noGrp="1"/>
          </p:cNvSpPr>
          <p:nvPr>
            <p:ph type="title"/>
          </p:nvPr>
        </p:nvSpPr>
        <p:spPr>
          <a:xfrm>
            <a:off x="838080" y="365040"/>
            <a:ext cx="10514160" cy="642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 name="PlaceHolder 2"/>
          <p:cNvSpPr>
            <a:spLocks noGrp="1"/>
          </p:cNvSpPr>
          <p:nvPr>
            <p:ph type="ftr" idx="13"/>
          </p:nvPr>
        </p:nvSpPr>
        <p:spPr>
          <a:xfrm>
            <a:off x="4038480" y="6356520"/>
            <a:ext cx="411336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 name="PlaceHolder 3"/>
          <p:cNvSpPr>
            <a:spLocks noGrp="1"/>
          </p:cNvSpPr>
          <p:nvPr>
            <p:ph type="sldNum" idx="14"/>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5F5FF360-077C-4D0E-B57A-99249913142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9" name="PlaceHolder 4"/>
          <p:cNvSpPr>
            <a:spLocks noGrp="1"/>
          </p:cNvSpPr>
          <p:nvPr>
            <p:ph type="dt" idx="15"/>
          </p:nvPr>
        </p:nvSpPr>
        <p:spPr>
          <a:xfrm>
            <a:off x="838080" y="6356520"/>
            <a:ext cx="274176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TextBox 6"/>
          <p:cNvSpPr/>
          <p:nvPr/>
        </p:nvSpPr>
        <p:spPr>
          <a:xfrm>
            <a:off x="41400" y="6539040"/>
            <a:ext cx="51498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2" name="Picture 4" descr="Gebze Technical University"/>
          <p:cNvPicPr/>
          <p:nvPr/>
        </p:nvPicPr>
        <p:blipFill>
          <a:blip r:embed="rId2"/>
          <a:stretch/>
        </p:blipFill>
        <p:spPr>
          <a:xfrm>
            <a:off x="10150560" y="-89640"/>
            <a:ext cx="2158560" cy="1012680"/>
          </a:xfrm>
          <a:prstGeom prst="rect">
            <a:avLst/>
          </a:prstGeom>
          <a:ln w="0">
            <a:noFill/>
          </a:ln>
        </p:spPr>
      </p:pic>
      <p:sp>
        <p:nvSpPr>
          <p:cNvPr id="43" name="PlaceHolder 1"/>
          <p:cNvSpPr>
            <a:spLocks noGrp="1"/>
          </p:cNvSpPr>
          <p:nvPr>
            <p:ph type="ftr" idx="16"/>
          </p:nvPr>
        </p:nvSpPr>
        <p:spPr>
          <a:xfrm>
            <a:off x="4038480" y="6356520"/>
            <a:ext cx="411336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2"/>
          <p:cNvSpPr>
            <a:spLocks noGrp="1"/>
          </p:cNvSpPr>
          <p:nvPr>
            <p:ph type="sldNum" idx="17"/>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9FFE937-46AE-47F6-9A60-8DA6FACCD97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5" name="PlaceHolder 3"/>
          <p:cNvSpPr>
            <a:spLocks noGrp="1"/>
          </p:cNvSpPr>
          <p:nvPr>
            <p:ph type="dt" idx="18"/>
          </p:nvPr>
        </p:nvSpPr>
        <p:spPr>
          <a:xfrm>
            <a:off x="838080" y="6356520"/>
            <a:ext cx="2741760" cy="36360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TextBox 6"/>
          <p:cNvSpPr/>
          <p:nvPr/>
        </p:nvSpPr>
        <p:spPr>
          <a:xfrm>
            <a:off x="41400" y="6539040"/>
            <a:ext cx="51498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7" name="Picture 4" descr="Gebze Technical University"/>
          <p:cNvPicPr/>
          <p:nvPr/>
        </p:nvPicPr>
        <p:blipFill>
          <a:blip r:embed="rId2"/>
          <a:stretch/>
        </p:blipFill>
        <p:spPr>
          <a:xfrm>
            <a:off x="10150560" y="-89640"/>
            <a:ext cx="2158560" cy="101268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TextBox 6"/>
          <p:cNvSpPr/>
          <p:nvPr/>
        </p:nvSpPr>
        <p:spPr>
          <a:xfrm>
            <a:off x="41400" y="6539040"/>
            <a:ext cx="51498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9" name="Picture 4" descr="Gebze Technical University"/>
          <p:cNvPicPr/>
          <p:nvPr/>
        </p:nvPicPr>
        <p:blipFill>
          <a:blip r:embed="rId2"/>
          <a:stretch/>
        </p:blipFill>
        <p:spPr>
          <a:xfrm>
            <a:off x="10150560" y="-89640"/>
            <a:ext cx="2158560" cy="1012680"/>
          </a:xfrm>
          <a:prstGeom prst="rect">
            <a:avLst/>
          </a:prstGeom>
          <a:ln w="0">
            <a:noFill/>
          </a:ln>
        </p:spPr>
      </p:pic>
      <p:sp>
        <p:nvSpPr>
          <p:cNvPr id="50" name="PlaceHolder 1"/>
          <p:cNvSpPr>
            <a:spLocks noGrp="1"/>
          </p:cNvSpPr>
          <p:nvPr>
            <p:ph type="title"/>
          </p:nvPr>
        </p:nvSpPr>
        <p:spPr>
          <a:xfrm>
            <a:off x="838080" y="365040"/>
            <a:ext cx="10514160" cy="642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1" name="PlaceHolder 2"/>
          <p:cNvSpPr>
            <a:spLocks noGrp="1"/>
          </p:cNvSpPr>
          <p:nvPr>
            <p:ph type="body"/>
          </p:nvPr>
        </p:nvSpPr>
        <p:spPr>
          <a:xfrm>
            <a:off x="838080" y="1107000"/>
            <a:ext cx="10514160" cy="5068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 name="PlaceHolder 3"/>
          <p:cNvSpPr>
            <a:spLocks noGrp="1"/>
          </p:cNvSpPr>
          <p:nvPr>
            <p:ph type="ftr" idx="19"/>
          </p:nvPr>
        </p:nvSpPr>
        <p:spPr>
          <a:xfrm>
            <a:off x="4038480" y="6356520"/>
            <a:ext cx="4113360" cy="363600"/>
          </a:xfrm>
          <a:prstGeom prst="rect">
            <a:avLst/>
          </a:prstGeom>
          <a:noFill/>
          <a:ln w="0">
            <a:noFill/>
          </a:ln>
        </p:spPr>
        <p:txBody>
          <a:bodyPr lIns="91440" rIns="91440" tIns="45720" bIns="45720" anchor="ctr">
            <a:noAutofit/>
          </a:bodyPr>
          <a:lstStyle>
            <a:lvl1pPr indent="0" algn="ctr" defTabSz="457200">
              <a:lnSpc>
                <a:spcPct val="100000"/>
              </a:lnSpc>
              <a:buNone/>
              <a:tabLst>
                <a:tab algn="l" pos="0"/>
              </a:tabLst>
              <a:defRPr b="0" lang="en-US" sz="1200" spc="-1" strike="noStrike">
                <a:solidFill>
                  <a:schemeClr val="dk1">
                    <a:tint val="75000"/>
                  </a:schemeClr>
                </a:solidFill>
                <a:latin typeface="Calibri"/>
              </a:defRPr>
            </a:lvl1pPr>
          </a:lstStyle>
          <a:p>
            <a:pPr indent="0" algn="ctr" defTabSz="4572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53" name="PlaceHolder 4"/>
          <p:cNvSpPr>
            <a:spLocks noGrp="1"/>
          </p:cNvSpPr>
          <p:nvPr>
            <p:ph type="sldNum" idx="20"/>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B4CB25CA-7B24-4C9C-BCE3-67744F84A0C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4" name="PlaceHolder 5"/>
          <p:cNvSpPr>
            <a:spLocks noGrp="1"/>
          </p:cNvSpPr>
          <p:nvPr>
            <p:ph type="dt" idx="21"/>
          </p:nvPr>
        </p:nvSpPr>
        <p:spPr>
          <a:xfrm>
            <a:off x="914400" y="6248520"/>
            <a:ext cx="2538720" cy="45576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 name="TextBox 6"/>
          <p:cNvSpPr/>
          <p:nvPr/>
        </p:nvSpPr>
        <p:spPr>
          <a:xfrm>
            <a:off x="41400" y="6539040"/>
            <a:ext cx="514980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58" name="Picture 4" descr="Gebze Technical University"/>
          <p:cNvPicPr/>
          <p:nvPr/>
        </p:nvPicPr>
        <p:blipFill>
          <a:blip r:embed="rId2"/>
          <a:stretch/>
        </p:blipFill>
        <p:spPr>
          <a:xfrm>
            <a:off x="10150560" y="-89640"/>
            <a:ext cx="2158560" cy="1012680"/>
          </a:xfrm>
          <a:prstGeom prst="rect">
            <a:avLst/>
          </a:prstGeom>
          <a:ln w="0">
            <a:noFill/>
          </a:ln>
        </p:spPr>
      </p:pic>
      <p:sp>
        <p:nvSpPr>
          <p:cNvPr id="59" name="PlaceHolder 1"/>
          <p:cNvSpPr>
            <a:spLocks noGrp="1"/>
          </p:cNvSpPr>
          <p:nvPr>
            <p:ph type="title"/>
          </p:nvPr>
        </p:nvSpPr>
        <p:spPr>
          <a:xfrm>
            <a:off x="838080" y="365040"/>
            <a:ext cx="10514160" cy="6426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0" name="PlaceHolder 2"/>
          <p:cNvSpPr>
            <a:spLocks noGrp="1"/>
          </p:cNvSpPr>
          <p:nvPr>
            <p:ph type="body"/>
          </p:nvPr>
        </p:nvSpPr>
        <p:spPr>
          <a:xfrm>
            <a:off x="838080" y="1107000"/>
            <a:ext cx="10514160" cy="5068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1" name="PlaceHolder 3"/>
          <p:cNvSpPr>
            <a:spLocks noGrp="1"/>
          </p:cNvSpPr>
          <p:nvPr>
            <p:ph type="body"/>
          </p:nvPr>
        </p:nvSpPr>
        <p:spPr>
          <a:xfrm>
            <a:off x="838080" y="1107000"/>
            <a:ext cx="10514160" cy="5068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2" name="PlaceHolder 4"/>
          <p:cNvSpPr>
            <a:spLocks noGrp="1"/>
          </p:cNvSpPr>
          <p:nvPr>
            <p:ph type="ftr" idx="22"/>
          </p:nvPr>
        </p:nvSpPr>
        <p:spPr>
          <a:xfrm>
            <a:off x="4038480" y="6356520"/>
            <a:ext cx="4113360" cy="363600"/>
          </a:xfrm>
          <a:prstGeom prst="rect">
            <a:avLst/>
          </a:prstGeom>
          <a:noFill/>
          <a:ln w="0">
            <a:noFill/>
          </a:ln>
        </p:spPr>
        <p:txBody>
          <a:bodyPr lIns="91440" rIns="91440" tIns="45720" bIns="45720" anchor="ctr">
            <a:noAutofit/>
          </a:bodyPr>
          <a:lstStyle>
            <a:lvl1pPr indent="0" algn="ctr" defTabSz="457200">
              <a:lnSpc>
                <a:spcPct val="100000"/>
              </a:lnSpc>
              <a:buNone/>
              <a:tabLst>
                <a:tab algn="l" pos="0"/>
              </a:tabLst>
              <a:defRPr b="0" lang="en-US" sz="1200" spc="-1" strike="noStrike">
                <a:solidFill>
                  <a:schemeClr val="dk1">
                    <a:tint val="75000"/>
                  </a:schemeClr>
                </a:solidFill>
                <a:latin typeface="Calibri"/>
              </a:defRPr>
            </a:lvl1pPr>
          </a:lstStyle>
          <a:p>
            <a:pPr indent="0" algn="ctr" defTabSz="457200">
              <a:lnSpc>
                <a:spcPct val="100000"/>
              </a:lnSpc>
              <a:buNone/>
              <a:tabLst>
                <a:tab algn="l" pos="0"/>
              </a:tabLst>
            </a:pPr>
            <a:r>
              <a:rPr b="0" lang="en-US" sz="1200" spc="-1" strike="noStrike">
                <a:solidFill>
                  <a:schemeClr val="dk1">
                    <a:tint val="75000"/>
                  </a:schemeClr>
                </a:solidFill>
                <a:latin typeface="Calibri"/>
              </a:rPr>
              <a:t>&lt;footer&gt;</a:t>
            </a:r>
            <a:endParaRPr b="0" lang="en-US" sz="1200" spc="-1" strike="noStrike">
              <a:solidFill>
                <a:srgbClr val="000000"/>
              </a:solidFill>
              <a:latin typeface="Times New Roman"/>
            </a:endParaRPr>
          </a:p>
        </p:txBody>
      </p:sp>
      <p:sp>
        <p:nvSpPr>
          <p:cNvPr id="63" name="PlaceHolder 5"/>
          <p:cNvSpPr>
            <a:spLocks noGrp="1"/>
          </p:cNvSpPr>
          <p:nvPr>
            <p:ph type="sldNum" idx="23"/>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3235C0C-42E7-4D37-8143-D3795135AE6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64" name="PlaceHolder 6"/>
          <p:cNvSpPr>
            <a:spLocks noGrp="1"/>
          </p:cNvSpPr>
          <p:nvPr>
            <p:ph type="dt" idx="24"/>
          </p:nvPr>
        </p:nvSpPr>
        <p:spPr>
          <a:xfrm>
            <a:off x="914400" y="6248520"/>
            <a:ext cx="2538720" cy="45576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s/_rels/slide1.xml.rels><?xml version="1.0" encoding="UTF-8"?>
<Relationships xmlns="http://schemas.openxmlformats.org/package/2006/relationships"><Relationship Id="rId1" Type="http://schemas.openxmlformats.org/officeDocument/2006/relationships/hyperlink" Target="mailto:mpekmezci@gtu.edu.tr" TargetMode="External"/><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wmf"/><Relationship Id="rId3"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Relationships xmlns="http://schemas.openxmlformats.org/package/2006/relationships"><Relationship Id="rId1" Type="http://schemas.openxmlformats.org/officeDocument/2006/relationships/hyperlink" Target="https://www.geeksforgeeks.org/lifo-last-in-first-out-approach-in-programming/" TargetMode="External"/><Relationship Id="rId2" Type="http://schemas.openxmlformats.org/officeDocument/2006/relationships/hyperlink" Target="https://www.geeksforgeeks.org/fifo-first-in-first-out-approach-in-programming/" TargetMode="External"/><Relationship Id="rId3" Type="http://schemas.openxmlformats.org/officeDocument/2006/relationships/slideLayout" Target="../slideLayouts/slideLayout2.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1341000" y="1252800"/>
            <a:ext cx="9142560" cy="2997720"/>
          </a:xfrm>
          <a:prstGeom prst="rect">
            <a:avLst/>
          </a:prstGeom>
          <a:noFill/>
          <a:ln w="0">
            <a:noFill/>
          </a:ln>
        </p:spPr>
        <p:txBody>
          <a:bodyPr lIns="91440" rIns="91440" tIns="45720" bIns="45720" anchor="b">
            <a:normAutofit fontScale="75000" lnSpcReduction="10000"/>
          </a:bodyPr>
          <a:p>
            <a:pPr indent="0" algn="ctr" defTabSz="914400">
              <a:lnSpc>
                <a:spcPct val="90000"/>
              </a:lnSpc>
              <a:buNone/>
              <a:tabLst>
                <a:tab algn="l" pos="0"/>
              </a:tabLst>
            </a:pPr>
            <a:r>
              <a:rPr b="1" lang="en-US" sz="6000" spc="-1" strike="noStrike">
                <a:solidFill>
                  <a:srgbClr val="c00000"/>
                </a:solidFill>
                <a:latin typeface="Calibri Light"/>
              </a:rPr>
              <a:t>ENG 346</a:t>
            </a:r>
            <a:br>
              <a:rPr sz="6000"/>
            </a:br>
            <a:r>
              <a:rPr b="1" lang="en-US" sz="6000" spc="-1" strike="noStrike">
                <a:solidFill>
                  <a:srgbClr val="c00000"/>
                </a:solidFill>
                <a:latin typeface="Calibri Light"/>
              </a:rPr>
              <a:t>Data Structures and Algorithms for Artificial Intelligence</a:t>
            </a:r>
            <a:br>
              <a:rPr sz="6000"/>
            </a:br>
            <a:r>
              <a:rPr b="1" lang="en-US" sz="4900" spc="-1" strike="noStrike">
                <a:solidFill>
                  <a:schemeClr val="dk1"/>
                </a:solidFill>
                <a:latin typeface="Calibri Light"/>
              </a:rPr>
              <a:t>Graphs</a:t>
            </a:r>
            <a:endParaRPr b="0" lang="en-US" sz="4900" spc="-1" strike="noStrike">
              <a:solidFill>
                <a:srgbClr val="000000"/>
              </a:solidFill>
              <a:latin typeface="Arial"/>
            </a:endParaRPr>
          </a:p>
        </p:txBody>
      </p:sp>
      <p:sp>
        <p:nvSpPr>
          <p:cNvPr id="75" name="PlaceHolder 2"/>
          <p:cNvSpPr>
            <a:spLocks noGrp="1"/>
          </p:cNvSpPr>
          <p:nvPr>
            <p:ph type="subTitle"/>
          </p:nvPr>
        </p:nvSpPr>
        <p:spPr>
          <a:xfrm>
            <a:off x="1496520" y="4462200"/>
            <a:ext cx="9142560" cy="100440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r>
              <a:rPr b="0" lang="en-US" sz="2400" spc="-1" strike="noStrike">
                <a:solidFill>
                  <a:schemeClr val="dk1"/>
                </a:solidFill>
                <a:latin typeface="Calibri"/>
              </a:rPr>
              <a:t>Dr. Mehmet PEKMEZCİ</a:t>
            </a:r>
            <a:endParaRPr b="0" lang="en-US" sz="2400" spc="-1" strike="noStrike">
              <a:solidFill>
                <a:srgbClr val="000000"/>
              </a:solidFill>
              <a:latin typeface="Arial"/>
            </a:endParaRPr>
          </a:p>
          <a:p>
            <a:pPr indent="0" algn="ctr" defTabSz="914400">
              <a:lnSpc>
                <a:spcPct val="90000"/>
              </a:lnSpc>
              <a:spcBef>
                <a:spcPts val="1001"/>
              </a:spcBef>
              <a:buNone/>
              <a:tabLst>
                <a:tab algn="l" pos="0"/>
              </a:tabLst>
            </a:pPr>
            <a:r>
              <a:rPr b="0" lang="en-US" sz="2400" spc="-1" strike="noStrike">
                <a:solidFill>
                  <a:schemeClr val="dk1"/>
                </a:solidFill>
                <a:latin typeface="Calibri"/>
                <a:hlinkClick r:id="rId1"/>
              </a:rPr>
              <a:t>mpekmezci@gtu.edu.tr</a:t>
            </a:r>
            <a:endParaRPr b="0" lang="en-US" sz="2400" spc="-1" strike="noStrike">
              <a:solidFill>
                <a:srgbClr val="000000"/>
              </a:solidFill>
              <a:latin typeface="Arial"/>
            </a:endParaRPr>
          </a:p>
          <a:p>
            <a:pPr indent="0" algn="ctr" defTabSz="914400">
              <a:lnSpc>
                <a:spcPct val="90000"/>
              </a:lnSpc>
              <a:spcBef>
                <a:spcPts val="1001"/>
              </a:spcBef>
              <a:buNone/>
              <a:tabLst>
                <a:tab algn="l" pos="0"/>
              </a:tabLst>
            </a:pPr>
            <a:r>
              <a:rPr b="0" lang="en-US" sz="2400" spc="-1" strike="noStrike">
                <a:solidFill>
                  <a:schemeClr val="dk1"/>
                </a:solidFill>
                <a:latin typeface="Calibri"/>
              </a:rPr>
              <a:t>https://github.com/mehmetpekmezci/GTU-ENG-346</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Graphs</a:t>
            </a:r>
            <a:endParaRPr b="0" lang="en-US" sz="4400" spc="-1" strike="noStrike">
              <a:solidFill>
                <a:srgbClr val="000000"/>
              </a:solidFill>
              <a:latin typeface="Arial"/>
            </a:endParaRPr>
          </a:p>
        </p:txBody>
      </p:sp>
      <p:sp>
        <p:nvSpPr>
          <p:cNvPr id="77" name="PlaceHolder 2"/>
          <p:cNvSpPr>
            <a:spLocks noGrp="1"/>
          </p:cNvSpPr>
          <p:nvPr>
            <p:ph/>
          </p:nvPr>
        </p:nvSpPr>
        <p:spPr>
          <a:xfrm>
            <a:off x="838080" y="1107000"/>
            <a:ext cx="10514160" cy="506844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A graph is a pair </a:t>
            </a:r>
            <a:r>
              <a:rPr b="0" lang="en-US" sz="2400" spc="-1" strike="noStrike">
                <a:solidFill>
                  <a:schemeClr val="dk1"/>
                </a:solidFill>
                <a:latin typeface="Times New Roman"/>
              </a:rPr>
              <a:t>(</a:t>
            </a:r>
            <a:r>
              <a:rPr b="1" i="1" lang="en-US" sz="2400" spc="-1" strike="noStrike">
                <a:solidFill>
                  <a:schemeClr val="dk1"/>
                </a:solidFill>
                <a:latin typeface="Times New Roman"/>
              </a:rPr>
              <a:t>V, E</a:t>
            </a:r>
            <a:r>
              <a:rPr b="0" lang="en-US" sz="2400" spc="-1" strike="noStrike">
                <a:solidFill>
                  <a:schemeClr val="dk1"/>
                </a:solidFill>
                <a:latin typeface="Times New Roman"/>
              </a:rPr>
              <a:t>)</a:t>
            </a:r>
            <a:r>
              <a:rPr b="0" lang="en-US" sz="2400" spc="-1" strike="noStrike">
                <a:solidFill>
                  <a:schemeClr val="dk1"/>
                </a:solidFill>
                <a:latin typeface="Calibri"/>
              </a:rPr>
              <a:t>, where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1" i="1" lang="en-US" sz="2000" spc="-1" strike="noStrike">
                <a:solidFill>
                  <a:schemeClr val="dk1"/>
                </a:solidFill>
                <a:latin typeface="Times New Roman"/>
              </a:rPr>
              <a:t>V</a:t>
            </a:r>
            <a:r>
              <a:rPr b="0" lang="en-US" sz="2000" spc="-1" strike="noStrike">
                <a:solidFill>
                  <a:schemeClr val="dk1"/>
                </a:solidFill>
                <a:latin typeface="Calibri"/>
              </a:rPr>
              <a:t> is a set of nodes, called </a:t>
            </a:r>
            <a:r>
              <a:rPr b="0" lang="en-US" sz="2000" spc="-1" strike="noStrike">
                <a:solidFill>
                  <a:schemeClr val="dk2"/>
                </a:solidFill>
                <a:latin typeface="Calibri"/>
              </a:rPr>
              <a:t>vertices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1" i="1" lang="en-US" sz="2000" spc="-1" strike="noStrike">
                <a:solidFill>
                  <a:schemeClr val="dk1"/>
                </a:solidFill>
                <a:latin typeface="Times New Roman"/>
              </a:rPr>
              <a:t>E</a:t>
            </a:r>
            <a:r>
              <a:rPr b="0" lang="en-US" sz="2000" spc="-1" strike="noStrike">
                <a:solidFill>
                  <a:schemeClr val="dk1"/>
                </a:solidFill>
                <a:latin typeface="Calibri"/>
              </a:rPr>
              <a:t> is a collection of pairs of vertices, called </a:t>
            </a:r>
            <a:r>
              <a:rPr b="0" lang="en-US" sz="2000" spc="-1" strike="noStrike">
                <a:solidFill>
                  <a:schemeClr val="dk2"/>
                </a:solidFill>
                <a:latin typeface="Calibri"/>
              </a:rPr>
              <a:t>edges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Vertices and edges are positions and store elements</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Example: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A vertex represents an airport and stores the three-letter airport code</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An edge represents a flight route between two airports and stores the mileage of the route</a:t>
            </a:r>
            <a:endParaRPr b="0" lang="en-US" sz="2000" spc="-1" strike="noStrike">
              <a:solidFill>
                <a:srgbClr val="000000"/>
              </a:solidFill>
              <a:latin typeface="Arial"/>
            </a:endParaRPr>
          </a:p>
        </p:txBody>
      </p:sp>
      <p:sp>
        <p:nvSpPr>
          <p:cNvPr id="78" name="PlaceHolder 3"/>
          <p:cNvSpPr>
            <a:spLocks noGrp="1"/>
          </p:cNvSpPr>
          <p:nvPr>
            <p:ph type="sldNum" idx="28"/>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E1A3FE28-7F73-441C-BCE4-5FA20809BFF5}" type="slidenum">
              <a:rPr b="0" lang="en-US" sz="1400" spc="-1" strike="noStrike">
                <a:solidFill>
                  <a:schemeClr val="dk1">
                    <a:tint val="75000"/>
                  </a:schemeClr>
                </a:solidFill>
                <a:latin typeface="Tahoma"/>
                <a:ea typeface="MS PGothic"/>
              </a:rPr>
              <a:t>2</a:t>
            </a:fld>
            <a:endParaRPr b="0" lang="en-US" sz="1400" spc="-1" strike="noStrike">
              <a:solidFill>
                <a:srgbClr val="000000"/>
              </a:solidFill>
              <a:latin typeface="Times New Roman"/>
            </a:endParaRPr>
          </a:p>
        </p:txBody>
      </p:sp>
      <p:grpSp>
        <p:nvGrpSpPr>
          <p:cNvPr id="79" name="Group 1"/>
          <p:cNvGrpSpPr/>
          <p:nvPr/>
        </p:nvGrpSpPr>
        <p:grpSpPr>
          <a:xfrm>
            <a:off x="2160360" y="3940560"/>
            <a:ext cx="7488720" cy="2414520"/>
            <a:chOff x="2160360" y="3940560"/>
            <a:chExt cx="7488720" cy="2414520"/>
          </a:xfrm>
        </p:grpSpPr>
        <p:sp>
          <p:nvSpPr>
            <p:cNvPr id="80" name="Oval 12"/>
            <p:cNvSpPr/>
            <p:nvPr/>
          </p:nvSpPr>
          <p:spPr>
            <a:xfrm>
              <a:off x="6199200" y="414648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ORD</a:t>
              </a:r>
              <a:endParaRPr b="0" lang="en-US" sz="2400" spc="-1" strike="noStrike">
                <a:solidFill>
                  <a:srgbClr val="ffffff"/>
                </a:solidFill>
                <a:latin typeface="Arial"/>
              </a:endParaRPr>
            </a:p>
          </p:txBody>
        </p:sp>
        <p:sp>
          <p:nvSpPr>
            <p:cNvPr id="81" name="Oval 99"/>
            <p:cNvSpPr/>
            <p:nvPr/>
          </p:nvSpPr>
          <p:spPr>
            <a:xfrm>
              <a:off x="8713800" y="399096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PVD</a:t>
              </a:r>
              <a:endParaRPr b="0" lang="en-US" sz="2400" spc="-1" strike="noStrike">
                <a:solidFill>
                  <a:srgbClr val="ffffff"/>
                </a:solidFill>
                <a:latin typeface="Arial"/>
              </a:endParaRPr>
            </a:p>
          </p:txBody>
        </p:sp>
        <p:sp>
          <p:nvSpPr>
            <p:cNvPr id="82" name="Oval 100"/>
            <p:cNvSpPr/>
            <p:nvPr/>
          </p:nvSpPr>
          <p:spPr>
            <a:xfrm>
              <a:off x="8462880" y="589932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MIA</a:t>
              </a:r>
              <a:endParaRPr b="0" lang="en-US" sz="2400" spc="-1" strike="noStrike">
                <a:solidFill>
                  <a:srgbClr val="ffffff"/>
                </a:solidFill>
                <a:latin typeface="Arial"/>
              </a:endParaRPr>
            </a:p>
          </p:txBody>
        </p:sp>
        <p:sp>
          <p:nvSpPr>
            <p:cNvPr id="83" name="Oval 101"/>
            <p:cNvSpPr/>
            <p:nvPr/>
          </p:nvSpPr>
          <p:spPr>
            <a:xfrm>
              <a:off x="5910120" y="566100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DFW</a:t>
              </a:r>
              <a:endParaRPr b="0" lang="en-US" sz="2400" spc="-1" strike="noStrike">
                <a:solidFill>
                  <a:srgbClr val="ffffff"/>
                </a:solidFill>
                <a:latin typeface="Arial"/>
              </a:endParaRPr>
            </a:p>
          </p:txBody>
        </p:sp>
        <p:sp>
          <p:nvSpPr>
            <p:cNvPr id="84" name="Oval 102"/>
            <p:cNvSpPr/>
            <p:nvPr/>
          </p:nvSpPr>
          <p:spPr>
            <a:xfrm>
              <a:off x="3989160" y="437508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SFO</a:t>
              </a:r>
              <a:endParaRPr b="0" lang="en-US" sz="2400" spc="-1" strike="noStrike">
                <a:solidFill>
                  <a:srgbClr val="ffffff"/>
                </a:solidFill>
                <a:latin typeface="Arial"/>
              </a:endParaRPr>
            </a:p>
          </p:txBody>
        </p:sp>
        <p:sp>
          <p:nvSpPr>
            <p:cNvPr id="85" name="Oval 103"/>
            <p:cNvSpPr/>
            <p:nvPr/>
          </p:nvSpPr>
          <p:spPr>
            <a:xfrm>
              <a:off x="4141800" y="551808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LAX</a:t>
              </a:r>
              <a:endParaRPr b="0" lang="en-US" sz="2400" spc="-1" strike="noStrike">
                <a:solidFill>
                  <a:srgbClr val="ffffff"/>
                </a:solidFill>
                <a:latin typeface="Arial"/>
              </a:endParaRPr>
            </a:p>
          </p:txBody>
        </p:sp>
        <p:sp>
          <p:nvSpPr>
            <p:cNvPr id="86" name="Oval 104"/>
            <p:cNvSpPr/>
            <p:nvPr/>
          </p:nvSpPr>
          <p:spPr>
            <a:xfrm>
              <a:off x="7777080" y="475632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LGA</a:t>
              </a:r>
              <a:endParaRPr b="0" lang="en-US" sz="2400" spc="-1" strike="noStrike">
                <a:solidFill>
                  <a:srgbClr val="ffffff"/>
                </a:solidFill>
                <a:latin typeface="Arial"/>
              </a:endParaRPr>
            </a:p>
          </p:txBody>
        </p:sp>
        <p:sp>
          <p:nvSpPr>
            <p:cNvPr id="87" name="Oval 105"/>
            <p:cNvSpPr/>
            <p:nvPr/>
          </p:nvSpPr>
          <p:spPr>
            <a:xfrm>
              <a:off x="2160360" y="528948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HNL</a:t>
              </a:r>
              <a:endParaRPr b="0" lang="en-US" sz="2400" spc="-1" strike="noStrike">
                <a:solidFill>
                  <a:srgbClr val="ffffff"/>
                </a:solidFill>
                <a:latin typeface="Arial"/>
              </a:endParaRPr>
            </a:p>
          </p:txBody>
        </p:sp>
        <p:cxnSp>
          <p:nvCxnSpPr>
            <p:cNvPr id="88" name="AutoShape 106"/>
            <p:cNvCxnSpPr>
              <a:stCxn id="84" idx="6"/>
              <a:endCxn id="80" idx="2"/>
            </p:cNvCxnSpPr>
            <p:nvPr/>
          </p:nvCxnSpPr>
          <p:spPr>
            <a:xfrm flipV="1">
              <a:off x="4924440" y="4374360"/>
              <a:ext cx="1275120" cy="228960"/>
            </a:xfrm>
            <a:prstGeom prst="straightConnector1">
              <a:avLst/>
            </a:prstGeom>
            <a:ln w="19050">
              <a:solidFill>
                <a:srgbClr val="000000"/>
              </a:solidFill>
              <a:round/>
            </a:ln>
          </p:spPr>
        </p:cxnSp>
        <p:cxnSp>
          <p:nvCxnSpPr>
            <p:cNvPr id="89" name="AutoShape 107"/>
            <p:cNvCxnSpPr>
              <a:stCxn id="83" idx="0"/>
              <a:endCxn id="80" idx="4"/>
            </p:cNvCxnSpPr>
            <p:nvPr/>
          </p:nvCxnSpPr>
          <p:spPr>
            <a:xfrm flipV="1">
              <a:off x="6377760" y="4602240"/>
              <a:ext cx="289440" cy="1059120"/>
            </a:xfrm>
            <a:prstGeom prst="straightConnector1">
              <a:avLst/>
            </a:prstGeom>
            <a:ln w="19050">
              <a:solidFill>
                <a:srgbClr val="000000"/>
              </a:solidFill>
              <a:round/>
            </a:ln>
          </p:spPr>
        </p:cxnSp>
        <p:cxnSp>
          <p:nvCxnSpPr>
            <p:cNvPr id="90" name="AutoShape 108"/>
            <p:cNvCxnSpPr>
              <a:stCxn id="83" idx="7"/>
              <a:endCxn id="86" idx="3"/>
            </p:cNvCxnSpPr>
            <p:nvPr/>
          </p:nvCxnSpPr>
          <p:spPr>
            <a:xfrm flipV="1">
              <a:off x="6708600" y="5145480"/>
              <a:ext cx="1205640" cy="582480"/>
            </a:xfrm>
            <a:prstGeom prst="straightConnector1">
              <a:avLst/>
            </a:prstGeom>
            <a:ln w="19050">
              <a:solidFill>
                <a:srgbClr val="000000"/>
              </a:solidFill>
              <a:round/>
            </a:ln>
          </p:spPr>
        </p:cxnSp>
        <p:cxnSp>
          <p:nvCxnSpPr>
            <p:cNvPr id="91" name="AutoShape 109"/>
            <p:cNvCxnSpPr>
              <a:stCxn id="86" idx="0"/>
              <a:endCxn id="81" idx="3"/>
            </p:cNvCxnSpPr>
            <p:nvPr/>
          </p:nvCxnSpPr>
          <p:spPr>
            <a:xfrm flipV="1">
              <a:off x="8244720" y="4380120"/>
              <a:ext cx="606240" cy="376560"/>
            </a:xfrm>
            <a:prstGeom prst="straightConnector1">
              <a:avLst/>
            </a:prstGeom>
            <a:ln w="19050">
              <a:solidFill>
                <a:srgbClr val="000000"/>
              </a:solidFill>
              <a:round/>
            </a:ln>
          </p:spPr>
        </p:cxnSp>
        <p:cxnSp>
          <p:nvCxnSpPr>
            <p:cNvPr id="92" name="AutoShape 110"/>
            <p:cNvCxnSpPr>
              <a:stCxn id="80" idx="6"/>
              <a:endCxn id="81" idx="2"/>
            </p:cNvCxnSpPr>
            <p:nvPr/>
          </p:nvCxnSpPr>
          <p:spPr>
            <a:xfrm flipV="1">
              <a:off x="7134480" y="4218840"/>
              <a:ext cx="1579680" cy="155880"/>
            </a:xfrm>
            <a:prstGeom prst="straightConnector1">
              <a:avLst/>
            </a:prstGeom>
            <a:ln w="19050">
              <a:solidFill>
                <a:srgbClr val="000000"/>
              </a:solidFill>
              <a:round/>
            </a:ln>
          </p:spPr>
        </p:cxnSp>
        <p:cxnSp>
          <p:nvCxnSpPr>
            <p:cNvPr id="93" name="AutoShape 111"/>
            <p:cNvCxnSpPr>
              <a:stCxn id="87" idx="6"/>
              <a:endCxn id="85" idx="2"/>
            </p:cNvCxnSpPr>
            <p:nvPr/>
          </p:nvCxnSpPr>
          <p:spPr>
            <a:xfrm>
              <a:off x="3095640" y="5517360"/>
              <a:ext cx="1046520" cy="228960"/>
            </a:xfrm>
            <a:prstGeom prst="straightConnector1">
              <a:avLst/>
            </a:prstGeom>
            <a:ln w="19050">
              <a:solidFill>
                <a:srgbClr val="000000"/>
              </a:solidFill>
              <a:round/>
            </a:ln>
          </p:spPr>
        </p:cxnSp>
        <p:cxnSp>
          <p:nvCxnSpPr>
            <p:cNvPr id="94" name="AutoShape 112"/>
            <p:cNvCxnSpPr>
              <a:stCxn id="84" idx="4"/>
              <a:endCxn id="85" idx="0"/>
            </p:cNvCxnSpPr>
            <p:nvPr/>
          </p:nvCxnSpPr>
          <p:spPr>
            <a:xfrm>
              <a:off x="4456800" y="4830840"/>
              <a:ext cx="153000" cy="687600"/>
            </a:xfrm>
            <a:prstGeom prst="straightConnector1">
              <a:avLst/>
            </a:prstGeom>
            <a:ln w="19050">
              <a:solidFill>
                <a:srgbClr val="000000"/>
              </a:solidFill>
              <a:round/>
            </a:ln>
          </p:spPr>
        </p:cxnSp>
        <p:cxnSp>
          <p:nvCxnSpPr>
            <p:cNvPr id="95" name="AutoShape 113"/>
            <p:cNvCxnSpPr>
              <a:stCxn id="86" idx="4"/>
              <a:endCxn id="82" idx="0"/>
            </p:cNvCxnSpPr>
            <p:nvPr/>
          </p:nvCxnSpPr>
          <p:spPr>
            <a:xfrm>
              <a:off x="8244720" y="5212080"/>
              <a:ext cx="686160" cy="687600"/>
            </a:xfrm>
            <a:prstGeom prst="straightConnector1">
              <a:avLst/>
            </a:prstGeom>
            <a:ln w="19050">
              <a:solidFill>
                <a:srgbClr val="000000"/>
              </a:solidFill>
              <a:round/>
            </a:ln>
          </p:spPr>
        </p:cxnSp>
        <p:cxnSp>
          <p:nvCxnSpPr>
            <p:cNvPr id="96" name="AutoShape 114"/>
            <p:cNvCxnSpPr>
              <a:endCxn id="83" idx="6"/>
            </p:cNvCxnSpPr>
            <p:nvPr/>
          </p:nvCxnSpPr>
          <p:spPr>
            <a:xfrm flipH="1" flipV="1">
              <a:off x="6845400" y="5888880"/>
              <a:ext cx="1609200" cy="240120"/>
            </a:xfrm>
            <a:prstGeom prst="straightConnector1">
              <a:avLst/>
            </a:prstGeom>
            <a:ln w="19050">
              <a:solidFill>
                <a:srgbClr val="000000"/>
              </a:solidFill>
              <a:round/>
            </a:ln>
          </p:spPr>
        </p:cxnSp>
        <p:cxnSp>
          <p:nvCxnSpPr>
            <p:cNvPr id="97" name="AutoShape 115"/>
            <p:cNvCxnSpPr>
              <a:stCxn id="85" idx="6"/>
              <a:endCxn id="83" idx="2"/>
            </p:cNvCxnSpPr>
            <p:nvPr/>
          </p:nvCxnSpPr>
          <p:spPr>
            <a:xfrm>
              <a:off x="5077080" y="5745960"/>
              <a:ext cx="833400" cy="143280"/>
            </a:xfrm>
            <a:prstGeom prst="straightConnector1">
              <a:avLst/>
            </a:prstGeom>
            <a:ln w="19050">
              <a:solidFill>
                <a:srgbClr val="000000"/>
              </a:solidFill>
              <a:round/>
            </a:ln>
          </p:spPr>
        </p:cxnSp>
        <p:cxnSp>
          <p:nvCxnSpPr>
            <p:cNvPr id="98" name="AutoShape 116"/>
            <p:cNvCxnSpPr>
              <a:stCxn id="85" idx="7"/>
              <a:endCxn id="80" idx="3"/>
            </p:cNvCxnSpPr>
            <p:nvPr/>
          </p:nvCxnSpPr>
          <p:spPr>
            <a:xfrm flipV="1">
              <a:off x="4940280" y="4535640"/>
              <a:ext cx="1396080" cy="1049400"/>
            </a:xfrm>
            <a:prstGeom prst="straightConnector1">
              <a:avLst/>
            </a:prstGeom>
            <a:ln w="19050">
              <a:solidFill>
                <a:srgbClr val="000000"/>
              </a:solidFill>
              <a:round/>
            </a:ln>
          </p:spPr>
        </p:cxnSp>
        <p:sp>
          <p:nvSpPr>
            <p:cNvPr id="99" name="Text Box 118"/>
            <p:cNvSpPr/>
            <p:nvPr/>
          </p:nvSpPr>
          <p:spPr>
            <a:xfrm rot="21252600">
              <a:off x="7470000" y="3970440"/>
              <a:ext cx="61560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849</a:t>
              </a:r>
              <a:endParaRPr b="0" lang="en-US" sz="2000" spc="-1" strike="noStrike">
                <a:solidFill>
                  <a:srgbClr val="000000"/>
                </a:solidFill>
                <a:latin typeface="Arial"/>
              </a:endParaRPr>
            </a:p>
          </p:txBody>
        </p:sp>
        <p:sp>
          <p:nvSpPr>
            <p:cNvPr id="100" name="Text Box 119"/>
            <p:cNvSpPr/>
            <p:nvPr/>
          </p:nvSpPr>
          <p:spPr>
            <a:xfrm rot="16938000">
              <a:off x="6149160" y="4703760"/>
              <a:ext cx="6159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802</a:t>
              </a:r>
              <a:endParaRPr b="0" lang="en-US" sz="2000" spc="-1" strike="noStrike">
                <a:solidFill>
                  <a:srgbClr val="000000"/>
                </a:solidFill>
                <a:latin typeface="Arial"/>
              </a:endParaRPr>
            </a:p>
          </p:txBody>
        </p:sp>
        <p:sp>
          <p:nvSpPr>
            <p:cNvPr id="101" name="Text Box 120"/>
            <p:cNvSpPr/>
            <p:nvPr/>
          </p:nvSpPr>
          <p:spPr>
            <a:xfrm rot="20055000">
              <a:off x="6821280" y="5119920"/>
              <a:ext cx="7617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1387</a:t>
              </a:r>
              <a:endParaRPr b="0" lang="en-US" sz="2000" spc="-1" strike="noStrike">
                <a:solidFill>
                  <a:srgbClr val="000000"/>
                </a:solidFill>
                <a:latin typeface="Arial"/>
              </a:endParaRPr>
            </a:p>
          </p:txBody>
        </p:sp>
        <p:sp>
          <p:nvSpPr>
            <p:cNvPr id="102" name="Text Box 121"/>
            <p:cNvSpPr/>
            <p:nvPr/>
          </p:nvSpPr>
          <p:spPr>
            <a:xfrm rot="19463400">
              <a:off x="5006880" y="4883040"/>
              <a:ext cx="761760" cy="3949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1743</a:t>
              </a:r>
              <a:endParaRPr b="0" lang="en-US" sz="2000" spc="-1" strike="noStrike">
                <a:solidFill>
                  <a:srgbClr val="000000"/>
                </a:solidFill>
                <a:latin typeface="Arial"/>
              </a:endParaRPr>
            </a:p>
          </p:txBody>
        </p:sp>
        <p:sp>
          <p:nvSpPr>
            <p:cNvPr id="103" name="Text Box 122"/>
            <p:cNvSpPr/>
            <p:nvPr/>
          </p:nvSpPr>
          <p:spPr>
            <a:xfrm rot="20910600">
              <a:off x="5118120" y="4146120"/>
              <a:ext cx="7617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1843</a:t>
              </a:r>
              <a:endParaRPr b="0" lang="en-US" sz="2000" spc="-1" strike="noStrike">
                <a:solidFill>
                  <a:srgbClr val="000000"/>
                </a:solidFill>
                <a:latin typeface="Arial"/>
              </a:endParaRPr>
            </a:p>
          </p:txBody>
        </p:sp>
        <p:sp>
          <p:nvSpPr>
            <p:cNvPr id="104" name="Text Box 123"/>
            <p:cNvSpPr/>
            <p:nvPr/>
          </p:nvSpPr>
          <p:spPr>
            <a:xfrm rot="2626200">
              <a:off x="8417880" y="5348880"/>
              <a:ext cx="761760" cy="3942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1099</a:t>
              </a:r>
              <a:endParaRPr b="0" lang="en-US" sz="2000" spc="-1" strike="noStrike">
                <a:solidFill>
                  <a:srgbClr val="000000"/>
                </a:solidFill>
                <a:latin typeface="Arial"/>
              </a:endParaRPr>
            </a:p>
          </p:txBody>
        </p:sp>
        <p:sp>
          <p:nvSpPr>
            <p:cNvPr id="105" name="Text Box 124"/>
            <p:cNvSpPr/>
            <p:nvPr/>
          </p:nvSpPr>
          <p:spPr>
            <a:xfrm rot="565800">
              <a:off x="7359840" y="5653440"/>
              <a:ext cx="7617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1120</a:t>
              </a:r>
              <a:endParaRPr b="0" lang="en-US" sz="2000" spc="-1" strike="noStrike">
                <a:solidFill>
                  <a:srgbClr val="000000"/>
                </a:solidFill>
                <a:latin typeface="Arial"/>
              </a:endParaRPr>
            </a:p>
          </p:txBody>
        </p:sp>
        <p:sp>
          <p:nvSpPr>
            <p:cNvPr id="106" name="Text Box 125"/>
            <p:cNvSpPr/>
            <p:nvPr/>
          </p:nvSpPr>
          <p:spPr>
            <a:xfrm rot="696000">
              <a:off x="5161320" y="5472720"/>
              <a:ext cx="7617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1233</a:t>
              </a:r>
              <a:endParaRPr b="0" lang="en-US" sz="2000" spc="-1" strike="noStrike">
                <a:solidFill>
                  <a:srgbClr val="000000"/>
                </a:solidFill>
                <a:latin typeface="Arial"/>
              </a:endParaRPr>
            </a:p>
          </p:txBody>
        </p:sp>
        <p:sp>
          <p:nvSpPr>
            <p:cNvPr id="107" name="Text Box 126"/>
            <p:cNvSpPr/>
            <p:nvPr/>
          </p:nvSpPr>
          <p:spPr>
            <a:xfrm rot="4665000">
              <a:off x="4385880" y="5011920"/>
              <a:ext cx="6159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337</a:t>
              </a:r>
              <a:endParaRPr b="0" lang="en-US" sz="2000" spc="-1" strike="noStrike">
                <a:solidFill>
                  <a:srgbClr val="000000"/>
                </a:solidFill>
                <a:latin typeface="Arial"/>
              </a:endParaRPr>
            </a:p>
          </p:txBody>
        </p:sp>
        <p:sp>
          <p:nvSpPr>
            <p:cNvPr id="108" name="Text Box 127"/>
            <p:cNvSpPr/>
            <p:nvPr/>
          </p:nvSpPr>
          <p:spPr>
            <a:xfrm rot="832800">
              <a:off x="3312000" y="5288400"/>
              <a:ext cx="7617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2555</a:t>
              </a:r>
              <a:endParaRPr b="0" lang="en-US" sz="2000" spc="-1" strike="noStrike">
                <a:solidFill>
                  <a:srgbClr val="000000"/>
                </a:solidFill>
                <a:latin typeface="Arial"/>
              </a:endParaRPr>
            </a:p>
          </p:txBody>
        </p:sp>
        <p:sp>
          <p:nvSpPr>
            <p:cNvPr id="109" name="Text Box 128"/>
            <p:cNvSpPr/>
            <p:nvPr/>
          </p:nvSpPr>
          <p:spPr>
            <a:xfrm rot="19708200">
              <a:off x="8171640" y="4281480"/>
              <a:ext cx="615600" cy="3949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142</a:t>
              </a:r>
              <a:endParaRPr b="0" lang="en-US" sz="2000" spc="-1" strike="noStrike">
                <a:solidFill>
                  <a:srgbClr val="000000"/>
                </a:solidFill>
                <a:latin typeface="Arial"/>
              </a:endParaRPr>
            </a:p>
          </p:txBody>
        </p:sp>
      </p:gr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77">
                                            <p:txEl>
                                              <p:pRg st="4" end="4"/>
                                            </p:txEl>
                                          </p:spTgt>
                                        </p:tgtEl>
                                        <p:attrNameLst>
                                          <p:attrName>style.visibility</p:attrName>
                                        </p:attrNameLst>
                                      </p:cBhvr>
                                      <p:to>
                                        <p:strVal val="visible"/>
                                      </p:to>
                                    </p:set>
                                  </p:childTnLst>
                                </p:cTn>
                              </p:par>
                              <p:par>
                                <p:cTn id="7" nodeType="withEffect" fill="hold" presetClass="entr" presetID="1">
                                  <p:stCondLst>
                                    <p:cond delay="0"/>
                                  </p:stCondLst>
                                  <p:childTnLst>
                                    <p:set>
                                      <p:cBhvr>
                                        <p:cTn id="8" dur="1" fill="hold">
                                          <p:stCondLst>
                                            <p:cond delay="0"/>
                                          </p:stCondLst>
                                        </p:cTn>
                                        <p:tgtEl>
                                          <p:spTgt spid="77">
                                            <p:txEl>
                                              <p:pRg st="5" end="5"/>
                                            </p:txEl>
                                          </p:spTgt>
                                        </p:tgtEl>
                                        <p:attrNameLst>
                                          <p:attrName>style.visibility</p:attrName>
                                        </p:attrNameLst>
                                      </p:cBhvr>
                                      <p:to>
                                        <p:strVal val="visible"/>
                                      </p:to>
                                    </p:set>
                                  </p:childTnLst>
                                </p:cTn>
                              </p:par>
                              <p:par>
                                <p:cTn id="9" nodeType="withEffect" fill="hold" presetClass="entr" presetID="1">
                                  <p:stCondLst>
                                    <p:cond delay="0"/>
                                  </p:stCondLst>
                                  <p:childTnLst>
                                    <p:set>
                                      <p:cBhvr>
                                        <p:cTn id="10" dur="1" fill="hold">
                                          <p:stCondLst>
                                            <p:cond delay="0"/>
                                          </p:stCondLst>
                                        </p:cTn>
                                        <p:tgtEl>
                                          <p:spTgt spid="77">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Applications</a:t>
            </a:r>
            <a:endParaRPr b="0" lang="en-US" sz="4400" spc="-1" strike="noStrike">
              <a:solidFill>
                <a:srgbClr val="000000"/>
              </a:solidFill>
              <a:latin typeface="Arial"/>
            </a:endParaRPr>
          </a:p>
        </p:txBody>
      </p:sp>
      <p:sp>
        <p:nvSpPr>
          <p:cNvPr id="111" name="PlaceHolder 2"/>
          <p:cNvSpPr>
            <a:spLocks noGrp="1"/>
          </p:cNvSpPr>
          <p:nvPr>
            <p:ph/>
          </p:nvPr>
        </p:nvSpPr>
        <p:spPr>
          <a:xfrm>
            <a:off x="838080" y="1107000"/>
            <a:ext cx="637524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Electronic circuits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Printed circuit board</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Integrated circuit</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Transportation networks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Highway network</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Flight network</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Computer networks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Local area network</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Internet</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Web</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Databases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Entity-relationship diagram</a:t>
            </a:r>
            <a:endParaRPr b="0" lang="en-US" sz="2000" spc="-1" strike="noStrike">
              <a:solidFill>
                <a:srgbClr val="000000"/>
              </a:solidFill>
              <a:latin typeface="Arial"/>
            </a:endParaRPr>
          </a:p>
        </p:txBody>
      </p:sp>
      <p:sp>
        <p:nvSpPr>
          <p:cNvPr id="112" name="PlaceHolder 3"/>
          <p:cNvSpPr>
            <a:spLocks noGrp="1"/>
          </p:cNvSpPr>
          <p:nvPr>
            <p:ph type="sldNum" idx="29"/>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432C7DA1-976E-416F-9D25-844DD82856DA}" type="slidenum">
              <a:rPr b="0" lang="en-US" sz="1400" spc="-1" strike="noStrike">
                <a:solidFill>
                  <a:schemeClr val="dk1">
                    <a:tint val="75000"/>
                  </a:schemeClr>
                </a:solidFill>
                <a:latin typeface="Tahoma"/>
                <a:ea typeface="MS PGothic"/>
              </a:rPr>
              <a:t>3</a:t>
            </a:fld>
            <a:endParaRPr b="0" lang="en-US" sz="1400" spc="-1" strike="noStrike">
              <a:solidFill>
                <a:srgbClr val="000000"/>
              </a:solidFill>
              <a:latin typeface="Times New Roman"/>
            </a:endParaRPr>
          </a:p>
        </p:txBody>
      </p:sp>
      <p:graphicFrame>
        <p:nvGraphicFramePr>
          <p:cNvPr id="113" name="Object 2052"/>
          <p:cNvGraphicFramePr/>
          <p:nvPr/>
        </p:nvGraphicFramePr>
        <p:xfrm>
          <a:off x="3494160" y="1188360"/>
          <a:ext cx="8075880" cy="5085000"/>
        </p:xfrm>
        <a:graphic>
          <a:graphicData uri="http://schemas.openxmlformats.org/presentationml/2006/ole">
            <p:oleObj progId="Visio.Drawing.6" r:id="rId1" spid="">
              <p:embed/>
              <p:pic>
                <p:nvPicPr>
                  <p:cNvPr id="114" name="Object 2052" descr=""/>
                  <p:cNvPicPr/>
                  <p:nvPr/>
                </p:nvPicPr>
                <p:blipFill>
                  <a:blip r:embed="rId2"/>
                  <a:stretch/>
                </p:blipFill>
                <p:spPr>
                  <a:xfrm>
                    <a:off x="3494160" y="1188360"/>
                    <a:ext cx="8075880" cy="5085000"/>
                  </a:xfrm>
                  <a:prstGeom prst="rect">
                    <a:avLst/>
                  </a:prstGeom>
                  <a:ln w="0">
                    <a:noFill/>
                  </a:ln>
                </p:spPr>
              </p:pic>
            </p:oleObj>
          </a:graphicData>
        </a:graphic>
      </p:graphicFrame>
    </p:spTree>
  </p:cSld>
  <mc:AlternateContent>
    <mc:Choice Requires="p14">
      <p:transition spd="slow" p14:dur="2000"/>
    </mc:Choice>
    <mc:Fallback>
      <p:transition spd="slow"/>
    </mc:Fallback>
  </mc:AlternateContent>
  <p:timing>
    <p:tnLst>
      <p:par>
        <p:cTn id="11" dur="indefinite" restart="never" nodeType="tmRoot">
          <p:childTnLst>
            <p:seq>
              <p:cTn id="12" dur="indefinite" nodeType="mainSeq">
                <p:childTnLst>
                  <p:par>
                    <p:cTn id="13" fill="hold">
                      <p:stCondLst>
                        <p:cond delay="indefinite"/>
                      </p:stCondLst>
                      <p:childTnLst>
                        <p:par>
                          <p:cTn id="14" fill="hold">
                            <p:stCondLst>
                              <p:cond delay="0"/>
                            </p:stCondLst>
                            <p:childTnLst>
                              <p:par>
                                <p:cTn id="15" nodeType="clickEffect" fill="hold" presetClass="entr" presetID="1">
                                  <p:stCondLst>
                                    <p:cond delay="0"/>
                                  </p:stCondLst>
                                  <p:childTnLst>
                                    <p:set>
                                      <p:cBhvr>
                                        <p:cTn id="16" dur="1" fill="hold">
                                          <p:stCondLst>
                                            <p:cond delay="0"/>
                                          </p:stCondLst>
                                        </p:cTn>
                                        <p:tgtEl>
                                          <p:spTgt spid="111">
                                            <p:txEl>
                                              <p:pRg st="0" end="0"/>
                                            </p:txEl>
                                          </p:spTgt>
                                        </p:tgtEl>
                                        <p:attrNameLst>
                                          <p:attrName>style.visibility</p:attrName>
                                        </p:attrNameLst>
                                      </p:cBhvr>
                                      <p:to>
                                        <p:strVal val="visible"/>
                                      </p:to>
                                    </p:set>
                                  </p:childTnLst>
                                </p:cTn>
                              </p:par>
                              <p:par>
                                <p:cTn id="17" nodeType="withEffect" fill="hold" presetClass="entr" presetID="1">
                                  <p:stCondLst>
                                    <p:cond delay="0"/>
                                  </p:stCondLst>
                                  <p:childTnLst>
                                    <p:set>
                                      <p:cBhvr>
                                        <p:cTn id="18" dur="1" fill="hold">
                                          <p:stCondLst>
                                            <p:cond delay="0"/>
                                          </p:stCondLst>
                                        </p:cTn>
                                        <p:tgtEl>
                                          <p:spTgt spid="111">
                                            <p:txEl>
                                              <p:pRg st="1" end="1"/>
                                            </p:txEl>
                                          </p:spTgt>
                                        </p:tgtEl>
                                        <p:attrNameLst>
                                          <p:attrName>style.visibility</p:attrName>
                                        </p:attrNameLst>
                                      </p:cBhvr>
                                      <p:to>
                                        <p:strVal val="visible"/>
                                      </p:to>
                                    </p:set>
                                  </p:childTnLst>
                                </p:cTn>
                              </p:par>
                              <p:par>
                                <p:cTn id="19" nodeType="withEffect" fill="hold" presetClass="entr" presetID="1">
                                  <p:stCondLst>
                                    <p:cond delay="0"/>
                                  </p:stCondLst>
                                  <p:childTnLst>
                                    <p:set>
                                      <p:cBhvr>
                                        <p:cTn id="20" dur="1" fill="hold">
                                          <p:stCondLst>
                                            <p:cond delay="0"/>
                                          </p:stCondLst>
                                        </p:cTn>
                                        <p:tgtEl>
                                          <p:spTgt spid="111">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111">
                                            <p:txEl>
                                              <p:pRg st="3" end="3"/>
                                            </p:txEl>
                                          </p:spTgt>
                                        </p:tgtEl>
                                        <p:attrNameLst>
                                          <p:attrName>style.visibility</p:attrName>
                                        </p:attrNameLst>
                                      </p:cBhvr>
                                      <p:to>
                                        <p:strVal val="visible"/>
                                      </p:to>
                                    </p:set>
                                  </p:childTnLst>
                                </p:cTn>
                              </p:par>
                              <p:par>
                                <p:cTn id="25" nodeType="withEffect" fill="hold" presetClass="entr" presetID="1">
                                  <p:stCondLst>
                                    <p:cond delay="0"/>
                                  </p:stCondLst>
                                  <p:childTnLst>
                                    <p:set>
                                      <p:cBhvr>
                                        <p:cTn id="26" dur="1" fill="hold">
                                          <p:stCondLst>
                                            <p:cond delay="0"/>
                                          </p:stCondLst>
                                        </p:cTn>
                                        <p:tgtEl>
                                          <p:spTgt spid="111">
                                            <p:txEl>
                                              <p:pRg st="4" end="4"/>
                                            </p:txEl>
                                          </p:spTgt>
                                        </p:tgtEl>
                                        <p:attrNameLst>
                                          <p:attrName>style.visibility</p:attrName>
                                        </p:attrNameLst>
                                      </p:cBhvr>
                                      <p:to>
                                        <p:strVal val="visible"/>
                                      </p:to>
                                    </p:set>
                                  </p:childTnLst>
                                </p:cTn>
                              </p:par>
                              <p:par>
                                <p:cTn id="27" nodeType="withEffect" fill="hold" presetClass="entr" presetID="1">
                                  <p:stCondLst>
                                    <p:cond delay="0"/>
                                  </p:stCondLst>
                                  <p:childTnLst>
                                    <p:set>
                                      <p:cBhvr>
                                        <p:cTn id="28" dur="1" fill="hold">
                                          <p:stCondLst>
                                            <p:cond delay="0"/>
                                          </p:stCondLst>
                                        </p:cTn>
                                        <p:tgtEl>
                                          <p:spTgt spid="111">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nodeType="clickEffect" fill="hold" presetClass="entr" presetID="1">
                                  <p:stCondLst>
                                    <p:cond delay="0"/>
                                  </p:stCondLst>
                                  <p:childTnLst>
                                    <p:set>
                                      <p:cBhvr>
                                        <p:cTn id="32" dur="1" fill="hold">
                                          <p:stCondLst>
                                            <p:cond delay="0"/>
                                          </p:stCondLst>
                                        </p:cTn>
                                        <p:tgtEl>
                                          <p:spTgt spid="111">
                                            <p:txEl>
                                              <p:pRg st="6" end="6"/>
                                            </p:txEl>
                                          </p:spTgt>
                                        </p:tgtEl>
                                        <p:attrNameLst>
                                          <p:attrName>style.visibility</p:attrName>
                                        </p:attrNameLst>
                                      </p:cBhvr>
                                      <p:to>
                                        <p:strVal val="visible"/>
                                      </p:to>
                                    </p:set>
                                  </p:childTnLst>
                                </p:cTn>
                              </p:par>
                              <p:par>
                                <p:cTn id="33" nodeType="withEffect" fill="hold" presetClass="entr" presetID="1">
                                  <p:stCondLst>
                                    <p:cond delay="0"/>
                                  </p:stCondLst>
                                  <p:childTnLst>
                                    <p:set>
                                      <p:cBhvr>
                                        <p:cTn id="34" dur="1" fill="hold">
                                          <p:stCondLst>
                                            <p:cond delay="0"/>
                                          </p:stCondLst>
                                        </p:cTn>
                                        <p:tgtEl>
                                          <p:spTgt spid="111">
                                            <p:txEl>
                                              <p:pRg st="7" end="7"/>
                                            </p:txEl>
                                          </p:spTgt>
                                        </p:tgtEl>
                                        <p:attrNameLst>
                                          <p:attrName>style.visibility</p:attrName>
                                        </p:attrNameLst>
                                      </p:cBhvr>
                                      <p:to>
                                        <p:strVal val="visible"/>
                                      </p:to>
                                    </p:set>
                                  </p:childTnLst>
                                </p:cTn>
                              </p:par>
                              <p:par>
                                <p:cTn id="35" nodeType="withEffect" fill="hold" presetClass="entr" presetID="1">
                                  <p:stCondLst>
                                    <p:cond delay="0"/>
                                  </p:stCondLst>
                                  <p:childTnLst>
                                    <p:set>
                                      <p:cBhvr>
                                        <p:cTn id="36" dur="1" fill="hold">
                                          <p:stCondLst>
                                            <p:cond delay="0"/>
                                          </p:stCondLst>
                                        </p:cTn>
                                        <p:tgtEl>
                                          <p:spTgt spid="111">
                                            <p:txEl>
                                              <p:pRg st="8" end="8"/>
                                            </p:txEl>
                                          </p:spTgt>
                                        </p:tgtEl>
                                        <p:attrNameLst>
                                          <p:attrName>style.visibility</p:attrName>
                                        </p:attrNameLst>
                                      </p:cBhvr>
                                      <p:to>
                                        <p:strVal val="visible"/>
                                      </p:to>
                                    </p:set>
                                  </p:childTnLst>
                                </p:cTn>
                              </p:par>
                              <p:par>
                                <p:cTn id="37" nodeType="withEffect" fill="hold" presetClass="entr" presetID="1">
                                  <p:stCondLst>
                                    <p:cond delay="0"/>
                                  </p:stCondLst>
                                  <p:childTnLst>
                                    <p:set>
                                      <p:cBhvr>
                                        <p:cTn id="38" dur="1" fill="hold">
                                          <p:stCondLst>
                                            <p:cond delay="0"/>
                                          </p:stCondLst>
                                        </p:cTn>
                                        <p:tgtEl>
                                          <p:spTgt spid="111">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111">
                                            <p:txEl>
                                              <p:pRg st="10" end="10"/>
                                            </p:txEl>
                                          </p:spTgt>
                                        </p:tgtEl>
                                        <p:attrNameLst>
                                          <p:attrName>style.visibility</p:attrName>
                                        </p:attrNameLst>
                                      </p:cBhvr>
                                      <p:to>
                                        <p:strVal val="visible"/>
                                      </p:to>
                                    </p:set>
                                  </p:childTnLst>
                                </p:cTn>
                              </p:par>
                              <p:par>
                                <p:cTn id="43" nodeType="withEffect" fill="hold" presetClass="entr" presetID="1">
                                  <p:stCondLst>
                                    <p:cond delay="0"/>
                                  </p:stCondLst>
                                  <p:childTnLst>
                                    <p:set>
                                      <p:cBhvr>
                                        <p:cTn id="44" dur="1" fill="hold">
                                          <p:stCondLst>
                                            <p:cond delay="0"/>
                                          </p:stCondLst>
                                        </p:cTn>
                                        <p:tgtEl>
                                          <p:spTgt spid="111">
                                            <p:txEl>
                                              <p:pRg st="11" end="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Edge Types</a:t>
            </a:r>
            <a:endParaRPr b="0" lang="en-US" sz="4400" spc="-1" strike="noStrike">
              <a:solidFill>
                <a:srgbClr val="000000"/>
              </a:solidFill>
              <a:latin typeface="Arial"/>
            </a:endParaRPr>
          </a:p>
        </p:txBody>
      </p:sp>
      <p:sp>
        <p:nvSpPr>
          <p:cNvPr id="116" name="PlaceHolder 2"/>
          <p:cNvSpPr>
            <a:spLocks noGrp="1"/>
          </p:cNvSpPr>
          <p:nvPr>
            <p:ph/>
          </p:nvPr>
        </p:nvSpPr>
        <p:spPr>
          <a:xfrm>
            <a:off x="838080" y="1107000"/>
            <a:ext cx="10514160" cy="506844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Directed edge</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ordered pair of vertices</a:t>
            </a:r>
            <a:r>
              <a:rPr b="0" lang="en-US" sz="1800" spc="-1" strike="noStrike">
                <a:solidFill>
                  <a:schemeClr val="dk1"/>
                </a:solidFill>
                <a:latin typeface="Times New Roman"/>
              </a:rPr>
              <a:t> (</a:t>
            </a:r>
            <a:r>
              <a:rPr b="1" i="1" lang="en-US" sz="1800" spc="-1" strike="noStrike">
                <a:solidFill>
                  <a:schemeClr val="dk1"/>
                </a:solidFill>
                <a:latin typeface="Times New Roman"/>
              </a:rPr>
              <a:t>u</a:t>
            </a:r>
            <a:r>
              <a:rPr b="0" lang="en-US" sz="1800" spc="-1" strike="noStrike">
                <a:solidFill>
                  <a:schemeClr val="dk1"/>
                </a:solidFill>
                <a:latin typeface="Times New Roman"/>
              </a:rPr>
              <a:t>,</a:t>
            </a:r>
            <a:r>
              <a:rPr b="1" i="1" lang="en-US" sz="1800" spc="-1" strike="noStrike">
                <a:solidFill>
                  <a:schemeClr val="dk1"/>
                </a:solidFill>
                <a:latin typeface="Times New Roman"/>
              </a:rPr>
              <a:t>v</a:t>
            </a:r>
            <a:r>
              <a:rPr b="0" lang="en-US" sz="1800" spc="-1" strike="noStrike">
                <a:solidFill>
                  <a:schemeClr val="dk1"/>
                </a:solidFill>
                <a:latin typeface="Times New Roman"/>
              </a:rPr>
              <a:t>)</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first vertex </a:t>
            </a:r>
            <a:r>
              <a:rPr b="1" i="1" lang="en-US" sz="1800" spc="-1" strike="noStrike">
                <a:solidFill>
                  <a:schemeClr val="dk1"/>
                </a:solidFill>
                <a:latin typeface="Times New Roman"/>
              </a:rPr>
              <a:t>u</a:t>
            </a:r>
            <a:r>
              <a:rPr b="0" lang="en-US" sz="1800" spc="-1" strike="noStrike">
                <a:solidFill>
                  <a:schemeClr val="dk1"/>
                </a:solidFill>
                <a:latin typeface="Calibri"/>
              </a:rPr>
              <a:t> is the origin</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second vertex </a:t>
            </a:r>
            <a:r>
              <a:rPr b="1" i="1" lang="en-US" sz="1800" spc="-1" strike="noStrike">
                <a:solidFill>
                  <a:schemeClr val="dk1"/>
                </a:solidFill>
                <a:latin typeface="Times New Roman"/>
              </a:rPr>
              <a:t>v</a:t>
            </a:r>
            <a:r>
              <a:rPr b="0" lang="en-US" sz="1800" spc="-1" strike="noStrike">
                <a:solidFill>
                  <a:schemeClr val="dk1"/>
                </a:solidFill>
                <a:latin typeface="Calibri"/>
              </a:rPr>
              <a:t> is the destination</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e.g., a flight</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Undirected edge</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unordered pair of vertices</a:t>
            </a:r>
            <a:r>
              <a:rPr b="0" lang="en-US" sz="1800" spc="-1" strike="noStrike">
                <a:solidFill>
                  <a:schemeClr val="dk1"/>
                </a:solidFill>
                <a:latin typeface="Times New Roman"/>
              </a:rPr>
              <a:t> (</a:t>
            </a:r>
            <a:r>
              <a:rPr b="1" i="1" lang="en-US" sz="1800" spc="-1" strike="noStrike">
                <a:solidFill>
                  <a:schemeClr val="dk1"/>
                </a:solidFill>
                <a:latin typeface="Times New Roman"/>
              </a:rPr>
              <a:t>u</a:t>
            </a:r>
            <a:r>
              <a:rPr b="0" lang="en-US" sz="1800" spc="-1" strike="noStrike">
                <a:solidFill>
                  <a:schemeClr val="dk1"/>
                </a:solidFill>
                <a:latin typeface="Times New Roman"/>
              </a:rPr>
              <a:t>,</a:t>
            </a:r>
            <a:r>
              <a:rPr b="1" i="1" lang="en-US" sz="1800" spc="-1" strike="noStrike">
                <a:solidFill>
                  <a:schemeClr val="dk1"/>
                </a:solidFill>
                <a:latin typeface="Times New Roman"/>
              </a:rPr>
              <a:t>v</a:t>
            </a:r>
            <a:r>
              <a:rPr b="0" lang="en-US" sz="1800" spc="-1" strike="noStrike">
                <a:solidFill>
                  <a:schemeClr val="dk1"/>
                </a:solidFill>
                <a:latin typeface="Times New Roman"/>
              </a:rPr>
              <a:t>)</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e.g., a flight route</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Directed graph</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all the edges are directed</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e.g., route network</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Undirected graph</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all the edges are undirected</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e.g., flight network</a:t>
            </a:r>
            <a:endParaRPr b="0" lang="en-US" sz="1800" spc="-1" strike="noStrike">
              <a:solidFill>
                <a:srgbClr val="000000"/>
              </a:solidFill>
              <a:latin typeface="Arial"/>
            </a:endParaRPr>
          </a:p>
        </p:txBody>
      </p:sp>
      <p:sp>
        <p:nvSpPr>
          <p:cNvPr id="117" name="PlaceHolder 3"/>
          <p:cNvSpPr>
            <a:spLocks noGrp="1"/>
          </p:cNvSpPr>
          <p:nvPr>
            <p:ph type="sldNum" idx="30"/>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53133062-9951-48A0-BE6F-80F822823655}" type="slidenum">
              <a:rPr b="0" lang="en-US" sz="1400" spc="-1" strike="noStrike">
                <a:solidFill>
                  <a:schemeClr val="dk1">
                    <a:tint val="75000"/>
                  </a:schemeClr>
                </a:solidFill>
                <a:latin typeface="Tahoma"/>
                <a:ea typeface="MS PGothic"/>
              </a:rPr>
              <a:t>4</a:t>
            </a:fld>
            <a:endParaRPr b="0" lang="en-US" sz="1400" spc="-1" strike="noStrike">
              <a:solidFill>
                <a:srgbClr val="000000"/>
              </a:solidFill>
              <a:latin typeface="Times New Roman"/>
            </a:endParaRPr>
          </a:p>
        </p:txBody>
      </p:sp>
      <p:sp>
        <p:nvSpPr>
          <p:cNvPr id="118" name="Oval 4"/>
          <p:cNvSpPr/>
          <p:nvPr/>
        </p:nvSpPr>
        <p:spPr>
          <a:xfrm>
            <a:off x="6781680" y="220032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ORD</a:t>
            </a:r>
            <a:endParaRPr b="0" lang="en-US" sz="2400" spc="-1" strike="noStrike">
              <a:solidFill>
                <a:srgbClr val="ffffff"/>
              </a:solidFill>
              <a:latin typeface="Arial"/>
            </a:endParaRPr>
          </a:p>
        </p:txBody>
      </p:sp>
      <p:sp>
        <p:nvSpPr>
          <p:cNvPr id="119" name="Oval 5"/>
          <p:cNvSpPr/>
          <p:nvPr/>
        </p:nvSpPr>
        <p:spPr>
          <a:xfrm>
            <a:off x="9274320" y="220032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PVD</a:t>
            </a:r>
            <a:endParaRPr b="0" lang="en-US" sz="2400" spc="-1" strike="noStrike">
              <a:solidFill>
                <a:srgbClr val="ffffff"/>
              </a:solidFill>
              <a:latin typeface="Arial"/>
            </a:endParaRPr>
          </a:p>
        </p:txBody>
      </p:sp>
      <p:cxnSp>
        <p:nvCxnSpPr>
          <p:cNvPr id="120" name="AutoShape 7"/>
          <p:cNvCxnSpPr>
            <a:stCxn id="118" idx="6"/>
            <a:endCxn id="119" idx="2"/>
          </p:cNvCxnSpPr>
          <p:nvPr/>
        </p:nvCxnSpPr>
        <p:spPr>
          <a:xfrm>
            <a:off x="7716960" y="2428200"/>
            <a:ext cx="1557720" cy="360"/>
          </a:xfrm>
          <a:prstGeom prst="straightConnector1">
            <a:avLst/>
          </a:prstGeom>
          <a:ln w="19050">
            <a:solidFill>
              <a:srgbClr val="000000"/>
            </a:solidFill>
            <a:round/>
            <a:tailEnd len="med" type="triangle" w="med"/>
          </a:ln>
        </p:spPr>
      </p:cxnSp>
      <p:sp>
        <p:nvSpPr>
          <p:cNvPr id="121" name="Text Box 8"/>
          <p:cNvSpPr/>
          <p:nvPr/>
        </p:nvSpPr>
        <p:spPr>
          <a:xfrm>
            <a:off x="7496280" y="1981080"/>
            <a:ext cx="1986120" cy="821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2400" spc="-1" strike="noStrike">
                <a:solidFill>
                  <a:schemeClr val="dk1"/>
                </a:solidFill>
                <a:latin typeface="Tahoma"/>
                <a:ea typeface="MS PGothic"/>
              </a:rPr>
              <a:t>flight</a:t>
            </a:r>
            <a:endParaRPr b="0" lang="en-US" sz="2400" spc="-1" strike="noStrike">
              <a:solidFill>
                <a:srgbClr val="000000"/>
              </a:solidFill>
              <a:latin typeface="Arial"/>
            </a:endParaRPr>
          </a:p>
          <a:p>
            <a:pPr algn="ctr" defTabSz="457200">
              <a:lnSpc>
                <a:spcPct val="100000"/>
              </a:lnSpc>
            </a:pPr>
            <a:r>
              <a:rPr b="0" lang="en-US" sz="2400" spc="-1" strike="noStrike">
                <a:solidFill>
                  <a:schemeClr val="dk1"/>
                </a:solidFill>
                <a:latin typeface="Tahoma"/>
                <a:ea typeface="MS PGothic"/>
              </a:rPr>
              <a:t>AA 1206</a:t>
            </a:r>
            <a:endParaRPr b="0" lang="en-US" sz="2400" spc="-1" strike="noStrike">
              <a:solidFill>
                <a:srgbClr val="000000"/>
              </a:solidFill>
              <a:latin typeface="Arial"/>
            </a:endParaRPr>
          </a:p>
        </p:txBody>
      </p:sp>
      <p:sp>
        <p:nvSpPr>
          <p:cNvPr id="122" name="Oval 9"/>
          <p:cNvSpPr/>
          <p:nvPr/>
        </p:nvSpPr>
        <p:spPr>
          <a:xfrm>
            <a:off x="6791400" y="353700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ORD</a:t>
            </a:r>
            <a:endParaRPr b="0" lang="en-US" sz="2400" spc="-1" strike="noStrike">
              <a:solidFill>
                <a:srgbClr val="ffffff"/>
              </a:solidFill>
              <a:latin typeface="Arial"/>
            </a:endParaRPr>
          </a:p>
        </p:txBody>
      </p:sp>
      <p:sp>
        <p:nvSpPr>
          <p:cNvPr id="123" name="Oval 10"/>
          <p:cNvSpPr/>
          <p:nvPr/>
        </p:nvSpPr>
        <p:spPr>
          <a:xfrm>
            <a:off x="9283680" y="353700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PVD</a:t>
            </a:r>
            <a:endParaRPr b="0" lang="en-US" sz="2400" spc="-1" strike="noStrike">
              <a:solidFill>
                <a:srgbClr val="ffffff"/>
              </a:solidFill>
              <a:latin typeface="Arial"/>
            </a:endParaRPr>
          </a:p>
        </p:txBody>
      </p:sp>
      <p:cxnSp>
        <p:nvCxnSpPr>
          <p:cNvPr id="124" name="AutoShape 11"/>
          <p:cNvCxnSpPr>
            <a:stCxn id="122" idx="6"/>
            <a:endCxn id="123" idx="2"/>
          </p:cNvCxnSpPr>
          <p:nvPr/>
        </p:nvCxnSpPr>
        <p:spPr>
          <a:xfrm>
            <a:off x="7726680" y="3764880"/>
            <a:ext cx="1557360" cy="360"/>
          </a:xfrm>
          <a:prstGeom prst="straightConnector1">
            <a:avLst/>
          </a:prstGeom>
          <a:ln w="19050">
            <a:solidFill>
              <a:srgbClr val="000000"/>
            </a:solidFill>
            <a:round/>
          </a:ln>
        </p:spPr>
      </p:cxnSp>
      <p:sp>
        <p:nvSpPr>
          <p:cNvPr id="125" name="Text Box 12"/>
          <p:cNvSpPr/>
          <p:nvPr/>
        </p:nvSpPr>
        <p:spPr>
          <a:xfrm>
            <a:off x="8024400" y="3352680"/>
            <a:ext cx="938520" cy="8211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400" spc="-1" strike="noStrike">
                <a:solidFill>
                  <a:schemeClr val="dk1"/>
                </a:solidFill>
                <a:latin typeface="Tahoma"/>
                <a:ea typeface="MS PGothic"/>
              </a:rPr>
              <a:t>849</a:t>
            </a:r>
            <a:endParaRPr b="0" lang="en-US" sz="2400" spc="-1" strike="noStrike">
              <a:solidFill>
                <a:srgbClr val="000000"/>
              </a:solidFill>
              <a:latin typeface="Arial"/>
            </a:endParaRPr>
          </a:p>
          <a:p>
            <a:pPr algn="ctr" defTabSz="457200">
              <a:lnSpc>
                <a:spcPct val="100000"/>
              </a:lnSpc>
            </a:pPr>
            <a:r>
              <a:rPr b="0" lang="en-US" sz="2400" spc="-1" strike="noStrike">
                <a:solidFill>
                  <a:schemeClr val="dk1"/>
                </a:solidFill>
                <a:latin typeface="Tahoma"/>
                <a:ea typeface="MS PGothic"/>
              </a:rPr>
              <a:t>miles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Terminology</a:t>
            </a:r>
            <a:endParaRPr b="0" lang="en-US" sz="4400" spc="-1" strike="noStrike">
              <a:solidFill>
                <a:srgbClr val="000000"/>
              </a:solidFill>
              <a:latin typeface="Arial"/>
            </a:endParaRPr>
          </a:p>
        </p:txBody>
      </p:sp>
      <p:sp>
        <p:nvSpPr>
          <p:cNvPr id="127" name="PlaceHolder 2"/>
          <p:cNvSpPr>
            <a:spLocks noGrp="1"/>
          </p:cNvSpPr>
          <p:nvPr>
            <p:ph/>
          </p:nvPr>
        </p:nvSpPr>
        <p:spPr>
          <a:xfrm>
            <a:off x="838080" y="1107000"/>
            <a:ext cx="10514160" cy="506844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End vertices (or endpoints) of an edge</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U and V are the endpoints of a</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Edges incident on a vertex</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a, d, and b are incident on V</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Adjacent/Neighbor vertices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U and V are adjacent</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Degree of a vertex</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X has degree 5 </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Parallel edges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h and i are parallel edges</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Self-loop</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j is a self-loop</a:t>
            </a:r>
            <a:endParaRPr b="0" lang="en-US" sz="1800" spc="-1" strike="noStrike">
              <a:solidFill>
                <a:srgbClr val="000000"/>
              </a:solidFill>
              <a:latin typeface="Arial"/>
            </a:endParaRPr>
          </a:p>
        </p:txBody>
      </p:sp>
      <p:sp>
        <p:nvSpPr>
          <p:cNvPr id="128" name="PlaceHolder 3"/>
          <p:cNvSpPr>
            <a:spLocks noGrp="1"/>
          </p:cNvSpPr>
          <p:nvPr>
            <p:ph type="sldNum" idx="31"/>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882CE3D7-073F-464B-9A93-9F63C97B0158}" type="slidenum">
              <a:rPr b="0" lang="en-US" sz="1400" spc="-1" strike="noStrike">
                <a:solidFill>
                  <a:schemeClr val="dk1">
                    <a:tint val="75000"/>
                  </a:schemeClr>
                </a:solidFill>
                <a:latin typeface="Tahoma"/>
                <a:ea typeface="MS PGothic"/>
              </a:rPr>
              <a:t>5</a:t>
            </a:fld>
            <a:endParaRPr b="0" lang="en-US" sz="1400" spc="-1" strike="noStrike">
              <a:solidFill>
                <a:srgbClr val="000000"/>
              </a:solidFill>
              <a:latin typeface="Times New Roman"/>
            </a:endParaRPr>
          </a:p>
        </p:txBody>
      </p:sp>
      <p:grpSp>
        <p:nvGrpSpPr>
          <p:cNvPr id="129" name="Group 32"/>
          <p:cNvGrpSpPr/>
          <p:nvPr/>
        </p:nvGrpSpPr>
        <p:grpSpPr>
          <a:xfrm>
            <a:off x="6870240" y="1828800"/>
            <a:ext cx="4190760" cy="3198960"/>
            <a:chOff x="6870240" y="1828800"/>
            <a:chExt cx="4190760" cy="3198960"/>
          </a:xfrm>
        </p:grpSpPr>
        <p:sp>
          <p:nvSpPr>
            <p:cNvPr id="130" name="Oval 4"/>
            <p:cNvSpPr/>
            <p:nvPr/>
          </p:nvSpPr>
          <p:spPr>
            <a:xfrm>
              <a:off x="8699040" y="27432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X</a:t>
              </a:r>
              <a:endParaRPr b="0" lang="en-US" sz="2400" spc="-1" strike="noStrike">
                <a:solidFill>
                  <a:srgbClr val="ffffff"/>
                </a:solidFill>
                <a:latin typeface="Arial"/>
              </a:endParaRPr>
            </a:p>
          </p:txBody>
        </p:sp>
        <p:sp>
          <p:nvSpPr>
            <p:cNvPr id="131" name="Oval 5"/>
            <p:cNvSpPr/>
            <p:nvPr/>
          </p:nvSpPr>
          <p:spPr>
            <a:xfrm>
              <a:off x="6870240" y="27432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U</a:t>
              </a:r>
              <a:endParaRPr b="0" lang="en-US" sz="2400" spc="-1" strike="noStrike">
                <a:solidFill>
                  <a:srgbClr val="ffffff"/>
                </a:solidFill>
                <a:latin typeface="Arial"/>
              </a:endParaRPr>
            </a:p>
          </p:txBody>
        </p:sp>
        <p:sp>
          <p:nvSpPr>
            <p:cNvPr id="132" name="Oval 6"/>
            <p:cNvSpPr/>
            <p:nvPr/>
          </p:nvSpPr>
          <p:spPr>
            <a:xfrm>
              <a:off x="7784640" y="18288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V</a:t>
              </a:r>
              <a:endParaRPr b="0" lang="en-US" sz="2400" spc="-1" strike="noStrike">
                <a:solidFill>
                  <a:srgbClr val="ffffff"/>
                </a:solidFill>
                <a:latin typeface="Arial"/>
              </a:endParaRPr>
            </a:p>
          </p:txBody>
        </p:sp>
        <p:sp>
          <p:nvSpPr>
            <p:cNvPr id="133" name="Oval 7"/>
            <p:cNvSpPr/>
            <p:nvPr/>
          </p:nvSpPr>
          <p:spPr>
            <a:xfrm>
              <a:off x="7784640" y="36576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W</a:t>
              </a:r>
              <a:endParaRPr b="0" lang="en-US" sz="2400" spc="-1" strike="noStrike">
                <a:solidFill>
                  <a:srgbClr val="ffffff"/>
                </a:solidFill>
                <a:latin typeface="Arial"/>
              </a:endParaRPr>
            </a:p>
          </p:txBody>
        </p:sp>
        <p:sp>
          <p:nvSpPr>
            <p:cNvPr id="134" name="Oval 8"/>
            <p:cNvSpPr/>
            <p:nvPr/>
          </p:nvSpPr>
          <p:spPr>
            <a:xfrm>
              <a:off x="9918360" y="27432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Z</a:t>
              </a:r>
              <a:endParaRPr b="0" lang="en-US" sz="2400" spc="-1" strike="noStrike">
                <a:solidFill>
                  <a:srgbClr val="ffffff"/>
                </a:solidFill>
                <a:latin typeface="Arial"/>
              </a:endParaRPr>
            </a:p>
          </p:txBody>
        </p:sp>
        <p:cxnSp>
          <p:nvCxnSpPr>
            <p:cNvPr id="135" name="AutoShape 9"/>
            <p:cNvCxnSpPr>
              <a:stCxn id="132" idx="3"/>
              <a:endCxn id="131" idx="7"/>
            </p:cNvCxnSpPr>
            <p:nvPr/>
          </p:nvCxnSpPr>
          <p:spPr>
            <a:xfrm flipH="1">
              <a:off x="7259400" y="2217960"/>
              <a:ext cx="592200" cy="592200"/>
            </a:xfrm>
            <a:prstGeom prst="straightConnector1">
              <a:avLst/>
            </a:prstGeom>
            <a:ln w="19050">
              <a:solidFill>
                <a:srgbClr val="000000"/>
              </a:solidFill>
              <a:round/>
            </a:ln>
          </p:spPr>
        </p:cxnSp>
        <p:cxnSp>
          <p:nvCxnSpPr>
            <p:cNvPr id="136" name="AutoShape 10"/>
            <p:cNvCxnSpPr>
              <a:stCxn id="133" idx="1"/>
              <a:endCxn id="131" idx="5"/>
            </p:cNvCxnSpPr>
            <p:nvPr/>
          </p:nvCxnSpPr>
          <p:spPr>
            <a:xfrm flipH="1" flipV="1">
              <a:off x="7259400" y="3132360"/>
              <a:ext cx="592200" cy="592200"/>
            </a:xfrm>
            <a:prstGeom prst="straightConnector1">
              <a:avLst/>
            </a:prstGeom>
            <a:ln w="19050">
              <a:solidFill>
                <a:srgbClr val="000000"/>
              </a:solidFill>
              <a:round/>
            </a:ln>
          </p:spPr>
        </p:cxnSp>
        <p:cxnSp>
          <p:nvCxnSpPr>
            <p:cNvPr id="137" name="AutoShape 11"/>
            <p:cNvCxnSpPr>
              <a:stCxn id="133" idx="7"/>
              <a:endCxn id="130" idx="3"/>
            </p:cNvCxnSpPr>
            <p:nvPr/>
          </p:nvCxnSpPr>
          <p:spPr>
            <a:xfrm flipV="1">
              <a:off x="8173800" y="3132360"/>
              <a:ext cx="592200" cy="592200"/>
            </a:xfrm>
            <a:prstGeom prst="straightConnector1">
              <a:avLst/>
            </a:prstGeom>
            <a:ln w="19050">
              <a:solidFill>
                <a:srgbClr val="000000"/>
              </a:solidFill>
              <a:round/>
            </a:ln>
          </p:spPr>
        </p:cxnSp>
        <p:cxnSp>
          <p:nvCxnSpPr>
            <p:cNvPr id="138" name="AutoShape 13"/>
            <p:cNvCxnSpPr>
              <a:stCxn id="132" idx="5"/>
              <a:endCxn id="130" idx="1"/>
            </p:cNvCxnSpPr>
            <p:nvPr/>
          </p:nvCxnSpPr>
          <p:spPr>
            <a:xfrm>
              <a:off x="8173800" y="2217960"/>
              <a:ext cx="592200" cy="592200"/>
            </a:xfrm>
            <a:prstGeom prst="straightConnector1">
              <a:avLst/>
            </a:prstGeom>
            <a:ln w="19050">
              <a:solidFill>
                <a:srgbClr val="000000"/>
              </a:solidFill>
              <a:round/>
            </a:ln>
          </p:spPr>
        </p:cxnSp>
        <p:cxnSp>
          <p:nvCxnSpPr>
            <p:cNvPr id="139" name="AutoShape 14"/>
            <p:cNvCxnSpPr>
              <a:stCxn id="132" idx="4"/>
              <a:endCxn id="133" idx="0"/>
            </p:cNvCxnSpPr>
            <p:nvPr/>
          </p:nvCxnSpPr>
          <p:spPr>
            <a:xfrm>
              <a:off x="8012520" y="2284560"/>
              <a:ext cx="360" cy="1373400"/>
            </a:xfrm>
            <a:prstGeom prst="straightConnector1">
              <a:avLst/>
            </a:prstGeom>
            <a:ln w="19050">
              <a:solidFill>
                <a:srgbClr val="000000"/>
              </a:solidFill>
              <a:round/>
            </a:ln>
          </p:spPr>
        </p:cxnSp>
        <p:sp>
          <p:nvSpPr>
            <p:cNvPr id="140" name="Oval 15"/>
            <p:cNvSpPr/>
            <p:nvPr/>
          </p:nvSpPr>
          <p:spPr>
            <a:xfrm>
              <a:off x="8708400" y="45720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Y</a:t>
              </a:r>
              <a:endParaRPr b="0" lang="en-US" sz="2400" spc="-1" strike="noStrike">
                <a:solidFill>
                  <a:srgbClr val="ffffff"/>
                </a:solidFill>
                <a:latin typeface="Arial"/>
              </a:endParaRPr>
            </a:p>
          </p:txBody>
        </p:sp>
        <p:cxnSp>
          <p:nvCxnSpPr>
            <p:cNvPr id="141" name="AutoShape 16"/>
            <p:cNvCxnSpPr>
              <a:stCxn id="133" idx="5"/>
              <a:endCxn id="140" idx="1"/>
            </p:cNvCxnSpPr>
            <p:nvPr/>
          </p:nvCxnSpPr>
          <p:spPr>
            <a:xfrm>
              <a:off x="8173800" y="4046760"/>
              <a:ext cx="601560" cy="592200"/>
            </a:xfrm>
            <a:prstGeom prst="straightConnector1">
              <a:avLst/>
            </a:prstGeom>
            <a:ln w="19050">
              <a:solidFill>
                <a:srgbClr val="000000"/>
              </a:solidFill>
              <a:round/>
            </a:ln>
          </p:spPr>
        </p:cxnSp>
        <p:cxnSp>
          <p:nvCxnSpPr>
            <p:cNvPr id="142" name="AutoShape 17"/>
            <p:cNvCxnSpPr>
              <a:stCxn id="130" idx="4"/>
              <a:endCxn id="140" idx="0"/>
            </p:cNvCxnSpPr>
            <p:nvPr/>
          </p:nvCxnSpPr>
          <p:spPr>
            <a:xfrm>
              <a:off x="8926920" y="3198960"/>
              <a:ext cx="9720" cy="1373400"/>
            </a:xfrm>
            <a:prstGeom prst="straightConnector1">
              <a:avLst/>
            </a:prstGeom>
            <a:ln w="19050">
              <a:solidFill>
                <a:srgbClr val="000000"/>
              </a:solidFill>
              <a:round/>
            </a:ln>
          </p:spPr>
        </p:cxnSp>
        <p:sp>
          <p:nvSpPr>
            <p:cNvPr id="143" name="Text Box 18"/>
            <p:cNvSpPr/>
            <p:nvPr/>
          </p:nvSpPr>
          <p:spPr>
            <a:xfrm>
              <a:off x="7257960" y="2066760"/>
              <a:ext cx="35028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a</a:t>
              </a:r>
              <a:endParaRPr b="0" lang="en-US" sz="2400" spc="-1" strike="noStrike">
                <a:solidFill>
                  <a:srgbClr val="000000"/>
                </a:solidFill>
                <a:latin typeface="Arial"/>
              </a:endParaRPr>
            </a:p>
          </p:txBody>
        </p:sp>
        <p:sp>
          <p:nvSpPr>
            <p:cNvPr id="144" name="Text Box 19"/>
            <p:cNvSpPr/>
            <p:nvPr/>
          </p:nvSpPr>
          <p:spPr>
            <a:xfrm>
              <a:off x="7247520" y="3209760"/>
              <a:ext cx="3258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c</a:t>
              </a:r>
              <a:endParaRPr b="0" lang="en-US" sz="2400" spc="-1" strike="noStrike">
                <a:solidFill>
                  <a:srgbClr val="000000"/>
                </a:solidFill>
                <a:latin typeface="Arial"/>
              </a:endParaRPr>
            </a:p>
          </p:txBody>
        </p:sp>
        <p:sp>
          <p:nvSpPr>
            <p:cNvPr id="145" name="Text Box 20"/>
            <p:cNvSpPr/>
            <p:nvPr/>
          </p:nvSpPr>
          <p:spPr>
            <a:xfrm>
              <a:off x="8415360" y="2066760"/>
              <a:ext cx="3672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b</a:t>
              </a:r>
              <a:endParaRPr b="0" lang="en-US" sz="2400" spc="-1" strike="noStrike">
                <a:solidFill>
                  <a:srgbClr val="000000"/>
                </a:solidFill>
                <a:latin typeface="Arial"/>
              </a:endParaRPr>
            </a:p>
          </p:txBody>
        </p:sp>
        <p:sp>
          <p:nvSpPr>
            <p:cNvPr id="146" name="Text Box 21"/>
            <p:cNvSpPr/>
            <p:nvPr/>
          </p:nvSpPr>
          <p:spPr>
            <a:xfrm>
              <a:off x="8424720" y="3257640"/>
              <a:ext cx="35028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e</a:t>
              </a:r>
              <a:endParaRPr b="0" lang="en-US" sz="2400" spc="-1" strike="noStrike">
                <a:solidFill>
                  <a:srgbClr val="000000"/>
                </a:solidFill>
                <a:latin typeface="Arial"/>
              </a:endParaRPr>
            </a:p>
          </p:txBody>
        </p:sp>
        <p:sp>
          <p:nvSpPr>
            <p:cNvPr id="147" name="Text Box 22"/>
            <p:cNvSpPr/>
            <p:nvPr/>
          </p:nvSpPr>
          <p:spPr>
            <a:xfrm>
              <a:off x="7967520" y="2743200"/>
              <a:ext cx="3672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d</a:t>
              </a:r>
              <a:endParaRPr b="0" lang="en-US" sz="2400" spc="-1" strike="noStrike">
                <a:solidFill>
                  <a:srgbClr val="000000"/>
                </a:solidFill>
                <a:latin typeface="Arial"/>
              </a:endParaRPr>
            </a:p>
          </p:txBody>
        </p:sp>
        <p:sp>
          <p:nvSpPr>
            <p:cNvPr id="148" name="Text Box 23"/>
            <p:cNvSpPr/>
            <p:nvPr/>
          </p:nvSpPr>
          <p:spPr>
            <a:xfrm>
              <a:off x="8247240" y="4276800"/>
              <a:ext cx="28332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f</a:t>
              </a:r>
              <a:endParaRPr b="0" lang="en-US" sz="2400" spc="-1" strike="noStrike">
                <a:solidFill>
                  <a:srgbClr val="000000"/>
                </a:solidFill>
                <a:latin typeface="Arial"/>
              </a:endParaRPr>
            </a:p>
          </p:txBody>
        </p:sp>
        <p:sp>
          <p:nvSpPr>
            <p:cNvPr id="149" name="Text Box 24"/>
            <p:cNvSpPr/>
            <p:nvPr/>
          </p:nvSpPr>
          <p:spPr>
            <a:xfrm>
              <a:off x="8881920" y="3714840"/>
              <a:ext cx="3672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g</a:t>
              </a:r>
              <a:endParaRPr b="0" lang="en-US" sz="2400" spc="-1" strike="noStrike">
                <a:solidFill>
                  <a:srgbClr val="000000"/>
                </a:solidFill>
                <a:latin typeface="Arial"/>
              </a:endParaRPr>
            </a:p>
          </p:txBody>
        </p:sp>
        <p:sp>
          <p:nvSpPr>
            <p:cNvPr id="150" name="Text Box 25"/>
            <p:cNvSpPr/>
            <p:nvPr/>
          </p:nvSpPr>
          <p:spPr>
            <a:xfrm>
              <a:off x="9388440" y="2286000"/>
              <a:ext cx="3672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h</a:t>
              </a:r>
              <a:endParaRPr b="0" lang="en-US" sz="2400" spc="-1" strike="noStrike">
                <a:solidFill>
                  <a:srgbClr val="000000"/>
                </a:solidFill>
                <a:latin typeface="Arial"/>
              </a:endParaRPr>
            </a:p>
          </p:txBody>
        </p:sp>
        <p:sp>
          <p:nvSpPr>
            <p:cNvPr id="151" name="Text Box 26"/>
            <p:cNvSpPr/>
            <p:nvPr/>
          </p:nvSpPr>
          <p:spPr>
            <a:xfrm>
              <a:off x="9441720" y="3276720"/>
              <a:ext cx="2574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i</a:t>
              </a:r>
              <a:endParaRPr b="0" lang="en-US" sz="2400" spc="-1" strike="noStrike">
                <a:solidFill>
                  <a:srgbClr val="000000"/>
                </a:solidFill>
                <a:latin typeface="Arial"/>
              </a:endParaRPr>
            </a:p>
          </p:txBody>
        </p:sp>
        <p:sp>
          <p:nvSpPr>
            <p:cNvPr id="152" name="Text Box 27"/>
            <p:cNvSpPr/>
            <p:nvPr/>
          </p:nvSpPr>
          <p:spPr>
            <a:xfrm>
              <a:off x="10803240" y="2286000"/>
              <a:ext cx="25776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j</a:t>
              </a:r>
              <a:endParaRPr b="0" lang="en-US" sz="2400" spc="-1" strike="noStrike">
                <a:solidFill>
                  <a:srgbClr val="000000"/>
                </a:solidFill>
                <a:latin typeface="Arial"/>
              </a:endParaRPr>
            </a:p>
          </p:txBody>
        </p:sp>
        <p:cxnSp>
          <p:nvCxnSpPr>
            <p:cNvPr id="153" name="AutoShape 29"/>
            <p:cNvCxnSpPr>
              <a:stCxn id="130" idx="5"/>
              <a:endCxn id="134" idx="3"/>
            </p:cNvCxnSpPr>
            <p:nvPr/>
          </p:nvCxnSpPr>
          <p:spPr>
            <a:xfrm>
              <a:off x="9088200" y="3132360"/>
              <a:ext cx="897120" cy="360"/>
            </a:xfrm>
            <a:prstGeom prst="curvedConnector2">
              <a:avLst/>
            </a:prstGeom>
            <a:ln w="19050">
              <a:solidFill>
                <a:srgbClr val="000000"/>
              </a:solidFill>
              <a:round/>
            </a:ln>
          </p:spPr>
        </p:cxnSp>
        <p:cxnSp>
          <p:nvCxnSpPr>
            <p:cNvPr id="154" name="AutoShape 30"/>
            <p:cNvCxnSpPr>
              <a:stCxn id="130" idx="7"/>
              <a:endCxn id="134" idx="1"/>
            </p:cNvCxnSpPr>
            <p:nvPr/>
          </p:nvCxnSpPr>
          <p:spPr>
            <a:xfrm>
              <a:off x="9088200" y="2809800"/>
              <a:ext cx="897120" cy="360"/>
            </a:xfrm>
            <a:prstGeom prst="curvedConnector2">
              <a:avLst/>
            </a:prstGeom>
            <a:ln w="19050">
              <a:solidFill>
                <a:srgbClr val="000000"/>
              </a:solidFill>
              <a:round/>
            </a:ln>
          </p:spPr>
        </p:cxnSp>
        <p:cxnSp>
          <p:nvCxnSpPr>
            <p:cNvPr id="155" name="AutoShape 31"/>
            <p:cNvCxnSpPr>
              <a:stCxn id="134" idx="5"/>
              <a:endCxn id="134" idx="7"/>
            </p:cNvCxnSpPr>
            <p:nvPr/>
          </p:nvCxnSpPr>
          <p:spPr>
            <a:xfrm>
              <a:off x="10307520" y="2809800"/>
              <a:ext cx="360" cy="322920"/>
            </a:xfrm>
            <a:prstGeom prst="curvedConnector3">
              <a:avLst>
                <a:gd name="adj1" fmla="val 77000000"/>
              </a:avLst>
            </a:prstGeom>
            <a:ln w="19050">
              <a:solidFill>
                <a:srgbClr val="000000"/>
              </a:solidFill>
              <a:round/>
            </a:ln>
          </p:spPr>
        </p:cxnSp>
      </p:grpSp>
    </p:spTree>
  </p:cSld>
  <mc:AlternateContent>
    <mc:Choice Requires="p14">
      <p:transition spd="slow" p14:dur="2000"/>
    </mc:Choice>
    <mc:Fallback>
      <p:transition spd="slow"/>
    </mc:Fallback>
  </mc:AlternateContent>
  <p:timing>
    <p:tnLst>
      <p:par>
        <p:cTn id="45" dur="indefinite" restart="never" nodeType="tmRoot">
          <p:childTnLst>
            <p:seq>
              <p:cTn id="46" dur="indefinite" nodeType="mainSeq">
                <p:childTnLst>
                  <p:par>
                    <p:cTn id="47" fill="hold">
                      <p:stCondLst>
                        <p:cond delay="indefinite"/>
                      </p:stCondLst>
                      <p:childTnLst>
                        <p:par>
                          <p:cTn id="48" fill="hold">
                            <p:stCondLst>
                              <p:cond delay="0"/>
                            </p:stCondLst>
                            <p:childTnLst>
                              <p:par>
                                <p:cTn id="49" nodeType="clickEffect" fill="hold" presetClass="entr" presetID="1">
                                  <p:stCondLst>
                                    <p:cond delay="0"/>
                                  </p:stCondLst>
                                  <p:childTnLst>
                                    <p:set>
                                      <p:cBhvr>
                                        <p:cTn id="50" dur="1" fill="hold">
                                          <p:stCondLst>
                                            <p:cond delay="0"/>
                                          </p:stCondLst>
                                        </p:cTn>
                                        <p:tgtEl>
                                          <p:spTgt spid="127">
                                            <p:txEl>
                                              <p:pRg st="0" end="0"/>
                                            </p:txEl>
                                          </p:spTgt>
                                        </p:tgtEl>
                                        <p:attrNameLst>
                                          <p:attrName>style.visibility</p:attrName>
                                        </p:attrNameLst>
                                      </p:cBhvr>
                                      <p:to>
                                        <p:strVal val="visible"/>
                                      </p:to>
                                    </p:set>
                                  </p:childTnLst>
                                </p:cTn>
                              </p:par>
                              <p:par>
                                <p:cTn id="51" nodeType="withEffect" fill="hold" presetClass="entr" presetID="1">
                                  <p:stCondLst>
                                    <p:cond delay="0"/>
                                  </p:stCondLst>
                                  <p:childTnLst>
                                    <p:set>
                                      <p:cBhvr>
                                        <p:cTn id="52" dur="1" fill="hold">
                                          <p:stCondLst>
                                            <p:cond delay="0"/>
                                          </p:stCondLst>
                                        </p:cTn>
                                        <p:tgtEl>
                                          <p:spTgt spid="127">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127">
                                            <p:txEl>
                                              <p:pRg st="2" end="2"/>
                                            </p:txEl>
                                          </p:spTgt>
                                        </p:tgtEl>
                                        <p:attrNameLst>
                                          <p:attrName>style.visibility</p:attrName>
                                        </p:attrNameLst>
                                      </p:cBhvr>
                                      <p:to>
                                        <p:strVal val="visible"/>
                                      </p:to>
                                    </p:set>
                                  </p:childTnLst>
                                </p:cTn>
                              </p:par>
                              <p:par>
                                <p:cTn id="57" nodeType="withEffect" fill="hold" presetClass="entr" presetID="1">
                                  <p:stCondLst>
                                    <p:cond delay="0"/>
                                  </p:stCondLst>
                                  <p:childTnLst>
                                    <p:set>
                                      <p:cBhvr>
                                        <p:cTn id="58" dur="1" fill="hold">
                                          <p:stCondLst>
                                            <p:cond delay="0"/>
                                          </p:stCondLst>
                                        </p:cTn>
                                        <p:tgtEl>
                                          <p:spTgt spid="127">
                                            <p:txEl>
                                              <p:pRg st="3" end="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nodeType="clickEffect" fill="hold" presetClass="entr" presetID="1">
                                  <p:stCondLst>
                                    <p:cond delay="0"/>
                                  </p:stCondLst>
                                  <p:childTnLst>
                                    <p:set>
                                      <p:cBhvr>
                                        <p:cTn id="62" dur="1" fill="hold">
                                          <p:stCondLst>
                                            <p:cond delay="0"/>
                                          </p:stCondLst>
                                        </p:cTn>
                                        <p:tgtEl>
                                          <p:spTgt spid="127">
                                            <p:txEl>
                                              <p:pRg st="4" end="4"/>
                                            </p:txEl>
                                          </p:spTgt>
                                        </p:tgtEl>
                                        <p:attrNameLst>
                                          <p:attrName>style.visibility</p:attrName>
                                        </p:attrNameLst>
                                      </p:cBhvr>
                                      <p:to>
                                        <p:strVal val="visible"/>
                                      </p:to>
                                    </p:set>
                                  </p:childTnLst>
                                </p:cTn>
                              </p:par>
                              <p:par>
                                <p:cTn id="63" nodeType="withEffect" fill="hold" presetClass="entr" presetID="1">
                                  <p:stCondLst>
                                    <p:cond delay="0"/>
                                  </p:stCondLst>
                                  <p:childTnLst>
                                    <p:set>
                                      <p:cBhvr>
                                        <p:cTn id="64" dur="1" fill="hold">
                                          <p:stCondLst>
                                            <p:cond delay="0"/>
                                          </p:stCondLst>
                                        </p:cTn>
                                        <p:tgtEl>
                                          <p:spTgt spid="127">
                                            <p:txEl>
                                              <p:pRg st="5" end="5"/>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nodeType="clickEffect" fill="hold" presetClass="entr" presetID="1">
                                  <p:stCondLst>
                                    <p:cond delay="0"/>
                                  </p:stCondLst>
                                  <p:childTnLst>
                                    <p:set>
                                      <p:cBhvr>
                                        <p:cTn id="68" dur="1" fill="hold">
                                          <p:stCondLst>
                                            <p:cond delay="0"/>
                                          </p:stCondLst>
                                        </p:cTn>
                                        <p:tgtEl>
                                          <p:spTgt spid="127">
                                            <p:txEl>
                                              <p:pRg st="6" end="6"/>
                                            </p:txEl>
                                          </p:spTgt>
                                        </p:tgtEl>
                                        <p:attrNameLst>
                                          <p:attrName>style.visibility</p:attrName>
                                        </p:attrNameLst>
                                      </p:cBhvr>
                                      <p:to>
                                        <p:strVal val="visible"/>
                                      </p:to>
                                    </p:set>
                                  </p:childTnLst>
                                </p:cTn>
                              </p:par>
                              <p:par>
                                <p:cTn id="69" nodeType="withEffect" fill="hold" presetClass="entr" presetID="1">
                                  <p:stCondLst>
                                    <p:cond delay="0"/>
                                  </p:stCondLst>
                                  <p:childTnLst>
                                    <p:set>
                                      <p:cBhvr>
                                        <p:cTn id="70" dur="1" fill="hold">
                                          <p:stCondLst>
                                            <p:cond delay="0"/>
                                          </p:stCondLst>
                                        </p:cTn>
                                        <p:tgtEl>
                                          <p:spTgt spid="127">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127">
                                            <p:txEl>
                                              <p:pRg st="8" end="8"/>
                                            </p:txEl>
                                          </p:spTgt>
                                        </p:tgtEl>
                                        <p:attrNameLst>
                                          <p:attrName>style.visibility</p:attrName>
                                        </p:attrNameLst>
                                      </p:cBhvr>
                                      <p:to>
                                        <p:strVal val="visible"/>
                                      </p:to>
                                    </p:set>
                                  </p:childTnLst>
                                </p:cTn>
                              </p:par>
                              <p:par>
                                <p:cTn id="75" nodeType="withEffect" fill="hold" presetClass="entr" presetID="1">
                                  <p:stCondLst>
                                    <p:cond delay="0"/>
                                  </p:stCondLst>
                                  <p:childTnLst>
                                    <p:set>
                                      <p:cBhvr>
                                        <p:cTn id="76" dur="1" fill="hold">
                                          <p:stCondLst>
                                            <p:cond delay="0"/>
                                          </p:stCondLst>
                                        </p:cTn>
                                        <p:tgtEl>
                                          <p:spTgt spid="127">
                                            <p:txEl>
                                              <p:pRg st="9" end="9"/>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nodeType="clickEffect" fill="hold" presetClass="entr" presetID="1">
                                  <p:stCondLst>
                                    <p:cond delay="0"/>
                                  </p:stCondLst>
                                  <p:childTnLst>
                                    <p:set>
                                      <p:cBhvr>
                                        <p:cTn id="80" dur="1" fill="hold">
                                          <p:stCondLst>
                                            <p:cond delay="0"/>
                                          </p:stCondLst>
                                        </p:cTn>
                                        <p:tgtEl>
                                          <p:spTgt spid="127">
                                            <p:txEl>
                                              <p:pRg st="10" end="10"/>
                                            </p:txEl>
                                          </p:spTgt>
                                        </p:tgtEl>
                                        <p:attrNameLst>
                                          <p:attrName>style.visibility</p:attrName>
                                        </p:attrNameLst>
                                      </p:cBhvr>
                                      <p:to>
                                        <p:strVal val="visible"/>
                                      </p:to>
                                    </p:set>
                                  </p:childTnLst>
                                </p:cTn>
                              </p:par>
                              <p:par>
                                <p:cTn id="81" nodeType="withEffect" fill="hold" presetClass="entr" presetID="1">
                                  <p:stCondLst>
                                    <p:cond delay="0"/>
                                  </p:stCondLst>
                                  <p:childTnLst>
                                    <p:set>
                                      <p:cBhvr>
                                        <p:cTn id="82" dur="1" fill="hold">
                                          <p:stCondLst>
                                            <p:cond delay="0"/>
                                          </p:stCondLst>
                                        </p:cTn>
                                        <p:tgtEl>
                                          <p:spTgt spid="127">
                                            <p:txEl>
                                              <p:pRg st="11" end="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Terminology – continued </a:t>
            </a:r>
            <a:endParaRPr b="0" lang="en-US" sz="4400" spc="-1" strike="noStrike">
              <a:solidFill>
                <a:srgbClr val="000000"/>
              </a:solidFill>
              <a:latin typeface="Arial"/>
            </a:endParaRPr>
          </a:p>
        </p:txBody>
      </p:sp>
      <p:sp>
        <p:nvSpPr>
          <p:cNvPr id="157" name="PlaceHolder 2"/>
          <p:cNvSpPr>
            <a:spLocks noGrp="1"/>
          </p:cNvSpPr>
          <p:nvPr>
            <p:ph/>
          </p:nvPr>
        </p:nvSpPr>
        <p:spPr>
          <a:xfrm>
            <a:off x="838080" y="1107000"/>
            <a:ext cx="6464880" cy="506844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Path</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sequence of alternating vertices and edges </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begins with a vertex</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ends with a vertex</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each edge is preceded and followed by its endpoints</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Simple path</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path such that all its vertices and edges are distinct</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Examples</a:t>
            </a:r>
            <a:endParaRPr b="0" lang="en-US" sz="2000" spc="-1" strike="noStrike">
              <a:solidFill>
                <a:srgbClr val="000000"/>
              </a:solidFill>
              <a:latin typeface="Arial"/>
            </a:endParaRPr>
          </a:p>
          <a:p>
            <a:pPr lvl="1" marL="685800" indent="-228600" defTabSz="914400">
              <a:lnSpc>
                <a:spcPct val="90000"/>
              </a:lnSpc>
              <a:spcBef>
                <a:spcPts val="499"/>
              </a:spcBef>
              <a:buClr>
                <a:srgbClr val="44546a"/>
              </a:buClr>
              <a:buFont typeface="Arial"/>
              <a:buChar char="•"/>
            </a:pPr>
            <a:r>
              <a:rPr b="0" lang="en-US" sz="1800" spc="-1" strike="noStrike">
                <a:solidFill>
                  <a:schemeClr val="dk2"/>
                </a:solidFill>
                <a:latin typeface="Calibri"/>
              </a:rPr>
              <a:t>P</a:t>
            </a:r>
            <a:r>
              <a:rPr b="0" lang="en-US" sz="1800" spc="-1" strike="noStrike" baseline="-25000">
                <a:solidFill>
                  <a:schemeClr val="dk2"/>
                </a:solidFill>
                <a:latin typeface="Calibri"/>
              </a:rPr>
              <a:t>1</a:t>
            </a:r>
            <a:r>
              <a:rPr b="0" lang="en-US" sz="1800" spc="-1" strike="noStrike">
                <a:solidFill>
                  <a:schemeClr val="dk2"/>
                </a:solidFill>
                <a:latin typeface="Calibri"/>
              </a:rPr>
              <a:t>=(V,b,X,h,Z)</a:t>
            </a:r>
            <a:r>
              <a:rPr b="0" lang="en-US" sz="1800" spc="-1" strike="noStrike">
                <a:solidFill>
                  <a:schemeClr val="dk1"/>
                </a:solidFill>
                <a:latin typeface="Calibri"/>
              </a:rPr>
              <a:t> is a simple path</a:t>
            </a:r>
            <a:endParaRPr b="0" lang="en-US" sz="1800" spc="-1" strike="noStrike">
              <a:solidFill>
                <a:srgbClr val="000000"/>
              </a:solidFill>
              <a:latin typeface="Arial"/>
            </a:endParaRPr>
          </a:p>
          <a:p>
            <a:pPr lvl="1" marL="685800" indent="-228600" defTabSz="914400">
              <a:lnSpc>
                <a:spcPct val="90000"/>
              </a:lnSpc>
              <a:spcBef>
                <a:spcPts val="499"/>
              </a:spcBef>
              <a:buClr>
                <a:srgbClr val="ed7d31"/>
              </a:buClr>
              <a:buFont typeface="Arial"/>
              <a:buChar char="•"/>
            </a:pPr>
            <a:r>
              <a:rPr b="0" lang="en-US" sz="1800" spc="-1" strike="noStrike">
                <a:solidFill>
                  <a:schemeClr val="accent2"/>
                </a:solidFill>
                <a:latin typeface="Calibri"/>
              </a:rPr>
              <a:t>P</a:t>
            </a:r>
            <a:r>
              <a:rPr b="0" lang="en-US" sz="1800" spc="-1" strike="noStrike" baseline="-25000">
                <a:solidFill>
                  <a:schemeClr val="accent2"/>
                </a:solidFill>
                <a:latin typeface="Calibri"/>
              </a:rPr>
              <a:t>2</a:t>
            </a:r>
            <a:r>
              <a:rPr b="0" lang="en-US" sz="1800" spc="-1" strike="noStrike">
                <a:solidFill>
                  <a:schemeClr val="accent2"/>
                </a:solidFill>
                <a:latin typeface="Calibri"/>
              </a:rPr>
              <a:t>=(U,c,W,e,X,g,Y,f,W,d,V)</a:t>
            </a:r>
            <a:r>
              <a:rPr b="0" lang="en-US" sz="1800" spc="-1" strike="noStrike">
                <a:solidFill>
                  <a:schemeClr val="dk1"/>
                </a:solidFill>
                <a:latin typeface="Calibri"/>
              </a:rPr>
              <a:t> is a path that is not simple</a:t>
            </a:r>
            <a:endParaRPr b="0" lang="en-US" sz="1800" spc="-1" strike="noStrike">
              <a:solidFill>
                <a:srgbClr val="000000"/>
              </a:solidFill>
              <a:latin typeface="Arial"/>
            </a:endParaRPr>
          </a:p>
        </p:txBody>
      </p:sp>
      <p:sp>
        <p:nvSpPr>
          <p:cNvPr id="158" name="PlaceHolder 3"/>
          <p:cNvSpPr>
            <a:spLocks noGrp="1"/>
          </p:cNvSpPr>
          <p:nvPr>
            <p:ph type="sldNum" idx="32"/>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3A44363B-5087-4C61-8DEE-B3CD609F628B}" type="slidenum">
              <a:rPr b="0" lang="en-US" sz="1400" spc="-1" strike="noStrike">
                <a:solidFill>
                  <a:schemeClr val="dk1">
                    <a:tint val="75000"/>
                  </a:schemeClr>
                </a:solidFill>
                <a:latin typeface="Tahoma"/>
                <a:ea typeface="MS PGothic"/>
              </a:rPr>
              <a:t>6</a:t>
            </a:fld>
            <a:endParaRPr b="0" lang="en-US" sz="1400" spc="-1" strike="noStrike">
              <a:solidFill>
                <a:srgbClr val="000000"/>
              </a:solidFill>
              <a:latin typeface="Times New Roman"/>
            </a:endParaRPr>
          </a:p>
        </p:txBody>
      </p:sp>
      <p:grpSp>
        <p:nvGrpSpPr>
          <p:cNvPr id="159" name="Group 1"/>
          <p:cNvGrpSpPr/>
          <p:nvPr/>
        </p:nvGrpSpPr>
        <p:grpSpPr>
          <a:xfrm>
            <a:off x="7666560" y="1828800"/>
            <a:ext cx="3503520" cy="3198960"/>
            <a:chOff x="7666560" y="1828800"/>
            <a:chExt cx="3503520" cy="3198960"/>
          </a:xfrm>
        </p:grpSpPr>
        <p:sp>
          <p:nvSpPr>
            <p:cNvPr id="160" name="Freeform 30"/>
            <p:cNvSpPr/>
            <p:nvPr/>
          </p:nvSpPr>
          <p:spPr>
            <a:xfrm>
              <a:off x="8133120" y="2371680"/>
              <a:ext cx="1568520" cy="2148120"/>
            </a:xfrm>
            <a:custGeom>
              <a:avLst/>
              <a:gdLst>
                <a:gd name="textAreaLeft" fmla="*/ 0 w 1568520"/>
                <a:gd name="textAreaRight" fmla="*/ 1569960 w 1568520"/>
                <a:gd name="textAreaTop" fmla="*/ 0 h 2148120"/>
                <a:gd name="textAreaBottom" fmla="*/ 2149560 h 2148120"/>
              </a:gdLst>
              <a:ahLst/>
              <a:rect l="textAreaLeft" t="textAreaTop" r="textAreaRight" b="textAreaBottom"/>
              <a:pathLst>
                <a:path w="989" h="1354">
                  <a:moveTo>
                    <a:pt x="468" y="0"/>
                  </a:moveTo>
                  <a:cubicBezTo>
                    <a:pt x="475" y="142"/>
                    <a:pt x="439" y="636"/>
                    <a:pt x="516" y="852"/>
                  </a:cubicBezTo>
                  <a:cubicBezTo>
                    <a:pt x="593" y="1068"/>
                    <a:pt x="871" y="1354"/>
                    <a:pt x="930" y="1296"/>
                  </a:cubicBezTo>
                  <a:cubicBezTo>
                    <a:pt x="989" y="1238"/>
                    <a:pt x="952" y="586"/>
                    <a:pt x="870" y="504"/>
                  </a:cubicBezTo>
                  <a:cubicBezTo>
                    <a:pt x="788" y="422"/>
                    <a:pt x="583" y="808"/>
                    <a:pt x="438" y="804"/>
                  </a:cubicBezTo>
                  <a:cubicBezTo>
                    <a:pt x="293" y="800"/>
                    <a:pt x="91" y="547"/>
                    <a:pt x="0" y="480"/>
                  </a:cubicBezTo>
                </a:path>
              </a:pathLst>
            </a:custGeom>
            <a:noFill/>
            <a:ln w="57150">
              <a:solidFill>
                <a:srgbClr val="ed7d31"/>
              </a:solidFill>
              <a:round/>
              <a:head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161" name="Text Box 29"/>
            <p:cNvSpPr/>
            <p:nvPr/>
          </p:nvSpPr>
          <p:spPr>
            <a:xfrm>
              <a:off x="9570960" y="2286000"/>
              <a:ext cx="464400" cy="505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2"/>
                  </a:solidFill>
                  <a:latin typeface="Tahoma"/>
                  <a:ea typeface="MS PGothic"/>
                </a:rPr>
                <a:t>P</a:t>
              </a:r>
              <a:r>
                <a:rPr b="0" lang="en-US" sz="2400" spc="-1" strike="noStrike" baseline="-25000">
                  <a:solidFill>
                    <a:schemeClr val="dk2"/>
                  </a:solidFill>
                  <a:latin typeface="Tahoma"/>
                  <a:ea typeface="MS PGothic"/>
                </a:rPr>
                <a:t>1</a:t>
              </a:r>
              <a:endParaRPr b="0" lang="en-US" sz="2400" spc="-1" strike="noStrike">
                <a:solidFill>
                  <a:srgbClr val="000000"/>
                </a:solidFill>
                <a:latin typeface="Arial"/>
              </a:endParaRPr>
            </a:p>
          </p:txBody>
        </p:sp>
        <p:sp>
          <p:nvSpPr>
            <p:cNvPr id="162" name="Freeform 28"/>
            <p:cNvSpPr/>
            <p:nvPr/>
          </p:nvSpPr>
          <p:spPr>
            <a:xfrm>
              <a:off x="9066600" y="2190600"/>
              <a:ext cx="1636920" cy="735120"/>
            </a:xfrm>
            <a:custGeom>
              <a:avLst/>
              <a:gdLst>
                <a:gd name="textAreaLeft" fmla="*/ 0 w 1636920"/>
                <a:gd name="textAreaRight" fmla="*/ 1638360 w 1636920"/>
                <a:gd name="textAreaTop" fmla="*/ 0 h 735120"/>
                <a:gd name="textAreaBottom" fmla="*/ 736560 h 735120"/>
              </a:gdLst>
              <a:ahLst/>
              <a:rect l="textAreaLeft" t="textAreaTop" r="textAreaRight" b="textAreaBottom"/>
              <a:pathLst>
                <a:path w="1032" h="464">
                  <a:moveTo>
                    <a:pt x="0" y="0"/>
                  </a:moveTo>
                  <a:cubicBezTo>
                    <a:pt x="77" y="66"/>
                    <a:pt x="290" y="328"/>
                    <a:pt x="462" y="396"/>
                  </a:cubicBezTo>
                  <a:cubicBezTo>
                    <a:pt x="634" y="464"/>
                    <a:pt x="913" y="406"/>
                    <a:pt x="1032" y="408"/>
                  </a:cubicBezTo>
                </a:path>
              </a:pathLst>
            </a:custGeom>
            <a:noFill/>
            <a:ln w="57150">
              <a:solidFill>
                <a:srgbClr val="44546a"/>
              </a:solidFill>
              <a:roun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163" name="Oval 4"/>
            <p:cNvSpPr/>
            <p:nvPr/>
          </p:nvSpPr>
          <p:spPr>
            <a:xfrm>
              <a:off x="9495360" y="27432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X</a:t>
              </a:r>
              <a:endParaRPr b="0" lang="en-US" sz="2400" spc="-1" strike="noStrike">
                <a:solidFill>
                  <a:srgbClr val="ffffff"/>
                </a:solidFill>
                <a:latin typeface="Arial"/>
              </a:endParaRPr>
            </a:p>
          </p:txBody>
        </p:sp>
        <p:sp>
          <p:nvSpPr>
            <p:cNvPr id="164" name="Oval 5"/>
            <p:cNvSpPr/>
            <p:nvPr/>
          </p:nvSpPr>
          <p:spPr>
            <a:xfrm>
              <a:off x="7666560" y="27432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U</a:t>
              </a:r>
              <a:endParaRPr b="0" lang="en-US" sz="2400" spc="-1" strike="noStrike">
                <a:solidFill>
                  <a:srgbClr val="ffffff"/>
                </a:solidFill>
                <a:latin typeface="Arial"/>
              </a:endParaRPr>
            </a:p>
          </p:txBody>
        </p:sp>
        <p:sp>
          <p:nvSpPr>
            <p:cNvPr id="165" name="Oval 6"/>
            <p:cNvSpPr/>
            <p:nvPr/>
          </p:nvSpPr>
          <p:spPr>
            <a:xfrm>
              <a:off x="8580960" y="18288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V</a:t>
              </a:r>
              <a:endParaRPr b="0" lang="en-US" sz="2400" spc="-1" strike="noStrike">
                <a:solidFill>
                  <a:srgbClr val="ffffff"/>
                </a:solidFill>
                <a:latin typeface="Arial"/>
              </a:endParaRPr>
            </a:p>
          </p:txBody>
        </p:sp>
        <p:sp>
          <p:nvSpPr>
            <p:cNvPr id="166" name="Oval 7"/>
            <p:cNvSpPr/>
            <p:nvPr/>
          </p:nvSpPr>
          <p:spPr>
            <a:xfrm>
              <a:off x="8580960" y="36576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W</a:t>
              </a:r>
              <a:endParaRPr b="0" lang="en-US" sz="2400" spc="-1" strike="noStrike">
                <a:solidFill>
                  <a:srgbClr val="ffffff"/>
                </a:solidFill>
                <a:latin typeface="Arial"/>
              </a:endParaRPr>
            </a:p>
          </p:txBody>
        </p:sp>
        <p:sp>
          <p:nvSpPr>
            <p:cNvPr id="167" name="Oval 8"/>
            <p:cNvSpPr/>
            <p:nvPr/>
          </p:nvSpPr>
          <p:spPr>
            <a:xfrm>
              <a:off x="10714320" y="27432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Z</a:t>
              </a:r>
              <a:endParaRPr b="0" lang="en-US" sz="2400" spc="-1" strike="noStrike">
                <a:solidFill>
                  <a:srgbClr val="ffffff"/>
                </a:solidFill>
                <a:latin typeface="Arial"/>
              </a:endParaRPr>
            </a:p>
          </p:txBody>
        </p:sp>
        <p:cxnSp>
          <p:nvCxnSpPr>
            <p:cNvPr id="168" name="AutoShape 9"/>
            <p:cNvCxnSpPr>
              <a:stCxn id="165" idx="3"/>
              <a:endCxn id="164" idx="7"/>
            </p:cNvCxnSpPr>
            <p:nvPr/>
          </p:nvCxnSpPr>
          <p:spPr>
            <a:xfrm flipH="1">
              <a:off x="8055720" y="2217960"/>
              <a:ext cx="592200" cy="592200"/>
            </a:xfrm>
            <a:prstGeom prst="straightConnector1">
              <a:avLst/>
            </a:prstGeom>
            <a:ln w="19050">
              <a:solidFill>
                <a:srgbClr val="000000"/>
              </a:solidFill>
              <a:round/>
            </a:ln>
          </p:spPr>
        </p:cxnSp>
        <p:cxnSp>
          <p:nvCxnSpPr>
            <p:cNvPr id="169" name="AutoShape 10"/>
            <p:cNvCxnSpPr>
              <a:stCxn id="166" idx="1"/>
              <a:endCxn id="164" idx="5"/>
            </p:cNvCxnSpPr>
            <p:nvPr/>
          </p:nvCxnSpPr>
          <p:spPr>
            <a:xfrm flipH="1" flipV="1">
              <a:off x="8055720" y="3132360"/>
              <a:ext cx="592200" cy="592200"/>
            </a:xfrm>
            <a:prstGeom prst="straightConnector1">
              <a:avLst/>
            </a:prstGeom>
            <a:ln w="19050">
              <a:solidFill>
                <a:srgbClr val="000000"/>
              </a:solidFill>
              <a:round/>
            </a:ln>
          </p:spPr>
        </p:cxnSp>
        <p:cxnSp>
          <p:nvCxnSpPr>
            <p:cNvPr id="170" name="AutoShape 11"/>
            <p:cNvCxnSpPr>
              <a:stCxn id="166" idx="7"/>
              <a:endCxn id="163" idx="3"/>
            </p:cNvCxnSpPr>
            <p:nvPr/>
          </p:nvCxnSpPr>
          <p:spPr>
            <a:xfrm flipV="1">
              <a:off x="8970120" y="3132360"/>
              <a:ext cx="592200" cy="592200"/>
            </a:xfrm>
            <a:prstGeom prst="straightConnector1">
              <a:avLst/>
            </a:prstGeom>
            <a:ln w="19050">
              <a:solidFill>
                <a:srgbClr val="000000"/>
              </a:solidFill>
              <a:round/>
            </a:ln>
          </p:spPr>
        </p:cxnSp>
        <p:cxnSp>
          <p:nvCxnSpPr>
            <p:cNvPr id="171" name="AutoShape 12"/>
            <p:cNvCxnSpPr>
              <a:stCxn id="163" idx="6"/>
              <a:endCxn id="167" idx="2"/>
            </p:cNvCxnSpPr>
            <p:nvPr/>
          </p:nvCxnSpPr>
          <p:spPr>
            <a:xfrm>
              <a:off x="9951120" y="2971080"/>
              <a:ext cx="763560" cy="360"/>
            </a:xfrm>
            <a:prstGeom prst="straightConnector1">
              <a:avLst/>
            </a:prstGeom>
            <a:ln w="19050">
              <a:solidFill>
                <a:srgbClr val="000000"/>
              </a:solidFill>
              <a:round/>
            </a:ln>
          </p:spPr>
        </p:cxnSp>
        <p:cxnSp>
          <p:nvCxnSpPr>
            <p:cNvPr id="172" name="AutoShape 13"/>
            <p:cNvCxnSpPr>
              <a:stCxn id="165" idx="5"/>
              <a:endCxn id="163" idx="1"/>
            </p:cNvCxnSpPr>
            <p:nvPr/>
          </p:nvCxnSpPr>
          <p:spPr>
            <a:xfrm>
              <a:off x="8970120" y="2217960"/>
              <a:ext cx="592200" cy="592200"/>
            </a:xfrm>
            <a:prstGeom prst="straightConnector1">
              <a:avLst/>
            </a:prstGeom>
            <a:ln w="19050">
              <a:solidFill>
                <a:srgbClr val="000000"/>
              </a:solidFill>
              <a:round/>
            </a:ln>
          </p:spPr>
        </p:cxnSp>
        <p:cxnSp>
          <p:nvCxnSpPr>
            <p:cNvPr id="173" name="AutoShape 14"/>
            <p:cNvCxnSpPr>
              <a:stCxn id="165" idx="4"/>
              <a:endCxn id="166" idx="0"/>
            </p:cNvCxnSpPr>
            <p:nvPr/>
          </p:nvCxnSpPr>
          <p:spPr>
            <a:xfrm>
              <a:off x="8808840" y="2284560"/>
              <a:ext cx="360" cy="1373400"/>
            </a:xfrm>
            <a:prstGeom prst="straightConnector1">
              <a:avLst/>
            </a:prstGeom>
            <a:ln w="19050">
              <a:solidFill>
                <a:srgbClr val="000000"/>
              </a:solidFill>
              <a:round/>
            </a:ln>
          </p:spPr>
        </p:cxnSp>
        <p:sp>
          <p:nvSpPr>
            <p:cNvPr id="174" name="Oval 15"/>
            <p:cNvSpPr/>
            <p:nvPr/>
          </p:nvSpPr>
          <p:spPr>
            <a:xfrm>
              <a:off x="9504720" y="45720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Y</a:t>
              </a:r>
              <a:endParaRPr b="0" lang="en-US" sz="2400" spc="-1" strike="noStrike">
                <a:solidFill>
                  <a:srgbClr val="ffffff"/>
                </a:solidFill>
                <a:latin typeface="Arial"/>
              </a:endParaRPr>
            </a:p>
          </p:txBody>
        </p:sp>
        <p:cxnSp>
          <p:nvCxnSpPr>
            <p:cNvPr id="175" name="AutoShape 16"/>
            <p:cNvCxnSpPr>
              <a:stCxn id="166" idx="5"/>
              <a:endCxn id="174" idx="1"/>
            </p:cNvCxnSpPr>
            <p:nvPr/>
          </p:nvCxnSpPr>
          <p:spPr>
            <a:xfrm>
              <a:off x="8970120" y="4046760"/>
              <a:ext cx="601560" cy="592200"/>
            </a:xfrm>
            <a:prstGeom prst="straightConnector1">
              <a:avLst/>
            </a:prstGeom>
            <a:ln w="19050">
              <a:solidFill>
                <a:srgbClr val="000000"/>
              </a:solidFill>
              <a:round/>
            </a:ln>
          </p:spPr>
        </p:cxnSp>
        <p:cxnSp>
          <p:nvCxnSpPr>
            <p:cNvPr id="176" name="AutoShape 17"/>
            <p:cNvCxnSpPr>
              <a:stCxn id="163" idx="4"/>
              <a:endCxn id="174" idx="0"/>
            </p:cNvCxnSpPr>
            <p:nvPr/>
          </p:nvCxnSpPr>
          <p:spPr>
            <a:xfrm>
              <a:off x="9723240" y="3198960"/>
              <a:ext cx="9720" cy="1373400"/>
            </a:xfrm>
            <a:prstGeom prst="straightConnector1">
              <a:avLst/>
            </a:prstGeom>
            <a:ln w="19050">
              <a:solidFill>
                <a:srgbClr val="000000"/>
              </a:solidFill>
              <a:round/>
            </a:ln>
          </p:spPr>
        </p:cxnSp>
        <p:sp>
          <p:nvSpPr>
            <p:cNvPr id="177" name="Text Box 18"/>
            <p:cNvSpPr/>
            <p:nvPr/>
          </p:nvSpPr>
          <p:spPr>
            <a:xfrm>
              <a:off x="8054280" y="2066760"/>
              <a:ext cx="35028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a</a:t>
              </a:r>
              <a:endParaRPr b="0" lang="en-US" sz="2400" spc="-1" strike="noStrike">
                <a:solidFill>
                  <a:srgbClr val="000000"/>
                </a:solidFill>
                <a:latin typeface="Arial"/>
              </a:endParaRPr>
            </a:p>
          </p:txBody>
        </p:sp>
        <p:sp>
          <p:nvSpPr>
            <p:cNvPr id="178" name="Text Box 19"/>
            <p:cNvSpPr/>
            <p:nvPr/>
          </p:nvSpPr>
          <p:spPr>
            <a:xfrm>
              <a:off x="8043840" y="3209760"/>
              <a:ext cx="3258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c</a:t>
              </a:r>
              <a:endParaRPr b="0" lang="en-US" sz="2400" spc="-1" strike="noStrike">
                <a:solidFill>
                  <a:srgbClr val="000000"/>
                </a:solidFill>
                <a:latin typeface="Arial"/>
              </a:endParaRPr>
            </a:p>
          </p:txBody>
        </p:sp>
        <p:sp>
          <p:nvSpPr>
            <p:cNvPr id="179" name="Text Box 20"/>
            <p:cNvSpPr/>
            <p:nvPr/>
          </p:nvSpPr>
          <p:spPr>
            <a:xfrm>
              <a:off x="9259200" y="2057400"/>
              <a:ext cx="3672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b</a:t>
              </a:r>
              <a:endParaRPr b="0" lang="en-US" sz="2400" spc="-1" strike="noStrike">
                <a:solidFill>
                  <a:srgbClr val="000000"/>
                </a:solidFill>
                <a:latin typeface="Arial"/>
              </a:endParaRPr>
            </a:p>
          </p:txBody>
        </p:sp>
        <p:sp>
          <p:nvSpPr>
            <p:cNvPr id="180" name="Text Box 21"/>
            <p:cNvSpPr/>
            <p:nvPr/>
          </p:nvSpPr>
          <p:spPr>
            <a:xfrm>
              <a:off x="9187560" y="3276720"/>
              <a:ext cx="35028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e</a:t>
              </a:r>
              <a:endParaRPr b="0" lang="en-US" sz="2400" spc="-1" strike="noStrike">
                <a:solidFill>
                  <a:srgbClr val="000000"/>
                </a:solidFill>
                <a:latin typeface="Arial"/>
              </a:endParaRPr>
            </a:p>
          </p:txBody>
        </p:sp>
        <p:sp>
          <p:nvSpPr>
            <p:cNvPr id="181" name="Text Box 22"/>
            <p:cNvSpPr/>
            <p:nvPr/>
          </p:nvSpPr>
          <p:spPr>
            <a:xfrm>
              <a:off x="8497080" y="2590920"/>
              <a:ext cx="3672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d</a:t>
              </a:r>
              <a:endParaRPr b="0" lang="en-US" sz="2400" spc="-1" strike="noStrike">
                <a:solidFill>
                  <a:srgbClr val="000000"/>
                </a:solidFill>
                <a:latin typeface="Arial"/>
              </a:endParaRPr>
            </a:p>
          </p:txBody>
        </p:sp>
        <p:sp>
          <p:nvSpPr>
            <p:cNvPr id="182" name="Text Box 23"/>
            <p:cNvSpPr/>
            <p:nvPr/>
          </p:nvSpPr>
          <p:spPr>
            <a:xfrm>
              <a:off x="9043200" y="4276800"/>
              <a:ext cx="28332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f</a:t>
              </a:r>
              <a:endParaRPr b="0" lang="en-US" sz="2400" spc="-1" strike="noStrike">
                <a:solidFill>
                  <a:srgbClr val="000000"/>
                </a:solidFill>
                <a:latin typeface="Arial"/>
              </a:endParaRPr>
            </a:p>
          </p:txBody>
        </p:sp>
        <p:sp>
          <p:nvSpPr>
            <p:cNvPr id="183" name="Text Box 24"/>
            <p:cNvSpPr/>
            <p:nvPr/>
          </p:nvSpPr>
          <p:spPr>
            <a:xfrm>
              <a:off x="9678240" y="3714840"/>
              <a:ext cx="3672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g</a:t>
              </a:r>
              <a:endParaRPr b="0" lang="en-US" sz="2400" spc="-1" strike="noStrike">
                <a:solidFill>
                  <a:srgbClr val="000000"/>
                </a:solidFill>
                <a:latin typeface="Arial"/>
              </a:endParaRPr>
            </a:p>
          </p:txBody>
        </p:sp>
        <p:sp>
          <p:nvSpPr>
            <p:cNvPr id="184" name="Text Box 25"/>
            <p:cNvSpPr/>
            <p:nvPr/>
          </p:nvSpPr>
          <p:spPr>
            <a:xfrm>
              <a:off x="10184760" y="2971800"/>
              <a:ext cx="3672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h</a:t>
              </a:r>
              <a:endParaRPr b="0" lang="en-US" sz="2400" spc="-1" strike="noStrike">
                <a:solidFill>
                  <a:srgbClr val="000000"/>
                </a:solidFill>
                <a:latin typeface="Arial"/>
              </a:endParaRPr>
            </a:p>
          </p:txBody>
        </p:sp>
        <p:sp>
          <p:nvSpPr>
            <p:cNvPr id="185" name="Text Box 31"/>
            <p:cNvSpPr/>
            <p:nvPr/>
          </p:nvSpPr>
          <p:spPr>
            <a:xfrm>
              <a:off x="8352000" y="2971800"/>
              <a:ext cx="464400" cy="505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accent2"/>
                  </a:solidFill>
                  <a:latin typeface="Tahoma"/>
                  <a:ea typeface="MS PGothic"/>
                </a:rPr>
                <a:t>P</a:t>
              </a:r>
              <a:r>
                <a:rPr b="0" lang="en-US" sz="2400" spc="-1" strike="noStrike" baseline="-25000">
                  <a:solidFill>
                    <a:schemeClr val="accent2"/>
                  </a:solidFill>
                  <a:latin typeface="Tahoma"/>
                  <a:ea typeface="MS PGothic"/>
                </a:rPr>
                <a:t>2</a:t>
              </a:r>
              <a:endParaRPr b="0" lang="en-US" sz="2400" spc="-1" strike="noStrike">
                <a:solidFill>
                  <a:srgbClr val="000000"/>
                </a:solidFill>
                <a:latin typeface="Arial"/>
              </a:endParaRPr>
            </a:p>
          </p:txBody>
        </p:sp>
      </p:grpSp>
    </p:spTree>
  </p:cSld>
  <mc:AlternateContent>
    <mc:Choice Requires="p14">
      <p:transition spd="slow" p14:dur="2000"/>
    </mc:Choice>
    <mc:Fallback>
      <p:transition spd="slow"/>
    </mc:Fallback>
  </mc:AlternateContent>
  <p:timing>
    <p:tnLst>
      <p:par>
        <p:cTn id="83" dur="indefinite" restart="never" nodeType="tmRoot">
          <p:childTnLst>
            <p:seq>
              <p:cTn id="84" dur="indefinite" nodeType="mainSeq">
                <p:childTnLst>
                  <p:par>
                    <p:cTn id="85" fill="hold">
                      <p:stCondLst>
                        <p:cond delay="indefinite"/>
                      </p:stCondLst>
                      <p:childTnLst>
                        <p:par>
                          <p:cTn id="86" fill="hold">
                            <p:stCondLst>
                              <p:cond delay="0"/>
                            </p:stCondLst>
                            <p:childTnLst>
                              <p:par>
                                <p:cTn id="87" nodeType="clickEffect" fill="hold" presetClass="entr" presetID="1">
                                  <p:stCondLst>
                                    <p:cond delay="0"/>
                                  </p:stCondLst>
                                  <p:childTnLst>
                                    <p:set>
                                      <p:cBhvr>
                                        <p:cTn id="88" dur="1" fill="hold">
                                          <p:stCondLst>
                                            <p:cond delay="0"/>
                                          </p:stCondLst>
                                        </p:cTn>
                                        <p:tgtEl>
                                          <p:spTgt spid="157">
                                            <p:txEl>
                                              <p:pRg st="0" end="0"/>
                                            </p:txEl>
                                          </p:spTgt>
                                        </p:tgtEl>
                                        <p:attrNameLst>
                                          <p:attrName>style.visibility</p:attrName>
                                        </p:attrNameLst>
                                      </p:cBhvr>
                                      <p:to>
                                        <p:strVal val="visible"/>
                                      </p:to>
                                    </p:set>
                                  </p:childTnLst>
                                </p:cTn>
                              </p:par>
                              <p:par>
                                <p:cTn id="89" nodeType="withEffect" fill="hold" presetClass="entr" presetID="1">
                                  <p:stCondLst>
                                    <p:cond delay="0"/>
                                  </p:stCondLst>
                                  <p:childTnLst>
                                    <p:set>
                                      <p:cBhvr>
                                        <p:cTn id="90" dur="1" fill="hold">
                                          <p:stCondLst>
                                            <p:cond delay="0"/>
                                          </p:stCondLst>
                                        </p:cTn>
                                        <p:tgtEl>
                                          <p:spTgt spid="157">
                                            <p:txEl>
                                              <p:pRg st="1" end="1"/>
                                            </p:txEl>
                                          </p:spTgt>
                                        </p:tgtEl>
                                        <p:attrNameLst>
                                          <p:attrName>style.visibility</p:attrName>
                                        </p:attrNameLst>
                                      </p:cBhvr>
                                      <p:to>
                                        <p:strVal val="visible"/>
                                      </p:to>
                                    </p:set>
                                  </p:childTnLst>
                                </p:cTn>
                              </p:par>
                              <p:par>
                                <p:cTn id="91" nodeType="withEffect" fill="hold" presetClass="entr" presetID="1">
                                  <p:stCondLst>
                                    <p:cond delay="0"/>
                                  </p:stCondLst>
                                  <p:childTnLst>
                                    <p:set>
                                      <p:cBhvr>
                                        <p:cTn id="92" dur="1" fill="hold">
                                          <p:stCondLst>
                                            <p:cond delay="0"/>
                                          </p:stCondLst>
                                        </p:cTn>
                                        <p:tgtEl>
                                          <p:spTgt spid="157">
                                            <p:txEl>
                                              <p:pRg st="2" end="2"/>
                                            </p:txEl>
                                          </p:spTgt>
                                        </p:tgtEl>
                                        <p:attrNameLst>
                                          <p:attrName>style.visibility</p:attrName>
                                        </p:attrNameLst>
                                      </p:cBhvr>
                                      <p:to>
                                        <p:strVal val="visible"/>
                                      </p:to>
                                    </p:set>
                                  </p:childTnLst>
                                </p:cTn>
                              </p:par>
                              <p:par>
                                <p:cTn id="93" nodeType="withEffect" fill="hold" presetClass="entr" presetID="1">
                                  <p:stCondLst>
                                    <p:cond delay="0"/>
                                  </p:stCondLst>
                                  <p:childTnLst>
                                    <p:set>
                                      <p:cBhvr>
                                        <p:cTn id="94" dur="1" fill="hold">
                                          <p:stCondLst>
                                            <p:cond delay="0"/>
                                          </p:stCondLst>
                                        </p:cTn>
                                        <p:tgtEl>
                                          <p:spTgt spid="157">
                                            <p:txEl>
                                              <p:pRg st="3" end="3"/>
                                            </p:txEl>
                                          </p:spTgt>
                                        </p:tgtEl>
                                        <p:attrNameLst>
                                          <p:attrName>style.visibility</p:attrName>
                                        </p:attrNameLst>
                                      </p:cBhvr>
                                      <p:to>
                                        <p:strVal val="visible"/>
                                      </p:to>
                                    </p:set>
                                  </p:childTnLst>
                                </p:cTn>
                              </p:par>
                              <p:par>
                                <p:cTn id="95" nodeType="withEffect" fill="hold" presetClass="entr" presetID="1">
                                  <p:stCondLst>
                                    <p:cond delay="0"/>
                                  </p:stCondLst>
                                  <p:childTnLst>
                                    <p:set>
                                      <p:cBhvr>
                                        <p:cTn id="96" dur="1" fill="hold">
                                          <p:stCondLst>
                                            <p:cond delay="0"/>
                                          </p:stCondLst>
                                        </p:cTn>
                                        <p:tgtEl>
                                          <p:spTgt spid="157">
                                            <p:txEl>
                                              <p:pRg st="4" end="4"/>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157">
                                            <p:txEl>
                                              <p:pRg st="5" end="5"/>
                                            </p:txEl>
                                          </p:spTgt>
                                        </p:tgtEl>
                                        <p:attrNameLst>
                                          <p:attrName>style.visibility</p:attrName>
                                        </p:attrNameLst>
                                      </p:cBhvr>
                                      <p:to>
                                        <p:strVal val="visible"/>
                                      </p:to>
                                    </p:set>
                                  </p:childTnLst>
                                </p:cTn>
                              </p:par>
                              <p:par>
                                <p:cTn id="101" nodeType="withEffect" fill="hold" presetClass="entr" presetID="1">
                                  <p:stCondLst>
                                    <p:cond delay="0"/>
                                  </p:stCondLst>
                                  <p:childTnLst>
                                    <p:set>
                                      <p:cBhvr>
                                        <p:cTn id="102" dur="1" fill="hold">
                                          <p:stCondLst>
                                            <p:cond delay="0"/>
                                          </p:stCondLst>
                                        </p:cTn>
                                        <p:tgtEl>
                                          <p:spTgt spid="157">
                                            <p:txEl>
                                              <p:pRg st="6" end="6"/>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nodeType="clickEffect" fill="hold" presetClass="entr" presetID="1">
                                  <p:stCondLst>
                                    <p:cond delay="0"/>
                                  </p:stCondLst>
                                  <p:childTnLst>
                                    <p:set>
                                      <p:cBhvr>
                                        <p:cTn id="106" dur="1" fill="hold">
                                          <p:stCondLst>
                                            <p:cond delay="0"/>
                                          </p:stCondLst>
                                        </p:cTn>
                                        <p:tgtEl>
                                          <p:spTgt spid="157">
                                            <p:txEl>
                                              <p:pRg st="7" end="7"/>
                                            </p:txEl>
                                          </p:spTgt>
                                        </p:tgtEl>
                                        <p:attrNameLst>
                                          <p:attrName>style.visibility</p:attrName>
                                        </p:attrNameLst>
                                      </p:cBhvr>
                                      <p:to>
                                        <p:strVal val="visible"/>
                                      </p:to>
                                    </p:set>
                                  </p:childTnLst>
                                </p:cTn>
                              </p:par>
                              <p:par>
                                <p:cTn id="107" nodeType="withEffect" fill="hold" presetClass="entr" presetID="1">
                                  <p:stCondLst>
                                    <p:cond delay="0"/>
                                  </p:stCondLst>
                                  <p:childTnLst>
                                    <p:set>
                                      <p:cBhvr>
                                        <p:cTn id="108" dur="1" fill="hold">
                                          <p:stCondLst>
                                            <p:cond delay="0"/>
                                          </p:stCondLst>
                                        </p:cTn>
                                        <p:tgtEl>
                                          <p:spTgt spid="157">
                                            <p:txEl>
                                              <p:pRg st="8" end="8"/>
                                            </p:txEl>
                                          </p:spTgt>
                                        </p:tgtEl>
                                        <p:attrNameLst>
                                          <p:attrName>style.visibility</p:attrName>
                                        </p:attrNameLst>
                                      </p:cBhvr>
                                      <p:to>
                                        <p:strVal val="visible"/>
                                      </p:to>
                                    </p:set>
                                  </p:childTnLst>
                                </p:cTn>
                              </p:par>
                              <p:par>
                                <p:cTn id="109" nodeType="withEffect" fill="hold" presetClass="entr" presetID="1">
                                  <p:stCondLst>
                                    <p:cond delay="0"/>
                                  </p:stCondLst>
                                  <p:childTnLst>
                                    <p:set>
                                      <p:cBhvr>
                                        <p:cTn id="110" dur="1" fill="hold">
                                          <p:stCondLst>
                                            <p:cond delay="0"/>
                                          </p:stCondLst>
                                        </p:cTn>
                                        <p:tgtEl>
                                          <p:spTgt spid="157">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Terminology – continued </a:t>
            </a:r>
            <a:endParaRPr b="0" lang="en-US" sz="4400" spc="-1" strike="noStrike">
              <a:solidFill>
                <a:srgbClr val="000000"/>
              </a:solidFill>
              <a:latin typeface="Arial"/>
            </a:endParaRPr>
          </a:p>
        </p:txBody>
      </p:sp>
      <p:sp>
        <p:nvSpPr>
          <p:cNvPr id="187" name="PlaceHolder 2"/>
          <p:cNvSpPr>
            <a:spLocks noGrp="1"/>
          </p:cNvSpPr>
          <p:nvPr>
            <p:ph/>
          </p:nvPr>
        </p:nvSpPr>
        <p:spPr>
          <a:xfrm>
            <a:off x="838080" y="1107000"/>
            <a:ext cx="66009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Cycle</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circular sequence of alternating vertices and edges </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each edge is preceded and followed by its endpoints</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Simple cycle</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cycle such that all its vertices and edges are distinct</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Examples</a:t>
            </a:r>
            <a:endParaRPr b="0" lang="en-US" sz="2000" spc="-1" strike="noStrike">
              <a:solidFill>
                <a:srgbClr val="000000"/>
              </a:solidFill>
              <a:latin typeface="Arial"/>
            </a:endParaRPr>
          </a:p>
          <a:p>
            <a:pPr lvl="1" marL="685800" indent="-228600" defTabSz="914400">
              <a:lnSpc>
                <a:spcPct val="90000"/>
              </a:lnSpc>
              <a:spcBef>
                <a:spcPts val="499"/>
              </a:spcBef>
              <a:buClr>
                <a:srgbClr val="44546a"/>
              </a:buClr>
              <a:buFont typeface="Arial"/>
              <a:buChar char="•"/>
            </a:pPr>
            <a:r>
              <a:rPr b="0" lang="en-US" sz="1800" spc="-1" strike="noStrike">
                <a:solidFill>
                  <a:schemeClr val="dk2"/>
                </a:solidFill>
                <a:latin typeface="Calibri"/>
              </a:rPr>
              <a:t>C</a:t>
            </a:r>
            <a:r>
              <a:rPr b="0" lang="en-US" sz="1800" spc="-1" strike="noStrike" baseline="-25000">
                <a:solidFill>
                  <a:schemeClr val="dk2"/>
                </a:solidFill>
                <a:latin typeface="Calibri"/>
              </a:rPr>
              <a:t>1</a:t>
            </a:r>
            <a:r>
              <a:rPr b="0" lang="en-US" sz="1800" spc="-1" strike="noStrike">
                <a:solidFill>
                  <a:schemeClr val="dk2"/>
                </a:solidFill>
                <a:latin typeface="Calibri"/>
              </a:rPr>
              <a:t>=(V,b,X,g,Y,f,W,c,U,a,</a:t>
            </a:r>
            <a:r>
              <a:rPr b="0" lang="en-US" sz="1800" spc="-1" strike="noStrike">
                <a:solidFill>
                  <a:schemeClr val="dk2"/>
                </a:solidFill>
                <a:latin typeface="Symbol"/>
              </a:rPr>
              <a:t></a:t>
            </a:r>
            <a:r>
              <a:rPr b="0" lang="en-US" sz="1800" spc="-1" strike="noStrike">
                <a:solidFill>
                  <a:schemeClr val="dk2"/>
                </a:solidFill>
                <a:latin typeface="Calibri"/>
              </a:rPr>
              <a:t>)</a:t>
            </a:r>
            <a:r>
              <a:rPr b="0" lang="en-US" sz="1800" spc="-1" strike="noStrike">
                <a:solidFill>
                  <a:schemeClr val="dk1"/>
                </a:solidFill>
                <a:latin typeface="Calibri"/>
              </a:rPr>
              <a:t> is a simple cycle</a:t>
            </a:r>
            <a:endParaRPr b="0" lang="en-US" sz="1800" spc="-1" strike="noStrike">
              <a:solidFill>
                <a:srgbClr val="000000"/>
              </a:solidFill>
              <a:latin typeface="Arial"/>
            </a:endParaRPr>
          </a:p>
          <a:p>
            <a:pPr lvl="1" marL="685800" indent="-228600" defTabSz="914400">
              <a:lnSpc>
                <a:spcPct val="90000"/>
              </a:lnSpc>
              <a:spcBef>
                <a:spcPts val="499"/>
              </a:spcBef>
              <a:buClr>
                <a:srgbClr val="ed7d31"/>
              </a:buClr>
              <a:buFont typeface="Arial"/>
              <a:buChar char="•"/>
            </a:pPr>
            <a:r>
              <a:rPr b="0" lang="en-US" sz="1800" spc="-1" strike="noStrike">
                <a:solidFill>
                  <a:schemeClr val="accent2"/>
                </a:solidFill>
                <a:latin typeface="Calibri"/>
              </a:rPr>
              <a:t>C</a:t>
            </a:r>
            <a:r>
              <a:rPr b="0" lang="en-US" sz="1800" spc="-1" strike="noStrike" baseline="-25000">
                <a:solidFill>
                  <a:schemeClr val="accent2"/>
                </a:solidFill>
                <a:latin typeface="Calibri"/>
              </a:rPr>
              <a:t>2</a:t>
            </a:r>
            <a:r>
              <a:rPr b="0" lang="en-US" sz="1800" spc="-1" strike="noStrike">
                <a:solidFill>
                  <a:schemeClr val="accent2"/>
                </a:solidFill>
                <a:latin typeface="Calibri"/>
              </a:rPr>
              <a:t>=(U,c,W,e,X,g,Y,f,W,d,V,a,</a:t>
            </a:r>
            <a:r>
              <a:rPr b="0" lang="en-US" sz="1800" spc="-1" strike="noStrike">
                <a:solidFill>
                  <a:schemeClr val="accent2"/>
                </a:solidFill>
                <a:latin typeface="Symbol"/>
              </a:rPr>
              <a:t></a:t>
            </a:r>
            <a:r>
              <a:rPr b="0" lang="en-US" sz="1800" spc="-1" strike="noStrike">
                <a:solidFill>
                  <a:schemeClr val="accent2"/>
                </a:solidFill>
                <a:latin typeface="Calibri"/>
              </a:rPr>
              <a:t>)</a:t>
            </a:r>
            <a:r>
              <a:rPr b="0" lang="en-US" sz="1800" spc="-1" strike="noStrike">
                <a:solidFill>
                  <a:schemeClr val="dk1"/>
                </a:solidFill>
                <a:latin typeface="Calibri"/>
              </a:rPr>
              <a:t> is a cycle that is not simple</a:t>
            </a:r>
            <a:endParaRPr b="0" lang="en-US" sz="1800" spc="-1" strike="noStrike">
              <a:solidFill>
                <a:srgbClr val="000000"/>
              </a:solidFill>
              <a:latin typeface="Arial"/>
            </a:endParaRPr>
          </a:p>
        </p:txBody>
      </p:sp>
      <p:sp>
        <p:nvSpPr>
          <p:cNvPr id="188" name="PlaceHolder 3"/>
          <p:cNvSpPr>
            <a:spLocks noGrp="1"/>
          </p:cNvSpPr>
          <p:nvPr>
            <p:ph type="sldNum" idx="33"/>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7798EF94-28C3-4DB4-A9E5-F3F251CFEE1D}" type="slidenum">
              <a:rPr b="0" lang="en-US" sz="1400" spc="-1" strike="noStrike">
                <a:solidFill>
                  <a:schemeClr val="dk1">
                    <a:tint val="75000"/>
                  </a:schemeClr>
                </a:solidFill>
                <a:latin typeface="Tahoma"/>
                <a:ea typeface="MS PGothic"/>
              </a:rPr>
              <a:t>7</a:t>
            </a:fld>
            <a:endParaRPr b="0" lang="en-US" sz="1400" spc="-1" strike="noStrike">
              <a:solidFill>
                <a:srgbClr val="000000"/>
              </a:solidFill>
              <a:latin typeface="Times New Roman"/>
            </a:endParaRPr>
          </a:p>
        </p:txBody>
      </p:sp>
      <p:grpSp>
        <p:nvGrpSpPr>
          <p:cNvPr id="189" name="Group 1"/>
          <p:cNvGrpSpPr/>
          <p:nvPr/>
        </p:nvGrpSpPr>
        <p:grpSpPr>
          <a:xfrm>
            <a:off x="7848720" y="1828800"/>
            <a:ext cx="3503520" cy="3198960"/>
            <a:chOff x="7848720" y="1828800"/>
            <a:chExt cx="3503520" cy="3198960"/>
          </a:xfrm>
        </p:grpSpPr>
        <p:sp>
          <p:nvSpPr>
            <p:cNvPr id="190" name="Freeform 6"/>
            <p:cNvSpPr/>
            <p:nvPr/>
          </p:nvSpPr>
          <p:spPr>
            <a:xfrm>
              <a:off x="8039160" y="2133720"/>
              <a:ext cx="2181240" cy="2651400"/>
            </a:xfrm>
            <a:custGeom>
              <a:avLst/>
              <a:gdLst>
                <a:gd name="textAreaLeft" fmla="*/ 0 w 2181240"/>
                <a:gd name="textAreaRight" fmla="*/ 2182680 w 2181240"/>
                <a:gd name="textAreaTop" fmla="*/ 0 h 2651400"/>
                <a:gd name="textAreaBottom" fmla="*/ 2652840 h 2651400"/>
              </a:gdLst>
              <a:ahLst/>
              <a:rect l="textAreaLeft" t="textAreaTop" r="textAreaRight" b="textAreaBottom"/>
              <a:pathLst>
                <a:path w="1375" h="1671">
                  <a:moveTo>
                    <a:pt x="762" y="36"/>
                  </a:moveTo>
                  <a:cubicBezTo>
                    <a:pt x="838" y="117"/>
                    <a:pt x="1149" y="250"/>
                    <a:pt x="1218" y="522"/>
                  </a:cubicBezTo>
                  <a:cubicBezTo>
                    <a:pt x="1287" y="794"/>
                    <a:pt x="1375" y="1671"/>
                    <a:pt x="1176" y="1668"/>
                  </a:cubicBezTo>
                  <a:cubicBezTo>
                    <a:pt x="977" y="1665"/>
                    <a:pt x="0" y="798"/>
                    <a:pt x="24" y="504"/>
                  </a:cubicBezTo>
                  <a:cubicBezTo>
                    <a:pt x="48" y="210"/>
                    <a:pt x="366" y="105"/>
                    <a:pt x="456" y="0"/>
                  </a:cubicBezTo>
                </a:path>
              </a:pathLst>
            </a:custGeom>
            <a:noFill/>
            <a:ln w="57150">
              <a:solidFill>
                <a:srgbClr val="44546a"/>
              </a:solidFill>
              <a:round/>
              <a:tail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191" name="Freeform 4"/>
            <p:cNvSpPr/>
            <p:nvPr/>
          </p:nvSpPr>
          <p:spPr>
            <a:xfrm>
              <a:off x="8315280" y="2201760"/>
              <a:ext cx="1568520" cy="2318040"/>
            </a:xfrm>
            <a:custGeom>
              <a:avLst/>
              <a:gdLst>
                <a:gd name="textAreaLeft" fmla="*/ 0 w 1568520"/>
                <a:gd name="textAreaRight" fmla="*/ 1569960 w 1568520"/>
                <a:gd name="textAreaTop" fmla="*/ 0 h 2318040"/>
                <a:gd name="textAreaBottom" fmla="*/ 2319480 h 2318040"/>
              </a:gdLst>
              <a:ahLst/>
              <a:rect l="textAreaLeft" t="textAreaTop" r="textAreaRight" b="textAreaBottom"/>
              <a:pathLst>
                <a:path w="989" h="1461">
                  <a:moveTo>
                    <a:pt x="6" y="389"/>
                  </a:moveTo>
                  <a:cubicBezTo>
                    <a:pt x="79" y="341"/>
                    <a:pt x="359" y="0"/>
                    <a:pt x="444" y="95"/>
                  </a:cubicBezTo>
                  <a:cubicBezTo>
                    <a:pt x="529" y="190"/>
                    <a:pt x="435" y="741"/>
                    <a:pt x="516" y="959"/>
                  </a:cubicBezTo>
                  <a:cubicBezTo>
                    <a:pt x="597" y="1177"/>
                    <a:pt x="871" y="1461"/>
                    <a:pt x="930" y="1403"/>
                  </a:cubicBezTo>
                  <a:cubicBezTo>
                    <a:pt x="989" y="1345"/>
                    <a:pt x="952" y="693"/>
                    <a:pt x="870" y="611"/>
                  </a:cubicBezTo>
                  <a:cubicBezTo>
                    <a:pt x="788" y="529"/>
                    <a:pt x="583" y="915"/>
                    <a:pt x="438" y="911"/>
                  </a:cubicBezTo>
                  <a:cubicBezTo>
                    <a:pt x="293" y="907"/>
                    <a:pt x="91" y="654"/>
                    <a:pt x="0" y="587"/>
                  </a:cubicBezTo>
                </a:path>
              </a:pathLst>
            </a:custGeom>
            <a:noFill/>
            <a:ln w="57150">
              <a:solidFill>
                <a:srgbClr val="ed7d31"/>
              </a:solidFill>
              <a:round/>
              <a:headEnd len="med" type="triangle" w="me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192" name="Text Box 5"/>
            <p:cNvSpPr/>
            <p:nvPr/>
          </p:nvSpPr>
          <p:spPr>
            <a:xfrm>
              <a:off x="10115640" y="3352680"/>
              <a:ext cx="472320" cy="505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2"/>
                  </a:solidFill>
                  <a:latin typeface="Tahoma"/>
                  <a:ea typeface="MS PGothic"/>
                </a:rPr>
                <a:t>C</a:t>
              </a:r>
              <a:r>
                <a:rPr b="0" lang="en-US" sz="2400" spc="-1" strike="noStrike" baseline="-25000">
                  <a:solidFill>
                    <a:schemeClr val="dk2"/>
                  </a:solidFill>
                  <a:latin typeface="Tahoma"/>
                  <a:ea typeface="MS PGothic"/>
                </a:rPr>
                <a:t>1</a:t>
              </a:r>
              <a:endParaRPr b="0" lang="en-US" sz="2400" spc="-1" strike="noStrike">
                <a:solidFill>
                  <a:srgbClr val="000000"/>
                </a:solidFill>
                <a:latin typeface="Arial"/>
              </a:endParaRPr>
            </a:p>
          </p:txBody>
        </p:sp>
        <p:sp>
          <p:nvSpPr>
            <p:cNvPr id="193" name="Oval 7"/>
            <p:cNvSpPr/>
            <p:nvPr/>
          </p:nvSpPr>
          <p:spPr>
            <a:xfrm>
              <a:off x="9677520" y="27432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X</a:t>
              </a:r>
              <a:endParaRPr b="0" lang="en-US" sz="2400" spc="-1" strike="noStrike">
                <a:solidFill>
                  <a:srgbClr val="ffffff"/>
                </a:solidFill>
                <a:latin typeface="Arial"/>
              </a:endParaRPr>
            </a:p>
          </p:txBody>
        </p:sp>
        <p:sp>
          <p:nvSpPr>
            <p:cNvPr id="194" name="Oval 8"/>
            <p:cNvSpPr/>
            <p:nvPr/>
          </p:nvSpPr>
          <p:spPr>
            <a:xfrm>
              <a:off x="7848720" y="27432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U</a:t>
              </a:r>
              <a:endParaRPr b="0" lang="en-US" sz="2400" spc="-1" strike="noStrike">
                <a:solidFill>
                  <a:srgbClr val="ffffff"/>
                </a:solidFill>
                <a:latin typeface="Arial"/>
              </a:endParaRPr>
            </a:p>
          </p:txBody>
        </p:sp>
        <p:sp>
          <p:nvSpPr>
            <p:cNvPr id="195" name="Oval 9"/>
            <p:cNvSpPr/>
            <p:nvPr/>
          </p:nvSpPr>
          <p:spPr>
            <a:xfrm>
              <a:off x="8763120" y="18288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V</a:t>
              </a:r>
              <a:endParaRPr b="0" lang="en-US" sz="2400" spc="-1" strike="noStrike">
                <a:solidFill>
                  <a:srgbClr val="ffffff"/>
                </a:solidFill>
                <a:latin typeface="Arial"/>
              </a:endParaRPr>
            </a:p>
          </p:txBody>
        </p:sp>
        <p:sp>
          <p:nvSpPr>
            <p:cNvPr id="196" name="Oval 10"/>
            <p:cNvSpPr/>
            <p:nvPr/>
          </p:nvSpPr>
          <p:spPr>
            <a:xfrm>
              <a:off x="8763120" y="36576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W</a:t>
              </a:r>
              <a:endParaRPr b="0" lang="en-US" sz="2400" spc="-1" strike="noStrike">
                <a:solidFill>
                  <a:srgbClr val="ffffff"/>
                </a:solidFill>
                <a:latin typeface="Arial"/>
              </a:endParaRPr>
            </a:p>
          </p:txBody>
        </p:sp>
        <p:sp>
          <p:nvSpPr>
            <p:cNvPr id="197" name="Oval 11"/>
            <p:cNvSpPr/>
            <p:nvPr/>
          </p:nvSpPr>
          <p:spPr>
            <a:xfrm>
              <a:off x="10896480" y="27432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Z</a:t>
              </a:r>
              <a:endParaRPr b="0" lang="en-US" sz="2400" spc="-1" strike="noStrike">
                <a:solidFill>
                  <a:srgbClr val="ffffff"/>
                </a:solidFill>
                <a:latin typeface="Arial"/>
              </a:endParaRPr>
            </a:p>
          </p:txBody>
        </p:sp>
        <p:cxnSp>
          <p:nvCxnSpPr>
            <p:cNvPr id="198" name="AutoShape 12"/>
            <p:cNvCxnSpPr>
              <a:stCxn id="195" idx="3"/>
              <a:endCxn id="194" idx="7"/>
            </p:cNvCxnSpPr>
            <p:nvPr/>
          </p:nvCxnSpPr>
          <p:spPr>
            <a:xfrm flipH="1">
              <a:off x="8237880" y="2217960"/>
              <a:ext cx="592200" cy="592200"/>
            </a:xfrm>
            <a:prstGeom prst="straightConnector1">
              <a:avLst/>
            </a:prstGeom>
            <a:ln w="19050">
              <a:solidFill>
                <a:srgbClr val="000000"/>
              </a:solidFill>
              <a:round/>
            </a:ln>
          </p:spPr>
        </p:cxnSp>
        <p:cxnSp>
          <p:nvCxnSpPr>
            <p:cNvPr id="199" name="AutoShape 13"/>
            <p:cNvCxnSpPr>
              <a:stCxn id="196" idx="1"/>
              <a:endCxn id="194" idx="5"/>
            </p:cNvCxnSpPr>
            <p:nvPr/>
          </p:nvCxnSpPr>
          <p:spPr>
            <a:xfrm flipH="1" flipV="1">
              <a:off x="8237880" y="3132360"/>
              <a:ext cx="592200" cy="592200"/>
            </a:xfrm>
            <a:prstGeom prst="straightConnector1">
              <a:avLst/>
            </a:prstGeom>
            <a:ln w="19050">
              <a:solidFill>
                <a:srgbClr val="000000"/>
              </a:solidFill>
              <a:round/>
            </a:ln>
          </p:spPr>
        </p:cxnSp>
        <p:cxnSp>
          <p:nvCxnSpPr>
            <p:cNvPr id="200" name="AutoShape 14"/>
            <p:cNvCxnSpPr>
              <a:stCxn id="196" idx="7"/>
              <a:endCxn id="193" idx="3"/>
            </p:cNvCxnSpPr>
            <p:nvPr/>
          </p:nvCxnSpPr>
          <p:spPr>
            <a:xfrm flipV="1">
              <a:off x="9152280" y="3132360"/>
              <a:ext cx="592200" cy="592200"/>
            </a:xfrm>
            <a:prstGeom prst="straightConnector1">
              <a:avLst/>
            </a:prstGeom>
            <a:ln w="19050">
              <a:solidFill>
                <a:srgbClr val="000000"/>
              </a:solidFill>
              <a:round/>
            </a:ln>
          </p:spPr>
        </p:cxnSp>
        <p:cxnSp>
          <p:nvCxnSpPr>
            <p:cNvPr id="201" name="AutoShape 15"/>
            <p:cNvCxnSpPr>
              <a:stCxn id="193" idx="6"/>
              <a:endCxn id="197" idx="2"/>
            </p:cNvCxnSpPr>
            <p:nvPr/>
          </p:nvCxnSpPr>
          <p:spPr>
            <a:xfrm>
              <a:off x="10133280" y="2971080"/>
              <a:ext cx="763560" cy="360"/>
            </a:xfrm>
            <a:prstGeom prst="straightConnector1">
              <a:avLst/>
            </a:prstGeom>
            <a:ln w="19050">
              <a:solidFill>
                <a:srgbClr val="000000"/>
              </a:solidFill>
              <a:round/>
            </a:ln>
          </p:spPr>
        </p:cxnSp>
        <p:cxnSp>
          <p:nvCxnSpPr>
            <p:cNvPr id="202" name="AutoShape 16"/>
            <p:cNvCxnSpPr>
              <a:stCxn id="195" idx="5"/>
              <a:endCxn id="193" idx="1"/>
            </p:cNvCxnSpPr>
            <p:nvPr/>
          </p:nvCxnSpPr>
          <p:spPr>
            <a:xfrm>
              <a:off x="9152280" y="2217960"/>
              <a:ext cx="592200" cy="592200"/>
            </a:xfrm>
            <a:prstGeom prst="straightConnector1">
              <a:avLst/>
            </a:prstGeom>
            <a:ln w="19050">
              <a:solidFill>
                <a:srgbClr val="000000"/>
              </a:solidFill>
              <a:round/>
            </a:ln>
          </p:spPr>
        </p:cxnSp>
        <p:cxnSp>
          <p:nvCxnSpPr>
            <p:cNvPr id="203" name="AutoShape 17"/>
            <p:cNvCxnSpPr>
              <a:stCxn id="195" idx="4"/>
              <a:endCxn id="196" idx="0"/>
            </p:cNvCxnSpPr>
            <p:nvPr/>
          </p:nvCxnSpPr>
          <p:spPr>
            <a:xfrm>
              <a:off x="8991000" y="2284560"/>
              <a:ext cx="360" cy="1373400"/>
            </a:xfrm>
            <a:prstGeom prst="straightConnector1">
              <a:avLst/>
            </a:prstGeom>
            <a:ln w="19050">
              <a:solidFill>
                <a:srgbClr val="000000"/>
              </a:solidFill>
              <a:round/>
            </a:ln>
          </p:spPr>
        </p:cxnSp>
        <p:sp>
          <p:nvSpPr>
            <p:cNvPr id="204" name="Oval 18"/>
            <p:cNvSpPr/>
            <p:nvPr/>
          </p:nvSpPr>
          <p:spPr>
            <a:xfrm>
              <a:off x="9686880" y="45720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Y</a:t>
              </a:r>
              <a:endParaRPr b="0" lang="en-US" sz="2400" spc="-1" strike="noStrike">
                <a:solidFill>
                  <a:srgbClr val="ffffff"/>
                </a:solidFill>
                <a:latin typeface="Arial"/>
              </a:endParaRPr>
            </a:p>
          </p:txBody>
        </p:sp>
        <p:cxnSp>
          <p:nvCxnSpPr>
            <p:cNvPr id="205" name="AutoShape 19"/>
            <p:cNvCxnSpPr>
              <a:stCxn id="196" idx="5"/>
              <a:endCxn id="204" idx="1"/>
            </p:cNvCxnSpPr>
            <p:nvPr/>
          </p:nvCxnSpPr>
          <p:spPr>
            <a:xfrm>
              <a:off x="9152280" y="4046760"/>
              <a:ext cx="601560" cy="592200"/>
            </a:xfrm>
            <a:prstGeom prst="straightConnector1">
              <a:avLst/>
            </a:prstGeom>
            <a:ln w="19050">
              <a:solidFill>
                <a:srgbClr val="000000"/>
              </a:solidFill>
              <a:round/>
            </a:ln>
          </p:spPr>
        </p:cxnSp>
        <p:cxnSp>
          <p:nvCxnSpPr>
            <p:cNvPr id="206" name="AutoShape 20"/>
            <p:cNvCxnSpPr>
              <a:stCxn id="193" idx="4"/>
              <a:endCxn id="204" idx="0"/>
            </p:cNvCxnSpPr>
            <p:nvPr/>
          </p:nvCxnSpPr>
          <p:spPr>
            <a:xfrm>
              <a:off x="9905400" y="3198960"/>
              <a:ext cx="9720" cy="1373400"/>
            </a:xfrm>
            <a:prstGeom prst="straightConnector1">
              <a:avLst/>
            </a:prstGeom>
            <a:ln w="19050">
              <a:solidFill>
                <a:srgbClr val="000000"/>
              </a:solidFill>
              <a:round/>
            </a:ln>
          </p:spPr>
        </p:cxnSp>
        <p:sp>
          <p:nvSpPr>
            <p:cNvPr id="207" name="Text Box 21"/>
            <p:cNvSpPr/>
            <p:nvPr/>
          </p:nvSpPr>
          <p:spPr>
            <a:xfrm>
              <a:off x="8074440" y="2057400"/>
              <a:ext cx="35028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a</a:t>
              </a:r>
              <a:endParaRPr b="0" lang="en-US" sz="2400" spc="-1" strike="noStrike">
                <a:solidFill>
                  <a:srgbClr val="000000"/>
                </a:solidFill>
                <a:latin typeface="Arial"/>
              </a:endParaRPr>
            </a:p>
          </p:txBody>
        </p:sp>
        <p:sp>
          <p:nvSpPr>
            <p:cNvPr id="208" name="Text Box 22"/>
            <p:cNvSpPr/>
            <p:nvPr/>
          </p:nvSpPr>
          <p:spPr>
            <a:xfrm>
              <a:off x="8076960" y="3429000"/>
              <a:ext cx="3258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c</a:t>
              </a:r>
              <a:endParaRPr b="0" lang="en-US" sz="2400" spc="-1" strike="noStrike">
                <a:solidFill>
                  <a:srgbClr val="000000"/>
                </a:solidFill>
                <a:latin typeface="Arial"/>
              </a:endParaRPr>
            </a:p>
          </p:txBody>
        </p:sp>
        <p:sp>
          <p:nvSpPr>
            <p:cNvPr id="209" name="Text Box 23"/>
            <p:cNvSpPr/>
            <p:nvPr/>
          </p:nvSpPr>
          <p:spPr>
            <a:xfrm>
              <a:off x="9517320" y="2057400"/>
              <a:ext cx="3672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b</a:t>
              </a:r>
              <a:endParaRPr b="0" lang="en-US" sz="2400" spc="-1" strike="noStrike">
                <a:solidFill>
                  <a:srgbClr val="000000"/>
                </a:solidFill>
                <a:latin typeface="Arial"/>
              </a:endParaRPr>
            </a:p>
          </p:txBody>
        </p:sp>
        <p:sp>
          <p:nvSpPr>
            <p:cNvPr id="210" name="Text Box 24"/>
            <p:cNvSpPr/>
            <p:nvPr/>
          </p:nvSpPr>
          <p:spPr>
            <a:xfrm>
              <a:off x="9369720" y="3276720"/>
              <a:ext cx="35028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e</a:t>
              </a:r>
              <a:endParaRPr b="0" lang="en-US" sz="2400" spc="-1" strike="noStrike">
                <a:solidFill>
                  <a:srgbClr val="000000"/>
                </a:solidFill>
                <a:latin typeface="Arial"/>
              </a:endParaRPr>
            </a:p>
          </p:txBody>
        </p:sp>
        <p:sp>
          <p:nvSpPr>
            <p:cNvPr id="211" name="Text Box 25"/>
            <p:cNvSpPr/>
            <p:nvPr/>
          </p:nvSpPr>
          <p:spPr>
            <a:xfrm>
              <a:off x="8679240" y="2590920"/>
              <a:ext cx="3672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d</a:t>
              </a:r>
              <a:endParaRPr b="0" lang="en-US" sz="2400" spc="-1" strike="noStrike">
                <a:solidFill>
                  <a:srgbClr val="000000"/>
                </a:solidFill>
                <a:latin typeface="Arial"/>
              </a:endParaRPr>
            </a:p>
          </p:txBody>
        </p:sp>
        <p:sp>
          <p:nvSpPr>
            <p:cNvPr id="212" name="Text Box 26"/>
            <p:cNvSpPr/>
            <p:nvPr/>
          </p:nvSpPr>
          <p:spPr>
            <a:xfrm>
              <a:off x="9057240" y="4362480"/>
              <a:ext cx="28332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f</a:t>
              </a:r>
              <a:endParaRPr b="0" lang="en-US" sz="2400" spc="-1" strike="noStrike">
                <a:solidFill>
                  <a:srgbClr val="000000"/>
                </a:solidFill>
                <a:latin typeface="Arial"/>
              </a:endParaRPr>
            </a:p>
          </p:txBody>
        </p:sp>
        <p:sp>
          <p:nvSpPr>
            <p:cNvPr id="213" name="Text Box 27"/>
            <p:cNvSpPr/>
            <p:nvPr/>
          </p:nvSpPr>
          <p:spPr>
            <a:xfrm>
              <a:off x="10050840" y="3733920"/>
              <a:ext cx="3672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g</a:t>
              </a:r>
              <a:endParaRPr b="0" lang="en-US" sz="2400" spc="-1" strike="noStrike">
                <a:solidFill>
                  <a:srgbClr val="000000"/>
                </a:solidFill>
                <a:latin typeface="Arial"/>
              </a:endParaRPr>
            </a:p>
          </p:txBody>
        </p:sp>
        <p:sp>
          <p:nvSpPr>
            <p:cNvPr id="214" name="Text Box 28"/>
            <p:cNvSpPr/>
            <p:nvPr/>
          </p:nvSpPr>
          <p:spPr>
            <a:xfrm>
              <a:off x="10366920" y="2971800"/>
              <a:ext cx="3672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h</a:t>
              </a:r>
              <a:endParaRPr b="0" lang="en-US" sz="2400" spc="-1" strike="noStrike">
                <a:solidFill>
                  <a:srgbClr val="000000"/>
                </a:solidFill>
                <a:latin typeface="Arial"/>
              </a:endParaRPr>
            </a:p>
          </p:txBody>
        </p:sp>
        <p:sp>
          <p:nvSpPr>
            <p:cNvPr id="215" name="Text Box 29"/>
            <p:cNvSpPr/>
            <p:nvPr/>
          </p:nvSpPr>
          <p:spPr>
            <a:xfrm>
              <a:off x="8529840" y="2971800"/>
              <a:ext cx="472320" cy="505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accent2"/>
                  </a:solidFill>
                  <a:latin typeface="Tahoma"/>
                  <a:ea typeface="MS PGothic"/>
                </a:rPr>
                <a:t>C</a:t>
              </a:r>
              <a:r>
                <a:rPr b="0" lang="en-US" sz="2400" spc="-1" strike="noStrike" baseline="-25000">
                  <a:solidFill>
                    <a:schemeClr val="accent2"/>
                  </a:solidFill>
                  <a:latin typeface="Tahoma"/>
                  <a:ea typeface="MS PGothic"/>
                </a:rPr>
                <a:t>2</a:t>
              </a:r>
              <a:endParaRPr b="0" lang="en-US" sz="2400" spc="-1" strike="noStrike">
                <a:solidFill>
                  <a:srgbClr val="000000"/>
                </a:solidFill>
                <a:latin typeface="Arial"/>
              </a:endParaRPr>
            </a:p>
          </p:txBody>
        </p:sp>
      </p:grpSp>
    </p:spTree>
  </p:cSld>
  <mc:AlternateContent>
    <mc:Choice Requires="p14">
      <p:transition spd="slow" p14:dur="2000"/>
    </mc:Choice>
    <mc:Fallback>
      <p:transition spd="slow"/>
    </mc:Fallback>
  </mc:AlternateContent>
  <p:timing>
    <p:tnLst>
      <p:par>
        <p:cTn id="111" dur="indefinite" restart="never" nodeType="tmRoot">
          <p:childTnLst>
            <p:seq>
              <p:cTn id="112" dur="indefinite" nodeType="mainSeq">
                <p:childTnLst>
                  <p:par>
                    <p:cTn id="113" fill="hold">
                      <p:stCondLst>
                        <p:cond delay="indefinite"/>
                      </p:stCondLst>
                      <p:childTnLst>
                        <p:par>
                          <p:cTn id="114" fill="hold">
                            <p:stCondLst>
                              <p:cond delay="0"/>
                            </p:stCondLst>
                            <p:childTnLst>
                              <p:par>
                                <p:cTn id="115" nodeType="clickEffect" fill="hold" presetClass="entr" presetID="1">
                                  <p:stCondLst>
                                    <p:cond delay="0"/>
                                  </p:stCondLst>
                                  <p:childTnLst>
                                    <p:set>
                                      <p:cBhvr>
                                        <p:cTn id="116" dur="1" fill="hold">
                                          <p:stCondLst>
                                            <p:cond delay="0"/>
                                          </p:stCondLst>
                                        </p:cTn>
                                        <p:tgtEl>
                                          <p:spTgt spid="187">
                                            <p:txEl>
                                              <p:pRg st="0" end="0"/>
                                            </p:txEl>
                                          </p:spTgt>
                                        </p:tgtEl>
                                        <p:attrNameLst>
                                          <p:attrName>style.visibility</p:attrName>
                                        </p:attrNameLst>
                                      </p:cBhvr>
                                      <p:to>
                                        <p:strVal val="visible"/>
                                      </p:to>
                                    </p:set>
                                  </p:childTnLst>
                                </p:cTn>
                              </p:par>
                              <p:par>
                                <p:cTn id="117" nodeType="withEffect" fill="hold" presetClass="entr" presetID="1">
                                  <p:stCondLst>
                                    <p:cond delay="0"/>
                                  </p:stCondLst>
                                  <p:childTnLst>
                                    <p:set>
                                      <p:cBhvr>
                                        <p:cTn id="118" dur="1" fill="hold">
                                          <p:stCondLst>
                                            <p:cond delay="0"/>
                                          </p:stCondLst>
                                        </p:cTn>
                                        <p:tgtEl>
                                          <p:spTgt spid="187">
                                            <p:txEl>
                                              <p:pRg st="1" end="1"/>
                                            </p:txEl>
                                          </p:spTgt>
                                        </p:tgtEl>
                                        <p:attrNameLst>
                                          <p:attrName>style.visibility</p:attrName>
                                        </p:attrNameLst>
                                      </p:cBhvr>
                                      <p:to>
                                        <p:strVal val="visible"/>
                                      </p:to>
                                    </p:set>
                                  </p:childTnLst>
                                </p:cTn>
                              </p:par>
                              <p:par>
                                <p:cTn id="119" nodeType="withEffect" fill="hold" presetClass="entr" presetID="1">
                                  <p:stCondLst>
                                    <p:cond delay="0"/>
                                  </p:stCondLst>
                                  <p:childTnLst>
                                    <p:set>
                                      <p:cBhvr>
                                        <p:cTn id="120" dur="1" fill="hold">
                                          <p:stCondLst>
                                            <p:cond delay="0"/>
                                          </p:stCondLst>
                                        </p:cTn>
                                        <p:tgtEl>
                                          <p:spTgt spid="187">
                                            <p:txEl>
                                              <p:pRg st="2" end="2"/>
                                            </p:txEl>
                                          </p:spTgt>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nodeType="clickEffect" fill="hold" presetClass="entr" presetID="1">
                                  <p:stCondLst>
                                    <p:cond delay="0"/>
                                  </p:stCondLst>
                                  <p:childTnLst>
                                    <p:set>
                                      <p:cBhvr>
                                        <p:cTn id="124" dur="1" fill="hold">
                                          <p:stCondLst>
                                            <p:cond delay="0"/>
                                          </p:stCondLst>
                                        </p:cTn>
                                        <p:tgtEl>
                                          <p:spTgt spid="187">
                                            <p:txEl>
                                              <p:pRg st="3" end="3"/>
                                            </p:txEl>
                                          </p:spTgt>
                                        </p:tgtEl>
                                        <p:attrNameLst>
                                          <p:attrName>style.visibility</p:attrName>
                                        </p:attrNameLst>
                                      </p:cBhvr>
                                      <p:to>
                                        <p:strVal val="visible"/>
                                      </p:to>
                                    </p:set>
                                  </p:childTnLst>
                                </p:cTn>
                              </p:par>
                              <p:par>
                                <p:cTn id="125" nodeType="withEffect" fill="hold" presetClass="entr" presetID="1">
                                  <p:stCondLst>
                                    <p:cond delay="0"/>
                                  </p:stCondLst>
                                  <p:childTnLst>
                                    <p:set>
                                      <p:cBhvr>
                                        <p:cTn id="126" dur="1" fill="hold">
                                          <p:stCondLst>
                                            <p:cond delay="0"/>
                                          </p:stCondLst>
                                        </p:cTn>
                                        <p:tgtEl>
                                          <p:spTgt spid="187">
                                            <p:txEl>
                                              <p:pRg st="4" end="4"/>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nodeType="clickEffect" fill="hold" presetClass="entr" presetID="1">
                                  <p:stCondLst>
                                    <p:cond delay="0"/>
                                  </p:stCondLst>
                                  <p:childTnLst>
                                    <p:set>
                                      <p:cBhvr>
                                        <p:cTn id="130" dur="1" fill="hold">
                                          <p:stCondLst>
                                            <p:cond delay="0"/>
                                          </p:stCondLst>
                                        </p:cTn>
                                        <p:tgtEl>
                                          <p:spTgt spid="187">
                                            <p:txEl>
                                              <p:pRg st="5" end="5"/>
                                            </p:txEl>
                                          </p:spTgt>
                                        </p:tgtEl>
                                        <p:attrNameLst>
                                          <p:attrName>style.visibility</p:attrName>
                                        </p:attrNameLst>
                                      </p:cBhvr>
                                      <p:to>
                                        <p:strVal val="visible"/>
                                      </p:to>
                                    </p:set>
                                  </p:childTnLst>
                                </p:cTn>
                              </p:par>
                              <p:par>
                                <p:cTn id="131" nodeType="withEffect" fill="hold" presetClass="entr" presetID="1">
                                  <p:stCondLst>
                                    <p:cond delay="0"/>
                                  </p:stCondLst>
                                  <p:childTnLst>
                                    <p:set>
                                      <p:cBhvr>
                                        <p:cTn id="132" dur="1" fill="hold">
                                          <p:stCondLst>
                                            <p:cond delay="0"/>
                                          </p:stCondLst>
                                        </p:cTn>
                                        <p:tgtEl>
                                          <p:spTgt spid="187">
                                            <p:txEl>
                                              <p:pRg st="6" end="6"/>
                                            </p:txEl>
                                          </p:spTgt>
                                        </p:tgtEl>
                                        <p:attrNameLst>
                                          <p:attrName>style.visibility</p:attrName>
                                        </p:attrNameLst>
                                      </p:cBhvr>
                                      <p:to>
                                        <p:strVal val="visible"/>
                                      </p:to>
                                    </p:set>
                                  </p:childTnLst>
                                </p:cTn>
                              </p:par>
                              <p:par>
                                <p:cTn id="133" nodeType="withEffect" fill="hold" presetClass="entr" presetID="1">
                                  <p:stCondLst>
                                    <p:cond delay="0"/>
                                  </p:stCondLst>
                                  <p:childTnLst>
                                    <p:set>
                                      <p:cBhvr>
                                        <p:cTn id="134" dur="1" fill="hold">
                                          <p:stCondLst>
                                            <p:cond delay="0"/>
                                          </p:stCondLst>
                                        </p:cTn>
                                        <p:tgtEl>
                                          <p:spTgt spid="187">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Properties</a:t>
            </a:r>
            <a:endParaRPr b="0" lang="en-US" sz="4400" spc="-1" strike="noStrike">
              <a:solidFill>
                <a:srgbClr val="000000"/>
              </a:solidFill>
              <a:latin typeface="Arial"/>
            </a:endParaRPr>
          </a:p>
        </p:txBody>
      </p:sp>
      <p:sp>
        <p:nvSpPr>
          <p:cNvPr id="217" name="PlaceHolder 2"/>
          <p:cNvSpPr>
            <a:spLocks noGrp="1"/>
          </p:cNvSpPr>
          <p:nvPr>
            <p:ph/>
          </p:nvPr>
        </p:nvSpPr>
        <p:spPr>
          <a:xfrm>
            <a:off x="7991640" y="1358280"/>
            <a:ext cx="3741840" cy="1591920"/>
          </a:xfrm>
          <a:prstGeom prst="rect">
            <a:avLst/>
          </a:prstGeom>
          <a:noFill/>
          <a:ln w="0">
            <a:noFill/>
          </a:ln>
        </p:spPr>
        <p:txBody>
          <a:bodyPr lIns="91440" rIns="91440" tIns="45720" bIns="45720" anchor="t">
            <a:noAutofit/>
          </a:bodyPr>
          <a:p>
            <a:pPr marL="114480" indent="-114480" defTabSz="914400">
              <a:lnSpc>
                <a:spcPct val="90000"/>
              </a:lnSpc>
              <a:spcBef>
                <a:spcPts val="1001"/>
              </a:spcBef>
              <a:buNone/>
              <a:tabLst>
                <a:tab algn="l" pos="0"/>
              </a:tabLst>
            </a:pPr>
            <a:r>
              <a:rPr b="0" lang="en-US" sz="2400" spc="-1" strike="noStrike">
                <a:solidFill>
                  <a:schemeClr val="dk1"/>
                </a:solidFill>
                <a:latin typeface="Calibri"/>
              </a:rPr>
              <a:t>Notation</a:t>
            </a:r>
            <a:endParaRPr b="0" lang="en-US" sz="2400" spc="-1" strike="noStrike">
              <a:solidFill>
                <a:srgbClr val="000000"/>
              </a:solidFill>
              <a:latin typeface="Arial"/>
            </a:endParaRPr>
          </a:p>
          <a:p>
            <a:pPr marL="1371600" indent="-914400" defTabSz="914400">
              <a:lnSpc>
                <a:spcPct val="90000"/>
              </a:lnSpc>
              <a:spcBef>
                <a:spcPts val="499"/>
              </a:spcBef>
              <a:buNone/>
              <a:tabLst>
                <a:tab algn="l" pos="0"/>
              </a:tabLst>
            </a:pPr>
            <a:r>
              <a:rPr b="1" i="1" lang="en-US" sz="2000" spc="-1" strike="noStrike">
                <a:solidFill>
                  <a:schemeClr val="dk1"/>
                </a:solidFill>
                <a:latin typeface="Times New Roman"/>
              </a:rPr>
              <a:t>   </a:t>
            </a:r>
            <a:r>
              <a:rPr b="1" i="1" lang="en-US" sz="2000" spc="-1" strike="noStrike">
                <a:solidFill>
                  <a:schemeClr val="dk1"/>
                </a:solidFill>
                <a:latin typeface="Times New Roman"/>
              </a:rPr>
              <a:t>n</a:t>
            </a:r>
            <a:r>
              <a:rPr b="1" i="1" lang="en-US" sz="2000" spc="-1" strike="noStrike">
                <a:solidFill>
                  <a:schemeClr val="dk1"/>
                </a:solidFill>
                <a:latin typeface="Times New Roman"/>
              </a:rPr>
              <a:t>	</a:t>
            </a:r>
            <a:r>
              <a:rPr b="0" lang="en-US" sz="2000" spc="-1" strike="noStrike">
                <a:solidFill>
                  <a:schemeClr val="dk1"/>
                </a:solidFill>
                <a:latin typeface="Calibri"/>
              </a:rPr>
              <a:t>number of vertices</a:t>
            </a:r>
            <a:endParaRPr b="0" lang="en-US" sz="2000" spc="-1" strike="noStrike">
              <a:solidFill>
                <a:srgbClr val="000000"/>
              </a:solidFill>
              <a:latin typeface="Arial"/>
            </a:endParaRPr>
          </a:p>
          <a:p>
            <a:pPr marL="1371600" indent="-914400" defTabSz="914400">
              <a:lnSpc>
                <a:spcPct val="90000"/>
              </a:lnSpc>
              <a:spcBef>
                <a:spcPts val="499"/>
              </a:spcBef>
              <a:buNone/>
              <a:tabLst>
                <a:tab algn="l" pos="0"/>
              </a:tabLst>
            </a:pPr>
            <a:r>
              <a:rPr b="1" i="1" lang="en-US" sz="2000" spc="-1" strike="noStrike">
                <a:solidFill>
                  <a:schemeClr val="dk1"/>
                </a:solidFill>
                <a:latin typeface="Times New Roman"/>
              </a:rPr>
              <a:t>   </a:t>
            </a:r>
            <a:r>
              <a:rPr b="1" i="1" lang="en-US" sz="2000" spc="-1" strike="noStrike">
                <a:solidFill>
                  <a:schemeClr val="dk1"/>
                </a:solidFill>
                <a:latin typeface="Times New Roman"/>
              </a:rPr>
              <a:t>m</a:t>
            </a:r>
            <a:r>
              <a:rPr b="1" i="1" lang="en-US" sz="2000" spc="-1" strike="noStrike">
                <a:solidFill>
                  <a:schemeClr val="dk1"/>
                </a:solidFill>
                <a:latin typeface="Times New Roman"/>
              </a:rPr>
              <a:t>	</a:t>
            </a:r>
            <a:r>
              <a:rPr b="0" lang="en-US" sz="2000" spc="-1" strike="noStrike">
                <a:solidFill>
                  <a:schemeClr val="dk1"/>
                </a:solidFill>
                <a:latin typeface="Calibri"/>
              </a:rPr>
              <a:t>number of edges</a:t>
            </a:r>
            <a:endParaRPr b="0" lang="en-US" sz="2000" spc="-1" strike="noStrike">
              <a:solidFill>
                <a:srgbClr val="000000"/>
              </a:solidFill>
              <a:latin typeface="Arial"/>
            </a:endParaRPr>
          </a:p>
          <a:p>
            <a:pPr marL="1371600" indent="-914400" defTabSz="914400">
              <a:lnSpc>
                <a:spcPct val="90000"/>
              </a:lnSpc>
              <a:spcBef>
                <a:spcPts val="499"/>
              </a:spcBef>
              <a:buNone/>
              <a:tabLst>
                <a:tab algn="l" pos="0"/>
              </a:tabLst>
            </a:pPr>
            <a:r>
              <a:rPr b="0" lang="en-US" sz="2000" spc="-1" strike="noStrike">
                <a:solidFill>
                  <a:schemeClr val="dk1"/>
                </a:solidFill>
                <a:latin typeface="Times New Roman"/>
              </a:rPr>
              <a:t>deg(</a:t>
            </a:r>
            <a:r>
              <a:rPr b="1" i="1" lang="en-US" sz="2000" spc="-1" strike="noStrike">
                <a:solidFill>
                  <a:schemeClr val="dk1"/>
                </a:solidFill>
                <a:latin typeface="Times New Roman"/>
              </a:rPr>
              <a:t>v</a:t>
            </a:r>
            <a:r>
              <a:rPr b="0" lang="en-US" sz="2000" spc="-1" strike="noStrike">
                <a:solidFill>
                  <a:schemeClr val="dk1"/>
                </a:solidFill>
                <a:latin typeface="Times New Roman"/>
              </a:rPr>
              <a:t>)</a:t>
            </a:r>
            <a:r>
              <a:rPr b="1" i="1" lang="en-US" sz="2000" spc="-1" strike="noStrike">
                <a:solidFill>
                  <a:schemeClr val="dk1"/>
                </a:solidFill>
                <a:latin typeface="Times New Roman"/>
              </a:rPr>
              <a:t>	</a:t>
            </a:r>
            <a:r>
              <a:rPr b="0" lang="en-US" sz="2000" spc="-1" strike="noStrike">
                <a:solidFill>
                  <a:schemeClr val="dk1"/>
                </a:solidFill>
                <a:latin typeface="Calibri"/>
              </a:rPr>
              <a:t>degree of vertex </a:t>
            </a:r>
            <a:r>
              <a:rPr b="1" i="1" lang="en-US" sz="2000" spc="-1" strike="noStrike">
                <a:solidFill>
                  <a:schemeClr val="dk1"/>
                </a:solidFill>
                <a:latin typeface="Times New Roman"/>
              </a:rPr>
              <a:t>v</a:t>
            </a:r>
            <a:endParaRPr b="0" lang="en-US" sz="2000" spc="-1" strike="noStrike">
              <a:solidFill>
                <a:srgbClr val="000000"/>
              </a:solidFill>
              <a:latin typeface="Arial"/>
            </a:endParaRPr>
          </a:p>
        </p:txBody>
      </p:sp>
      <p:sp>
        <p:nvSpPr>
          <p:cNvPr id="218" name="PlaceHolder 3"/>
          <p:cNvSpPr>
            <a:spLocks noGrp="1"/>
          </p:cNvSpPr>
          <p:nvPr>
            <p:ph type="sldNum" idx="34"/>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030397C4-B58C-4DA4-8681-5E97B3701D4F}" type="slidenum">
              <a:rPr b="0" lang="en-US" sz="1400" spc="-1" strike="noStrike">
                <a:solidFill>
                  <a:schemeClr val="dk1">
                    <a:tint val="75000"/>
                  </a:schemeClr>
                </a:solidFill>
                <a:latin typeface="Tahoma"/>
                <a:ea typeface="MS PGothic"/>
              </a:rPr>
              <a:t>8</a:t>
            </a:fld>
            <a:endParaRPr b="0" lang="en-US" sz="1400" spc="-1" strike="noStrike">
              <a:solidFill>
                <a:srgbClr val="000000"/>
              </a:solidFill>
              <a:latin typeface="Times New Roman"/>
            </a:endParaRPr>
          </a:p>
        </p:txBody>
      </p:sp>
      <p:sp>
        <p:nvSpPr>
          <p:cNvPr id="219" name="PlaceHolder 4"/>
          <p:cNvSpPr>
            <a:spLocks noGrp="1"/>
          </p:cNvSpPr>
          <p:nvPr>
            <p:ph/>
          </p:nvPr>
        </p:nvSpPr>
        <p:spPr>
          <a:xfrm>
            <a:off x="919080" y="1270080"/>
            <a:ext cx="3656160" cy="4646880"/>
          </a:xfrm>
          <a:prstGeom prst="rect">
            <a:avLst/>
          </a:prstGeom>
          <a:noFill/>
          <a:ln w="0">
            <a:noFill/>
          </a:ln>
        </p:spPr>
        <p:txBody>
          <a:bodyPr lIns="91440" rIns="91440" tIns="45720" bIns="45720" anchor="t">
            <a:normAutofit/>
          </a:bodyPr>
          <a:p>
            <a:pPr marL="228600" indent="-228600" defTabSz="914400">
              <a:lnSpc>
                <a:spcPct val="90000"/>
              </a:lnSpc>
              <a:spcBef>
                <a:spcPts val="1001"/>
              </a:spcBef>
              <a:buNone/>
              <a:tabLst>
                <a:tab algn="l" pos="0"/>
              </a:tabLst>
            </a:pPr>
            <a:r>
              <a:rPr b="0" lang="en-US" sz="2400" spc="-1" strike="noStrike">
                <a:solidFill>
                  <a:schemeClr val="dk2"/>
                </a:solidFill>
                <a:latin typeface="Calibri"/>
              </a:rPr>
              <a:t>Property 1</a:t>
            </a:r>
            <a:endParaRPr b="0" lang="en-US" sz="2400" spc="-1" strike="noStrike">
              <a:solidFill>
                <a:srgbClr val="000000"/>
              </a:solidFill>
              <a:latin typeface="Arial"/>
            </a:endParaRPr>
          </a:p>
          <a:p>
            <a:pPr marL="685800" indent="-228600" defTabSz="914400">
              <a:lnSpc>
                <a:spcPct val="90000"/>
              </a:lnSpc>
              <a:spcBef>
                <a:spcPts val="499"/>
              </a:spcBef>
              <a:buNone/>
              <a:tabLst>
                <a:tab algn="l" pos="0"/>
              </a:tabLst>
            </a:pPr>
            <a:r>
              <a:rPr b="1" lang="en-US" sz="2800" spc="-1" strike="noStrike">
                <a:solidFill>
                  <a:schemeClr val="dk1"/>
                </a:solidFill>
                <a:latin typeface="Symbol"/>
              </a:rPr>
              <a:t>S</a:t>
            </a:r>
            <a:r>
              <a:rPr b="1" i="1" lang="en-US" sz="2000" spc="-1" strike="noStrike" baseline="-25000">
                <a:solidFill>
                  <a:schemeClr val="dk1"/>
                </a:solidFill>
                <a:latin typeface="Times New Roman"/>
              </a:rPr>
              <a:t>v </a:t>
            </a:r>
            <a:r>
              <a:rPr b="0" lang="en-US" sz="2000" spc="-1" strike="noStrike">
                <a:solidFill>
                  <a:schemeClr val="dk1"/>
                </a:solidFill>
                <a:latin typeface="Times New Roman"/>
              </a:rPr>
              <a:t>deg(</a:t>
            </a:r>
            <a:r>
              <a:rPr b="1" i="1" lang="en-US" sz="2000" spc="-1" strike="noStrike">
                <a:solidFill>
                  <a:schemeClr val="dk1"/>
                </a:solidFill>
                <a:latin typeface="Times New Roman"/>
              </a:rPr>
              <a:t>v</a:t>
            </a:r>
            <a:r>
              <a:rPr b="0" lang="en-US" sz="2000" spc="-1" strike="noStrike">
                <a:solidFill>
                  <a:schemeClr val="dk1"/>
                </a:solidFill>
                <a:latin typeface="Times New Roman"/>
              </a:rPr>
              <a:t>)</a:t>
            </a:r>
            <a:r>
              <a:rPr b="1" i="1" lang="en-US" sz="2000" spc="-1" strike="noStrike">
                <a:solidFill>
                  <a:schemeClr val="dk1"/>
                </a:solidFill>
                <a:latin typeface="Times New Roman"/>
              </a:rPr>
              <a:t> </a:t>
            </a:r>
            <a:r>
              <a:rPr b="0" lang="en-US" sz="2000" spc="-1" strike="noStrike">
                <a:solidFill>
                  <a:schemeClr val="dk1"/>
                </a:solidFill>
                <a:latin typeface="Symbol"/>
              </a:rPr>
              <a:t>= </a:t>
            </a:r>
            <a:r>
              <a:rPr b="0" lang="en-US" sz="2000" spc="-1" strike="noStrike">
                <a:solidFill>
                  <a:schemeClr val="dk1"/>
                </a:solidFill>
                <a:latin typeface="Times New Roman"/>
              </a:rPr>
              <a:t>2</a:t>
            </a:r>
            <a:r>
              <a:rPr b="1" i="1" lang="en-US" sz="2000" spc="-1" strike="noStrike">
                <a:solidFill>
                  <a:schemeClr val="dk1"/>
                </a:solidFill>
                <a:latin typeface="Times New Roman"/>
              </a:rPr>
              <a:t>m</a:t>
            </a:r>
            <a:endParaRPr b="0" lang="en-US" sz="2000" spc="-1" strike="noStrike">
              <a:solidFill>
                <a:srgbClr val="000000"/>
              </a:solidFill>
              <a:latin typeface="Arial"/>
            </a:endParaRPr>
          </a:p>
          <a:p>
            <a:pPr marL="685800" indent="-228600" defTabSz="914400">
              <a:lnSpc>
                <a:spcPct val="90000"/>
              </a:lnSpc>
              <a:spcBef>
                <a:spcPts val="499"/>
              </a:spcBef>
              <a:buNone/>
              <a:tabLst>
                <a:tab algn="l" pos="0"/>
              </a:tabLst>
            </a:pPr>
            <a:r>
              <a:rPr b="0" lang="en-US" sz="2000" spc="-1" strike="noStrike">
                <a:solidFill>
                  <a:srgbClr val="000000"/>
                </a:solidFill>
                <a:latin typeface="Calibri"/>
              </a:rPr>
              <a:t>Proof:</a:t>
            </a:r>
            <a:r>
              <a:rPr b="0" lang="en-US" sz="2000" spc="-1" strike="noStrike">
                <a:solidFill>
                  <a:schemeClr val="dk1"/>
                </a:solidFill>
                <a:latin typeface="Calibri"/>
              </a:rPr>
              <a:t> each edge is counted twice</a:t>
            </a:r>
            <a:endParaRPr b="0" lang="en-US" sz="2000" spc="-1" strike="noStrike">
              <a:solidFill>
                <a:srgbClr val="000000"/>
              </a:solidFill>
              <a:latin typeface="Arial"/>
            </a:endParaRPr>
          </a:p>
          <a:p>
            <a:pPr marL="228600" indent="-228600" defTabSz="914400">
              <a:lnSpc>
                <a:spcPct val="90000"/>
              </a:lnSpc>
              <a:spcBef>
                <a:spcPts val="1001"/>
              </a:spcBef>
              <a:buNone/>
              <a:tabLst>
                <a:tab algn="l" pos="0"/>
              </a:tabLst>
            </a:pPr>
            <a:r>
              <a:rPr b="0" lang="en-US" sz="2400" spc="-1" strike="noStrike">
                <a:solidFill>
                  <a:schemeClr val="dk2"/>
                </a:solidFill>
                <a:latin typeface="Calibri"/>
              </a:rPr>
              <a:t>Property 2</a:t>
            </a:r>
            <a:endParaRPr b="0" lang="en-US" sz="2400" spc="-1" strike="noStrike">
              <a:solidFill>
                <a:srgbClr val="000000"/>
              </a:solidFill>
              <a:latin typeface="Arial"/>
            </a:endParaRPr>
          </a:p>
          <a:p>
            <a:pPr marL="685800" indent="-228600" defTabSz="914400">
              <a:lnSpc>
                <a:spcPct val="90000"/>
              </a:lnSpc>
              <a:spcBef>
                <a:spcPts val="499"/>
              </a:spcBef>
              <a:buNone/>
              <a:tabLst>
                <a:tab algn="l" pos="0"/>
              </a:tabLst>
            </a:pPr>
            <a:r>
              <a:rPr b="0" lang="en-US" sz="2000" spc="-1" strike="noStrike">
                <a:solidFill>
                  <a:schemeClr val="dk1"/>
                </a:solidFill>
                <a:latin typeface="Calibri"/>
              </a:rPr>
              <a:t>In an undirected graph with no self-loops and no multiple edges</a:t>
            </a:r>
            <a:endParaRPr b="0" lang="en-US" sz="2000" spc="-1" strike="noStrike">
              <a:solidFill>
                <a:srgbClr val="000000"/>
              </a:solidFill>
              <a:latin typeface="Arial"/>
            </a:endParaRPr>
          </a:p>
          <a:p>
            <a:pPr marL="685800" indent="-228600" defTabSz="914400">
              <a:lnSpc>
                <a:spcPct val="90000"/>
              </a:lnSpc>
              <a:spcBef>
                <a:spcPts val="499"/>
              </a:spcBef>
              <a:buNone/>
              <a:tabLst>
                <a:tab algn="l" pos="0"/>
              </a:tabLst>
            </a:pPr>
            <a:r>
              <a:rPr b="0" lang="en-US" sz="2000" spc="-1" strike="noStrike">
                <a:solidFill>
                  <a:schemeClr val="dk1"/>
                </a:solidFill>
                <a:latin typeface="Calibri"/>
              </a:rPr>
              <a:t> </a:t>
            </a:r>
            <a:r>
              <a:rPr b="0" lang="en-US" sz="2000" spc="-1" strike="noStrike">
                <a:solidFill>
                  <a:schemeClr val="dk1"/>
                </a:solidFill>
                <a:latin typeface="Calibri"/>
              </a:rPr>
              <a:t>	</a:t>
            </a:r>
            <a:r>
              <a:rPr b="0" lang="en-US" sz="2000" spc="-1" strike="noStrike">
                <a:solidFill>
                  <a:schemeClr val="dk1"/>
                </a:solidFill>
                <a:latin typeface="Times New Roman"/>
              </a:rPr>
              <a:t> </a:t>
            </a:r>
            <a:r>
              <a:rPr b="1" i="1" lang="en-US" sz="2000" spc="-1" strike="noStrike">
                <a:solidFill>
                  <a:schemeClr val="dk1"/>
                </a:solidFill>
                <a:latin typeface="Times New Roman"/>
              </a:rPr>
              <a:t>m </a:t>
            </a:r>
            <a:r>
              <a:rPr b="1" lang="en-US" sz="2000" spc="-1" strike="noStrike">
                <a:solidFill>
                  <a:schemeClr val="dk1"/>
                </a:solidFill>
                <a:latin typeface="Symbol"/>
              </a:rPr>
              <a:t> </a:t>
            </a:r>
            <a:r>
              <a:rPr b="1" i="1" lang="en-US" sz="2000" spc="-1" strike="noStrike">
                <a:solidFill>
                  <a:schemeClr val="dk1"/>
                </a:solidFill>
                <a:latin typeface="Times New Roman"/>
              </a:rPr>
              <a:t>n </a:t>
            </a:r>
            <a:r>
              <a:rPr b="0" lang="en-US" sz="2000" spc="-1" strike="noStrike">
                <a:solidFill>
                  <a:schemeClr val="dk1"/>
                </a:solidFill>
                <a:latin typeface="Times New Roman"/>
              </a:rPr>
              <a:t>(</a:t>
            </a:r>
            <a:r>
              <a:rPr b="1" i="1" lang="en-US" sz="2000" spc="-1" strike="noStrike">
                <a:solidFill>
                  <a:schemeClr val="dk1"/>
                </a:solidFill>
                <a:latin typeface="Times New Roman"/>
              </a:rPr>
              <a:t>n </a:t>
            </a:r>
            <a:r>
              <a:rPr b="1" lang="en-US" sz="2000" spc="-1" strike="noStrike">
                <a:solidFill>
                  <a:schemeClr val="dk1"/>
                </a:solidFill>
                <a:latin typeface="Symbol"/>
              </a:rPr>
              <a:t>-</a:t>
            </a:r>
            <a:r>
              <a:rPr b="1" i="1" lang="en-US" sz="2000" spc="-1" strike="noStrike">
                <a:solidFill>
                  <a:schemeClr val="dk1"/>
                </a:solidFill>
                <a:latin typeface="Times New Roman"/>
              </a:rPr>
              <a:t> </a:t>
            </a:r>
            <a:r>
              <a:rPr b="0" lang="en-US" sz="2000" spc="-1" strike="noStrike">
                <a:solidFill>
                  <a:schemeClr val="dk1"/>
                </a:solidFill>
                <a:latin typeface="Times New Roman"/>
              </a:rPr>
              <a:t>1)</a:t>
            </a:r>
            <a:r>
              <a:rPr b="1" lang="en-US" sz="2000" spc="-1" strike="noStrike">
                <a:solidFill>
                  <a:schemeClr val="dk1"/>
                </a:solidFill>
                <a:latin typeface="Symbol"/>
              </a:rPr>
              <a:t>/</a:t>
            </a:r>
            <a:r>
              <a:rPr b="0" lang="en-US" sz="2000" spc="-1" strike="noStrike">
                <a:solidFill>
                  <a:schemeClr val="dk1"/>
                </a:solidFill>
                <a:latin typeface="Times New Roman"/>
              </a:rPr>
              <a:t>2</a:t>
            </a:r>
            <a:endParaRPr b="0" lang="en-US" sz="2000" spc="-1" strike="noStrike">
              <a:solidFill>
                <a:srgbClr val="000000"/>
              </a:solidFill>
              <a:latin typeface="Arial"/>
            </a:endParaRPr>
          </a:p>
          <a:p>
            <a:pPr marL="685800" indent="-228600" defTabSz="914400">
              <a:lnSpc>
                <a:spcPct val="90000"/>
              </a:lnSpc>
              <a:spcBef>
                <a:spcPts val="499"/>
              </a:spcBef>
              <a:buNone/>
              <a:tabLst>
                <a:tab algn="l" pos="0"/>
              </a:tabLst>
            </a:pPr>
            <a:r>
              <a:rPr b="0" lang="en-US" sz="2000" spc="-1" strike="noStrike">
                <a:solidFill>
                  <a:srgbClr val="000000"/>
                </a:solidFill>
                <a:latin typeface="Calibri"/>
              </a:rPr>
              <a:t>Proof:</a:t>
            </a:r>
            <a:r>
              <a:rPr b="0" lang="en-US" sz="2000" spc="-1" strike="noStrike">
                <a:solidFill>
                  <a:schemeClr val="dk1"/>
                </a:solidFill>
                <a:latin typeface="Calibri"/>
              </a:rPr>
              <a:t> each vertex has degree at most </a:t>
            </a:r>
            <a:r>
              <a:rPr b="0" lang="en-US" sz="2000" spc="-1" strike="noStrike">
                <a:solidFill>
                  <a:schemeClr val="dk1"/>
                </a:solidFill>
                <a:latin typeface="Times New Roman"/>
              </a:rPr>
              <a:t>(</a:t>
            </a:r>
            <a:r>
              <a:rPr b="1" i="1" lang="en-US" sz="2000" spc="-1" strike="noStrike">
                <a:solidFill>
                  <a:schemeClr val="dk1"/>
                </a:solidFill>
                <a:latin typeface="Times New Roman"/>
              </a:rPr>
              <a:t>n </a:t>
            </a:r>
            <a:r>
              <a:rPr b="1" lang="en-US" sz="2000" spc="-1" strike="noStrike">
                <a:solidFill>
                  <a:schemeClr val="dk1"/>
                </a:solidFill>
                <a:latin typeface="Symbol"/>
              </a:rPr>
              <a:t>-</a:t>
            </a:r>
            <a:r>
              <a:rPr b="1" i="1" lang="en-US" sz="2000" spc="-1" strike="noStrike">
                <a:solidFill>
                  <a:schemeClr val="dk1"/>
                </a:solidFill>
                <a:latin typeface="Times New Roman"/>
              </a:rPr>
              <a:t> </a:t>
            </a:r>
            <a:r>
              <a:rPr b="0" lang="en-US" sz="2000" spc="-1" strike="noStrike">
                <a:solidFill>
                  <a:schemeClr val="dk1"/>
                </a:solidFill>
                <a:latin typeface="Times New Roman"/>
              </a:rPr>
              <a:t>1)</a:t>
            </a:r>
            <a:endParaRPr b="0" lang="en-US" sz="2000" spc="-1" strike="noStrike">
              <a:solidFill>
                <a:srgbClr val="000000"/>
              </a:solidFill>
              <a:latin typeface="Arial"/>
            </a:endParaRPr>
          </a:p>
        </p:txBody>
      </p:sp>
      <p:grpSp>
        <p:nvGrpSpPr>
          <p:cNvPr id="220" name="Group 1"/>
          <p:cNvGrpSpPr/>
          <p:nvPr/>
        </p:nvGrpSpPr>
        <p:grpSpPr>
          <a:xfrm>
            <a:off x="6095880" y="3305520"/>
            <a:ext cx="2132280" cy="2208600"/>
            <a:chOff x="6095880" y="3305520"/>
            <a:chExt cx="2132280" cy="2208600"/>
          </a:xfrm>
        </p:grpSpPr>
        <p:sp>
          <p:nvSpPr>
            <p:cNvPr id="221" name="Oval 5"/>
            <p:cNvSpPr/>
            <p:nvPr/>
          </p:nvSpPr>
          <p:spPr>
            <a:xfrm>
              <a:off x="6095880" y="4219920"/>
              <a:ext cx="303480" cy="30348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22" name="Oval 6"/>
            <p:cNvSpPr/>
            <p:nvPr/>
          </p:nvSpPr>
          <p:spPr>
            <a:xfrm>
              <a:off x="7010280" y="3305520"/>
              <a:ext cx="303480" cy="30348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23" name="Oval 7"/>
            <p:cNvSpPr/>
            <p:nvPr/>
          </p:nvSpPr>
          <p:spPr>
            <a:xfrm>
              <a:off x="7010280" y="5210640"/>
              <a:ext cx="303480" cy="30348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24" name="Oval 8"/>
            <p:cNvSpPr/>
            <p:nvPr/>
          </p:nvSpPr>
          <p:spPr>
            <a:xfrm>
              <a:off x="7924680" y="4219920"/>
              <a:ext cx="303480" cy="30348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225" name="AutoShape 9"/>
            <p:cNvCxnSpPr>
              <a:stCxn id="222" idx="5"/>
              <a:endCxn id="224" idx="1"/>
            </p:cNvCxnSpPr>
            <p:nvPr/>
          </p:nvCxnSpPr>
          <p:spPr>
            <a:xfrm>
              <a:off x="7269840" y="3565080"/>
              <a:ext cx="699840" cy="699840"/>
            </a:xfrm>
            <a:prstGeom prst="straightConnector1">
              <a:avLst/>
            </a:prstGeom>
            <a:ln w="19050">
              <a:solidFill>
                <a:srgbClr val="000000"/>
              </a:solidFill>
              <a:round/>
            </a:ln>
          </p:spPr>
        </p:cxnSp>
        <p:cxnSp>
          <p:nvCxnSpPr>
            <p:cNvPr id="226" name="AutoShape 10"/>
            <p:cNvCxnSpPr>
              <a:stCxn id="222" idx="3"/>
              <a:endCxn id="221" idx="7"/>
            </p:cNvCxnSpPr>
            <p:nvPr/>
          </p:nvCxnSpPr>
          <p:spPr>
            <a:xfrm flipH="1">
              <a:off x="6355440" y="3565080"/>
              <a:ext cx="699840" cy="699840"/>
            </a:xfrm>
            <a:prstGeom prst="straightConnector1">
              <a:avLst/>
            </a:prstGeom>
            <a:ln w="19050">
              <a:solidFill>
                <a:srgbClr val="000000"/>
              </a:solidFill>
              <a:round/>
            </a:ln>
          </p:spPr>
        </p:cxnSp>
        <p:cxnSp>
          <p:nvCxnSpPr>
            <p:cNvPr id="227" name="AutoShape 11"/>
            <p:cNvCxnSpPr>
              <a:stCxn id="223" idx="1"/>
              <a:endCxn id="221" idx="5"/>
            </p:cNvCxnSpPr>
            <p:nvPr/>
          </p:nvCxnSpPr>
          <p:spPr>
            <a:xfrm flipH="1" flipV="1">
              <a:off x="6355440" y="4479480"/>
              <a:ext cx="699840" cy="776160"/>
            </a:xfrm>
            <a:prstGeom prst="straightConnector1">
              <a:avLst/>
            </a:prstGeom>
            <a:ln w="19050">
              <a:solidFill>
                <a:srgbClr val="000000"/>
              </a:solidFill>
              <a:round/>
            </a:ln>
          </p:spPr>
        </p:cxnSp>
        <p:cxnSp>
          <p:nvCxnSpPr>
            <p:cNvPr id="228" name="AutoShape 12"/>
            <p:cNvCxnSpPr>
              <a:stCxn id="224" idx="3"/>
              <a:endCxn id="223" idx="7"/>
            </p:cNvCxnSpPr>
            <p:nvPr/>
          </p:nvCxnSpPr>
          <p:spPr>
            <a:xfrm flipH="1">
              <a:off x="7269840" y="4479480"/>
              <a:ext cx="699840" cy="776160"/>
            </a:xfrm>
            <a:prstGeom prst="straightConnector1">
              <a:avLst/>
            </a:prstGeom>
            <a:ln w="19050">
              <a:solidFill>
                <a:srgbClr val="000000"/>
              </a:solidFill>
              <a:round/>
            </a:ln>
          </p:spPr>
        </p:cxnSp>
        <p:cxnSp>
          <p:nvCxnSpPr>
            <p:cNvPr id="229" name="AutoShape 13"/>
            <p:cNvCxnSpPr>
              <a:stCxn id="224" idx="2"/>
              <a:endCxn id="221" idx="6"/>
            </p:cNvCxnSpPr>
            <p:nvPr/>
          </p:nvCxnSpPr>
          <p:spPr>
            <a:xfrm flipH="1">
              <a:off x="6399720" y="4371840"/>
              <a:ext cx="1525680" cy="720"/>
            </a:xfrm>
            <a:prstGeom prst="straightConnector1">
              <a:avLst/>
            </a:prstGeom>
            <a:ln w="19050">
              <a:solidFill>
                <a:srgbClr val="000000"/>
              </a:solidFill>
              <a:round/>
            </a:ln>
          </p:spPr>
        </p:cxnSp>
        <p:cxnSp>
          <p:nvCxnSpPr>
            <p:cNvPr id="230" name="AutoShape 14"/>
            <p:cNvCxnSpPr>
              <a:stCxn id="223" idx="0"/>
              <a:endCxn id="222" idx="4"/>
            </p:cNvCxnSpPr>
            <p:nvPr/>
          </p:nvCxnSpPr>
          <p:spPr>
            <a:xfrm flipV="1">
              <a:off x="7162200" y="3609360"/>
              <a:ext cx="720" cy="1602000"/>
            </a:xfrm>
            <a:prstGeom prst="straightConnector1">
              <a:avLst/>
            </a:prstGeom>
            <a:ln w="19050">
              <a:solidFill>
                <a:srgbClr val="000000"/>
              </a:solidFill>
              <a:round/>
            </a:ln>
          </p:spPr>
        </p:cxnSp>
      </p:grpSp>
      <p:sp>
        <p:nvSpPr>
          <p:cNvPr id="231" name="Rectangle 2"/>
          <p:cNvSpPr/>
          <p:nvPr/>
        </p:nvSpPr>
        <p:spPr>
          <a:xfrm>
            <a:off x="8506080" y="3466080"/>
            <a:ext cx="1841400" cy="1461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Bef>
                <a:spcPts val="400"/>
              </a:spcBef>
            </a:pPr>
            <a:r>
              <a:rPr b="0" lang="en-US" sz="2000" spc="-1" strike="noStrike">
                <a:solidFill>
                  <a:schemeClr val="dk1"/>
                </a:solidFill>
                <a:latin typeface="Calibri"/>
              </a:rPr>
              <a:t>Example</a:t>
            </a:r>
            <a:endParaRPr b="0" lang="en-US" sz="2000" spc="-1" strike="noStrike">
              <a:solidFill>
                <a:srgbClr val="000000"/>
              </a:solidFill>
              <a:latin typeface="Arial"/>
            </a:endParaRPr>
          </a:p>
          <a:p>
            <a:pPr lvl="1" marL="457200" indent="-216000" defTabSz="457200">
              <a:lnSpc>
                <a:spcPct val="100000"/>
              </a:lnSpc>
              <a:spcBef>
                <a:spcPts val="400"/>
              </a:spcBef>
              <a:buClr>
                <a:srgbClr val="000000"/>
              </a:buClr>
              <a:buSzPct val="60000"/>
              <a:buFont typeface="Wingdings" charset="2"/>
              <a:buChar char=""/>
            </a:pPr>
            <a:r>
              <a:rPr b="1" i="1" lang="en-US" sz="2000" spc="-1" strike="noStrike">
                <a:solidFill>
                  <a:schemeClr val="dk1"/>
                </a:solidFill>
                <a:latin typeface="Times New Roman"/>
              </a:rPr>
              <a:t>n </a:t>
            </a:r>
            <a:r>
              <a:rPr b="1" lang="en-US" sz="2000" spc="-1" strike="noStrike">
                <a:solidFill>
                  <a:schemeClr val="dk1"/>
                </a:solidFill>
                <a:latin typeface="Symbol"/>
              </a:rPr>
              <a:t>= </a:t>
            </a:r>
            <a:r>
              <a:rPr b="0" lang="en-US" sz="2000" spc="-1" strike="noStrike">
                <a:solidFill>
                  <a:schemeClr val="dk1"/>
                </a:solidFill>
                <a:latin typeface="Times New Roman"/>
              </a:rPr>
              <a:t>4</a:t>
            </a:r>
            <a:endParaRPr b="0" lang="en-US" sz="2000" spc="-1" strike="noStrike">
              <a:solidFill>
                <a:srgbClr val="000000"/>
              </a:solidFill>
              <a:latin typeface="Arial"/>
            </a:endParaRPr>
          </a:p>
          <a:p>
            <a:pPr lvl="1" marL="457200" indent="-216000" defTabSz="457200">
              <a:lnSpc>
                <a:spcPct val="100000"/>
              </a:lnSpc>
              <a:spcBef>
                <a:spcPts val="400"/>
              </a:spcBef>
              <a:buClr>
                <a:srgbClr val="000000"/>
              </a:buClr>
              <a:buSzPct val="60000"/>
              <a:buFont typeface="Wingdings" charset="2"/>
              <a:buChar char=""/>
            </a:pPr>
            <a:r>
              <a:rPr b="1" i="1" lang="en-US" sz="2000" spc="-1" strike="noStrike">
                <a:solidFill>
                  <a:schemeClr val="dk1"/>
                </a:solidFill>
                <a:latin typeface="Times New Roman"/>
              </a:rPr>
              <a:t>m </a:t>
            </a:r>
            <a:r>
              <a:rPr b="1" lang="en-US" sz="2000" spc="-1" strike="noStrike">
                <a:solidFill>
                  <a:schemeClr val="dk1"/>
                </a:solidFill>
                <a:latin typeface="Symbol"/>
              </a:rPr>
              <a:t>= </a:t>
            </a:r>
            <a:r>
              <a:rPr b="0" lang="en-US" sz="2000" spc="-1" strike="noStrike">
                <a:solidFill>
                  <a:schemeClr val="dk1"/>
                </a:solidFill>
                <a:latin typeface="Times New Roman"/>
              </a:rPr>
              <a:t>6</a:t>
            </a:r>
            <a:endParaRPr b="0" lang="en-US" sz="2000" spc="-1" strike="noStrike">
              <a:solidFill>
                <a:srgbClr val="000000"/>
              </a:solidFill>
              <a:latin typeface="Arial"/>
            </a:endParaRPr>
          </a:p>
          <a:p>
            <a:pPr lvl="1" marL="457200" indent="-216000" defTabSz="457200">
              <a:lnSpc>
                <a:spcPct val="100000"/>
              </a:lnSpc>
              <a:spcBef>
                <a:spcPts val="400"/>
              </a:spcBef>
              <a:buClr>
                <a:srgbClr val="000000"/>
              </a:buClr>
              <a:buSzPct val="60000"/>
              <a:buFont typeface="Wingdings" charset="2"/>
              <a:buChar char=""/>
            </a:pPr>
            <a:r>
              <a:rPr b="0" lang="en-US" sz="2000" spc="-1" strike="noStrike">
                <a:solidFill>
                  <a:schemeClr val="dk1"/>
                </a:solidFill>
                <a:latin typeface="Times New Roman"/>
              </a:rPr>
              <a:t>deg(</a:t>
            </a:r>
            <a:r>
              <a:rPr b="1" i="1" lang="en-US" sz="2000" spc="-1" strike="noStrike">
                <a:solidFill>
                  <a:schemeClr val="dk1"/>
                </a:solidFill>
                <a:latin typeface="Times New Roman"/>
              </a:rPr>
              <a:t>v</a:t>
            </a:r>
            <a:r>
              <a:rPr b="0" lang="en-US" sz="2000" spc="-1" strike="noStrike">
                <a:solidFill>
                  <a:schemeClr val="dk1"/>
                </a:solidFill>
                <a:latin typeface="Times New Roman"/>
              </a:rPr>
              <a:t>)</a:t>
            </a:r>
            <a:r>
              <a:rPr b="1" i="1" lang="en-US" sz="2000" spc="-1" strike="noStrike">
                <a:solidFill>
                  <a:schemeClr val="dk1"/>
                </a:solidFill>
                <a:latin typeface="Times New Roman"/>
              </a:rPr>
              <a:t> </a:t>
            </a:r>
            <a:r>
              <a:rPr b="0" lang="en-US" sz="2000" spc="-1" strike="noStrike">
                <a:solidFill>
                  <a:schemeClr val="dk1"/>
                </a:solidFill>
                <a:latin typeface="Symbol"/>
              </a:rPr>
              <a:t>= </a:t>
            </a:r>
            <a:r>
              <a:rPr b="0" lang="en-US" sz="2000" spc="-1" strike="noStrike">
                <a:solidFill>
                  <a:schemeClr val="dk1"/>
                </a:solidFill>
                <a:latin typeface="Times New Roman"/>
              </a:rPr>
              <a:t>3</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35" dur="indefinite" restart="never" nodeType="tmRoot">
          <p:childTnLst>
            <p:seq>
              <p:cTn id="136" dur="indefinite" nodeType="mainSeq">
                <p:childTnLst>
                  <p:par>
                    <p:cTn id="137" fill="hold">
                      <p:stCondLst>
                        <p:cond delay="indefinite"/>
                      </p:stCondLst>
                      <p:childTnLst>
                        <p:par>
                          <p:cTn id="138" fill="hold">
                            <p:stCondLst>
                              <p:cond delay="0"/>
                            </p:stCondLst>
                            <p:childTnLst>
                              <p:par>
                                <p:cTn id="139" nodeType="clickEffect" fill="hold" presetClass="entr" presetID="1">
                                  <p:stCondLst>
                                    <p:cond delay="0"/>
                                  </p:stCondLst>
                                  <p:childTnLst>
                                    <p:set>
                                      <p:cBhvr>
                                        <p:cTn id="140" dur="1" fill="hold">
                                          <p:stCondLst>
                                            <p:cond delay="0"/>
                                          </p:stCondLst>
                                        </p:cTn>
                                        <p:tgtEl>
                                          <p:spTgt spid="219">
                                            <p:txEl>
                                              <p:pRg st="0" end="0"/>
                                            </p:txEl>
                                          </p:spTgt>
                                        </p:tgtEl>
                                        <p:attrNameLst>
                                          <p:attrName>style.visibility</p:attrName>
                                        </p:attrNameLst>
                                      </p:cBhvr>
                                      <p:to>
                                        <p:strVal val="visible"/>
                                      </p:to>
                                    </p:set>
                                  </p:childTnLst>
                                </p:cTn>
                              </p:par>
                              <p:par>
                                <p:cTn id="141" nodeType="withEffect" fill="hold" presetClass="entr" presetID="1">
                                  <p:stCondLst>
                                    <p:cond delay="0"/>
                                  </p:stCondLst>
                                  <p:childTnLst>
                                    <p:set>
                                      <p:cBhvr>
                                        <p:cTn id="142" dur="1" fill="hold">
                                          <p:stCondLst>
                                            <p:cond delay="0"/>
                                          </p:stCondLst>
                                        </p:cTn>
                                        <p:tgtEl>
                                          <p:spTgt spid="219">
                                            <p:txEl>
                                              <p:pRg st="1" end="1"/>
                                            </p:txEl>
                                          </p:spTgt>
                                        </p:tgtEl>
                                        <p:attrNameLst>
                                          <p:attrName>style.visibility</p:attrName>
                                        </p:attrNameLst>
                                      </p:cBhvr>
                                      <p:to>
                                        <p:strVal val="visible"/>
                                      </p:to>
                                    </p:set>
                                  </p:childTnLst>
                                </p:cTn>
                              </p:par>
                              <p:par>
                                <p:cTn id="143" nodeType="withEffect" fill="hold" presetClass="entr" presetID="1">
                                  <p:stCondLst>
                                    <p:cond delay="0"/>
                                  </p:stCondLst>
                                  <p:childTnLst>
                                    <p:set>
                                      <p:cBhvr>
                                        <p:cTn id="144" dur="1" fill="hold">
                                          <p:stCondLst>
                                            <p:cond delay="0"/>
                                          </p:stCondLst>
                                        </p:cTn>
                                        <p:tgtEl>
                                          <p:spTgt spid="219">
                                            <p:txEl>
                                              <p:pRg st="2" end="2"/>
                                            </p:txEl>
                                          </p:spTgt>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nodeType="clickEffect" fill="hold" presetClass="entr" presetID="1">
                                  <p:stCondLst>
                                    <p:cond delay="0"/>
                                  </p:stCondLst>
                                  <p:childTnLst>
                                    <p:set>
                                      <p:cBhvr>
                                        <p:cTn id="148" dur="1" fill="hold">
                                          <p:stCondLst>
                                            <p:cond delay="0"/>
                                          </p:stCondLst>
                                        </p:cTn>
                                        <p:tgtEl>
                                          <p:spTgt spid="219">
                                            <p:txEl>
                                              <p:pRg st="3" end="3"/>
                                            </p:txEl>
                                          </p:spTgt>
                                        </p:tgtEl>
                                        <p:attrNameLst>
                                          <p:attrName>style.visibility</p:attrName>
                                        </p:attrNameLst>
                                      </p:cBhvr>
                                      <p:to>
                                        <p:strVal val="visible"/>
                                      </p:to>
                                    </p:set>
                                  </p:childTnLst>
                                </p:cTn>
                              </p:par>
                              <p:par>
                                <p:cTn id="149" nodeType="withEffect" fill="hold" presetClass="entr" presetID="1">
                                  <p:stCondLst>
                                    <p:cond delay="0"/>
                                  </p:stCondLst>
                                  <p:childTnLst>
                                    <p:set>
                                      <p:cBhvr>
                                        <p:cTn id="150" dur="1" fill="hold">
                                          <p:stCondLst>
                                            <p:cond delay="0"/>
                                          </p:stCondLst>
                                        </p:cTn>
                                        <p:tgtEl>
                                          <p:spTgt spid="219">
                                            <p:txEl>
                                              <p:pRg st="4" end="4"/>
                                            </p:txEl>
                                          </p:spTgt>
                                        </p:tgtEl>
                                        <p:attrNameLst>
                                          <p:attrName>style.visibility</p:attrName>
                                        </p:attrNameLst>
                                      </p:cBhvr>
                                      <p:to>
                                        <p:strVal val="visible"/>
                                      </p:to>
                                    </p:set>
                                  </p:childTnLst>
                                </p:cTn>
                              </p:par>
                              <p:par>
                                <p:cTn id="151" nodeType="withEffect" fill="hold" presetClass="entr" presetID="1">
                                  <p:stCondLst>
                                    <p:cond delay="0"/>
                                  </p:stCondLst>
                                  <p:childTnLst>
                                    <p:set>
                                      <p:cBhvr>
                                        <p:cTn id="152" dur="1" fill="hold">
                                          <p:stCondLst>
                                            <p:cond delay="0"/>
                                          </p:stCondLst>
                                        </p:cTn>
                                        <p:tgtEl>
                                          <p:spTgt spid="219">
                                            <p:txEl>
                                              <p:pRg st="5" end="5"/>
                                            </p:txEl>
                                          </p:spTgt>
                                        </p:tgtEl>
                                        <p:attrNameLst>
                                          <p:attrName>style.visibility</p:attrName>
                                        </p:attrNameLst>
                                      </p:cBhvr>
                                      <p:to>
                                        <p:strVal val="visible"/>
                                      </p:to>
                                    </p:set>
                                  </p:childTnLst>
                                </p:cTn>
                              </p:par>
                              <p:par>
                                <p:cTn id="153" nodeType="withEffect" fill="hold" presetClass="entr" presetID="1">
                                  <p:stCondLst>
                                    <p:cond delay="0"/>
                                  </p:stCondLst>
                                  <p:childTnLst>
                                    <p:set>
                                      <p:cBhvr>
                                        <p:cTn id="154" dur="1" fill="hold">
                                          <p:stCondLst>
                                            <p:cond delay="0"/>
                                          </p:stCondLst>
                                        </p:cTn>
                                        <p:tgtEl>
                                          <p:spTgt spid="219">
                                            <p:txEl>
                                              <p:pRg st="6" end="6"/>
                                            </p:txEl>
                                          </p:spTgt>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nodeType="clickEffect" fill="hold" presetClass="entr" presetID="1">
                                  <p:stCondLst>
                                    <p:cond delay="0"/>
                                  </p:stCondLst>
                                  <p:childTnLst>
                                    <p:set>
                                      <p:cBhvr>
                                        <p:cTn id="158" dur="1" fill="hold">
                                          <p:stCondLst>
                                            <p:cond delay="0"/>
                                          </p:stCondLst>
                                        </p:cTn>
                                        <p:tgtEl>
                                          <p:spTgt spid="217">
                                            <p:txEl>
                                              <p:pRg st="0" end="0"/>
                                            </p:txEl>
                                          </p:spTgt>
                                        </p:tgtEl>
                                        <p:attrNameLst>
                                          <p:attrName>style.visibility</p:attrName>
                                        </p:attrNameLst>
                                      </p:cBhvr>
                                      <p:to>
                                        <p:strVal val="visible"/>
                                      </p:to>
                                    </p:set>
                                  </p:childTnLst>
                                </p:cTn>
                              </p:par>
                              <p:par>
                                <p:cTn id="159" nodeType="withEffect" fill="hold" presetClass="entr" presetID="1">
                                  <p:stCondLst>
                                    <p:cond delay="0"/>
                                  </p:stCondLst>
                                  <p:childTnLst>
                                    <p:set>
                                      <p:cBhvr>
                                        <p:cTn id="160" dur="1" fill="hold">
                                          <p:stCondLst>
                                            <p:cond delay="0"/>
                                          </p:stCondLst>
                                        </p:cTn>
                                        <p:tgtEl>
                                          <p:spTgt spid="217">
                                            <p:txEl>
                                              <p:pRg st="1" end="1"/>
                                            </p:txEl>
                                          </p:spTgt>
                                        </p:tgtEl>
                                        <p:attrNameLst>
                                          <p:attrName>style.visibility</p:attrName>
                                        </p:attrNameLst>
                                      </p:cBhvr>
                                      <p:to>
                                        <p:strVal val="visible"/>
                                      </p:to>
                                    </p:set>
                                  </p:childTnLst>
                                </p:cTn>
                              </p:par>
                              <p:par>
                                <p:cTn id="161" nodeType="withEffect" fill="hold" presetClass="entr" presetID="1">
                                  <p:stCondLst>
                                    <p:cond delay="0"/>
                                  </p:stCondLst>
                                  <p:childTnLst>
                                    <p:set>
                                      <p:cBhvr>
                                        <p:cTn id="162" dur="1" fill="hold">
                                          <p:stCondLst>
                                            <p:cond delay="0"/>
                                          </p:stCondLst>
                                        </p:cTn>
                                        <p:tgtEl>
                                          <p:spTgt spid="217">
                                            <p:txEl>
                                              <p:pRg st="2" end="2"/>
                                            </p:txEl>
                                          </p:spTgt>
                                        </p:tgtEl>
                                        <p:attrNameLst>
                                          <p:attrName>style.visibility</p:attrName>
                                        </p:attrNameLst>
                                      </p:cBhvr>
                                      <p:to>
                                        <p:strVal val="visible"/>
                                      </p:to>
                                    </p:set>
                                  </p:childTnLst>
                                </p:cTn>
                              </p:par>
                              <p:par>
                                <p:cTn id="163" nodeType="withEffect" fill="hold" presetClass="entr" presetID="1">
                                  <p:stCondLst>
                                    <p:cond delay="0"/>
                                  </p:stCondLst>
                                  <p:childTnLst>
                                    <p:set>
                                      <p:cBhvr>
                                        <p:cTn id="164" dur="1" fill="hold">
                                          <p:stCondLst>
                                            <p:cond delay="0"/>
                                          </p:stCondLst>
                                        </p:cTn>
                                        <p:tgtEl>
                                          <p:spTgt spid="217">
                                            <p:txEl>
                                              <p:pRg st="3" end="3"/>
                                            </p:txEl>
                                          </p:spTgt>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nodeType="clickEffect" fill="hold" presetClass="entr" presetID="1">
                                  <p:stCondLst>
                                    <p:cond delay="0"/>
                                  </p:stCondLst>
                                  <p:childTnLst>
                                    <p:set>
                                      <p:cBhvr>
                                        <p:cTn id="168" dur="1" fill="hold">
                                          <p:stCondLst>
                                            <p:cond delay="0"/>
                                          </p:stCondLst>
                                        </p:cTn>
                                        <p:tgtEl>
                                          <p:spTgt spid="220"/>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nodeType="clickEffect" fill="hold" presetClass="entr" presetID="1">
                                  <p:stCondLst>
                                    <p:cond delay="0"/>
                                  </p:stCondLst>
                                  <p:childTnLst>
                                    <p:set>
                                      <p:cBhvr>
                                        <p:cTn id="172"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Vertices and Edges</a:t>
            </a:r>
            <a:endParaRPr b="0" lang="en-US" sz="4400" spc="-1" strike="noStrike">
              <a:solidFill>
                <a:srgbClr val="000000"/>
              </a:solidFill>
              <a:latin typeface="Arial"/>
            </a:endParaRPr>
          </a:p>
        </p:txBody>
      </p:sp>
      <p:sp>
        <p:nvSpPr>
          <p:cNvPr id="233"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 </a:t>
            </a:r>
            <a:r>
              <a:rPr b="1" lang="en-US" sz="2000" spc="-1" strike="noStrike">
                <a:solidFill>
                  <a:schemeClr val="dk1"/>
                </a:solidFill>
                <a:latin typeface="Calibri"/>
              </a:rPr>
              <a:t>graph</a:t>
            </a:r>
            <a:r>
              <a:rPr b="0" lang="en-US" sz="2000" spc="-1" strike="noStrike">
                <a:solidFill>
                  <a:schemeClr val="dk1"/>
                </a:solidFill>
                <a:latin typeface="Calibri"/>
              </a:rPr>
              <a:t> is a collection of </a:t>
            </a:r>
            <a:r>
              <a:rPr b="1" lang="en-US" sz="2000" spc="-1" strike="noStrike">
                <a:solidFill>
                  <a:schemeClr val="dk1"/>
                </a:solidFill>
                <a:latin typeface="Calibri"/>
              </a:rPr>
              <a:t>vertices</a:t>
            </a:r>
            <a:r>
              <a:rPr b="0" lang="en-US" sz="2000" spc="-1" strike="noStrike">
                <a:solidFill>
                  <a:schemeClr val="dk1"/>
                </a:solidFill>
                <a:latin typeface="Calibri"/>
              </a:rPr>
              <a:t> and </a:t>
            </a:r>
            <a:r>
              <a:rPr b="1" lang="en-US" sz="2000" spc="-1" strike="noStrike">
                <a:solidFill>
                  <a:schemeClr val="dk1"/>
                </a:solidFill>
                <a:latin typeface="Calibri"/>
              </a:rPr>
              <a:t>edges</a:t>
            </a:r>
            <a:r>
              <a:rPr b="0" lang="en-US" sz="2000" spc="-1" strike="noStrike">
                <a:solidFill>
                  <a:schemeClr val="dk1"/>
                </a:solidFill>
                <a:latin typeface="Calibri"/>
              </a:rPr>
              <a:t>. </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We model the abstraction as a combination of three data types: Vertex, Edge, and Graph. </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 </a:t>
            </a:r>
            <a:r>
              <a:rPr b="1" lang="en-US" sz="2000" spc="-1" strike="noStrike">
                <a:solidFill>
                  <a:schemeClr val="dk1"/>
                </a:solidFill>
                <a:latin typeface="Calibri"/>
              </a:rPr>
              <a:t>Vertex</a:t>
            </a:r>
            <a:r>
              <a:rPr b="0" lang="en-US" sz="2000" spc="-1" strike="noStrike">
                <a:solidFill>
                  <a:schemeClr val="dk1"/>
                </a:solidFill>
                <a:latin typeface="Calibri"/>
              </a:rPr>
              <a:t> is a lightweight object that stores an arbitrary element provided by the user (e.g., an airport code)</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600" spc="-1" strike="noStrike">
                <a:solidFill>
                  <a:schemeClr val="dk1"/>
                </a:solidFill>
                <a:latin typeface="Calibri"/>
              </a:rPr>
              <a:t>We assume it supports a method, element(), to retrieve the stored element. </a:t>
            </a:r>
            <a:endParaRPr b="0" lang="en-US" sz="16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An </a:t>
            </a:r>
            <a:r>
              <a:rPr b="1" lang="en-US" sz="2000" spc="-1" strike="noStrike">
                <a:solidFill>
                  <a:schemeClr val="dk1"/>
                </a:solidFill>
                <a:latin typeface="Calibri"/>
              </a:rPr>
              <a:t>Edge</a:t>
            </a:r>
            <a:r>
              <a:rPr b="0" lang="en-US" sz="2000" spc="-1" strike="noStrike">
                <a:solidFill>
                  <a:schemeClr val="dk1"/>
                </a:solidFill>
                <a:latin typeface="Calibri"/>
              </a:rPr>
              <a:t> stores an associated object (e.g., a flight number, travel distance, cost), retrieved with the element( ) method. </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In addition, we assume that an Edge supports the following methods: </a:t>
            </a:r>
            <a:endParaRPr b="0" lang="en-US" sz="2000" spc="-1" strike="noStrike">
              <a:solidFill>
                <a:srgbClr val="000000"/>
              </a:solidFill>
              <a:latin typeface="Arial"/>
            </a:endParaRPr>
          </a:p>
        </p:txBody>
      </p:sp>
      <p:sp>
        <p:nvSpPr>
          <p:cNvPr id="234" name="PlaceHolder 3"/>
          <p:cNvSpPr>
            <a:spLocks noGrp="1"/>
          </p:cNvSpPr>
          <p:nvPr>
            <p:ph type="sldNum" idx="35"/>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9B003E00-4480-467F-90A5-3EF7C6872A12}" type="slidenum">
              <a:rPr b="0" lang="en-US" sz="1400" spc="-1" strike="noStrike">
                <a:solidFill>
                  <a:schemeClr val="dk1">
                    <a:tint val="75000"/>
                  </a:schemeClr>
                </a:solidFill>
                <a:latin typeface="Tahoma"/>
                <a:ea typeface="MS PGothic"/>
              </a:rPr>
              <a:t>9</a:t>
            </a:fld>
            <a:endParaRPr b="0" lang="en-US" sz="1400" spc="-1" strike="noStrike">
              <a:solidFill>
                <a:srgbClr val="000000"/>
              </a:solidFill>
              <a:latin typeface="Times New Roman"/>
            </a:endParaRPr>
          </a:p>
        </p:txBody>
      </p:sp>
      <p:pic>
        <p:nvPicPr>
          <p:cNvPr id="235" name="Picture 2" descr=""/>
          <p:cNvPicPr/>
          <p:nvPr/>
        </p:nvPicPr>
        <p:blipFill>
          <a:blip r:embed="rId1"/>
          <a:stretch/>
        </p:blipFill>
        <p:spPr>
          <a:xfrm>
            <a:off x="5454720" y="4456800"/>
            <a:ext cx="5396040" cy="120492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Graph ADT</a:t>
            </a:r>
            <a:endParaRPr b="0" lang="en-US" sz="4400" spc="-1" strike="noStrike">
              <a:solidFill>
                <a:srgbClr val="000000"/>
              </a:solidFill>
              <a:latin typeface="Arial"/>
            </a:endParaRPr>
          </a:p>
        </p:txBody>
      </p:sp>
      <p:sp>
        <p:nvSpPr>
          <p:cNvPr id="237" name="PlaceHolder 2"/>
          <p:cNvSpPr>
            <a:spLocks noGrp="1"/>
          </p:cNvSpPr>
          <p:nvPr>
            <p:ph type="sldNum" idx="36"/>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23F0F4EF-BBCB-4AF4-822C-3AEEABE78168}" type="slidenum">
              <a:rPr b="0" lang="en-US" sz="1400" spc="-1" strike="noStrike">
                <a:solidFill>
                  <a:schemeClr val="dk1">
                    <a:tint val="75000"/>
                  </a:schemeClr>
                </a:solidFill>
                <a:latin typeface="Tahoma"/>
                <a:ea typeface="MS PGothic"/>
              </a:rPr>
              <a:t>10</a:t>
            </a:fld>
            <a:endParaRPr b="0" lang="en-US" sz="1400" spc="-1" strike="noStrike">
              <a:solidFill>
                <a:srgbClr val="000000"/>
              </a:solidFill>
              <a:latin typeface="Times New Roman"/>
            </a:endParaRPr>
          </a:p>
        </p:txBody>
      </p:sp>
      <p:pic>
        <p:nvPicPr>
          <p:cNvPr id="238" name="Picture 6" descr=""/>
          <p:cNvPicPr/>
          <p:nvPr/>
        </p:nvPicPr>
        <p:blipFill>
          <a:blip r:embed="rId1"/>
          <a:stretch/>
        </p:blipFill>
        <p:spPr>
          <a:xfrm>
            <a:off x="2558880" y="1038600"/>
            <a:ext cx="7072560" cy="524376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Edge List Structure</a:t>
            </a:r>
            <a:endParaRPr b="0" lang="en-US" sz="4400" spc="-1" strike="noStrike">
              <a:solidFill>
                <a:srgbClr val="000000"/>
              </a:solidFill>
              <a:latin typeface="Arial"/>
            </a:endParaRPr>
          </a:p>
        </p:txBody>
      </p:sp>
      <p:sp>
        <p:nvSpPr>
          <p:cNvPr id="240" name="PlaceHolder 2"/>
          <p:cNvSpPr>
            <a:spLocks noGrp="1"/>
          </p:cNvSpPr>
          <p:nvPr>
            <p:ph/>
          </p:nvPr>
        </p:nvSpPr>
        <p:spPr>
          <a:xfrm>
            <a:off x="838080" y="1107000"/>
            <a:ext cx="10514160" cy="506844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Vertex object</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element</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reference to position in vertex sequence</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Edge object</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element</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origin vertex object</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destination vertex object</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reference to position in edge sequence</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Vertex sequence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sequence of vertex objects</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Edge sequence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sequence of edge objects</a:t>
            </a:r>
            <a:endParaRPr b="0" lang="en-US" sz="2000" spc="-1" strike="noStrike">
              <a:solidFill>
                <a:srgbClr val="000000"/>
              </a:solidFill>
              <a:latin typeface="Arial"/>
            </a:endParaRPr>
          </a:p>
        </p:txBody>
      </p:sp>
      <p:sp>
        <p:nvSpPr>
          <p:cNvPr id="241" name="PlaceHolder 3"/>
          <p:cNvSpPr>
            <a:spLocks noGrp="1"/>
          </p:cNvSpPr>
          <p:nvPr>
            <p:ph type="sldNum" idx="37"/>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16F64C09-C8A3-4446-AE07-4308652D0F17}" type="slidenum">
              <a:rPr b="0" lang="en-US" sz="1400" spc="-1" strike="noStrike">
                <a:solidFill>
                  <a:schemeClr val="dk1">
                    <a:tint val="75000"/>
                  </a:schemeClr>
                </a:solidFill>
                <a:latin typeface="Tahoma"/>
                <a:ea typeface="MS PGothic"/>
              </a:rPr>
              <a:t>11</a:t>
            </a:fld>
            <a:endParaRPr b="0" lang="en-US" sz="1400" spc="-1" strike="noStrike">
              <a:solidFill>
                <a:srgbClr val="000000"/>
              </a:solidFill>
              <a:latin typeface="Times New Roman"/>
            </a:endParaRPr>
          </a:p>
        </p:txBody>
      </p:sp>
      <p:pic>
        <p:nvPicPr>
          <p:cNvPr id="242" name="Picture 1" descr=""/>
          <p:cNvPicPr/>
          <p:nvPr/>
        </p:nvPicPr>
        <p:blipFill>
          <a:blip r:embed="rId1"/>
          <a:stretch/>
        </p:blipFill>
        <p:spPr>
          <a:xfrm>
            <a:off x="6781680" y="1447920"/>
            <a:ext cx="3351240" cy="1955880"/>
          </a:xfrm>
          <a:prstGeom prst="rect">
            <a:avLst/>
          </a:prstGeom>
          <a:ln w="0">
            <a:noFill/>
          </a:ln>
        </p:spPr>
      </p:pic>
      <p:sp>
        <p:nvSpPr>
          <p:cNvPr id="243" name="TextBox 1"/>
          <p:cNvSpPr/>
          <p:nvPr/>
        </p:nvSpPr>
        <p:spPr>
          <a:xfrm>
            <a:off x="7049520" y="3976560"/>
            <a:ext cx="3528720" cy="394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1"/>
                </a:solidFill>
                <a:latin typeface="Calibri"/>
              </a:rPr>
              <a:t>edges = [(u,v), (u,w), (v,w), (w,z)]</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Adjacency List Structure</a:t>
            </a:r>
            <a:endParaRPr b="0" lang="en-US" sz="4400" spc="-1" strike="noStrike">
              <a:solidFill>
                <a:srgbClr val="000000"/>
              </a:solidFill>
              <a:latin typeface="Arial"/>
            </a:endParaRPr>
          </a:p>
        </p:txBody>
      </p:sp>
      <p:sp>
        <p:nvSpPr>
          <p:cNvPr id="245" name="PlaceHolder 2"/>
          <p:cNvSpPr>
            <a:spLocks noGrp="1"/>
          </p:cNvSpPr>
          <p:nvPr>
            <p:ph/>
          </p:nvPr>
        </p:nvSpPr>
        <p:spPr>
          <a:xfrm>
            <a:off x="838080" y="1107000"/>
            <a:ext cx="417888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Lists neighbors for each vertex</a:t>
            </a:r>
            <a:endParaRPr b="0" lang="en-US" sz="2000" spc="-1" strike="noStrike">
              <a:solidFill>
                <a:srgbClr val="000000"/>
              </a:solidFill>
              <a:latin typeface="Arial"/>
            </a:endParaRPr>
          </a:p>
          <a:p>
            <a:pPr indent="0" defTabSz="914400">
              <a:lnSpc>
                <a:spcPct val="90000"/>
              </a:lnSpc>
              <a:spcBef>
                <a:spcPts val="1001"/>
              </a:spcBef>
              <a:buNone/>
              <a:tabLst>
                <a:tab algn="l" pos="0"/>
              </a:tabLst>
            </a:pPr>
            <a:endParaRPr b="0" lang="en-US" sz="2000" spc="-1" strike="noStrike">
              <a:solidFill>
                <a:srgbClr val="000000"/>
              </a:solidFill>
              <a:latin typeface="Arial"/>
            </a:endParaRPr>
          </a:p>
        </p:txBody>
      </p:sp>
      <p:sp>
        <p:nvSpPr>
          <p:cNvPr id="246" name="PlaceHolder 3"/>
          <p:cNvSpPr>
            <a:spLocks noGrp="1"/>
          </p:cNvSpPr>
          <p:nvPr>
            <p:ph type="sldNum" idx="38"/>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F53FF4D1-52AE-4C2C-BF05-1A38B659F971}" type="slidenum">
              <a:rPr b="0" lang="en-US" sz="1400" spc="-1" strike="noStrike">
                <a:solidFill>
                  <a:schemeClr val="dk1">
                    <a:tint val="75000"/>
                  </a:schemeClr>
                </a:solidFill>
                <a:latin typeface="Tahoma"/>
                <a:ea typeface="MS PGothic"/>
              </a:rPr>
              <a:t>12</a:t>
            </a:fld>
            <a:endParaRPr b="0" lang="en-US" sz="1400" spc="-1" strike="noStrike">
              <a:solidFill>
                <a:srgbClr val="000000"/>
              </a:solidFill>
              <a:latin typeface="Times New Roman"/>
            </a:endParaRPr>
          </a:p>
        </p:txBody>
      </p:sp>
      <p:pic>
        <p:nvPicPr>
          <p:cNvPr id="247" name="Picture 69" descr=""/>
          <p:cNvPicPr/>
          <p:nvPr/>
        </p:nvPicPr>
        <p:blipFill>
          <a:blip r:embed="rId1"/>
          <a:stretch/>
        </p:blipFill>
        <p:spPr>
          <a:xfrm>
            <a:off x="6172200" y="1447920"/>
            <a:ext cx="3351240" cy="1955880"/>
          </a:xfrm>
          <a:prstGeom prst="rect">
            <a:avLst/>
          </a:prstGeom>
          <a:ln w="0">
            <a:noFill/>
          </a:ln>
        </p:spPr>
      </p:pic>
      <p:sp>
        <p:nvSpPr>
          <p:cNvPr id="248" name="TextBox 1"/>
          <p:cNvSpPr/>
          <p:nvPr/>
        </p:nvSpPr>
        <p:spPr>
          <a:xfrm>
            <a:off x="6698520" y="3742560"/>
            <a:ext cx="1623240" cy="1735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1"/>
                </a:solidFill>
                <a:latin typeface="Calibri"/>
              </a:rPr>
              <a:t>{</a:t>
            </a:r>
            <a:endParaRPr b="0" lang="en-US" sz="1800" spc="-1" strike="noStrike">
              <a:solidFill>
                <a:srgbClr val="000000"/>
              </a:solidFill>
              <a:latin typeface="Arial"/>
            </a:endParaRPr>
          </a:p>
          <a:p>
            <a:pPr defTabSz="457200">
              <a:lnSpc>
                <a:spcPct val="100000"/>
              </a:lnSpc>
            </a:pPr>
            <a:r>
              <a:rPr b="0" lang="en-US" sz="1800" spc="-1" strike="noStrike">
                <a:solidFill>
                  <a:schemeClr val="dk1"/>
                </a:solidFill>
                <a:latin typeface="Calibri"/>
              </a:rPr>
              <a:t>	</a:t>
            </a:r>
            <a:r>
              <a:rPr b="0" lang="en-US" sz="1800" spc="-1" strike="noStrike">
                <a:solidFill>
                  <a:schemeClr val="dk1"/>
                </a:solidFill>
                <a:latin typeface="Calibri"/>
              </a:rPr>
              <a:t>u: [v, w],</a:t>
            </a:r>
            <a:endParaRPr b="0" lang="en-US" sz="1800" spc="-1" strike="noStrike">
              <a:solidFill>
                <a:srgbClr val="000000"/>
              </a:solidFill>
              <a:latin typeface="Arial"/>
            </a:endParaRPr>
          </a:p>
          <a:p>
            <a:pPr defTabSz="457200">
              <a:lnSpc>
                <a:spcPct val="100000"/>
              </a:lnSpc>
            </a:pPr>
            <a:r>
              <a:rPr b="0" lang="en-US" sz="1800" spc="-1" strike="noStrike">
                <a:solidFill>
                  <a:schemeClr val="dk1"/>
                </a:solidFill>
                <a:latin typeface="Calibri"/>
              </a:rPr>
              <a:t>	</a:t>
            </a:r>
            <a:r>
              <a:rPr b="0" lang="en-US" sz="1800" spc="-1" strike="noStrike">
                <a:solidFill>
                  <a:schemeClr val="dk1"/>
                </a:solidFill>
                <a:latin typeface="Calibri"/>
              </a:rPr>
              <a:t>v: [u, w],</a:t>
            </a:r>
            <a:endParaRPr b="0" lang="en-US" sz="1800" spc="-1" strike="noStrike">
              <a:solidFill>
                <a:srgbClr val="000000"/>
              </a:solidFill>
              <a:latin typeface="Arial"/>
            </a:endParaRPr>
          </a:p>
          <a:p>
            <a:pPr defTabSz="457200">
              <a:lnSpc>
                <a:spcPct val="100000"/>
              </a:lnSpc>
            </a:pPr>
            <a:r>
              <a:rPr b="0" lang="en-US" sz="1800" spc="-1" strike="noStrike">
                <a:solidFill>
                  <a:schemeClr val="dk1"/>
                </a:solidFill>
                <a:latin typeface="Calibri"/>
              </a:rPr>
              <a:t>	</a:t>
            </a:r>
            <a:r>
              <a:rPr b="0" lang="en-US" sz="1800" spc="-1" strike="noStrike">
                <a:solidFill>
                  <a:schemeClr val="dk1"/>
                </a:solidFill>
                <a:latin typeface="Calibri"/>
              </a:rPr>
              <a:t>w: [u, v, z],</a:t>
            </a:r>
            <a:endParaRPr b="0" lang="en-US" sz="1800" spc="-1" strike="noStrike">
              <a:solidFill>
                <a:srgbClr val="000000"/>
              </a:solidFill>
              <a:latin typeface="Arial"/>
            </a:endParaRPr>
          </a:p>
          <a:p>
            <a:pPr defTabSz="457200">
              <a:lnSpc>
                <a:spcPct val="100000"/>
              </a:lnSpc>
            </a:pPr>
            <a:r>
              <a:rPr b="0" lang="en-US" sz="1800" spc="-1" strike="noStrike">
                <a:solidFill>
                  <a:schemeClr val="dk1"/>
                </a:solidFill>
                <a:latin typeface="Calibri"/>
              </a:rPr>
              <a:t>	</a:t>
            </a:r>
            <a:r>
              <a:rPr b="0" lang="en-US" sz="1800" spc="-1" strike="noStrike">
                <a:solidFill>
                  <a:schemeClr val="dk1"/>
                </a:solidFill>
                <a:latin typeface="Calibri"/>
              </a:rPr>
              <a:t>z: [w]</a:t>
            </a:r>
            <a:endParaRPr b="0" lang="en-US" sz="1800" spc="-1" strike="noStrike">
              <a:solidFill>
                <a:srgbClr val="000000"/>
              </a:solidFill>
              <a:latin typeface="Arial"/>
            </a:endParaRPr>
          </a:p>
          <a:p>
            <a:pPr defTabSz="457200">
              <a:lnSpc>
                <a:spcPct val="100000"/>
              </a:lnSpc>
            </a:pPr>
            <a:r>
              <a:rPr b="0" lang="en-US" sz="1800" spc="-1" strike="noStrike">
                <a:solidFill>
                  <a:schemeClr val="dk1"/>
                </a:solidFill>
                <a:latin typeface="Calibri"/>
              </a:rPr>
              <a: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Adjacency Matrix Structure</a:t>
            </a:r>
            <a:endParaRPr b="0" lang="en-US" sz="4400" spc="-1" strike="noStrike">
              <a:solidFill>
                <a:srgbClr val="000000"/>
              </a:solidFill>
              <a:latin typeface="Arial"/>
            </a:endParaRPr>
          </a:p>
        </p:txBody>
      </p:sp>
      <p:sp>
        <p:nvSpPr>
          <p:cNvPr id="250"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Edge list structure</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Augmented vertex objects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Integer key (index) associated with vertex</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2D-array adjacency array</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Reference to edge object for adjacent vertices</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Null for non nonadjacent vertices</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The “old fashioned” version just has 0 for no edge and 1 for edge</a:t>
            </a:r>
            <a:endParaRPr b="0" lang="en-US" sz="2000" spc="-1" strike="noStrike">
              <a:solidFill>
                <a:srgbClr val="000000"/>
              </a:solidFill>
              <a:latin typeface="Arial"/>
            </a:endParaRPr>
          </a:p>
          <a:p>
            <a:pPr indent="0" defTabSz="914400">
              <a:lnSpc>
                <a:spcPct val="90000"/>
              </a:lnSpc>
              <a:spcBef>
                <a:spcPts val="1001"/>
              </a:spcBef>
              <a:buNone/>
              <a:tabLst>
                <a:tab algn="l" pos="0"/>
              </a:tabLst>
            </a:pPr>
            <a:endParaRPr b="0" lang="en-US" sz="2000" spc="-1" strike="noStrike">
              <a:solidFill>
                <a:srgbClr val="000000"/>
              </a:solidFill>
              <a:latin typeface="Arial"/>
            </a:endParaRPr>
          </a:p>
        </p:txBody>
      </p:sp>
      <p:sp>
        <p:nvSpPr>
          <p:cNvPr id="251" name="PlaceHolder 3"/>
          <p:cNvSpPr>
            <a:spLocks noGrp="1"/>
          </p:cNvSpPr>
          <p:nvPr>
            <p:ph type="sldNum" idx="39"/>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6A94BD28-392C-4328-9239-DAB3C53DBF96}" type="slidenum">
              <a:rPr b="0" lang="en-US" sz="1400" spc="-1" strike="noStrike">
                <a:solidFill>
                  <a:schemeClr val="dk1">
                    <a:tint val="75000"/>
                  </a:schemeClr>
                </a:solidFill>
                <a:latin typeface="Tahoma"/>
                <a:ea typeface="MS PGothic"/>
              </a:rPr>
              <a:t>13</a:t>
            </a:fld>
            <a:endParaRPr b="0" lang="en-US" sz="1400" spc="-1" strike="noStrike">
              <a:solidFill>
                <a:srgbClr val="000000"/>
              </a:solidFill>
              <a:latin typeface="Times New Roman"/>
            </a:endParaRPr>
          </a:p>
        </p:txBody>
      </p:sp>
      <p:pic>
        <p:nvPicPr>
          <p:cNvPr id="252" name="Picture 56" descr=""/>
          <p:cNvPicPr/>
          <p:nvPr/>
        </p:nvPicPr>
        <p:blipFill>
          <a:blip r:embed="rId1"/>
          <a:stretch/>
        </p:blipFill>
        <p:spPr>
          <a:xfrm>
            <a:off x="7224840" y="1188360"/>
            <a:ext cx="3351240" cy="1955880"/>
          </a:xfrm>
          <a:prstGeom prst="rect">
            <a:avLst/>
          </a:prstGeom>
          <a:ln w="0">
            <a:noFill/>
          </a:ln>
        </p:spPr>
      </p:pic>
      <p:pic>
        <p:nvPicPr>
          <p:cNvPr id="253" name="Picture 2" descr=""/>
          <p:cNvPicPr/>
          <p:nvPr/>
        </p:nvPicPr>
        <p:blipFill>
          <a:blip r:embed="rId2"/>
          <a:stretch/>
        </p:blipFill>
        <p:spPr>
          <a:xfrm>
            <a:off x="6881040" y="3530880"/>
            <a:ext cx="4038840" cy="25131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Performance</a:t>
            </a:r>
            <a:endParaRPr b="0" lang="en-US" sz="4400" spc="-1" strike="noStrike">
              <a:solidFill>
                <a:srgbClr val="000000"/>
              </a:solidFill>
              <a:latin typeface="Arial"/>
            </a:endParaRPr>
          </a:p>
        </p:txBody>
      </p:sp>
      <p:graphicFrame>
        <p:nvGraphicFramePr>
          <p:cNvPr id="255" name="Group 151"/>
          <p:cNvGraphicFramePr/>
          <p:nvPr/>
        </p:nvGraphicFramePr>
        <p:xfrm>
          <a:off x="838080" y="1414800"/>
          <a:ext cx="10514880" cy="4672080"/>
        </p:xfrm>
        <a:graphic>
          <a:graphicData uri="http://schemas.openxmlformats.org/drawingml/2006/table">
            <a:tbl>
              <a:tblPr/>
              <a:tblGrid>
                <a:gridCol w="3608280"/>
                <a:gridCol w="1244880"/>
                <a:gridCol w="3538800"/>
                <a:gridCol w="2123280"/>
              </a:tblGrid>
              <a:tr h="1023840">
                <a:tc>
                  <a:txBody>
                    <a:bodyPr lIns="121320" rIns="121320" anchor="t">
                      <a:noAutofit/>
                    </a:bodyPr>
                    <a:p>
                      <a:pPr marL="216000" indent="-216000" defTabSz="914400">
                        <a:lnSpc>
                          <a:spcPct val="100000"/>
                        </a:lnSpc>
                        <a:spcBef>
                          <a:spcPts val="360"/>
                        </a:spcBef>
                        <a:buClr>
                          <a:srgbClr val="000000"/>
                        </a:buClr>
                        <a:buSzPct val="110000"/>
                        <a:buFont typeface="Wingdings" charset="2"/>
                        <a:buChar char=""/>
                      </a:pPr>
                      <a:r>
                        <a:rPr b="1" i="1" lang="en-US" sz="1800" spc="-1" strike="noStrike">
                          <a:solidFill>
                            <a:schemeClr val="dk1"/>
                          </a:solidFill>
                          <a:latin typeface="Times New Roman"/>
                        </a:rPr>
                        <a:t> </a:t>
                      </a:r>
                      <a:r>
                        <a:rPr b="1" i="1" lang="en-US" sz="1800" spc="-1" strike="noStrike">
                          <a:solidFill>
                            <a:schemeClr val="dk1"/>
                          </a:solidFill>
                          <a:latin typeface="Times New Roman"/>
                        </a:rPr>
                        <a:t>n</a:t>
                      </a:r>
                      <a:r>
                        <a:rPr b="0" lang="en-US" sz="1800" spc="-1" strike="noStrike">
                          <a:solidFill>
                            <a:schemeClr val="dk1"/>
                          </a:solidFill>
                          <a:latin typeface="Tahoma"/>
                        </a:rPr>
                        <a:t> vertices, </a:t>
                      </a:r>
                      <a:r>
                        <a:rPr b="1" i="1" lang="en-US" sz="1800" spc="-1" strike="noStrike">
                          <a:solidFill>
                            <a:schemeClr val="dk1"/>
                          </a:solidFill>
                          <a:latin typeface="Times New Roman"/>
                        </a:rPr>
                        <a:t>m</a:t>
                      </a:r>
                      <a:r>
                        <a:rPr b="0" lang="en-US" sz="1800" spc="-1" strike="noStrike">
                          <a:solidFill>
                            <a:schemeClr val="dk1"/>
                          </a:solidFill>
                          <a:latin typeface="Tahoma"/>
                        </a:rPr>
                        <a:t> edges</a:t>
                      </a:r>
                      <a:endParaRPr b="0" lang="en-US" sz="1800" spc="-1" strike="noStrike">
                        <a:solidFill>
                          <a:srgbClr val="000000"/>
                        </a:solidFill>
                        <a:latin typeface="Arial"/>
                      </a:endParaRPr>
                    </a:p>
                    <a:p>
                      <a:pPr marL="216000" indent="-216000" defTabSz="914400">
                        <a:lnSpc>
                          <a:spcPct val="100000"/>
                        </a:lnSpc>
                        <a:spcBef>
                          <a:spcPts val="360"/>
                        </a:spcBef>
                        <a:buClr>
                          <a:srgbClr val="000000"/>
                        </a:buClr>
                        <a:buSzPct val="110000"/>
                        <a:buFont typeface="Wingdings" charset="2"/>
                        <a:buChar char=""/>
                      </a:pPr>
                      <a:r>
                        <a:rPr b="0" lang="en-US" sz="1800" spc="-1" strike="noStrike">
                          <a:solidFill>
                            <a:schemeClr val="dk1"/>
                          </a:solidFill>
                          <a:latin typeface="Tahoma"/>
                        </a:rPr>
                        <a:t> </a:t>
                      </a:r>
                      <a:r>
                        <a:rPr b="0" lang="en-US" sz="1800" spc="-1" strike="noStrike">
                          <a:solidFill>
                            <a:schemeClr val="dk1"/>
                          </a:solidFill>
                          <a:latin typeface="Tahoma"/>
                        </a:rPr>
                        <a:t>no parallel edges</a:t>
                      </a:r>
                      <a:endParaRPr b="0" lang="en-US" sz="1800" spc="-1" strike="noStrike">
                        <a:solidFill>
                          <a:srgbClr val="000000"/>
                        </a:solidFill>
                        <a:latin typeface="Arial"/>
                      </a:endParaRPr>
                    </a:p>
                    <a:p>
                      <a:pPr marL="216000" indent="-216000" defTabSz="914400">
                        <a:lnSpc>
                          <a:spcPct val="100000"/>
                        </a:lnSpc>
                        <a:spcBef>
                          <a:spcPts val="360"/>
                        </a:spcBef>
                        <a:buClr>
                          <a:srgbClr val="000000"/>
                        </a:buClr>
                        <a:buSzPct val="110000"/>
                        <a:buFont typeface="Wingdings" charset="2"/>
                        <a:buChar char=""/>
                      </a:pPr>
                      <a:r>
                        <a:rPr b="0" lang="en-US" sz="1800" spc="-1" strike="noStrike">
                          <a:solidFill>
                            <a:schemeClr val="dk1"/>
                          </a:solidFill>
                          <a:latin typeface="Tahoma"/>
                        </a:rPr>
                        <a:t> </a:t>
                      </a:r>
                      <a:r>
                        <a:rPr b="0" lang="en-US" sz="1800" spc="-1" strike="noStrike">
                          <a:solidFill>
                            <a:schemeClr val="dk1"/>
                          </a:solidFill>
                          <a:latin typeface="Tahoma"/>
                        </a:rPr>
                        <a:t>no self-loops</a:t>
                      </a:r>
                      <a:endParaRPr b="0" lang="en-US" sz="1800" spc="-1" strike="noStrike">
                        <a:solidFill>
                          <a:srgbClr val="000000"/>
                        </a:solidFill>
                        <a:latin typeface="Arial"/>
                      </a:endParaRPr>
                    </a:p>
                  </a:txBody>
                  <a:tcPr anchor="t" marL="121320" marR="121320">
                    <a:lnL w="2808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ahoma"/>
                        </a:rPr>
                        <a:t>Edge</a:t>
                      </a:r>
                      <a:br>
                        <a:rPr sz="2400"/>
                      </a:br>
                      <a:r>
                        <a:rPr b="0" lang="en-US" sz="2400" spc="-1" strike="noStrike">
                          <a:solidFill>
                            <a:schemeClr val="dk1"/>
                          </a:solidFill>
                          <a:latin typeface="Tahoma"/>
                        </a:rPr>
                        <a:t>List</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ahoma"/>
                        </a:rPr>
                        <a:t>Adjacency</a:t>
                      </a:r>
                      <a:br>
                        <a:rPr sz="2400"/>
                      </a:br>
                      <a:r>
                        <a:rPr b="0" lang="en-US" sz="2400" spc="-1" strike="noStrike">
                          <a:solidFill>
                            <a:schemeClr val="dk1"/>
                          </a:solidFill>
                          <a:latin typeface="Tahoma"/>
                        </a:rPr>
                        <a:t>List</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ahoma"/>
                        </a:rPr>
                        <a:t>Adjacency Matrix</a:t>
                      </a:r>
                      <a:endParaRPr b="0" lang="en-US" sz="2400" spc="-1" strike="noStrike">
                        <a:solidFill>
                          <a:srgbClr val="000000"/>
                        </a:solidFill>
                        <a:latin typeface="Arial"/>
                      </a:endParaRPr>
                    </a:p>
                  </a:txBody>
                  <a:tcPr anchor="ctr" marL="121320" marR="121320">
                    <a:lnL w="12240">
                      <a:solidFill>
                        <a:srgbClr val="000000"/>
                      </a:solidFill>
                      <a:prstDash val="solid"/>
                    </a:lnL>
                    <a:lnR w="28080">
                      <a:solidFill>
                        <a:srgbClr val="000000"/>
                      </a:solidFill>
                      <a:prstDash val="solid"/>
                    </a:lnR>
                    <a:lnT w="28080">
                      <a:solidFill>
                        <a:srgbClr val="000000"/>
                      </a:solidFill>
                      <a:prstDash val="solid"/>
                    </a:lnT>
                    <a:lnB w="12240">
                      <a:solidFill>
                        <a:srgbClr val="000000"/>
                      </a:solidFill>
                      <a:prstDash val="solid"/>
                    </a:lnB>
                    <a:noFill/>
                  </a:tcPr>
                </a:tc>
              </a:tr>
              <a:tr h="473040">
                <a:tc>
                  <a:txBody>
                    <a:bodyPr lIns="121320" rIns="121320" anchor="ctr">
                      <a:noAutofit/>
                    </a:bodyPr>
                    <a:p>
                      <a:pPr defTabSz="914400">
                        <a:lnSpc>
                          <a:spcPct val="100000"/>
                        </a:lnSpc>
                        <a:spcBef>
                          <a:spcPts val="479"/>
                        </a:spcBef>
                        <a:tabLst>
                          <a:tab algn="l" pos="0"/>
                        </a:tabLst>
                      </a:pPr>
                      <a:r>
                        <a:rPr b="0" lang="en-US" sz="2400" spc="-1" strike="noStrike">
                          <a:solidFill>
                            <a:schemeClr val="dk1"/>
                          </a:solidFill>
                          <a:latin typeface="Tahoma"/>
                        </a:rPr>
                        <a:t>Space</a:t>
                      </a:r>
                      <a:endParaRPr b="0" lang="en-US" sz="2400" spc="-1" strike="noStrike">
                        <a:solidFill>
                          <a:srgbClr val="000000"/>
                        </a:solidFill>
                        <a:latin typeface="Arial"/>
                      </a:endParaRPr>
                    </a:p>
                  </a:txBody>
                  <a:tcPr anchor="ctr" marL="121320" marR="12132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3">
                        <a:lumMod val="95000"/>
                      </a:schemeClr>
                    </a:solidFill>
                  </a:tcPr>
                </a:tc>
                <a:tc>
                  <a:txBody>
                    <a:bodyPr lIns="121320" rIns="121320" anchor="ctr">
                      <a:noAutofit/>
                    </a:bodyPr>
                    <a:p>
                      <a:pPr algn="ctr" defTabSz="914400">
                        <a:lnSpc>
                          <a:spcPct val="100000"/>
                        </a:lnSpc>
                        <a:spcBef>
                          <a:spcPts val="479"/>
                        </a:spcBef>
                        <a:tabLst>
                          <a:tab algn="l" pos="0"/>
                        </a:tabLst>
                      </a:pPr>
                      <a:r>
                        <a:rPr b="1" i="1" lang="en-US" sz="2400" spc="-1" strike="noStrike">
                          <a:solidFill>
                            <a:schemeClr val="dk1"/>
                          </a:solidFill>
                          <a:latin typeface="Times New Roman"/>
                        </a:rPr>
                        <a:t>n </a:t>
                      </a:r>
                      <a:r>
                        <a:rPr b="0" lang="en-US" sz="2400" spc="-1" strike="noStrike">
                          <a:solidFill>
                            <a:schemeClr val="dk1"/>
                          </a:solidFill>
                          <a:latin typeface="Symbol"/>
                        </a:rPr>
                        <a:t>+</a:t>
                      </a:r>
                      <a:r>
                        <a:rPr b="1" i="1" lang="en-US" sz="2400" spc="-1" strike="noStrike">
                          <a:solidFill>
                            <a:schemeClr val="dk1"/>
                          </a:solidFill>
                          <a:latin typeface="Times New Roman"/>
                        </a:rPr>
                        <a:t> m</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3">
                        <a:lumMod val="95000"/>
                      </a:schemeClr>
                    </a:solidFill>
                  </a:tcPr>
                </a:tc>
                <a:tc>
                  <a:txBody>
                    <a:bodyPr lIns="121320" rIns="121320" anchor="ctr">
                      <a:noAutofit/>
                    </a:bodyPr>
                    <a:p>
                      <a:pPr algn="ctr" defTabSz="914400">
                        <a:lnSpc>
                          <a:spcPct val="100000"/>
                        </a:lnSpc>
                        <a:spcBef>
                          <a:spcPts val="479"/>
                        </a:spcBef>
                        <a:tabLst>
                          <a:tab algn="l" pos="0"/>
                        </a:tabLst>
                      </a:pPr>
                      <a:r>
                        <a:rPr b="1" i="1" lang="en-US" sz="2400" spc="-1" strike="noStrike">
                          <a:solidFill>
                            <a:schemeClr val="dk1"/>
                          </a:solidFill>
                          <a:latin typeface="Times New Roman"/>
                        </a:rPr>
                        <a:t>n </a:t>
                      </a:r>
                      <a:r>
                        <a:rPr b="0" lang="en-US" sz="2400" spc="-1" strike="noStrike">
                          <a:solidFill>
                            <a:schemeClr val="dk1"/>
                          </a:solidFill>
                          <a:latin typeface="Symbol"/>
                        </a:rPr>
                        <a:t>+</a:t>
                      </a:r>
                      <a:r>
                        <a:rPr b="1" i="1" lang="en-US" sz="2400" spc="-1" strike="noStrike">
                          <a:solidFill>
                            <a:schemeClr val="dk1"/>
                          </a:solidFill>
                          <a:latin typeface="Times New Roman"/>
                        </a:rPr>
                        <a:t> m</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3">
                        <a:lumMod val="95000"/>
                      </a:schemeClr>
                    </a:solidFill>
                  </a:tcPr>
                </a:tc>
                <a:tc>
                  <a:txBody>
                    <a:bodyPr lIns="121320" rIns="121320" anchor="ctr">
                      <a:noAutofit/>
                    </a:bodyPr>
                    <a:p>
                      <a:pPr algn="ctr" defTabSz="914400">
                        <a:lnSpc>
                          <a:spcPct val="100000"/>
                        </a:lnSpc>
                        <a:spcBef>
                          <a:spcPts val="479"/>
                        </a:spcBef>
                        <a:tabLst>
                          <a:tab algn="l" pos="0"/>
                        </a:tabLst>
                      </a:pPr>
                      <a:r>
                        <a:rPr b="1" i="1" lang="en-US" sz="2400" spc="-1" strike="noStrike">
                          <a:solidFill>
                            <a:schemeClr val="dk1"/>
                          </a:solidFill>
                          <a:latin typeface="Times New Roman"/>
                        </a:rPr>
                        <a:t>n</a:t>
                      </a:r>
                      <a:r>
                        <a:rPr b="0" lang="en-US" sz="2400" spc="-1" strike="noStrike" baseline="30000">
                          <a:solidFill>
                            <a:schemeClr val="dk1"/>
                          </a:solidFill>
                          <a:latin typeface="Times New Roman"/>
                        </a:rPr>
                        <a:t>2</a:t>
                      </a:r>
                      <a:endParaRPr b="0" lang="en-US" sz="2400" spc="-1" strike="noStrike">
                        <a:solidFill>
                          <a:srgbClr val="000000"/>
                        </a:solidFill>
                        <a:latin typeface="Arial"/>
                      </a:endParaRPr>
                    </a:p>
                  </a:txBody>
                  <a:tcPr anchor="ctr" marL="121320" marR="12132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solidFill>
                      <a:schemeClr val="accent3">
                        <a:lumMod val="95000"/>
                      </a:schemeClr>
                    </a:solidFill>
                  </a:tcPr>
                </a:tc>
              </a:tr>
              <a:tr h="456840">
                <a:tc>
                  <a:txBody>
                    <a:bodyPr lIns="121320" rIns="121320" anchor="ctr">
                      <a:noAutofit/>
                    </a:bodyPr>
                    <a:p>
                      <a:pPr defTabSz="914400">
                        <a:lnSpc>
                          <a:spcPct val="100000"/>
                        </a:lnSpc>
                        <a:spcBef>
                          <a:spcPts val="479"/>
                        </a:spcBef>
                        <a:tabLst>
                          <a:tab algn="l" pos="0"/>
                        </a:tabLst>
                      </a:pPr>
                      <a:r>
                        <a:rPr b="0" lang="en-US" sz="2400" spc="-1" strike="noStrike">
                          <a:solidFill>
                            <a:schemeClr val="dk2"/>
                          </a:solidFill>
                          <a:latin typeface="Tahoma"/>
                        </a:rPr>
                        <a:t>incidentEdges</a:t>
                      </a:r>
                      <a:r>
                        <a:rPr b="0" lang="en-US" sz="2400" spc="-1" strike="noStrike">
                          <a:solidFill>
                            <a:schemeClr val="dk1"/>
                          </a:solidFill>
                          <a:latin typeface="Tahoma"/>
                        </a:rPr>
                        <a:t>(</a:t>
                      </a:r>
                      <a:r>
                        <a:rPr b="1" i="1" lang="en-US" sz="2400" spc="-1" strike="noStrike">
                          <a:solidFill>
                            <a:schemeClr val="dk1"/>
                          </a:solidFill>
                          <a:latin typeface="Times New Roman"/>
                        </a:rPr>
                        <a:t>v</a:t>
                      </a:r>
                      <a:r>
                        <a:rPr b="0" lang="en-US" sz="2400" spc="-1" strike="noStrike">
                          <a:solidFill>
                            <a:schemeClr val="dk1"/>
                          </a:solidFill>
                          <a:latin typeface="Tahoma"/>
                        </a:rPr>
                        <a:t>)</a:t>
                      </a:r>
                      <a:endParaRPr b="0" lang="en-US" sz="2400" spc="-1" strike="noStrike">
                        <a:solidFill>
                          <a:srgbClr val="000000"/>
                        </a:solidFill>
                        <a:latin typeface="Arial"/>
                      </a:endParaRPr>
                    </a:p>
                  </a:txBody>
                  <a:tcPr anchor="ctr" marL="121320" marR="12132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1" i="1" lang="en-US" sz="2400" spc="-1" strike="noStrike">
                          <a:solidFill>
                            <a:schemeClr val="dk1"/>
                          </a:solidFill>
                          <a:latin typeface="Times New Roman"/>
                        </a:rPr>
                        <a:t>m</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imes New Roman"/>
                        </a:rPr>
                        <a:t>deg(</a:t>
                      </a:r>
                      <a:r>
                        <a:rPr b="1" i="1" lang="en-US" sz="2400" spc="-1" strike="noStrike">
                          <a:solidFill>
                            <a:schemeClr val="dk1"/>
                          </a:solidFill>
                          <a:latin typeface="Times New Roman"/>
                        </a:rPr>
                        <a:t>v</a:t>
                      </a:r>
                      <a:r>
                        <a:rPr b="0" lang="en-US" sz="2400" spc="-1" strike="noStrike">
                          <a:solidFill>
                            <a:schemeClr val="dk1"/>
                          </a:solidFill>
                          <a:latin typeface="Times New Roman"/>
                        </a:rPr>
                        <a:t>)</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1" i="1" lang="en-US" sz="2400" spc="-1" strike="noStrike">
                          <a:solidFill>
                            <a:schemeClr val="dk1"/>
                          </a:solidFill>
                          <a:latin typeface="Times New Roman"/>
                        </a:rPr>
                        <a:t>n</a:t>
                      </a:r>
                      <a:endParaRPr b="0" lang="en-US" sz="2400" spc="-1" strike="noStrike">
                        <a:solidFill>
                          <a:srgbClr val="000000"/>
                        </a:solidFill>
                        <a:latin typeface="Arial"/>
                      </a:endParaRPr>
                    </a:p>
                  </a:txBody>
                  <a:tcPr anchor="ctr" marL="121320" marR="12132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456840">
                <a:tc>
                  <a:txBody>
                    <a:bodyPr lIns="121320" rIns="121320" anchor="ctr">
                      <a:noAutofit/>
                    </a:bodyPr>
                    <a:p>
                      <a:pPr defTabSz="914400">
                        <a:lnSpc>
                          <a:spcPct val="100000"/>
                        </a:lnSpc>
                        <a:spcBef>
                          <a:spcPts val="479"/>
                        </a:spcBef>
                        <a:tabLst>
                          <a:tab algn="l" pos="0"/>
                        </a:tabLst>
                      </a:pPr>
                      <a:r>
                        <a:rPr b="0" lang="en-US" sz="2400" spc="-1" strike="noStrike">
                          <a:solidFill>
                            <a:schemeClr val="dk2"/>
                          </a:solidFill>
                          <a:latin typeface="Tahoma"/>
                        </a:rPr>
                        <a:t>areAdjacent </a:t>
                      </a:r>
                      <a:r>
                        <a:rPr b="0" lang="en-US" sz="2400" spc="-1" strike="noStrike">
                          <a:solidFill>
                            <a:schemeClr val="dk1"/>
                          </a:solidFill>
                          <a:latin typeface="Tahoma"/>
                        </a:rPr>
                        <a:t>(</a:t>
                      </a:r>
                      <a:r>
                        <a:rPr b="1" i="1" lang="en-US" sz="2400" spc="-1" strike="noStrike">
                          <a:solidFill>
                            <a:schemeClr val="dk1"/>
                          </a:solidFill>
                          <a:latin typeface="Times New Roman"/>
                        </a:rPr>
                        <a:t>v, w</a:t>
                      </a:r>
                      <a:r>
                        <a:rPr b="0" lang="en-US" sz="2400" spc="-1" strike="noStrike">
                          <a:solidFill>
                            <a:schemeClr val="dk1"/>
                          </a:solidFill>
                          <a:latin typeface="Tahoma"/>
                        </a:rPr>
                        <a:t>)</a:t>
                      </a:r>
                      <a:endParaRPr b="0" lang="en-US" sz="2400" spc="-1" strike="noStrike">
                        <a:solidFill>
                          <a:srgbClr val="000000"/>
                        </a:solidFill>
                        <a:latin typeface="Arial"/>
                      </a:endParaRPr>
                    </a:p>
                  </a:txBody>
                  <a:tcPr anchor="ctr" marL="121320" marR="12132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1" i="1" lang="en-US" sz="2400" spc="-1" strike="noStrike">
                          <a:solidFill>
                            <a:schemeClr val="dk1"/>
                          </a:solidFill>
                          <a:latin typeface="Times New Roman"/>
                        </a:rPr>
                        <a:t>m</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imes New Roman"/>
                        </a:rPr>
                        <a:t>min(deg(</a:t>
                      </a:r>
                      <a:r>
                        <a:rPr b="1" i="1" lang="en-US" sz="2400" spc="-1" strike="noStrike">
                          <a:solidFill>
                            <a:schemeClr val="dk1"/>
                          </a:solidFill>
                          <a:latin typeface="Times New Roman"/>
                        </a:rPr>
                        <a:t>v</a:t>
                      </a:r>
                      <a:r>
                        <a:rPr b="0" lang="en-US" sz="2400" spc="-1" strike="noStrike">
                          <a:solidFill>
                            <a:schemeClr val="dk1"/>
                          </a:solidFill>
                          <a:latin typeface="Times New Roman"/>
                        </a:rPr>
                        <a:t>), deg(</a:t>
                      </a:r>
                      <a:r>
                        <a:rPr b="1" i="1" lang="en-US" sz="2400" spc="-1" strike="noStrike">
                          <a:solidFill>
                            <a:schemeClr val="dk1"/>
                          </a:solidFill>
                          <a:latin typeface="Times New Roman"/>
                        </a:rPr>
                        <a:t>w</a:t>
                      </a:r>
                      <a:r>
                        <a:rPr b="0" lang="en-US" sz="2400" spc="-1" strike="noStrike">
                          <a:solidFill>
                            <a:schemeClr val="dk1"/>
                          </a:solidFill>
                          <a:latin typeface="Times New Roman"/>
                        </a:rPr>
                        <a:t>))</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imes New Roman"/>
                        </a:rPr>
                        <a:t>1</a:t>
                      </a:r>
                      <a:endParaRPr b="0" lang="en-US" sz="2400" spc="-1" strike="noStrike">
                        <a:solidFill>
                          <a:srgbClr val="000000"/>
                        </a:solidFill>
                        <a:latin typeface="Arial"/>
                      </a:endParaRPr>
                    </a:p>
                  </a:txBody>
                  <a:tcPr anchor="ctr" marL="121320" marR="12132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456840">
                <a:tc>
                  <a:txBody>
                    <a:bodyPr lIns="121320" rIns="121320" anchor="ctr">
                      <a:noAutofit/>
                    </a:bodyPr>
                    <a:p>
                      <a:pPr defTabSz="914400">
                        <a:lnSpc>
                          <a:spcPct val="100000"/>
                        </a:lnSpc>
                        <a:spcBef>
                          <a:spcPts val="479"/>
                        </a:spcBef>
                        <a:tabLst>
                          <a:tab algn="l" pos="0"/>
                        </a:tabLst>
                      </a:pPr>
                      <a:r>
                        <a:rPr b="0" lang="en-US" sz="2400" spc="-1" strike="noStrike">
                          <a:solidFill>
                            <a:schemeClr val="dk2"/>
                          </a:solidFill>
                          <a:latin typeface="Tahoma"/>
                        </a:rPr>
                        <a:t>insertVertex</a:t>
                      </a:r>
                      <a:r>
                        <a:rPr b="0" lang="en-US" sz="2400" spc="-1" strike="noStrike">
                          <a:solidFill>
                            <a:schemeClr val="dk1"/>
                          </a:solidFill>
                          <a:latin typeface="Tahoma"/>
                        </a:rPr>
                        <a:t>(</a:t>
                      </a:r>
                      <a:r>
                        <a:rPr b="1" i="1" lang="en-US" sz="2400" spc="-1" strike="noStrike">
                          <a:solidFill>
                            <a:schemeClr val="dk1"/>
                          </a:solidFill>
                          <a:latin typeface="Times New Roman"/>
                        </a:rPr>
                        <a:t>o</a:t>
                      </a:r>
                      <a:r>
                        <a:rPr b="0" lang="en-US" sz="2400" spc="-1" strike="noStrike">
                          <a:solidFill>
                            <a:schemeClr val="dk1"/>
                          </a:solidFill>
                          <a:latin typeface="Tahoma"/>
                        </a:rPr>
                        <a:t>)</a:t>
                      </a:r>
                      <a:endParaRPr b="0" lang="en-US" sz="2400" spc="-1" strike="noStrike">
                        <a:solidFill>
                          <a:srgbClr val="000000"/>
                        </a:solidFill>
                        <a:latin typeface="Arial"/>
                      </a:endParaRPr>
                    </a:p>
                  </a:txBody>
                  <a:tcPr anchor="ctr" marL="121320" marR="12132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imes New Roman"/>
                        </a:rPr>
                        <a:t>1</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imes New Roman"/>
                        </a:rPr>
                        <a:t>1</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1" i="1" lang="en-US" sz="2400" spc="-1" strike="noStrike">
                          <a:solidFill>
                            <a:schemeClr val="dk1"/>
                          </a:solidFill>
                          <a:latin typeface="Times New Roman"/>
                        </a:rPr>
                        <a:t>n</a:t>
                      </a:r>
                      <a:r>
                        <a:rPr b="0" lang="en-US" sz="2400" spc="-1" strike="noStrike" baseline="30000">
                          <a:solidFill>
                            <a:schemeClr val="dk1"/>
                          </a:solidFill>
                          <a:latin typeface="Times New Roman"/>
                        </a:rPr>
                        <a:t>2</a:t>
                      </a:r>
                      <a:endParaRPr b="0" lang="en-US" sz="2400" spc="-1" strike="noStrike">
                        <a:solidFill>
                          <a:srgbClr val="000000"/>
                        </a:solidFill>
                        <a:latin typeface="Arial"/>
                      </a:endParaRPr>
                    </a:p>
                  </a:txBody>
                  <a:tcPr anchor="ctr" marL="121320" marR="12132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460080">
                <a:tc>
                  <a:txBody>
                    <a:bodyPr lIns="121320" rIns="121320" anchor="ctr">
                      <a:noAutofit/>
                    </a:bodyPr>
                    <a:p>
                      <a:pPr defTabSz="914400">
                        <a:lnSpc>
                          <a:spcPct val="100000"/>
                        </a:lnSpc>
                        <a:spcBef>
                          <a:spcPts val="479"/>
                        </a:spcBef>
                        <a:tabLst>
                          <a:tab algn="l" pos="0"/>
                        </a:tabLst>
                      </a:pPr>
                      <a:r>
                        <a:rPr b="0" lang="en-US" sz="2400" spc="-1" strike="noStrike">
                          <a:solidFill>
                            <a:schemeClr val="dk2"/>
                          </a:solidFill>
                          <a:latin typeface="Tahoma"/>
                        </a:rPr>
                        <a:t>insertEdge</a:t>
                      </a:r>
                      <a:r>
                        <a:rPr b="0" lang="en-US" sz="2400" spc="-1" strike="noStrike">
                          <a:solidFill>
                            <a:schemeClr val="dk1"/>
                          </a:solidFill>
                          <a:latin typeface="Tahoma"/>
                        </a:rPr>
                        <a:t>(</a:t>
                      </a:r>
                      <a:r>
                        <a:rPr b="1" i="1" lang="en-US" sz="2400" spc="-1" strike="noStrike">
                          <a:solidFill>
                            <a:schemeClr val="dk1"/>
                          </a:solidFill>
                          <a:latin typeface="Times New Roman"/>
                        </a:rPr>
                        <a:t>v, w, o</a:t>
                      </a:r>
                      <a:r>
                        <a:rPr b="0" lang="en-US" sz="2400" spc="-1" strike="noStrike">
                          <a:solidFill>
                            <a:schemeClr val="dk1"/>
                          </a:solidFill>
                          <a:latin typeface="Tahoma"/>
                        </a:rPr>
                        <a:t>)</a:t>
                      </a:r>
                      <a:endParaRPr b="0" lang="en-US" sz="2400" spc="-1" strike="noStrike">
                        <a:solidFill>
                          <a:srgbClr val="000000"/>
                        </a:solidFill>
                        <a:latin typeface="Arial"/>
                      </a:endParaRPr>
                    </a:p>
                  </a:txBody>
                  <a:tcPr anchor="ctr" marL="121320" marR="12132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imes New Roman"/>
                        </a:rPr>
                        <a:t>1</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imes New Roman"/>
                        </a:rPr>
                        <a:t>1</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imes New Roman"/>
                        </a:rPr>
                        <a:t>1</a:t>
                      </a:r>
                      <a:endParaRPr b="0" lang="en-US" sz="2400" spc="-1" strike="noStrike">
                        <a:solidFill>
                          <a:srgbClr val="000000"/>
                        </a:solidFill>
                        <a:latin typeface="Arial"/>
                      </a:endParaRPr>
                    </a:p>
                  </a:txBody>
                  <a:tcPr anchor="ctr" marL="121320" marR="12132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456840">
                <a:tc>
                  <a:txBody>
                    <a:bodyPr lIns="121320" rIns="121320" anchor="ctr">
                      <a:noAutofit/>
                    </a:bodyPr>
                    <a:p>
                      <a:pPr defTabSz="914400">
                        <a:lnSpc>
                          <a:spcPct val="100000"/>
                        </a:lnSpc>
                        <a:spcBef>
                          <a:spcPts val="479"/>
                        </a:spcBef>
                        <a:tabLst>
                          <a:tab algn="l" pos="0"/>
                        </a:tabLst>
                      </a:pPr>
                      <a:r>
                        <a:rPr b="0" lang="en-US" sz="2400" spc="-1" strike="noStrike">
                          <a:solidFill>
                            <a:schemeClr val="dk2"/>
                          </a:solidFill>
                          <a:latin typeface="Tahoma"/>
                        </a:rPr>
                        <a:t>removeVertex</a:t>
                      </a:r>
                      <a:r>
                        <a:rPr b="0" lang="en-US" sz="2400" spc="-1" strike="noStrike">
                          <a:solidFill>
                            <a:schemeClr val="dk1"/>
                          </a:solidFill>
                          <a:latin typeface="Tahoma"/>
                        </a:rPr>
                        <a:t>(</a:t>
                      </a:r>
                      <a:r>
                        <a:rPr b="1" i="1" lang="en-US" sz="2400" spc="-1" strike="noStrike">
                          <a:solidFill>
                            <a:schemeClr val="dk1"/>
                          </a:solidFill>
                          <a:latin typeface="Times New Roman"/>
                        </a:rPr>
                        <a:t>v</a:t>
                      </a:r>
                      <a:r>
                        <a:rPr b="0" lang="en-US" sz="2400" spc="-1" strike="noStrike">
                          <a:solidFill>
                            <a:schemeClr val="dk1"/>
                          </a:solidFill>
                          <a:latin typeface="Tahoma"/>
                        </a:rPr>
                        <a:t>)</a:t>
                      </a:r>
                      <a:endParaRPr b="0" lang="en-US" sz="2400" spc="-1" strike="noStrike">
                        <a:solidFill>
                          <a:srgbClr val="000000"/>
                        </a:solidFill>
                        <a:latin typeface="Arial"/>
                      </a:endParaRPr>
                    </a:p>
                  </a:txBody>
                  <a:tcPr anchor="ctr" marL="121320" marR="12132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1" i="1" lang="en-US" sz="2400" spc="-1" strike="noStrike">
                          <a:solidFill>
                            <a:schemeClr val="dk1"/>
                          </a:solidFill>
                          <a:latin typeface="Times New Roman"/>
                        </a:rPr>
                        <a:t>m</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imes New Roman"/>
                        </a:rPr>
                        <a:t>deg(</a:t>
                      </a:r>
                      <a:r>
                        <a:rPr b="1" i="1" lang="en-US" sz="2400" spc="-1" strike="noStrike">
                          <a:solidFill>
                            <a:schemeClr val="dk1"/>
                          </a:solidFill>
                          <a:latin typeface="Times New Roman"/>
                        </a:rPr>
                        <a:t>v</a:t>
                      </a:r>
                      <a:r>
                        <a:rPr b="0" lang="en-US" sz="2400" spc="-1" strike="noStrike">
                          <a:solidFill>
                            <a:schemeClr val="dk1"/>
                          </a:solidFill>
                          <a:latin typeface="Times New Roman"/>
                        </a:rPr>
                        <a:t>)</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1" i="1" lang="en-US" sz="2400" spc="-1" strike="noStrike">
                          <a:solidFill>
                            <a:schemeClr val="dk1"/>
                          </a:solidFill>
                          <a:latin typeface="Times New Roman"/>
                        </a:rPr>
                        <a:t>n</a:t>
                      </a:r>
                      <a:r>
                        <a:rPr b="0" lang="en-US" sz="2400" spc="-1" strike="noStrike" baseline="30000">
                          <a:solidFill>
                            <a:schemeClr val="dk1"/>
                          </a:solidFill>
                          <a:latin typeface="Times New Roman"/>
                        </a:rPr>
                        <a:t>2</a:t>
                      </a:r>
                      <a:endParaRPr b="0" lang="en-US" sz="2400" spc="-1" strike="noStrike">
                        <a:solidFill>
                          <a:srgbClr val="000000"/>
                        </a:solidFill>
                        <a:latin typeface="Arial"/>
                      </a:endParaRPr>
                    </a:p>
                  </a:txBody>
                  <a:tcPr anchor="ctr" marL="121320" marR="12132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456840">
                <a:tc>
                  <a:txBody>
                    <a:bodyPr lIns="121320" rIns="121320" anchor="ctr">
                      <a:noAutofit/>
                    </a:bodyPr>
                    <a:p>
                      <a:pPr defTabSz="914400">
                        <a:lnSpc>
                          <a:spcPct val="100000"/>
                        </a:lnSpc>
                        <a:spcBef>
                          <a:spcPts val="479"/>
                        </a:spcBef>
                        <a:tabLst>
                          <a:tab algn="l" pos="0"/>
                        </a:tabLst>
                      </a:pPr>
                      <a:r>
                        <a:rPr b="0" lang="en-US" sz="2400" spc="-1" strike="noStrike">
                          <a:solidFill>
                            <a:schemeClr val="dk2"/>
                          </a:solidFill>
                          <a:latin typeface="Tahoma"/>
                        </a:rPr>
                        <a:t>removeEdge</a:t>
                      </a:r>
                      <a:r>
                        <a:rPr b="0" lang="en-US" sz="2400" spc="-1" strike="noStrike">
                          <a:solidFill>
                            <a:schemeClr val="dk1"/>
                          </a:solidFill>
                          <a:latin typeface="Tahoma"/>
                        </a:rPr>
                        <a:t>(</a:t>
                      </a:r>
                      <a:r>
                        <a:rPr b="1" i="1" lang="en-US" sz="2400" spc="-1" strike="noStrike">
                          <a:solidFill>
                            <a:schemeClr val="dk1"/>
                          </a:solidFill>
                          <a:latin typeface="Times New Roman"/>
                        </a:rPr>
                        <a:t>e</a:t>
                      </a:r>
                      <a:r>
                        <a:rPr b="0" lang="en-US" sz="2400" spc="-1" strike="noStrike">
                          <a:solidFill>
                            <a:schemeClr val="dk1"/>
                          </a:solidFill>
                          <a:latin typeface="Tahoma"/>
                        </a:rPr>
                        <a:t>)</a:t>
                      </a:r>
                      <a:endParaRPr b="0" lang="en-US" sz="2400" spc="-1" strike="noStrike">
                        <a:solidFill>
                          <a:srgbClr val="000000"/>
                        </a:solidFill>
                        <a:latin typeface="Arial"/>
                      </a:endParaRPr>
                    </a:p>
                  </a:txBody>
                  <a:tcPr anchor="ctr" marL="121320" marR="121320">
                    <a:lnL w="2808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imes New Roman"/>
                        </a:rPr>
                        <a:t>1</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imes New Roman"/>
                        </a:rPr>
                        <a:t>1</a:t>
                      </a:r>
                      <a:endParaRPr b="0" lang="en-US" sz="2400" spc="-1" strike="noStrike">
                        <a:solidFill>
                          <a:srgbClr val="000000"/>
                        </a:solidFill>
                        <a:latin typeface="Arial"/>
                      </a:endParaRPr>
                    </a:p>
                  </a:txBody>
                  <a:tcPr anchor="ctr" marL="121320" marR="121320">
                    <a:lnL w="1224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lIns="121320" rIns="121320" anchor="ctr">
                      <a:noAutofit/>
                    </a:bodyPr>
                    <a:p>
                      <a:pPr algn="ctr" defTabSz="914400">
                        <a:lnSpc>
                          <a:spcPct val="100000"/>
                        </a:lnSpc>
                        <a:spcBef>
                          <a:spcPts val="479"/>
                        </a:spcBef>
                        <a:tabLst>
                          <a:tab algn="l" pos="0"/>
                        </a:tabLst>
                      </a:pPr>
                      <a:r>
                        <a:rPr b="0" lang="en-US" sz="2400" spc="-1" strike="noStrike">
                          <a:solidFill>
                            <a:schemeClr val="dk1"/>
                          </a:solidFill>
                          <a:latin typeface="Times New Roman"/>
                        </a:rPr>
                        <a:t>1</a:t>
                      </a:r>
                      <a:endParaRPr b="0" lang="en-US" sz="2400" spc="-1" strike="noStrike">
                        <a:solidFill>
                          <a:srgbClr val="000000"/>
                        </a:solidFill>
                        <a:latin typeface="Arial"/>
                      </a:endParaRPr>
                    </a:p>
                  </a:txBody>
                  <a:tcPr anchor="ctr" marL="121320" marR="121320">
                    <a:lnL w="12240">
                      <a:solidFill>
                        <a:srgbClr val="000000"/>
                      </a:solidFill>
                      <a:prstDash val="solid"/>
                    </a:lnL>
                    <a:lnR w="28080">
                      <a:solidFill>
                        <a:srgbClr val="000000"/>
                      </a:solidFill>
                      <a:prstDash val="solid"/>
                    </a:lnR>
                    <a:lnT w="12240">
                      <a:solidFill>
                        <a:srgbClr val="000000"/>
                      </a:solidFill>
                      <a:prstDash val="solid"/>
                    </a:lnT>
                    <a:lnB w="28080">
                      <a:solidFill>
                        <a:srgbClr val="000000"/>
                      </a:solidFill>
                      <a:prstDash val="solid"/>
                    </a:lnB>
                    <a:noFill/>
                  </a:tcPr>
                </a:tc>
              </a:tr>
            </a:tbl>
          </a:graphicData>
        </a:graphic>
      </p:graphicFrame>
      <p:sp>
        <p:nvSpPr>
          <p:cNvPr id="256" name="PlaceHolder 2"/>
          <p:cNvSpPr>
            <a:spLocks noGrp="1"/>
          </p:cNvSpPr>
          <p:nvPr>
            <p:ph type="sldNum" idx="40"/>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09F10977-A1D1-4F2B-A361-C7E471C37306}" type="slidenum">
              <a:rPr b="0" lang="en-US" sz="1400" spc="-1" strike="noStrike">
                <a:solidFill>
                  <a:schemeClr val="dk1">
                    <a:tint val="75000"/>
                  </a:schemeClr>
                </a:solidFill>
                <a:latin typeface="Tahoma"/>
                <a:ea typeface="MS PGothic"/>
              </a:rPr>
              <a:t>14</a:t>
            </a:fld>
            <a:endParaRPr b="0" lang="en-US" sz="1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Python Graph Libs</a:t>
            </a:r>
            <a:endParaRPr b="0" lang="en-US" sz="4400" spc="-1" strike="noStrike">
              <a:solidFill>
                <a:srgbClr val="000000"/>
              </a:solidFill>
              <a:latin typeface="Arial"/>
            </a:endParaRPr>
          </a:p>
        </p:txBody>
      </p:sp>
      <p:sp>
        <p:nvSpPr>
          <p:cNvPr id="258"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NetworkX : General graph implementation.</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Pytorch Geometric : Generally used in Graph Neural Network implementations.</a:t>
            </a:r>
            <a:endParaRPr b="0" lang="en-US" sz="2400" spc="-1" strike="noStrike">
              <a:solidFill>
                <a:srgbClr val="000000"/>
              </a:solidFill>
              <a:latin typeface="Arial"/>
            </a:endParaRPr>
          </a:p>
        </p:txBody>
      </p:sp>
      <p:sp>
        <p:nvSpPr>
          <p:cNvPr id="259" name="PlaceHolder 3"/>
          <p:cNvSpPr>
            <a:spLocks noGrp="1"/>
          </p:cNvSpPr>
          <p:nvPr>
            <p:ph type="sldNum" idx="41"/>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A0E1F295-B2BA-4832-B361-60BF5BAE082D}" type="slidenum">
              <a:rPr b="0" lang="en-US" sz="1400" spc="-1" strike="noStrike">
                <a:solidFill>
                  <a:schemeClr val="dk1">
                    <a:tint val="75000"/>
                  </a:schemeClr>
                </a:solidFill>
                <a:latin typeface="Tahoma"/>
                <a:ea typeface="MS PGothic"/>
              </a:rPr>
              <a:t>15</a:t>
            </a:fld>
            <a:endParaRPr b="0" lang="en-US" sz="1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NetworkX Example</a:t>
            </a:r>
            <a:endParaRPr b="0" lang="en-US" sz="4400" spc="-1" strike="noStrike">
              <a:solidFill>
                <a:srgbClr val="000000"/>
              </a:solidFill>
              <a:latin typeface="Arial"/>
            </a:endParaRPr>
          </a:p>
        </p:txBody>
      </p:sp>
      <p:sp>
        <p:nvSpPr>
          <p:cNvPr id="261" name="PlaceHolder 2"/>
          <p:cNvSpPr>
            <a:spLocks noGrp="1"/>
          </p:cNvSpPr>
          <p:nvPr>
            <p:ph type="sldNum" idx="42"/>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FE903477-D5DA-424D-8625-036224060ADB}" type="slidenum">
              <a:rPr b="0" lang="en-US" sz="1400" spc="-1" strike="noStrike">
                <a:solidFill>
                  <a:schemeClr val="dk1">
                    <a:tint val="75000"/>
                  </a:schemeClr>
                </a:solidFill>
                <a:latin typeface="Tahoma"/>
                <a:ea typeface="MS PGothic"/>
              </a:rPr>
              <a:t>16</a:t>
            </a:fld>
            <a:endParaRPr b="0" lang="en-US" sz="1400" spc="-1" strike="noStrike">
              <a:solidFill>
                <a:srgbClr val="000000"/>
              </a:solidFill>
              <a:latin typeface="Times New Roman"/>
            </a:endParaRPr>
          </a:p>
        </p:txBody>
      </p:sp>
      <p:sp>
        <p:nvSpPr>
          <p:cNvPr id="262" name=""/>
          <p:cNvSpPr/>
          <p:nvPr/>
        </p:nvSpPr>
        <p:spPr>
          <a:xfrm>
            <a:off x="228600" y="1702800"/>
            <a:ext cx="10476360" cy="4697640"/>
          </a:xfrm>
          <a:prstGeom prst="rect">
            <a:avLst/>
          </a:prstGeom>
          <a:noFill/>
          <a:ln w="0">
            <a:solidFill>
              <a:srgbClr val="3465a4"/>
            </a:solid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rPr>
              <a:t>import matplotlib.pyplot as plt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import networkx as nx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G = nx.Graph()</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G.add_edge('a', 'b', weight=0.6)</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G.add_edge('a', 'c', weight=0.2)</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G.add_edge('c', 'd', weight=0.1)</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G.add_edge('c', 'e', weight=0.7)</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G.add_edge('c', 'f', weight=0.9)</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G.add_edge('a', 'd', weight=0.3)</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elarge = [(u, v) for (u, v, d) in G.edges(data=True) if d['weight'] &gt; 0.5]</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esmall = [(u, v) for (u, v, d) in G.edges(data=True) if d['weight'] &lt;= 0.5]</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pos = nx.spring_layout(G)  # positions for all nodes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nx.draw_networkx_nodes(G, pos, node_size=700)</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nx.draw_networkx_edges(G, pos, edgelist=elarge,width=6)</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nx.draw_networkx_edges(G, pos, edgelist=esmall,width=6, alpha=0.5, edge_color='b', style='dashed')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nx.draw_networkx_labels(G, pos, font_size=20, font_family='sans-serif')</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plt.axis('off')</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plt.show()</a:t>
            </a:r>
            <a:endParaRPr b="0" lang="en-US" sz="1800" spc="-1" strike="noStrike">
              <a:solidFill>
                <a:srgbClr val="000000"/>
              </a:solidFill>
              <a:latin typeface="Arial"/>
            </a:endParaRPr>
          </a:p>
        </p:txBody>
      </p:sp>
      <p:pic>
        <p:nvPicPr>
          <p:cNvPr id="263" name="" descr=""/>
          <p:cNvPicPr/>
          <p:nvPr/>
        </p:nvPicPr>
        <p:blipFill>
          <a:blip r:embed="rId1"/>
          <a:stretch/>
        </p:blipFill>
        <p:spPr>
          <a:xfrm>
            <a:off x="7891560" y="1091880"/>
            <a:ext cx="4302360" cy="3357360"/>
          </a:xfrm>
          <a:prstGeom prst="rect">
            <a:avLst/>
          </a:prstGeom>
          <a:ln w="0">
            <a:solidFill>
              <a:srgbClr val="3465a4"/>
            </a:solid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Pytorch Geometric Example</a:t>
            </a:r>
            <a:endParaRPr b="0" lang="en-US" sz="4400" spc="-1" strike="noStrike">
              <a:solidFill>
                <a:srgbClr val="000000"/>
              </a:solidFill>
              <a:latin typeface="Arial"/>
            </a:endParaRPr>
          </a:p>
        </p:txBody>
      </p:sp>
      <p:sp>
        <p:nvSpPr>
          <p:cNvPr id="265" name="PlaceHolder 2"/>
          <p:cNvSpPr>
            <a:spLocks noGrp="1"/>
          </p:cNvSpPr>
          <p:nvPr>
            <p:ph type="sldNum" idx="43"/>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38701AE6-57E5-42B1-9790-6B590B89F829}" type="slidenum">
              <a:rPr b="0" lang="en-US" sz="1400" spc="-1" strike="noStrike">
                <a:solidFill>
                  <a:schemeClr val="dk1">
                    <a:tint val="75000"/>
                  </a:schemeClr>
                </a:solidFill>
                <a:latin typeface="Tahoma"/>
                <a:ea typeface="MS PGothic"/>
              </a:rPr>
              <a:t>17</a:t>
            </a:fld>
            <a:endParaRPr b="0" lang="en-US" sz="1400" spc="-1" strike="noStrike">
              <a:solidFill>
                <a:srgbClr val="000000"/>
              </a:solidFill>
              <a:latin typeface="Times New Roman"/>
            </a:endParaRPr>
          </a:p>
        </p:txBody>
      </p:sp>
      <p:sp>
        <p:nvSpPr>
          <p:cNvPr id="266" name=""/>
          <p:cNvSpPr/>
          <p:nvPr/>
        </p:nvSpPr>
        <p:spPr>
          <a:xfrm>
            <a:off x="228600" y="1143000"/>
            <a:ext cx="9372240" cy="2422800"/>
          </a:xfrm>
          <a:prstGeom prst="rect">
            <a:avLst/>
          </a:prstGeom>
          <a:noFill/>
          <a:ln w="0">
            <a:solidFill>
              <a:srgbClr val="3465a4"/>
            </a:solid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Liberation Mono;Courier New;Cousine;DejaVu Sans Mono"/>
              </a:rPr>
              <a:t>import torch</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Liberation Mono;Courier New;Cousine;DejaVu Sans Mono"/>
              </a:rPr>
              <a:t>from torch_geometric.data import Data</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Liberation Mono;Courier New;Cousine;DejaVu Sans Mono"/>
              </a:rPr>
              <a:t>edge_index = torch.tensor([[0, 1, 1, 2],</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Liberation Mono;Courier New;Cousine;DejaVu Sans Mono"/>
              </a:rPr>
              <a:t>                           </a:t>
            </a:r>
            <a:r>
              <a:rPr b="0" lang="en-US" sz="1800" spc="-1" strike="noStrike">
                <a:solidFill>
                  <a:srgbClr val="000000"/>
                </a:solidFill>
                <a:latin typeface="Liberation Mono;Courier New;Cousine;DejaVu Sans Mono"/>
              </a:rPr>
              <a:t>[1, 0, 2, 1]], dtype=torch.long)</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Liberation Mono;Courier New;Cousine;DejaVu Sans Mono"/>
              </a:rPr>
              <a:t>x = torch.tensor([[-1], [0], [1]], dtype=torch.float)</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Liberation Mono;Courier New;Cousine;DejaVu Sans Mono"/>
              </a:rPr>
              <a:t>data = Data(x=x, edge_index=edge_index)</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Liberation Mono;Courier New;Cousine;DejaVu Sans Mono"/>
              </a:rPr>
              <a:t>&gt;&gt;&gt; Data(edge_index=[2, 4], x=[3, 1])</a:t>
            </a:r>
            <a:endParaRPr b="0" lang="en-US" sz="1800" spc="-1" strike="noStrike">
              <a:solidFill>
                <a:srgbClr val="000000"/>
              </a:solidFill>
              <a:latin typeface="Arial"/>
            </a:endParaRPr>
          </a:p>
        </p:txBody>
      </p:sp>
      <p:pic>
        <p:nvPicPr>
          <p:cNvPr id="267" name="" descr=""/>
          <p:cNvPicPr/>
          <p:nvPr/>
        </p:nvPicPr>
        <p:blipFill>
          <a:blip r:embed="rId1"/>
          <a:stretch/>
        </p:blipFill>
        <p:spPr>
          <a:xfrm>
            <a:off x="6629400" y="3657600"/>
            <a:ext cx="5257440" cy="2545920"/>
          </a:xfrm>
          <a:prstGeom prst="rect">
            <a:avLst/>
          </a:prstGeom>
          <a:ln w="0">
            <a:solidFill>
              <a:srgbClr val="3465a4"/>
            </a:solid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Python Graph Implementation</a:t>
            </a:r>
            <a:endParaRPr b="0" lang="en-US" sz="4400" spc="-1" strike="noStrike">
              <a:solidFill>
                <a:srgbClr val="000000"/>
              </a:solidFill>
              <a:latin typeface="Arial"/>
            </a:endParaRPr>
          </a:p>
        </p:txBody>
      </p:sp>
      <p:sp>
        <p:nvSpPr>
          <p:cNvPr id="269"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We use a variant of the </a:t>
            </a:r>
            <a:r>
              <a:rPr b="1" i="1" lang="en-US" sz="2400" spc="-1" strike="noStrike">
                <a:solidFill>
                  <a:schemeClr val="dk1"/>
                </a:solidFill>
                <a:latin typeface="Calibri"/>
              </a:rPr>
              <a:t>adjacency map </a:t>
            </a:r>
            <a:r>
              <a:rPr b="0" lang="en-US" sz="2400" spc="-1" strike="noStrike">
                <a:solidFill>
                  <a:schemeClr val="dk1"/>
                </a:solidFill>
                <a:latin typeface="Calibri"/>
              </a:rPr>
              <a:t>representation. </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For each vertex </a:t>
            </a:r>
            <a:r>
              <a:rPr b="0" i="1" lang="en-US" sz="2400" spc="-1" strike="noStrike">
                <a:solidFill>
                  <a:schemeClr val="dk1"/>
                </a:solidFill>
                <a:latin typeface="Calibri"/>
              </a:rPr>
              <a:t>v</a:t>
            </a:r>
            <a:r>
              <a:rPr b="0" lang="en-US" sz="2400" spc="-1" strike="noStrike">
                <a:solidFill>
                  <a:schemeClr val="dk1"/>
                </a:solidFill>
                <a:latin typeface="Calibri"/>
              </a:rPr>
              <a:t>, we use a Python dictionary to represent the secondary incidence map </a:t>
            </a:r>
            <a:r>
              <a:rPr b="0" i="1" lang="en-US" sz="2400" spc="-1" strike="noStrike">
                <a:solidFill>
                  <a:schemeClr val="dk1"/>
                </a:solidFill>
                <a:latin typeface="Calibri"/>
              </a:rPr>
              <a:t>I</a:t>
            </a:r>
            <a:r>
              <a:rPr b="0" lang="en-US" sz="2400" spc="-1" strike="noStrike">
                <a:solidFill>
                  <a:schemeClr val="dk1"/>
                </a:solidFill>
                <a:latin typeface="Calibri"/>
              </a:rPr>
              <a:t>(</a:t>
            </a:r>
            <a:r>
              <a:rPr b="0" i="1" lang="en-US" sz="2400" spc="-1" strike="noStrike">
                <a:solidFill>
                  <a:schemeClr val="dk1"/>
                </a:solidFill>
                <a:latin typeface="Calibri"/>
              </a:rPr>
              <a:t>v</a:t>
            </a:r>
            <a:r>
              <a:rPr b="0" lang="en-US" sz="2400" spc="-1" strike="noStrike">
                <a:solidFill>
                  <a:schemeClr val="dk1"/>
                </a:solidFill>
                <a:latin typeface="Calibri"/>
              </a:rPr>
              <a:t>). </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The list </a:t>
            </a:r>
            <a:r>
              <a:rPr b="0" i="1" lang="en-US" sz="2400" spc="-1" strike="noStrike">
                <a:solidFill>
                  <a:schemeClr val="dk1"/>
                </a:solidFill>
                <a:latin typeface="Calibri"/>
              </a:rPr>
              <a:t>V </a:t>
            </a:r>
            <a:r>
              <a:rPr b="0" lang="en-US" sz="2400" spc="-1" strike="noStrike">
                <a:solidFill>
                  <a:schemeClr val="dk1"/>
                </a:solidFill>
                <a:latin typeface="Calibri"/>
              </a:rPr>
              <a:t>is replaced by a top-level dictionary </a:t>
            </a:r>
            <a:r>
              <a:rPr b="0" i="1" lang="en-US" sz="2400" spc="-1" strike="noStrike">
                <a:solidFill>
                  <a:schemeClr val="dk1"/>
                </a:solidFill>
                <a:latin typeface="Calibri"/>
              </a:rPr>
              <a:t>D </a:t>
            </a:r>
            <a:r>
              <a:rPr b="0" lang="en-US" sz="2400" spc="-1" strike="noStrike">
                <a:solidFill>
                  <a:schemeClr val="dk1"/>
                </a:solidFill>
                <a:latin typeface="Calibri"/>
              </a:rPr>
              <a:t>that maps each vertex </a:t>
            </a:r>
            <a:r>
              <a:rPr b="0" i="1" lang="en-US" sz="2400" spc="-1" strike="noStrike">
                <a:solidFill>
                  <a:schemeClr val="dk1"/>
                </a:solidFill>
                <a:latin typeface="Calibri"/>
              </a:rPr>
              <a:t>v </a:t>
            </a:r>
            <a:r>
              <a:rPr b="0" lang="en-US" sz="2400" spc="-1" strike="noStrike">
                <a:solidFill>
                  <a:schemeClr val="dk1"/>
                </a:solidFill>
                <a:latin typeface="Calibri"/>
              </a:rPr>
              <a:t>to its incidence map </a:t>
            </a:r>
            <a:r>
              <a:rPr b="0" i="1" lang="en-US" sz="2400" spc="-1" strike="noStrike">
                <a:solidFill>
                  <a:schemeClr val="dk1"/>
                </a:solidFill>
                <a:latin typeface="Calibri"/>
              </a:rPr>
              <a:t>I</a:t>
            </a:r>
            <a:r>
              <a:rPr b="0" lang="en-US" sz="2400" spc="-1" strike="noStrike">
                <a:solidFill>
                  <a:schemeClr val="dk1"/>
                </a:solidFill>
                <a:latin typeface="Calibri"/>
              </a:rPr>
              <a:t>(</a:t>
            </a:r>
            <a:r>
              <a:rPr b="0" i="1" lang="en-US" sz="2400" spc="-1" strike="noStrike">
                <a:solidFill>
                  <a:schemeClr val="dk1"/>
                </a:solidFill>
                <a:latin typeface="Calibri"/>
              </a:rPr>
              <a:t>v</a:t>
            </a:r>
            <a:r>
              <a:rPr b="0" lang="en-US" sz="2400" spc="-1" strike="noStrike">
                <a:solidFill>
                  <a:schemeClr val="dk1"/>
                </a:solidFill>
                <a:latin typeface="Calibri"/>
              </a:rPr>
              <a:t>).</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Note that we can iterate through all vertices by generating the set of keys for dictionary </a:t>
            </a:r>
            <a:r>
              <a:rPr b="0" i="1" lang="en-US" sz="2000" spc="-1" strike="noStrike">
                <a:solidFill>
                  <a:schemeClr val="dk1"/>
                </a:solidFill>
                <a:latin typeface="Calibri"/>
              </a:rPr>
              <a:t>D</a:t>
            </a:r>
            <a:r>
              <a:rPr b="0" lang="en-US" sz="2000" spc="-1" strike="noStrike">
                <a:solidFill>
                  <a:schemeClr val="dk1"/>
                </a:solidFill>
                <a:latin typeface="Calibri"/>
              </a:rPr>
              <a:t>. </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A vertex does not need to explicitly maintain a reference to its position in </a:t>
            </a:r>
            <a:r>
              <a:rPr b="0" i="1" lang="en-US" sz="2400" spc="-1" strike="noStrike">
                <a:solidFill>
                  <a:schemeClr val="dk1"/>
                </a:solidFill>
                <a:latin typeface="Calibri"/>
              </a:rPr>
              <a:t>D</a:t>
            </a:r>
            <a:r>
              <a:rPr b="0" lang="en-US" sz="2400" spc="-1" strike="noStrike">
                <a:solidFill>
                  <a:schemeClr val="dk1"/>
                </a:solidFill>
                <a:latin typeface="Calibri"/>
              </a:rPr>
              <a:t>, because it can be determined in </a:t>
            </a:r>
            <a:r>
              <a:rPr b="0" i="1" lang="en-US" sz="2400" spc="-1" strike="noStrike">
                <a:solidFill>
                  <a:schemeClr val="dk1"/>
                </a:solidFill>
                <a:latin typeface="Calibri"/>
              </a:rPr>
              <a:t>O</a:t>
            </a:r>
            <a:r>
              <a:rPr b="0" lang="en-US" sz="2400" spc="-1" strike="noStrike">
                <a:solidFill>
                  <a:schemeClr val="dk1"/>
                </a:solidFill>
                <a:latin typeface="Calibri"/>
              </a:rPr>
              <a:t>(1) expected time. </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Running time bounds for the adjacency-list graph ADT operations, given above, become </a:t>
            </a:r>
            <a:r>
              <a:rPr b="1" i="1" lang="en-US" sz="2400" spc="-1" strike="noStrike">
                <a:solidFill>
                  <a:schemeClr val="dk1"/>
                </a:solidFill>
                <a:latin typeface="Calibri"/>
              </a:rPr>
              <a:t>expected </a:t>
            </a:r>
            <a:r>
              <a:rPr b="0" lang="en-US" sz="2400" spc="-1" strike="noStrike">
                <a:solidFill>
                  <a:schemeClr val="dk1"/>
                </a:solidFill>
                <a:latin typeface="Calibri"/>
              </a:rPr>
              <a:t>bounds. </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400" spc="-1" strike="noStrike">
              <a:solidFill>
                <a:srgbClr val="000000"/>
              </a:solidFill>
              <a:latin typeface="Arial"/>
            </a:endParaRPr>
          </a:p>
        </p:txBody>
      </p:sp>
      <p:sp>
        <p:nvSpPr>
          <p:cNvPr id="270" name="PlaceHolder 3"/>
          <p:cNvSpPr>
            <a:spLocks noGrp="1"/>
          </p:cNvSpPr>
          <p:nvPr>
            <p:ph type="sldNum" idx="44"/>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83A2ED14-2F46-4166-A7CC-DA8B2752E39C}" type="slidenum">
              <a:rPr b="0" lang="en-US" sz="1400" spc="-1" strike="noStrike">
                <a:solidFill>
                  <a:schemeClr val="dk1">
                    <a:tint val="75000"/>
                  </a:schemeClr>
                </a:solidFill>
                <a:latin typeface="Tahoma"/>
                <a:ea typeface="MS PGothic"/>
              </a:rPr>
              <a:t>18</a:t>
            </a:fld>
            <a:endParaRPr b="0" lang="en-US" sz="1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Vertex Class</a:t>
            </a:r>
            <a:endParaRPr b="0" lang="en-US" sz="4400" spc="-1" strike="noStrike">
              <a:solidFill>
                <a:srgbClr val="000000"/>
              </a:solidFill>
              <a:latin typeface="Arial"/>
            </a:endParaRPr>
          </a:p>
        </p:txBody>
      </p:sp>
      <p:sp>
        <p:nvSpPr>
          <p:cNvPr id="272" name="PlaceHolder 2"/>
          <p:cNvSpPr>
            <a:spLocks noGrp="1"/>
          </p:cNvSpPr>
          <p:nvPr>
            <p:ph type="sldNum" idx="45"/>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076D2CD0-EE77-4071-B0B7-BA94E91E13E0}" type="slidenum">
              <a:rPr b="0" lang="en-US" sz="1400" spc="-1" strike="noStrike">
                <a:solidFill>
                  <a:schemeClr val="dk1">
                    <a:tint val="75000"/>
                  </a:schemeClr>
                </a:solidFill>
                <a:latin typeface="Tahoma"/>
                <a:ea typeface="MS PGothic"/>
              </a:rPr>
              <a:t>19</a:t>
            </a:fld>
            <a:endParaRPr b="0" lang="en-US" sz="1400" spc="-1" strike="noStrike">
              <a:solidFill>
                <a:srgbClr val="000000"/>
              </a:solidFill>
              <a:latin typeface="Times New Roman"/>
            </a:endParaRPr>
          </a:p>
        </p:txBody>
      </p:sp>
      <p:pic>
        <p:nvPicPr>
          <p:cNvPr id="273" name="Picture 5" descr=""/>
          <p:cNvPicPr/>
          <p:nvPr/>
        </p:nvPicPr>
        <p:blipFill>
          <a:blip r:embed="rId1"/>
          <a:stretch/>
        </p:blipFill>
        <p:spPr>
          <a:xfrm>
            <a:off x="1511280" y="1143000"/>
            <a:ext cx="9003600" cy="493092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Edge Class</a:t>
            </a:r>
            <a:endParaRPr b="0" lang="en-US" sz="4400" spc="-1" strike="noStrike">
              <a:solidFill>
                <a:srgbClr val="000000"/>
              </a:solidFill>
              <a:latin typeface="Arial"/>
            </a:endParaRPr>
          </a:p>
        </p:txBody>
      </p:sp>
      <p:sp>
        <p:nvSpPr>
          <p:cNvPr id="275" name="PlaceHolder 2"/>
          <p:cNvSpPr>
            <a:spLocks noGrp="1"/>
          </p:cNvSpPr>
          <p:nvPr>
            <p:ph type="sldNum" idx="46"/>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75356FAF-6B55-4787-A1BC-55859E404B0E}" type="slidenum">
              <a:rPr b="0" lang="en-US" sz="1400" spc="-1" strike="noStrike">
                <a:solidFill>
                  <a:schemeClr val="dk1">
                    <a:tint val="75000"/>
                  </a:schemeClr>
                </a:solidFill>
                <a:latin typeface="Tahoma"/>
                <a:ea typeface="MS PGothic"/>
              </a:rPr>
              <a:t>20</a:t>
            </a:fld>
            <a:endParaRPr b="0" lang="en-US" sz="1400" spc="-1" strike="noStrike">
              <a:solidFill>
                <a:srgbClr val="000000"/>
              </a:solidFill>
              <a:latin typeface="Times New Roman"/>
            </a:endParaRPr>
          </a:p>
        </p:txBody>
      </p:sp>
      <p:pic>
        <p:nvPicPr>
          <p:cNvPr id="276" name="Picture 2" descr=""/>
          <p:cNvPicPr/>
          <p:nvPr/>
        </p:nvPicPr>
        <p:blipFill>
          <a:blip r:embed="rId1"/>
          <a:stretch/>
        </p:blipFill>
        <p:spPr>
          <a:xfrm>
            <a:off x="2895480" y="990720"/>
            <a:ext cx="6156360" cy="544212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Graph, Part 1</a:t>
            </a:r>
            <a:endParaRPr b="0" lang="en-US" sz="4400" spc="-1" strike="noStrike">
              <a:solidFill>
                <a:srgbClr val="000000"/>
              </a:solidFill>
              <a:latin typeface="Arial"/>
            </a:endParaRPr>
          </a:p>
        </p:txBody>
      </p:sp>
      <p:sp>
        <p:nvSpPr>
          <p:cNvPr id="278" name="PlaceHolder 2"/>
          <p:cNvSpPr>
            <a:spLocks noGrp="1"/>
          </p:cNvSpPr>
          <p:nvPr>
            <p:ph type="sldNum" idx="47"/>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E4C8D3E3-82BB-4F46-BB62-F4287BEF6DCE}" type="slidenum">
              <a:rPr b="0" lang="en-US" sz="1400" spc="-1" strike="noStrike">
                <a:solidFill>
                  <a:schemeClr val="dk1">
                    <a:tint val="75000"/>
                  </a:schemeClr>
                </a:solidFill>
                <a:latin typeface="Tahoma"/>
                <a:ea typeface="MS PGothic"/>
              </a:rPr>
              <a:t>21</a:t>
            </a:fld>
            <a:endParaRPr b="0" lang="en-US" sz="1400" spc="-1" strike="noStrike">
              <a:solidFill>
                <a:srgbClr val="000000"/>
              </a:solidFill>
              <a:latin typeface="Times New Roman"/>
            </a:endParaRPr>
          </a:p>
        </p:txBody>
      </p:sp>
      <p:pic>
        <p:nvPicPr>
          <p:cNvPr id="279" name="Picture 6" descr=""/>
          <p:cNvPicPr/>
          <p:nvPr/>
        </p:nvPicPr>
        <p:blipFill>
          <a:blip r:embed="rId1"/>
          <a:stretch/>
        </p:blipFill>
        <p:spPr>
          <a:xfrm>
            <a:off x="4800600" y="149760"/>
            <a:ext cx="5028480" cy="647892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Graph, Part 2</a:t>
            </a:r>
            <a:endParaRPr b="0" lang="en-US" sz="4400" spc="-1" strike="noStrike">
              <a:solidFill>
                <a:srgbClr val="000000"/>
              </a:solidFill>
              <a:latin typeface="Arial"/>
            </a:endParaRPr>
          </a:p>
        </p:txBody>
      </p:sp>
      <p:sp>
        <p:nvSpPr>
          <p:cNvPr id="281" name="PlaceHolder 2"/>
          <p:cNvSpPr>
            <a:spLocks noGrp="1"/>
          </p:cNvSpPr>
          <p:nvPr>
            <p:ph type="sldNum" idx="48"/>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289E305B-79B5-4659-9189-07C2242FC157}" type="slidenum">
              <a:rPr b="0" lang="en-US" sz="1400" spc="-1" strike="noStrike">
                <a:solidFill>
                  <a:schemeClr val="dk1">
                    <a:tint val="75000"/>
                  </a:schemeClr>
                </a:solidFill>
                <a:latin typeface="Tahoma"/>
                <a:ea typeface="MS PGothic"/>
              </a:rPr>
              <a:t>22</a:t>
            </a:fld>
            <a:endParaRPr b="0" lang="en-US" sz="1400" spc="-1" strike="noStrike">
              <a:solidFill>
                <a:srgbClr val="000000"/>
              </a:solidFill>
              <a:latin typeface="Times New Roman"/>
            </a:endParaRPr>
          </a:p>
        </p:txBody>
      </p:sp>
      <p:pic>
        <p:nvPicPr>
          <p:cNvPr id="282" name="Picture 2" descr=""/>
          <p:cNvPicPr/>
          <p:nvPr/>
        </p:nvPicPr>
        <p:blipFill>
          <a:blip r:embed="rId1"/>
          <a:stretch/>
        </p:blipFill>
        <p:spPr>
          <a:xfrm>
            <a:off x="4038480" y="304920"/>
            <a:ext cx="5133960" cy="594216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Subgraphs</a:t>
            </a:r>
            <a:endParaRPr b="0" lang="en-US" sz="4400" spc="-1" strike="noStrike">
              <a:solidFill>
                <a:srgbClr val="000000"/>
              </a:solidFill>
              <a:latin typeface="Arial"/>
            </a:endParaRPr>
          </a:p>
        </p:txBody>
      </p:sp>
      <p:sp>
        <p:nvSpPr>
          <p:cNvPr id="284" name="PlaceHolder 2"/>
          <p:cNvSpPr>
            <a:spLocks noGrp="1"/>
          </p:cNvSpPr>
          <p:nvPr>
            <p:ph/>
          </p:nvPr>
        </p:nvSpPr>
        <p:spPr>
          <a:xfrm>
            <a:off x="838080" y="1107000"/>
            <a:ext cx="655488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A subgraph S of a graph G is a graph such that </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The vertices of S are a subset of the vertices of G</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The edges of S are a subset of the edges of G</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A spanning subgraph of G is a subgraph that contains all the vertices of G</a:t>
            </a:r>
            <a:endParaRPr b="0" lang="en-US" sz="2400" spc="-1" strike="noStrike">
              <a:solidFill>
                <a:srgbClr val="000000"/>
              </a:solidFill>
              <a:latin typeface="Arial"/>
            </a:endParaRPr>
          </a:p>
        </p:txBody>
      </p:sp>
      <p:sp>
        <p:nvSpPr>
          <p:cNvPr id="285" name="PlaceHolder 3"/>
          <p:cNvSpPr>
            <a:spLocks noGrp="1"/>
          </p:cNvSpPr>
          <p:nvPr>
            <p:ph type="sldNum" idx="49"/>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F224AD82-1DB1-4298-BA48-535FC1FA2A1C}" type="slidenum">
              <a:rPr b="0" lang="en-US" sz="1400" spc="-1" strike="noStrike">
                <a:solidFill>
                  <a:schemeClr val="dk1">
                    <a:tint val="75000"/>
                  </a:schemeClr>
                </a:solidFill>
                <a:latin typeface="Tahoma"/>
                <a:ea typeface="MS PGothic"/>
              </a:rPr>
              <a:t>23</a:t>
            </a:fld>
            <a:endParaRPr b="0" lang="en-US" sz="1400" spc="-1" strike="noStrike">
              <a:solidFill>
                <a:srgbClr val="000000"/>
              </a:solidFill>
              <a:latin typeface="Times New Roman"/>
            </a:endParaRPr>
          </a:p>
        </p:txBody>
      </p:sp>
      <p:sp>
        <p:nvSpPr>
          <p:cNvPr id="286" name="Text Box 16"/>
          <p:cNvSpPr/>
          <p:nvPr/>
        </p:nvSpPr>
        <p:spPr>
          <a:xfrm>
            <a:off x="8102520" y="2959560"/>
            <a:ext cx="2856240" cy="394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1"/>
                </a:solidFill>
                <a:latin typeface="Tahoma"/>
                <a:ea typeface="MS PGothic"/>
              </a:rPr>
              <a:t>Subgraph</a:t>
            </a:r>
            <a:endParaRPr b="0" lang="en-US" sz="2000" spc="-1" strike="noStrike">
              <a:solidFill>
                <a:srgbClr val="000000"/>
              </a:solidFill>
              <a:latin typeface="Arial"/>
            </a:endParaRPr>
          </a:p>
        </p:txBody>
      </p:sp>
      <p:sp>
        <p:nvSpPr>
          <p:cNvPr id="287" name="Text Box 27"/>
          <p:cNvSpPr/>
          <p:nvPr/>
        </p:nvSpPr>
        <p:spPr>
          <a:xfrm>
            <a:off x="7709040" y="5540760"/>
            <a:ext cx="3643560" cy="394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1"/>
                </a:solidFill>
                <a:latin typeface="Tahoma"/>
                <a:ea typeface="MS PGothic"/>
              </a:rPr>
              <a:t>Spanning subgraph</a:t>
            </a:r>
            <a:endParaRPr b="0" lang="en-US" sz="2000" spc="-1" strike="noStrike">
              <a:solidFill>
                <a:srgbClr val="000000"/>
              </a:solidFill>
              <a:latin typeface="Arial"/>
            </a:endParaRPr>
          </a:p>
        </p:txBody>
      </p:sp>
      <p:sp>
        <p:nvSpPr>
          <p:cNvPr id="288" name="Oval 5"/>
          <p:cNvSpPr/>
          <p:nvPr/>
        </p:nvSpPr>
        <p:spPr>
          <a:xfrm>
            <a:off x="9455040" y="1792800"/>
            <a:ext cx="365400" cy="365400"/>
          </a:xfrm>
          <a:prstGeom prst="ellipse">
            <a:avLst/>
          </a:prstGeom>
          <a:solidFill>
            <a:schemeClr val="folHlink"/>
          </a:solidFill>
          <a:ln w="1905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89" name="Oval 6"/>
          <p:cNvSpPr/>
          <p:nvPr/>
        </p:nvSpPr>
        <p:spPr>
          <a:xfrm>
            <a:off x="7991640" y="1792800"/>
            <a:ext cx="365400" cy="365400"/>
          </a:xfrm>
          <a:prstGeom prst="ellipse">
            <a:avLst/>
          </a:prstGeom>
          <a:solidFill>
            <a:schemeClr val="accent1"/>
          </a:solidFill>
          <a:ln w="19050">
            <a:solidFill>
              <a:srgbClr val="000000"/>
            </a:solidFill>
            <a:prstDash val="dash"/>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0" name="Oval 7"/>
          <p:cNvSpPr/>
          <p:nvPr/>
        </p:nvSpPr>
        <p:spPr>
          <a:xfrm>
            <a:off x="8723160" y="1060920"/>
            <a:ext cx="365400" cy="365400"/>
          </a:xfrm>
          <a:prstGeom prst="ellipse">
            <a:avLst/>
          </a:prstGeom>
          <a:solidFill>
            <a:schemeClr val="folHlink"/>
          </a:solidFill>
          <a:ln w="1905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291" name="Oval 8"/>
          <p:cNvSpPr/>
          <p:nvPr/>
        </p:nvSpPr>
        <p:spPr>
          <a:xfrm>
            <a:off x="8723160" y="2524680"/>
            <a:ext cx="365400" cy="365400"/>
          </a:xfrm>
          <a:prstGeom prst="ellipse">
            <a:avLst/>
          </a:prstGeom>
          <a:solidFill>
            <a:schemeClr val="folHlink"/>
          </a:solidFill>
          <a:ln w="1905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292" name="AutoShape 9"/>
          <p:cNvCxnSpPr>
            <a:stCxn id="290" idx="3"/>
            <a:endCxn id="289" idx="7"/>
          </p:cNvCxnSpPr>
          <p:nvPr/>
        </p:nvCxnSpPr>
        <p:spPr>
          <a:xfrm flipH="1">
            <a:off x="8304120" y="1373400"/>
            <a:ext cx="473040" cy="473400"/>
          </a:xfrm>
          <a:prstGeom prst="straightConnector1">
            <a:avLst/>
          </a:prstGeom>
          <a:ln w="19050">
            <a:solidFill>
              <a:srgbClr val="000000"/>
            </a:solidFill>
            <a:prstDash val="dash"/>
            <a:round/>
          </a:ln>
        </p:spPr>
      </p:cxnSp>
      <p:cxnSp>
        <p:nvCxnSpPr>
          <p:cNvPr id="293" name="AutoShape 10"/>
          <p:cNvCxnSpPr>
            <a:stCxn id="291" idx="1"/>
            <a:endCxn id="289" idx="5"/>
          </p:cNvCxnSpPr>
          <p:nvPr/>
        </p:nvCxnSpPr>
        <p:spPr>
          <a:xfrm flipH="1" flipV="1">
            <a:off x="8304120" y="2105280"/>
            <a:ext cx="473040" cy="473400"/>
          </a:xfrm>
          <a:prstGeom prst="straightConnector1">
            <a:avLst/>
          </a:prstGeom>
          <a:ln w="19050">
            <a:solidFill>
              <a:srgbClr val="000000"/>
            </a:solidFill>
            <a:prstDash val="dash"/>
            <a:round/>
          </a:ln>
        </p:spPr>
      </p:cxnSp>
      <p:cxnSp>
        <p:nvCxnSpPr>
          <p:cNvPr id="294" name="AutoShape 11"/>
          <p:cNvCxnSpPr>
            <a:stCxn id="291" idx="7"/>
            <a:endCxn id="288" idx="3"/>
          </p:cNvCxnSpPr>
          <p:nvPr/>
        </p:nvCxnSpPr>
        <p:spPr>
          <a:xfrm flipV="1">
            <a:off x="9035640" y="2105280"/>
            <a:ext cx="473400" cy="473400"/>
          </a:xfrm>
          <a:prstGeom prst="straightConnector1">
            <a:avLst/>
          </a:prstGeom>
          <a:ln w="19050">
            <a:solidFill>
              <a:srgbClr val="44546a"/>
            </a:solidFill>
            <a:round/>
          </a:ln>
        </p:spPr>
      </p:cxnSp>
      <p:cxnSp>
        <p:nvCxnSpPr>
          <p:cNvPr id="295" name="AutoShape 12"/>
          <p:cNvCxnSpPr>
            <a:stCxn id="290" idx="5"/>
            <a:endCxn id="288" idx="1"/>
          </p:cNvCxnSpPr>
          <p:nvPr/>
        </p:nvCxnSpPr>
        <p:spPr>
          <a:xfrm>
            <a:off x="9035640" y="1373400"/>
            <a:ext cx="473400" cy="473400"/>
          </a:xfrm>
          <a:prstGeom prst="straightConnector1">
            <a:avLst/>
          </a:prstGeom>
          <a:ln w="19050">
            <a:solidFill>
              <a:srgbClr val="44546a"/>
            </a:solidFill>
            <a:round/>
          </a:ln>
        </p:spPr>
      </p:cxnSp>
      <p:cxnSp>
        <p:nvCxnSpPr>
          <p:cNvPr id="296" name="AutoShape 13"/>
          <p:cNvCxnSpPr>
            <a:stCxn id="290" idx="4"/>
            <a:endCxn id="291" idx="0"/>
          </p:cNvCxnSpPr>
          <p:nvPr/>
        </p:nvCxnSpPr>
        <p:spPr>
          <a:xfrm>
            <a:off x="8906040" y="1426680"/>
            <a:ext cx="720" cy="1098720"/>
          </a:xfrm>
          <a:prstGeom prst="straightConnector1">
            <a:avLst/>
          </a:prstGeom>
          <a:ln w="19050">
            <a:solidFill>
              <a:srgbClr val="44546a"/>
            </a:solidFill>
            <a:round/>
          </a:ln>
        </p:spPr>
      </p:cxnSp>
      <p:sp>
        <p:nvSpPr>
          <p:cNvPr id="297" name="Oval 14"/>
          <p:cNvSpPr/>
          <p:nvPr/>
        </p:nvSpPr>
        <p:spPr>
          <a:xfrm>
            <a:off x="10706040" y="1792800"/>
            <a:ext cx="365400" cy="365400"/>
          </a:xfrm>
          <a:prstGeom prst="ellipse">
            <a:avLst/>
          </a:prstGeom>
          <a:solidFill>
            <a:schemeClr val="accent1"/>
          </a:solidFill>
          <a:ln w="19050">
            <a:solidFill>
              <a:srgbClr val="000000"/>
            </a:solidFill>
            <a:prstDash val="dash"/>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298" name="AutoShape 15"/>
          <p:cNvCxnSpPr>
            <a:stCxn id="288" idx="6"/>
            <a:endCxn id="297" idx="2"/>
          </p:cNvCxnSpPr>
          <p:nvPr/>
        </p:nvCxnSpPr>
        <p:spPr>
          <a:xfrm>
            <a:off x="9820800" y="1975680"/>
            <a:ext cx="885960" cy="720"/>
          </a:xfrm>
          <a:prstGeom prst="straightConnector1">
            <a:avLst/>
          </a:prstGeom>
          <a:ln w="19050">
            <a:solidFill>
              <a:srgbClr val="000000"/>
            </a:solidFill>
            <a:prstDash val="dash"/>
            <a:round/>
          </a:ln>
        </p:spPr>
      </p:cxnSp>
      <p:cxnSp>
        <p:nvCxnSpPr>
          <p:cNvPr id="299" name="AutoShape 28"/>
          <p:cNvCxnSpPr>
            <a:stCxn id="291" idx="6"/>
            <a:endCxn id="297" idx="3"/>
          </p:cNvCxnSpPr>
          <p:nvPr/>
        </p:nvCxnSpPr>
        <p:spPr>
          <a:xfrm flipV="1">
            <a:off x="9088920" y="2105280"/>
            <a:ext cx="1671120" cy="603000"/>
          </a:xfrm>
          <a:prstGeom prst="straightConnector1">
            <a:avLst/>
          </a:prstGeom>
          <a:ln w="19050">
            <a:solidFill>
              <a:srgbClr val="000000"/>
            </a:solidFill>
            <a:prstDash val="dash"/>
            <a:round/>
          </a:ln>
        </p:spPr>
      </p:cxnSp>
      <p:cxnSp>
        <p:nvCxnSpPr>
          <p:cNvPr id="300" name="AutoShape 29"/>
          <p:cNvCxnSpPr>
            <a:stCxn id="297" idx="1"/>
            <a:endCxn id="290" idx="6"/>
          </p:cNvCxnSpPr>
          <p:nvPr/>
        </p:nvCxnSpPr>
        <p:spPr>
          <a:xfrm flipH="1" flipV="1">
            <a:off x="9088920" y="1243800"/>
            <a:ext cx="1671120" cy="603000"/>
          </a:xfrm>
          <a:prstGeom prst="straightConnector1">
            <a:avLst/>
          </a:prstGeom>
          <a:ln w="19050">
            <a:solidFill>
              <a:srgbClr val="000000"/>
            </a:solidFill>
            <a:prstDash val="dash"/>
            <a:round/>
          </a:ln>
        </p:spPr>
      </p:cxnSp>
      <p:sp>
        <p:nvSpPr>
          <p:cNvPr id="301" name="Oval 32"/>
          <p:cNvSpPr/>
          <p:nvPr/>
        </p:nvSpPr>
        <p:spPr>
          <a:xfrm>
            <a:off x="9453600" y="4374000"/>
            <a:ext cx="365400" cy="365400"/>
          </a:xfrm>
          <a:prstGeom prst="ellipse">
            <a:avLst/>
          </a:prstGeom>
          <a:solidFill>
            <a:schemeClr val="folHlink"/>
          </a:solidFill>
          <a:ln w="1905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02" name="Oval 33"/>
          <p:cNvSpPr/>
          <p:nvPr/>
        </p:nvSpPr>
        <p:spPr>
          <a:xfrm>
            <a:off x="7989840" y="4374000"/>
            <a:ext cx="365400" cy="365400"/>
          </a:xfrm>
          <a:prstGeom prst="ellipse">
            <a:avLst/>
          </a:prstGeom>
          <a:solidFill>
            <a:schemeClr val="folHlink"/>
          </a:solidFill>
          <a:ln w="1905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03" name="Oval 34"/>
          <p:cNvSpPr/>
          <p:nvPr/>
        </p:nvSpPr>
        <p:spPr>
          <a:xfrm>
            <a:off x="8721720" y="3642120"/>
            <a:ext cx="365400" cy="365400"/>
          </a:xfrm>
          <a:prstGeom prst="ellipse">
            <a:avLst/>
          </a:prstGeom>
          <a:solidFill>
            <a:schemeClr val="folHlink"/>
          </a:solidFill>
          <a:ln w="1905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04" name="Oval 35"/>
          <p:cNvSpPr/>
          <p:nvPr/>
        </p:nvSpPr>
        <p:spPr>
          <a:xfrm>
            <a:off x="8721720" y="5105880"/>
            <a:ext cx="365400" cy="365400"/>
          </a:xfrm>
          <a:prstGeom prst="ellipse">
            <a:avLst/>
          </a:prstGeom>
          <a:solidFill>
            <a:schemeClr val="folHlink"/>
          </a:solidFill>
          <a:ln w="1905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05" name="AutoShape 36"/>
          <p:cNvCxnSpPr>
            <a:stCxn id="303" idx="3"/>
            <a:endCxn id="302" idx="7"/>
          </p:cNvCxnSpPr>
          <p:nvPr/>
        </p:nvCxnSpPr>
        <p:spPr>
          <a:xfrm flipH="1">
            <a:off x="8302320" y="3954600"/>
            <a:ext cx="473400" cy="473400"/>
          </a:xfrm>
          <a:prstGeom prst="straightConnector1">
            <a:avLst/>
          </a:prstGeom>
          <a:ln w="19050">
            <a:solidFill>
              <a:srgbClr val="44546a"/>
            </a:solidFill>
            <a:round/>
          </a:ln>
        </p:spPr>
      </p:cxnSp>
      <p:cxnSp>
        <p:nvCxnSpPr>
          <p:cNvPr id="306" name="AutoShape 37"/>
          <p:cNvCxnSpPr>
            <a:stCxn id="304" idx="1"/>
            <a:endCxn id="302" idx="5"/>
          </p:cNvCxnSpPr>
          <p:nvPr/>
        </p:nvCxnSpPr>
        <p:spPr>
          <a:xfrm flipH="1" flipV="1">
            <a:off x="8302320" y="4686480"/>
            <a:ext cx="473400" cy="473400"/>
          </a:xfrm>
          <a:prstGeom prst="straightConnector1">
            <a:avLst/>
          </a:prstGeom>
          <a:ln w="19050">
            <a:solidFill>
              <a:srgbClr val="000000"/>
            </a:solidFill>
            <a:prstDash val="dash"/>
            <a:round/>
          </a:ln>
        </p:spPr>
      </p:cxnSp>
      <p:cxnSp>
        <p:nvCxnSpPr>
          <p:cNvPr id="307" name="AutoShape 38"/>
          <p:cNvCxnSpPr>
            <a:stCxn id="304" idx="7"/>
            <a:endCxn id="301" idx="3"/>
          </p:cNvCxnSpPr>
          <p:nvPr/>
        </p:nvCxnSpPr>
        <p:spPr>
          <a:xfrm flipV="1">
            <a:off x="9034200" y="4686480"/>
            <a:ext cx="473400" cy="473400"/>
          </a:xfrm>
          <a:prstGeom prst="straightConnector1">
            <a:avLst/>
          </a:prstGeom>
          <a:ln w="19050">
            <a:solidFill>
              <a:srgbClr val="44546a"/>
            </a:solidFill>
            <a:round/>
          </a:ln>
        </p:spPr>
      </p:cxnSp>
      <p:cxnSp>
        <p:nvCxnSpPr>
          <p:cNvPr id="308" name="AutoShape 39"/>
          <p:cNvCxnSpPr>
            <a:stCxn id="303" idx="5"/>
            <a:endCxn id="301" idx="1"/>
          </p:cNvCxnSpPr>
          <p:nvPr/>
        </p:nvCxnSpPr>
        <p:spPr>
          <a:xfrm>
            <a:off x="9034200" y="3954600"/>
            <a:ext cx="473400" cy="473400"/>
          </a:xfrm>
          <a:prstGeom prst="straightConnector1">
            <a:avLst/>
          </a:prstGeom>
          <a:ln w="19050">
            <a:solidFill>
              <a:srgbClr val="44546a"/>
            </a:solidFill>
            <a:round/>
          </a:ln>
        </p:spPr>
      </p:cxnSp>
      <p:cxnSp>
        <p:nvCxnSpPr>
          <p:cNvPr id="309" name="AutoShape 40"/>
          <p:cNvCxnSpPr>
            <a:stCxn id="303" idx="4"/>
            <a:endCxn id="304" idx="0"/>
          </p:cNvCxnSpPr>
          <p:nvPr/>
        </p:nvCxnSpPr>
        <p:spPr>
          <a:xfrm>
            <a:off x="8904600" y="4007880"/>
            <a:ext cx="720" cy="1098720"/>
          </a:xfrm>
          <a:prstGeom prst="straightConnector1">
            <a:avLst/>
          </a:prstGeom>
          <a:ln w="19050">
            <a:solidFill>
              <a:srgbClr val="44546a"/>
            </a:solidFill>
            <a:round/>
          </a:ln>
        </p:spPr>
      </p:cxnSp>
      <p:sp>
        <p:nvSpPr>
          <p:cNvPr id="310" name="Oval 41"/>
          <p:cNvSpPr/>
          <p:nvPr/>
        </p:nvSpPr>
        <p:spPr>
          <a:xfrm>
            <a:off x="10704600" y="4374000"/>
            <a:ext cx="365400" cy="365400"/>
          </a:xfrm>
          <a:prstGeom prst="ellipse">
            <a:avLst/>
          </a:prstGeom>
          <a:solidFill>
            <a:schemeClr val="folHlink"/>
          </a:solidFill>
          <a:ln w="1905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11" name="AutoShape 42"/>
          <p:cNvCxnSpPr>
            <a:stCxn id="301" idx="6"/>
            <a:endCxn id="310" idx="2"/>
          </p:cNvCxnSpPr>
          <p:nvPr/>
        </p:nvCxnSpPr>
        <p:spPr>
          <a:xfrm>
            <a:off x="9819360" y="4556880"/>
            <a:ext cx="885960" cy="720"/>
          </a:xfrm>
          <a:prstGeom prst="straightConnector1">
            <a:avLst/>
          </a:prstGeom>
          <a:ln w="19050">
            <a:solidFill>
              <a:srgbClr val="000000"/>
            </a:solidFill>
            <a:prstDash val="dash"/>
            <a:round/>
          </a:ln>
        </p:spPr>
      </p:cxnSp>
      <p:cxnSp>
        <p:nvCxnSpPr>
          <p:cNvPr id="312" name="AutoShape 43"/>
          <p:cNvCxnSpPr>
            <a:stCxn id="304" idx="6"/>
            <a:endCxn id="310" idx="3"/>
          </p:cNvCxnSpPr>
          <p:nvPr/>
        </p:nvCxnSpPr>
        <p:spPr>
          <a:xfrm flipV="1">
            <a:off x="9087480" y="4686480"/>
            <a:ext cx="1671120" cy="603000"/>
          </a:xfrm>
          <a:prstGeom prst="straightConnector1">
            <a:avLst/>
          </a:prstGeom>
          <a:ln w="19050">
            <a:solidFill>
              <a:srgbClr val="000000"/>
            </a:solidFill>
            <a:prstDash val="dash"/>
            <a:round/>
          </a:ln>
        </p:spPr>
      </p:cxnSp>
      <p:cxnSp>
        <p:nvCxnSpPr>
          <p:cNvPr id="313" name="AutoShape 44"/>
          <p:cNvCxnSpPr>
            <a:stCxn id="310" idx="1"/>
            <a:endCxn id="303" idx="6"/>
          </p:cNvCxnSpPr>
          <p:nvPr/>
        </p:nvCxnSpPr>
        <p:spPr>
          <a:xfrm flipH="1" flipV="1">
            <a:off x="9087480" y="3825000"/>
            <a:ext cx="1671120" cy="603000"/>
          </a:xfrm>
          <a:prstGeom prst="straightConnector1">
            <a:avLst/>
          </a:prstGeom>
          <a:ln w="19050">
            <a:solidFill>
              <a:srgbClr val="44546a"/>
            </a:solidFill>
            <a:round/>
          </a:ln>
        </p:spPr>
      </p:cxn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Connectivity</a:t>
            </a:r>
            <a:endParaRPr b="0" lang="en-US" sz="4400" spc="-1" strike="noStrike">
              <a:solidFill>
                <a:srgbClr val="000000"/>
              </a:solidFill>
              <a:latin typeface="Arial"/>
            </a:endParaRPr>
          </a:p>
        </p:txBody>
      </p:sp>
      <p:sp>
        <p:nvSpPr>
          <p:cNvPr id="315" name="PlaceHolder 2"/>
          <p:cNvSpPr>
            <a:spLocks noGrp="1"/>
          </p:cNvSpPr>
          <p:nvPr>
            <p:ph/>
          </p:nvPr>
        </p:nvSpPr>
        <p:spPr>
          <a:xfrm>
            <a:off x="838080" y="1107000"/>
            <a:ext cx="63327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 graph is connected if there is a path between every pair of vertices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 connected component of a graph G is a maximal connected subgraph of G</a:t>
            </a:r>
            <a:endParaRPr b="0" lang="en-US" sz="2800" spc="-1" strike="noStrike">
              <a:solidFill>
                <a:srgbClr val="000000"/>
              </a:solidFill>
              <a:latin typeface="Arial"/>
            </a:endParaRPr>
          </a:p>
        </p:txBody>
      </p:sp>
      <p:sp>
        <p:nvSpPr>
          <p:cNvPr id="316" name="PlaceHolder 3"/>
          <p:cNvSpPr>
            <a:spLocks noGrp="1"/>
          </p:cNvSpPr>
          <p:nvPr>
            <p:ph type="sldNum" idx="50"/>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0F7F1987-E5FD-4E33-B786-37DE37611993}" type="slidenum">
              <a:rPr b="0" lang="en-US" sz="1400" spc="-1" strike="noStrike">
                <a:solidFill>
                  <a:schemeClr val="dk1">
                    <a:tint val="75000"/>
                  </a:schemeClr>
                </a:solidFill>
                <a:latin typeface="Tahoma"/>
                <a:ea typeface="MS PGothic"/>
              </a:rPr>
              <a:t>24</a:t>
            </a:fld>
            <a:endParaRPr b="0" lang="en-US" sz="1400" spc="-1" strike="noStrike">
              <a:solidFill>
                <a:srgbClr val="000000"/>
              </a:solidFill>
              <a:latin typeface="Times New Roman"/>
            </a:endParaRPr>
          </a:p>
        </p:txBody>
      </p:sp>
      <p:grpSp>
        <p:nvGrpSpPr>
          <p:cNvPr id="317" name="Group 34"/>
          <p:cNvGrpSpPr/>
          <p:nvPr/>
        </p:nvGrpSpPr>
        <p:grpSpPr>
          <a:xfrm>
            <a:off x="7874280" y="1009080"/>
            <a:ext cx="3080160" cy="1828800"/>
            <a:chOff x="7874280" y="1009080"/>
            <a:chExt cx="3080160" cy="1828800"/>
          </a:xfrm>
        </p:grpSpPr>
        <p:sp>
          <p:nvSpPr>
            <p:cNvPr id="318" name="Oval 6"/>
            <p:cNvSpPr/>
            <p:nvPr/>
          </p:nvSpPr>
          <p:spPr>
            <a:xfrm>
              <a:off x="9338040" y="1741320"/>
              <a:ext cx="364680" cy="36468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19" name="Oval 7"/>
            <p:cNvSpPr/>
            <p:nvPr/>
          </p:nvSpPr>
          <p:spPr>
            <a:xfrm>
              <a:off x="7874280" y="1741320"/>
              <a:ext cx="364680" cy="36468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20" name="Oval 8"/>
            <p:cNvSpPr/>
            <p:nvPr/>
          </p:nvSpPr>
          <p:spPr>
            <a:xfrm>
              <a:off x="8606160" y="1009080"/>
              <a:ext cx="364680" cy="36468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21" name="Oval 9"/>
            <p:cNvSpPr/>
            <p:nvPr/>
          </p:nvSpPr>
          <p:spPr>
            <a:xfrm>
              <a:off x="8606160" y="2473200"/>
              <a:ext cx="364680" cy="36468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22" name="AutoShape 11"/>
            <p:cNvCxnSpPr>
              <a:stCxn id="320" idx="3"/>
              <a:endCxn id="319" idx="7"/>
            </p:cNvCxnSpPr>
            <p:nvPr/>
          </p:nvCxnSpPr>
          <p:spPr>
            <a:xfrm flipH="1">
              <a:off x="8186040" y="1320840"/>
              <a:ext cx="474120" cy="474480"/>
            </a:xfrm>
            <a:prstGeom prst="straightConnector1">
              <a:avLst/>
            </a:prstGeom>
            <a:ln w="19050">
              <a:solidFill>
                <a:srgbClr val="000000"/>
              </a:solidFill>
              <a:round/>
            </a:ln>
          </p:spPr>
        </p:cxnSp>
        <p:cxnSp>
          <p:nvCxnSpPr>
            <p:cNvPr id="323" name="AutoShape 12"/>
            <p:cNvCxnSpPr>
              <a:stCxn id="321" idx="1"/>
              <a:endCxn id="319" idx="5"/>
            </p:cNvCxnSpPr>
            <p:nvPr/>
          </p:nvCxnSpPr>
          <p:spPr>
            <a:xfrm flipH="1" flipV="1">
              <a:off x="8186040" y="2053080"/>
              <a:ext cx="474120" cy="474120"/>
            </a:xfrm>
            <a:prstGeom prst="straightConnector1">
              <a:avLst/>
            </a:prstGeom>
            <a:ln w="19050">
              <a:solidFill>
                <a:srgbClr val="000000"/>
              </a:solidFill>
              <a:round/>
            </a:ln>
          </p:spPr>
        </p:cxnSp>
        <p:cxnSp>
          <p:nvCxnSpPr>
            <p:cNvPr id="324" name="AutoShape 13"/>
            <p:cNvCxnSpPr>
              <a:stCxn id="321" idx="7"/>
              <a:endCxn id="318" idx="3"/>
            </p:cNvCxnSpPr>
            <p:nvPr/>
          </p:nvCxnSpPr>
          <p:spPr>
            <a:xfrm flipV="1">
              <a:off x="8917920" y="2053080"/>
              <a:ext cx="474120" cy="474120"/>
            </a:xfrm>
            <a:prstGeom prst="straightConnector1">
              <a:avLst/>
            </a:prstGeom>
            <a:ln w="19050">
              <a:solidFill>
                <a:srgbClr val="000000"/>
              </a:solidFill>
              <a:round/>
            </a:ln>
          </p:spPr>
        </p:cxnSp>
        <p:cxnSp>
          <p:nvCxnSpPr>
            <p:cNvPr id="325" name="AutoShape 14"/>
            <p:cNvCxnSpPr>
              <a:stCxn id="320" idx="5"/>
              <a:endCxn id="318" idx="1"/>
            </p:cNvCxnSpPr>
            <p:nvPr/>
          </p:nvCxnSpPr>
          <p:spPr>
            <a:xfrm>
              <a:off x="8917920" y="1320840"/>
              <a:ext cx="474120" cy="474480"/>
            </a:xfrm>
            <a:prstGeom prst="straightConnector1">
              <a:avLst/>
            </a:prstGeom>
            <a:ln w="19050">
              <a:solidFill>
                <a:srgbClr val="000000"/>
              </a:solidFill>
              <a:round/>
            </a:ln>
          </p:spPr>
        </p:cxnSp>
        <p:cxnSp>
          <p:nvCxnSpPr>
            <p:cNvPr id="326" name="AutoShape 15"/>
            <p:cNvCxnSpPr>
              <a:stCxn id="320" idx="4"/>
              <a:endCxn id="321" idx="0"/>
            </p:cNvCxnSpPr>
            <p:nvPr/>
          </p:nvCxnSpPr>
          <p:spPr>
            <a:xfrm>
              <a:off x="8788680" y="1374120"/>
              <a:ext cx="720" cy="1099800"/>
            </a:xfrm>
            <a:prstGeom prst="straightConnector1">
              <a:avLst/>
            </a:prstGeom>
            <a:ln w="19050">
              <a:solidFill>
                <a:srgbClr val="000000"/>
              </a:solidFill>
              <a:round/>
            </a:ln>
          </p:spPr>
        </p:cxnSp>
        <p:sp>
          <p:nvSpPr>
            <p:cNvPr id="327" name="Oval 32"/>
            <p:cNvSpPr/>
            <p:nvPr/>
          </p:nvSpPr>
          <p:spPr>
            <a:xfrm>
              <a:off x="10589760" y="1741320"/>
              <a:ext cx="364680" cy="36468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28" name="AutoShape 33"/>
            <p:cNvCxnSpPr>
              <a:stCxn id="318" idx="6"/>
              <a:endCxn id="327" idx="2"/>
            </p:cNvCxnSpPr>
            <p:nvPr/>
          </p:nvCxnSpPr>
          <p:spPr>
            <a:xfrm>
              <a:off x="9703080" y="1923840"/>
              <a:ext cx="887400" cy="720"/>
            </a:xfrm>
            <a:prstGeom prst="straightConnector1">
              <a:avLst/>
            </a:prstGeom>
            <a:ln w="19050">
              <a:solidFill>
                <a:srgbClr val="000000"/>
              </a:solidFill>
              <a:round/>
            </a:ln>
          </p:spPr>
        </p:cxnSp>
      </p:grpSp>
      <p:sp>
        <p:nvSpPr>
          <p:cNvPr id="329" name="Text Box 35"/>
          <p:cNvSpPr/>
          <p:nvPr/>
        </p:nvSpPr>
        <p:spPr>
          <a:xfrm>
            <a:off x="7985520" y="2837880"/>
            <a:ext cx="2856240" cy="394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1"/>
                </a:solidFill>
                <a:latin typeface="Tahoma"/>
                <a:ea typeface="MS PGothic"/>
              </a:rPr>
              <a:t>Connected graph</a:t>
            </a:r>
            <a:endParaRPr b="0" lang="en-US" sz="2000" spc="-1" strike="noStrike">
              <a:solidFill>
                <a:srgbClr val="000000"/>
              </a:solidFill>
              <a:latin typeface="Arial"/>
            </a:endParaRPr>
          </a:p>
        </p:txBody>
      </p:sp>
      <p:grpSp>
        <p:nvGrpSpPr>
          <p:cNvPr id="330" name="Group 49"/>
          <p:cNvGrpSpPr/>
          <p:nvPr/>
        </p:nvGrpSpPr>
        <p:grpSpPr>
          <a:xfrm>
            <a:off x="7874280" y="3440880"/>
            <a:ext cx="3080160" cy="1829160"/>
            <a:chOff x="7874280" y="3440880"/>
            <a:chExt cx="3080160" cy="1829160"/>
          </a:xfrm>
        </p:grpSpPr>
        <p:sp>
          <p:nvSpPr>
            <p:cNvPr id="331" name="Oval 37"/>
            <p:cNvSpPr/>
            <p:nvPr/>
          </p:nvSpPr>
          <p:spPr>
            <a:xfrm>
              <a:off x="9338040" y="41727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32" name="Oval 38"/>
            <p:cNvSpPr/>
            <p:nvPr/>
          </p:nvSpPr>
          <p:spPr>
            <a:xfrm>
              <a:off x="7874280" y="41727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33" name="Oval 39"/>
            <p:cNvSpPr/>
            <p:nvPr/>
          </p:nvSpPr>
          <p:spPr>
            <a:xfrm>
              <a:off x="8606160" y="344088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34" name="Oval 40"/>
            <p:cNvSpPr/>
            <p:nvPr/>
          </p:nvSpPr>
          <p:spPr>
            <a:xfrm>
              <a:off x="8606160" y="490464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35" name="AutoShape 41"/>
            <p:cNvCxnSpPr>
              <a:stCxn id="333" idx="3"/>
              <a:endCxn id="332" idx="7"/>
            </p:cNvCxnSpPr>
            <p:nvPr/>
          </p:nvCxnSpPr>
          <p:spPr>
            <a:xfrm flipH="1">
              <a:off x="8186760" y="3753360"/>
              <a:ext cx="473400" cy="473400"/>
            </a:xfrm>
            <a:prstGeom prst="straightConnector1">
              <a:avLst/>
            </a:prstGeom>
            <a:ln w="19050">
              <a:solidFill>
                <a:srgbClr val="000000"/>
              </a:solidFill>
              <a:round/>
            </a:ln>
          </p:spPr>
        </p:cxnSp>
        <p:cxnSp>
          <p:nvCxnSpPr>
            <p:cNvPr id="336" name="AutoShape 42"/>
            <p:cNvCxnSpPr>
              <a:stCxn id="334" idx="1"/>
              <a:endCxn id="332" idx="5"/>
            </p:cNvCxnSpPr>
            <p:nvPr/>
          </p:nvCxnSpPr>
          <p:spPr>
            <a:xfrm flipH="1" flipV="1">
              <a:off x="8186760" y="4485240"/>
              <a:ext cx="473400" cy="473400"/>
            </a:xfrm>
            <a:prstGeom prst="straightConnector1">
              <a:avLst/>
            </a:prstGeom>
            <a:ln w="19050">
              <a:solidFill>
                <a:srgbClr val="000000"/>
              </a:solidFill>
              <a:round/>
            </a:ln>
          </p:spPr>
        </p:cxnSp>
        <p:cxnSp>
          <p:nvCxnSpPr>
            <p:cNvPr id="337" name="AutoShape 45"/>
            <p:cNvCxnSpPr>
              <a:stCxn id="333" idx="4"/>
              <a:endCxn id="334" idx="0"/>
            </p:cNvCxnSpPr>
            <p:nvPr/>
          </p:nvCxnSpPr>
          <p:spPr>
            <a:xfrm>
              <a:off x="8789040" y="3806640"/>
              <a:ext cx="720" cy="1098720"/>
            </a:xfrm>
            <a:prstGeom prst="straightConnector1">
              <a:avLst/>
            </a:prstGeom>
            <a:ln w="19050">
              <a:solidFill>
                <a:srgbClr val="000000"/>
              </a:solidFill>
              <a:round/>
            </a:ln>
          </p:spPr>
        </p:cxnSp>
        <p:sp>
          <p:nvSpPr>
            <p:cNvPr id="338" name="Oval 46"/>
            <p:cNvSpPr/>
            <p:nvPr/>
          </p:nvSpPr>
          <p:spPr>
            <a:xfrm>
              <a:off x="10589040" y="41727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39" name="AutoShape 47"/>
            <p:cNvCxnSpPr>
              <a:stCxn id="331" idx="6"/>
              <a:endCxn id="338" idx="2"/>
            </p:cNvCxnSpPr>
            <p:nvPr/>
          </p:nvCxnSpPr>
          <p:spPr>
            <a:xfrm>
              <a:off x="9703800" y="4355640"/>
              <a:ext cx="885960" cy="720"/>
            </a:xfrm>
            <a:prstGeom prst="straightConnector1">
              <a:avLst/>
            </a:prstGeom>
            <a:ln w="19050">
              <a:solidFill>
                <a:srgbClr val="000000"/>
              </a:solidFill>
              <a:round/>
            </a:ln>
          </p:spPr>
        </p:cxnSp>
      </p:grpSp>
      <p:sp>
        <p:nvSpPr>
          <p:cNvPr id="340" name="Text Box 48"/>
          <p:cNvSpPr/>
          <p:nvPr/>
        </p:nvSpPr>
        <p:spPr>
          <a:xfrm>
            <a:off x="7591680" y="5271480"/>
            <a:ext cx="3643560" cy="699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1"/>
                </a:solidFill>
                <a:latin typeface="Tahoma"/>
                <a:ea typeface="MS PGothic"/>
              </a:rPr>
              <a:t>Non connected graph with two connected components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Trees and Forests</a:t>
            </a:r>
            <a:endParaRPr b="0" lang="en-US" sz="4400" spc="-1" strike="noStrike">
              <a:solidFill>
                <a:srgbClr val="000000"/>
              </a:solidFill>
              <a:latin typeface="Arial"/>
            </a:endParaRPr>
          </a:p>
        </p:txBody>
      </p:sp>
      <p:sp>
        <p:nvSpPr>
          <p:cNvPr id="342" name="PlaceHolder 2"/>
          <p:cNvSpPr>
            <a:spLocks noGrp="1"/>
          </p:cNvSpPr>
          <p:nvPr>
            <p:ph/>
          </p:nvPr>
        </p:nvSpPr>
        <p:spPr>
          <a:xfrm>
            <a:off x="838080" y="1107000"/>
            <a:ext cx="646488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A (free) tree is an undirected graph T such that</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 is connected</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T has no cycles</a:t>
            </a:r>
            <a:endParaRPr b="0" lang="en-US" sz="2000" spc="-1" strike="noStrike">
              <a:solidFill>
                <a:srgbClr val="000000"/>
              </a:solidFill>
              <a:latin typeface="Arial"/>
            </a:endParaRPr>
          </a:p>
          <a:p>
            <a:pPr marL="685800" indent="-228600" defTabSz="914400">
              <a:lnSpc>
                <a:spcPct val="90000"/>
              </a:lnSpc>
              <a:spcBef>
                <a:spcPts val="499"/>
              </a:spcBef>
              <a:buNone/>
              <a:tabLst>
                <a:tab algn="l" pos="0"/>
              </a:tabLst>
            </a:pPr>
            <a:r>
              <a:rPr b="0" lang="en-US" sz="2000" spc="-1" strike="noStrike">
                <a:solidFill>
                  <a:schemeClr val="dk1"/>
                </a:solidFill>
                <a:latin typeface="Calibri"/>
              </a:rPr>
              <a:t>This definition of tree is different from the one of a rooted tree</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400" spc="-1" strike="noStrike">
                <a:solidFill>
                  <a:schemeClr val="dk1"/>
                </a:solidFill>
                <a:latin typeface="Calibri"/>
              </a:rPr>
              <a:t>A forest is an undirected graph without cycles</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400" spc="-1" strike="noStrike">
                <a:solidFill>
                  <a:schemeClr val="dk1"/>
                </a:solidFill>
                <a:latin typeface="Calibri"/>
              </a:rPr>
              <a:t>The connected components of a forest are trees</a:t>
            </a:r>
            <a:endParaRPr b="0" lang="en-US" sz="2400" spc="-1" strike="noStrike">
              <a:solidFill>
                <a:srgbClr val="000000"/>
              </a:solidFill>
              <a:latin typeface="Arial"/>
            </a:endParaRPr>
          </a:p>
        </p:txBody>
      </p:sp>
      <p:sp>
        <p:nvSpPr>
          <p:cNvPr id="343" name="PlaceHolder 3"/>
          <p:cNvSpPr>
            <a:spLocks noGrp="1"/>
          </p:cNvSpPr>
          <p:nvPr>
            <p:ph type="sldNum" idx="51"/>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AF6FD122-22C7-45B9-91A3-B7AC82F813CC}" type="slidenum">
              <a:rPr b="0" lang="en-US" sz="1400" spc="-1" strike="noStrike">
                <a:solidFill>
                  <a:schemeClr val="dk1">
                    <a:tint val="75000"/>
                  </a:schemeClr>
                </a:solidFill>
                <a:latin typeface="Tahoma"/>
                <a:ea typeface="MS PGothic"/>
              </a:rPr>
              <a:t>25</a:t>
            </a:fld>
            <a:endParaRPr b="0" lang="en-US" sz="1400" spc="-1" strike="noStrike">
              <a:solidFill>
                <a:srgbClr val="000000"/>
              </a:solidFill>
              <a:latin typeface="Times New Roman"/>
            </a:endParaRPr>
          </a:p>
        </p:txBody>
      </p:sp>
      <p:sp>
        <p:nvSpPr>
          <p:cNvPr id="344" name="Text Box 4"/>
          <p:cNvSpPr/>
          <p:nvPr/>
        </p:nvSpPr>
        <p:spPr>
          <a:xfrm>
            <a:off x="7979040" y="2616120"/>
            <a:ext cx="2856240" cy="394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1"/>
                </a:solidFill>
                <a:latin typeface="Tahoma"/>
                <a:ea typeface="MS PGothic"/>
              </a:rPr>
              <a:t>Tree</a:t>
            </a:r>
            <a:endParaRPr b="0" lang="en-US" sz="2000" spc="-1" strike="noStrike">
              <a:solidFill>
                <a:srgbClr val="000000"/>
              </a:solidFill>
              <a:latin typeface="Arial"/>
            </a:endParaRPr>
          </a:p>
        </p:txBody>
      </p:sp>
      <p:sp>
        <p:nvSpPr>
          <p:cNvPr id="345" name="Text Box 5"/>
          <p:cNvSpPr/>
          <p:nvPr/>
        </p:nvSpPr>
        <p:spPr>
          <a:xfrm>
            <a:off x="7591680" y="5197320"/>
            <a:ext cx="3643560" cy="394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1"/>
                </a:solidFill>
                <a:latin typeface="Tahoma"/>
                <a:ea typeface="MS PGothic"/>
              </a:rPr>
              <a:t>Forest</a:t>
            </a:r>
            <a:endParaRPr b="0" lang="en-US" sz="2000" spc="-1" strike="noStrike">
              <a:solidFill>
                <a:srgbClr val="000000"/>
              </a:solidFill>
              <a:latin typeface="Arial"/>
            </a:endParaRPr>
          </a:p>
        </p:txBody>
      </p:sp>
      <p:sp>
        <p:nvSpPr>
          <p:cNvPr id="346" name="Oval 6"/>
          <p:cNvSpPr/>
          <p:nvPr/>
        </p:nvSpPr>
        <p:spPr>
          <a:xfrm>
            <a:off x="10119240" y="14493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47" name="Oval 7"/>
          <p:cNvSpPr/>
          <p:nvPr/>
        </p:nvSpPr>
        <p:spPr>
          <a:xfrm>
            <a:off x="9209520" y="14508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48" name="Oval 8"/>
          <p:cNvSpPr/>
          <p:nvPr/>
        </p:nvSpPr>
        <p:spPr>
          <a:xfrm>
            <a:off x="8330040" y="14443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49" name="Oval 9"/>
          <p:cNvSpPr/>
          <p:nvPr/>
        </p:nvSpPr>
        <p:spPr>
          <a:xfrm>
            <a:off x="9214200" y="218124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50" name="AutoShape 10"/>
          <p:cNvCxnSpPr>
            <a:stCxn id="348" idx="6"/>
            <a:endCxn id="347" idx="2"/>
          </p:cNvCxnSpPr>
          <p:nvPr/>
        </p:nvCxnSpPr>
        <p:spPr>
          <a:xfrm>
            <a:off x="8695800" y="1627200"/>
            <a:ext cx="514440" cy="7200"/>
          </a:xfrm>
          <a:prstGeom prst="straightConnector1">
            <a:avLst/>
          </a:prstGeom>
          <a:ln w="19050">
            <a:solidFill>
              <a:srgbClr val="000000"/>
            </a:solidFill>
            <a:round/>
          </a:ln>
        </p:spPr>
      </p:cxnSp>
      <p:cxnSp>
        <p:nvCxnSpPr>
          <p:cNvPr id="351" name="AutoShape 11"/>
          <p:cNvCxnSpPr>
            <a:stCxn id="349" idx="0"/>
            <a:endCxn id="347" idx="4"/>
          </p:cNvCxnSpPr>
          <p:nvPr/>
        </p:nvCxnSpPr>
        <p:spPr>
          <a:xfrm flipH="1" flipV="1">
            <a:off x="9392400" y="1816560"/>
            <a:ext cx="5400" cy="365400"/>
          </a:xfrm>
          <a:prstGeom prst="straightConnector1">
            <a:avLst/>
          </a:prstGeom>
          <a:ln w="19050">
            <a:solidFill>
              <a:srgbClr val="000000"/>
            </a:solidFill>
            <a:round/>
          </a:ln>
        </p:spPr>
      </p:cxnSp>
      <p:sp>
        <p:nvSpPr>
          <p:cNvPr id="352" name="Oval 15"/>
          <p:cNvSpPr/>
          <p:nvPr/>
        </p:nvSpPr>
        <p:spPr>
          <a:xfrm>
            <a:off x="10119240" y="217944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53" name="AutoShape 16"/>
          <p:cNvCxnSpPr>
            <a:stCxn id="346" idx="2"/>
            <a:endCxn id="347" idx="6"/>
          </p:cNvCxnSpPr>
          <p:nvPr/>
        </p:nvCxnSpPr>
        <p:spPr>
          <a:xfrm flipH="1">
            <a:off x="9575280" y="1632240"/>
            <a:ext cx="544680" cy="2160"/>
          </a:xfrm>
          <a:prstGeom prst="straightConnector1">
            <a:avLst/>
          </a:prstGeom>
          <a:ln w="19050">
            <a:solidFill>
              <a:srgbClr val="000000"/>
            </a:solidFill>
            <a:round/>
          </a:ln>
        </p:spPr>
      </p:cxnSp>
      <p:cxnSp>
        <p:nvCxnSpPr>
          <p:cNvPr id="354" name="AutoShape 17"/>
          <p:cNvCxnSpPr>
            <a:stCxn id="349" idx="6"/>
            <a:endCxn id="352" idx="2"/>
          </p:cNvCxnSpPr>
          <p:nvPr/>
        </p:nvCxnSpPr>
        <p:spPr>
          <a:xfrm flipV="1">
            <a:off x="9579960" y="2362320"/>
            <a:ext cx="540000" cy="2520"/>
          </a:xfrm>
          <a:prstGeom prst="straightConnector1">
            <a:avLst/>
          </a:prstGeom>
          <a:ln w="19050">
            <a:solidFill>
              <a:srgbClr val="000000"/>
            </a:solidFill>
            <a:round/>
          </a:ln>
        </p:spPr>
      </p:cxnSp>
      <p:grpSp>
        <p:nvGrpSpPr>
          <p:cNvPr id="355" name="Group 51"/>
          <p:cNvGrpSpPr/>
          <p:nvPr/>
        </p:nvGrpSpPr>
        <p:grpSpPr>
          <a:xfrm>
            <a:off x="7579080" y="3867120"/>
            <a:ext cx="3655080" cy="1097280"/>
            <a:chOff x="7579080" y="3867120"/>
            <a:chExt cx="3655080" cy="1097280"/>
          </a:xfrm>
        </p:grpSpPr>
        <p:sp>
          <p:nvSpPr>
            <p:cNvPr id="356" name="Oval 34"/>
            <p:cNvSpPr/>
            <p:nvPr/>
          </p:nvSpPr>
          <p:spPr>
            <a:xfrm>
              <a:off x="7579080" y="42321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grpSp>
          <p:nvGrpSpPr>
            <p:cNvPr id="357" name="Group 50"/>
            <p:cNvGrpSpPr/>
            <p:nvPr/>
          </p:nvGrpSpPr>
          <p:grpSpPr>
            <a:xfrm>
              <a:off x="8409240" y="3867120"/>
              <a:ext cx="1086120" cy="1097280"/>
              <a:chOff x="8409240" y="3867120"/>
              <a:chExt cx="1086120" cy="1097280"/>
            </a:xfrm>
          </p:grpSpPr>
          <p:sp>
            <p:nvSpPr>
              <p:cNvPr id="358" name="Oval 32"/>
              <p:cNvSpPr/>
              <p:nvPr/>
            </p:nvSpPr>
            <p:spPr>
              <a:xfrm>
                <a:off x="9129960" y="38671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59" name="Oval 33"/>
              <p:cNvSpPr/>
              <p:nvPr/>
            </p:nvSpPr>
            <p:spPr>
              <a:xfrm>
                <a:off x="8409240" y="38685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60" name="Oval 35"/>
              <p:cNvSpPr/>
              <p:nvPr/>
            </p:nvSpPr>
            <p:spPr>
              <a:xfrm>
                <a:off x="8414280" y="45990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61" name="AutoShape 37"/>
              <p:cNvCxnSpPr/>
              <p:nvPr/>
            </p:nvCxnSpPr>
            <p:spPr>
              <a:xfrm flipH="1" flipV="1">
                <a:off x="8591760" y="4242960"/>
                <a:ext cx="6120" cy="345960"/>
              </a:xfrm>
              <a:prstGeom prst="straightConnector1">
                <a:avLst/>
              </a:prstGeom>
              <a:ln w="19050">
                <a:solidFill>
                  <a:srgbClr val="000000"/>
                </a:solidFill>
                <a:round/>
              </a:ln>
            </p:spPr>
          </p:cxnSp>
          <p:sp>
            <p:nvSpPr>
              <p:cNvPr id="362" name="Oval 38"/>
              <p:cNvSpPr/>
              <p:nvPr/>
            </p:nvSpPr>
            <p:spPr>
              <a:xfrm>
                <a:off x="9129960" y="45972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63" name="AutoShape 39"/>
              <p:cNvCxnSpPr/>
              <p:nvPr/>
            </p:nvCxnSpPr>
            <p:spPr>
              <a:xfrm flipH="1">
                <a:off x="8784000" y="4049280"/>
                <a:ext cx="336240" cy="3240"/>
              </a:xfrm>
              <a:prstGeom prst="straightConnector1">
                <a:avLst/>
              </a:prstGeom>
              <a:ln w="19050">
                <a:solidFill>
                  <a:srgbClr val="000000"/>
                </a:solidFill>
                <a:round/>
              </a:ln>
            </p:spPr>
          </p:cxnSp>
          <p:cxnSp>
            <p:nvCxnSpPr>
              <p:cNvPr id="364" name="AutoShape 40"/>
              <p:cNvCxnSpPr/>
              <p:nvPr/>
            </p:nvCxnSpPr>
            <p:spPr>
              <a:xfrm flipV="1">
                <a:off x="8788680" y="4779720"/>
                <a:ext cx="331560" cy="2880"/>
              </a:xfrm>
              <a:prstGeom prst="straightConnector1">
                <a:avLst/>
              </a:prstGeom>
              <a:ln w="19050">
                <a:solidFill>
                  <a:srgbClr val="000000"/>
                </a:solidFill>
                <a:round/>
              </a:ln>
            </p:spPr>
          </p:cxnSp>
        </p:grpSp>
        <p:grpSp>
          <p:nvGrpSpPr>
            <p:cNvPr id="365" name="Group 49"/>
            <p:cNvGrpSpPr/>
            <p:nvPr/>
          </p:nvGrpSpPr>
          <p:grpSpPr>
            <a:xfrm>
              <a:off x="9959400" y="3867120"/>
              <a:ext cx="1274760" cy="1097280"/>
              <a:chOff x="9959400" y="3867120"/>
              <a:chExt cx="1274760" cy="1097280"/>
            </a:xfrm>
          </p:grpSpPr>
          <p:sp>
            <p:nvSpPr>
              <p:cNvPr id="366" name="Oval 41"/>
              <p:cNvSpPr/>
              <p:nvPr/>
            </p:nvSpPr>
            <p:spPr>
              <a:xfrm flipH="1">
                <a:off x="9959040" y="38671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67" name="Oval 42"/>
              <p:cNvSpPr/>
              <p:nvPr/>
            </p:nvSpPr>
            <p:spPr>
              <a:xfrm flipH="1">
                <a:off x="10868400" y="38685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68" name="Oval 43"/>
              <p:cNvSpPr/>
              <p:nvPr/>
            </p:nvSpPr>
            <p:spPr>
              <a:xfrm flipH="1">
                <a:off x="10863720" y="45990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69" name="Oval 44"/>
              <p:cNvSpPr/>
              <p:nvPr/>
            </p:nvSpPr>
            <p:spPr>
              <a:xfrm flipH="1">
                <a:off x="10411200" y="429408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70" name="AutoShape 46"/>
              <p:cNvCxnSpPr/>
              <p:nvPr/>
            </p:nvCxnSpPr>
            <p:spPr>
              <a:xfrm flipV="1">
                <a:off x="10726920" y="4190760"/>
                <a:ext cx="198360" cy="147240"/>
              </a:xfrm>
              <a:prstGeom prst="straightConnector1">
                <a:avLst/>
              </a:prstGeom>
              <a:ln w="19050">
                <a:solidFill>
                  <a:srgbClr val="000000"/>
                </a:solidFill>
                <a:round/>
              </a:ln>
            </p:spPr>
          </p:cxnSp>
          <p:cxnSp>
            <p:nvCxnSpPr>
              <p:cNvPr id="371" name="AutoShape 47"/>
              <p:cNvCxnSpPr/>
              <p:nvPr/>
            </p:nvCxnSpPr>
            <p:spPr>
              <a:xfrm flipV="1">
                <a:off x="11049120" y="4242960"/>
                <a:ext cx="6120" cy="345960"/>
              </a:xfrm>
              <a:prstGeom prst="straightConnector1">
                <a:avLst/>
              </a:prstGeom>
              <a:ln w="19050">
                <a:solidFill>
                  <a:srgbClr val="000000"/>
                </a:solidFill>
                <a:round/>
              </a:ln>
            </p:spPr>
          </p:cxnSp>
          <p:cxnSp>
            <p:nvCxnSpPr>
              <p:cNvPr id="372" name="AutoShape 48"/>
              <p:cNvCxnSpPr/>
              <p:nvPr/>
            </p:nvCxnSpPr>
            <p:spPr>
              <a:xfrm>
                <a:off x="10338120" y="4049280"/>
                <a:ext cx="525240" cy="3240"/>
              </a:xfrm>
              <a:prstGeom prst="straightConnector1">
                <a:avLst/>
              </a:prstGeom>
              <a:ln w="19050">
                <a:solidFill>
                  <a:srgbClr val="000000"/>
                </a:solidFill>
                <a:round/>
              </a:ln>
            </p:spPr>
          </p:cxnSp>
        </p:grpSp>
      </p:gr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Spanning Trees and Forests</a:t>
            </a:r>
            <a:endParaRPr b="0" lang="en-US" sz="4400" spc="-1" strike="noStrike">
              <a:solidFill>
                <a:srgbClr val="000000"/>
              </a:solidFill>
              <a:latin typeface="Arial"/>
            </a:endParaRPr>
          </a:p>
        </p:txBody>
      </p:sp>
      <p:sp>
        <p:nvSpPr>
          <p:cNvPr id="374" name="PlaceHolder 2"/>
          <p:cNvSpPr>
            <a:spLocks noGrp="1"/>
          </p:cNvSpPr>
          <p:nvPr>
            <p:ph/>
          </p:nvPr>
        </p:nvSpPr>
        <p:spPr>
          <a:xfrm>
            <a:off x="838080" y="1107000"/>
            <a:ext cx="6518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 spanning tree of a connected graph is a spanning subgraph that is a tree</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 spanning tree is not unique unless the graph is a tree</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Spanning trees have applications to the design of communication networks</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 spanning forest of a graph is a spanning subgraph that is a forest</a:t>
            </a:r>
            <a:endParaRPr b="0" lang="en-US" sz="2000" spc="-1" strike="noStrike">
              <a:solidFill>
                <a:srgbClr val="000000"/>
              </a:solidFill>
              <a:latin typeface="Arial"/>
            </a:endParaRPr>
          </a:p>
        </p:txBody>
      </p:sp>
      <p:sp>
        <p:nvSpPr>
          <p:cNvPr id="375" name="PlaceHolder 3"/>
          <p:cNvSpPr>
            <a:spLocks noGrp="1"/>
          </p:cNvSpPr>
          <p:nvPr>
            <p:ph type="sldNum" idx="52"/>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52139963-8FF5-4B2A-A312-6B9358A351A6}" type="slidenum">
              <a:rPr b="0" lang="en-US" sz="1400" spc="-1" strike="noStrike">
                <a:solidFill>
                  <a:schemeClr val="dk1">
                    <a:tint val="75000"/>
                  </a:schemeClr>
                </a:solidFill>
                <a:latin typeface="Tahoma"/>
                <a:ea typeface="MS PGothic"/>
              </a:rPr>
              <a:t>26</a:t>
            </a:fld>
            <a:endParaRPr b="0" lang="en-US" sz="1400" spc="-1" strike="noStrike">
              <a:solidFill>
                <a:srgbClr val="000000"/>
              </a:solidFill>
              <a:latin typeface="Times New Roman"/>
            </a:endParaRPr>
          </a:p>
        </p:txBody>
      </p:sp>
      <p:sp>
        <p:nvSpPr>
          <p:cNvPr id="376" name="Text Box 4"/>
          <p:cNvSpPr/>
          <p:nvPr/>
        </p:nvSpPr>
        <p:spPr>
          <a:xfrm>
            <a:off x="7806960" y="3087000"/>
            <a:ext cx="2856240" cy="394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1"/>
                </a:solidFill>
                <a:latin typeface="Tahoma"/>
                <a:ea typeface="MS PGothic"/>
              </a:rPr>
              <a:t>Graph</a:t>
            </a:r>
            <a:endParaRPr b="0" lang="en-US" sz="2000" spc="-1" strike="noStrike">
              <a:solidFill>
                <a:srgbClr val="000000"/>
              </a:solidFill>
              <a:latin typeface="Arial"/>
            </a:endParaRPr>
          </a:p>
        </p:txBody>
      </p:sp>
      <p:sp>
        <p:nvSpPr>
          <p:cNvPr id="377" name="Text Box 5"/>
          <p:cNvSpPr/>
          <p:nvPr/>
        </p:nvSpPr>
        <p:spPr>
          <a:xfrm>
            <a:off x="7413480" y="5668200"/>
            <a:ext cx="3643560" cy="394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chemeClr val="dk1"/>
                </a:solidFill>
                <a:latin typeface="Tahoma"/>
                <a:ea typeface="MS PGothic"/>
              </a:rPr>
              <a:t>Spanning tree</a:t>
            </a:r>
            <a:endParaRPr b="0" lang="en-US" sz="2000" spc="-1" strike="noStrike">
              <a:solidFill>
                <a:srgbClr val="000000"/>
              </a:solidFill>
              <a:latin typeface="Arial"/>
            </a:endParaRPr>
          </a:p>
        </p:txBody>
      </p:sp>
      <p:sp>
        <p:nvSpPr>
          <p:cNvPr id="378" name="Oval 6"/>
          <p:cNvSpPr/>
          <p:nvPr/>
        </p:nvSpPr>
        <p:spPr>
          <a:xfrm>
            <a:off x="9159480" y="192024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79" name="Oval 7"/>
          <p:cNvSpPr/>
          <p:nvPr/>
        </p:nvSpPr>
        <p:spPr>
          <a:xfrm>
            <a:off x="7696080" y="192024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80" name="Oval 8"/>
          <p:cNvSpPr/>
          <p:nvPr/>
        </p:nvSpPr>
        <p:spPr>
          <a:xfrm>
            <a:off x="8427960" y="11883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81" name="Oval 9"/>
          <p:cNvSpPr/>
          <p:nvPr/>
        </p:nvSpPr>
        <p:spPr>
          <a:xfrm>
            <a:off x="8427960" y="26521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82" name="AutoShape 10"/>
          <p:cNvCxnSpPr>
            <a:stCxn id="380" idx="3"/>
            <a:endCxn id="379" idx="7"/>
          </p:cNvCxnSpPr>
          <p:nvPr/>
        </p:nvCxnSpPr>
        <p:spPr>
          <a:xfrm flipH="1">
            <a:off x="8008560" y="1500840"/>
            <a:ext cx="473400" cy="473400"/>
          </a:xfrm>
          <a:prstGeom prst="straightConnector1">
            <a:avLst/>
          </a:prstGeom>
          <a:ln w="19050">
            <a:solidFill>
              <a:srgbClr val="000000"/>
            </a:solidFill>
            <a:round/>
          </a:ln>
        </p:spPr>
      </p:cxnSp>
      <p:cxnSp>
        <p:nvCxnSpPr>
          <p:cNvPr id="383" name="AutoShape 11"/>
          <p:cNvCxnSpPr>
            <a:stCxn id="381" idx="1"/>
            <a:endCxn id="379" idx="5"/>
          </p:cNvCxnSpPr>
          <p:nvPr/>
        </p:nvCxnSpPr>
        <p:spPr>
          <a:xfrm flipH="1" flipV="1">
            <a:off x="8008560" y="2232720"/>
            <a:ext cx="473400" cy="473400"/>
          </a:xfrm>
          <a:prstGeom prst="straightConnector1">
            <a:avLst/>
          </a:prstGeom>
          <a:ln w="19050">
            <a:solidFill>
              <a:srgbClr val="000000"/>
            </a:solidFill>
            <a:round/>
          </a:ln>
        </p:spPr>
      </p:cxnSp>
      <p:cxnSp>
        <p:nvCxnSpPr>
          <p:cNvPr id="384" name="AutoShape 12"/>
          <p:cNvCxnSpPr>
            <a:stCxn id="381" idx="7"/>
            <a:endCxn id="378" idx="3"/>
          </p:cNvCxnSpPr>
          <p:nvPr/>
        </p:nvCxnSpPr>
        <p:spPr>
          <a:xfrm flipV="1">
            <a:off x="8740440" y="2232720"/>
            <a:ext cx="473040" cy="473400"/>
          </a:xfrm>
          <a:prstGeom prst="straightConnector1">
            <a:avLst/>
          </a:prstGeom>
          <a:ln w="19050">
            <a:solidFill>
              <a:srgbClr val="000000"/>
            </a:solidFill>
            <a:round/>
          </a:ln>
        </p:spPr>
      </p:cxnSp>
      <p:cxnSp>
        <p:nvCxnSpPr>
          <p:cNvPr id="385" name="AutoShape 13"/>
          <p:cNvCxnSpPr>
            <a:stCxn id="380" idx="5"/>
            <a:endCxn id="378" idx="1"/>
          </p:cNvCxnSpPr>
          <p:nvPr/>
        </p:nvCxnSpPr>
        <p:spPr>
          <a:xfrm>
            <a:off x="8740440" y="1500840"/>
            <a:ext cx="473040" cy="473400"/>
          </a:xfrm>
          <a:prstGeom prst="straightConnector1">
            <a:avLst/>
          </a:prstGeom>
          <a:ln w="19050">
            <a:solidFill>
              <a:srgbClr val="000000"/>
            </a:solidFill>
            <a:round/>
          </a:ln>
        </p:spPr>
      </p:cxnSp>
      <p:cxnSp>
        <p:nvCxnSpPr>
          <p:cNvPr id="386" name="AutoShape 14"/>
          <p:cNvCxnSpPr>
            <a:stCxn id="380" idx="4"/>
            <a:endCxn id="381" idx="0"/>
          </p:cNvCxnSpPr>
          <p:nvPr/>
        </p:nvCxnSpPr>
        <p:spPr>
          <a:xfrm>
            <a:off x="8610840" y="1554120"/>
            <a:ext cx="720" cy="1098720"/>
          </a:xfrm>
          <a:prstGeom prst="straightConnector1">
            <a:avLst/>
          </a:prstGeom>
          <a:ln w="19050">
            <a:solidFill>
              <a:srgbClr val="000000"/>
            </a:solidFill>
            <a:round/>
          </a:ln>
        </p:spPr>
      </p:cxnSp>
      <p:sp>
        <p:nvSpPr>
          <p:cNvPr id="387" name="Oval 15"/>
          <p:cNvSpPr/>
          <p:nvPr/>
        </p:nvSpPr>
        <p:spPr>
          <a:xfrm>
            <a:off x="10410480" y="192024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88" name="AutoShape 16"/>
          <p:cNvCxnSpPr>
            <a:stCxn id="378" idx="6"/>
            <a:endCxn id="387" idx="2"/>
          </p:cNvCxnSpPr>
          <p:nvPr/>
        </p:nvCxnSpPr>
        <p:spPr>
          <a:xfrm>
            <a:off x="9525240" y="2103120"/>
            <a:ext cx="885960" cy="720"/>
          </a:xfrm>
          <a:prstGeom prst="straightConnector1">
            <a:avLst/>
          </a:prstGeom>
          <a:ln w="19050">
            <a:solidFill>
              <a:srgbClr val="000000"/>
            </a:solidFill>
            <a:round/>
          </a:ln>
        </p:spPr>
      </p:cxnSp>
      <p:cxnSp>
        <p:nvCxnSpPr>
          <p:cNvPr id="389" name="AutoShape 17"/>
          <p:cNvCxnSpPr>
            <a:stCxn id="381" idx="6"/>
            <a:endCxn id="387" idx="3"/>
          </p:cNvCxnSpPr>
          <p:nvPr/>
        </p:nvCxnSpPr>
        <p:spPr>
          <a:xfrm flipV="1">
            <a:off x="8793720" y="2232720"/>
            <a:ext cx="1670760" cy="603000"/>
          </a:xfrm>
          <a:prstGeom prst="straightConnector1">
            <a:avLst/>
          </a:prstGeom>
          <a:ln w="19050">
            <a:solidFill>
              <a:srgbClr val="000000"/>
            </a:solidFill>
            <a:round/>
          </a:ln>
        </p:spPr>
      </p:cxnSp>
      <p:cxnSp>
        <p:nvCxnSpPr>
          <p:cNvPr id="390" name="AutoShape 18"/>
          <p:cNvCxnSpPr>
            <a:stCxn id="387" idx="1"/>
            <a:endCxn id="380" idx="6"/>
          </p:cNvCxnSpPr>
          <p:nvPr/>
        </p:nvCxnSpPr>
        <p:spPr>
          <a:xfrm flipH="1" flipV="1">
            <a:off x="8793720" y="1371240"/>
            <a:ext cx="1670760" cy="603000"/>
          </a:xfrm>
          <a:prstGeom prst="straightConnector1">
            <a:avLst/>
          </a:prstGeom>
          <a:ln w="19050">
            <a:solidFill>
              <a:srgbClr val="000000"/>
            </a:solidFill>
            <a:round/>
          </a:ln>
        </p:spPr>
      </p:cxnSp>
      <p:sp>
        <p:nvSpPr>
          <p:cNvPr id="391" name="Oval 19"/>
          <p:cNvSpPr/>
          <p:nvPr/>
        </p:nvSpPr>
        <p:spPr>
          <a:xfrm>
            <a:off x="9158040" y="4501440"/>
            <a:ext cx="365400" cy="365400"/>
          </a:xfrm>
          <a:prstGeom prst="ellipse">
            <a:avLst/>
          </a:prstGeom>
          <a:solidFill>
            <a:schemeClr val="folHlink"/>
          </a:solidFill>
          <a:ln w="1905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92" name="Oval 20"/>
          <p:cNvSpPr/>
          <p:nvPr/>
        </p:nvSpPr>
        <p:spPr>
          <a:xfrm>
            <a:off x="7694280" y="4501440"/>
            <a:ext cx="365400" cy="365400"/>
          </a:xfrm>
          <a:prstGeom prst="ellipse">
            <a:avLst/>
          </a:prstGeom>
          <a:solidFill>
            <a:schemeClr val="folHlink"/>
          </a:solidFill>
          <a:ln w="1905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93" name="Oval 21"/>
          <p:cNvSpPr/>
          <p:nvPr/>
        </p:nvSpPr>
        <p:spPr>
          <a:xfrm>
            <a:off x="8426160" y="3769560"/>
            <a:ext cx="365400" cy="365400"/>
          </a:xfrm>
          <a:prstGeom prst="ellipse">
            <a:avLst/>
          </a:prstGeom>
          <a:solidFill>
            <a:schemeClr val="folHlink"/>
          </a:solidFill>
          <a:ln w="1905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394" name="Oval 22"/>
          <p:cNvSpPr/>
          <p:nvPr/>
        </p:nvSpPr>
        <p:spPr>
          <a:xfrm>
            <a:off x="8426160" y="5233320"/>
            <a:ext cx="365400" cy="365400"/>
          </a:xfrm>
          <a:prstGeom prst="ellipse">
            <a:avLst/>
          </a:prstGeom>
          <a:solidFill>
            <a:schemeClr val="folHlink"/>
          </a:solidFill>
          <a:ln w="1905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395" name="AutoShape 23"/>
          <p:cNvCxnSpPr>
            <a:stCxn id="393" idx="3"/>
            <a:endCxn id="392" idx="7"/>
          </p:cNvCxnSpPr>
          <p:nvPr/>
        </p:nvCxnSpPr>
        <p:spPr>
          <a:xfrm flipH="1">
            <a:off x="8006760" y="4082040"/>
            <a:ext cx="473400" cy="473400"/>
          </a:xfrm>
          <a:prstGeom prst="straightConnector1">
            <a:avLst/>
          </a:prstGeom>
          <a:ln w="19050">
            <a:solidFill>
              <a:srgbClr val="44546a"/>
            </a:solidFill>
            <a:round/>
          </a:ln>
        </p:spPr>
      </p:cxnSp>
      <p:cxnSp>
        <p:nvCxnSpPr>
          <p:cNvPr id="396" name="AutoShape 24"/>
          <p:cNvCxnSpPr>
            <a:stCxn id="394" idx="1"/>
            <a:endCxn id="392" idx="5"/>
          </p:cNvCxnSpPr>
          <p:nvPr/>
        </p:nvCxnSpPr>
        <p:spPr>
          <a:xfrm flipH="1" flipV="1">
            <a:off x="8006760" y="4813920"/>
            <a:ext cx="473400" cy="473400"/>
          </a:xfrm>
          <a:prstGeom prst="straightConnector1">
            <a:avLst/>
          </a:prstGeom>
          <a:ln w="19050">
            <a:solidFill>
              <a:srgbClr val="000000"/>
            </a:solidFill>
            <a:prstDash val="dash"/>
            <a:round/>
          </a:ln>
        </p:spPr>
      </p:cxnSp>
      <p:cxnSp>
        <p:nvCxnSpPr>
          <p:cNvPr id="397" name="AutoShape 25"/>
          <p:cNvCxnSpPr>
            <a:stCxn id="394" idx="7"/>
            <a:endCxn id="391" idx="3"/>
          </p:cNvCxnSpPr>
          <p:nvPr/>
        </p:nvCxnSpPr>
        <p:spPr>
          <a:xfrm flipV="1">
            <a:off x="8738640" y="4813920"/>
            <a:ext cx="473400" cy="473400"/>
          </a:xfrm>
          <a:prstGeom prst="straightConnector1">
            <a:avLst/>
          </a:prstGeom>
          <a:ln w="19050">
            <a:solidFill>
              <a:srgbClr val="44546a"/>
            </a:solidFill>
            <a:round/>
          </a:ln>
        </p:spPr>
      </p:cxnSp>
      <p:cxnSp>
        <p:nvCxnSpPr>
          <p:cNvPr id="398" name="AutoShape 26"/>
          <p:cNvCxnSpPr>
            <a:stCxn id="393" idx="5"/>
            <a:endCxn id="391" idx="1"/>
          </p:cNvCxnSpPr>
          <p:nvPr/>
        </p:nvCxnSpPr>
        <p:spPr>
          <a:xfrm>
            <a:off x="8738640" y="4082040"/>
            <a:ext cx="473400" cy="473400"/>
          </a:xfrm>
          <a:prstGeom prst="straightConnector1">
            <a:avLst/>
          </a:prstGeom>
          <a:ln w="19050">
            <a:solidFill>
              <a:srgbClr val="44546a"/>
            </a:solidFill>
            <a:round/>
          </a:ln>
        </p:spPr>
      </p:cxnSp>
      <p:cxnSp>
        <p:nvCxnSpPr>
          <p:cNvPr id="399" name="AutoShape 27"/>
          <p:cNvCxnSpPr>
            <a:stCxn id="393" idx="4"/>
            <a:endCxn id="394" idx="0"/>
          </p:cNvCxnSpPr>
          <p:nvPr/>
        </p:nvCxnSpPr>
        <p:spPr>
          <a:xfrm>
            <a:off x="8609040" y="4135320"/>
            <a:ext cx="720" cy="1098720"/>
          </a:xfrm>
          <a:prstGeom prst="straightConnector1">
            <a:avLst/>
          </a:prstGeom>
          <a:ln w="19050">
            <a:solidFill>
              <a:srgbClr val="000000"/>
            </a:solidFill>
            <a:prstDash val="dash"/>
            <a:round/>
          </a:ln>
        </p:spPr>
      </p:cxnSp>
      <p:sp>
        <p:nvSpPr>
          <p:cNvPr id="400" name="Oval 28"/>
          <p:cNvSpPr/>
          <p:nvPr/>
        </p:nvSpPr>
        <p:spPr>
          <a:xfrm>
            <a:off x="10409040" y="4501440"/>
            <a:ext cx="365400" cy="365400"/>
          </a:xfrm>
          <a:prstGeom prst="ellipse">
            <a:avLst/>
          </a:prstGeom>
          <a:solidFill>
            <a:schemeClr val="folHlink"/>
          </a:solidFill>
          <a:ln w="1905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cxnSp>
        <p:nvCxnSpPr>
          <p:cNvPr id="401" name="AutoShape 29"/>
          <p:cNvCxnSpPr>
            <a:stCxn id="391" idx="6"/>
            <a:endCxn id="400" idx="2"/>
          </p:cNvCxnSpPr>
          <p:nvPr/>
        </p:nvCxnSpPr>
        <p:spPr>
          <a:xfrm>
            <a:off x="9523800" y="4684320"/>
            <a:ext cx="885960" cy="720"/>
          </a:xfrm>
          <a:prstGeom prst="straightConnector1">
            <a:avLst/>
          </a:prstGeom>
          <a:ln w="19050">
            <a:solidFill>
              <a:srgbClr val="44546a"/>
            </a:solidFill>
            <a:round/>
          </a:ln>
        </p:spPr>
      </p:cxnSp>
      <p:cxnSp>
        <p:nvCxnSpPr>
          <p:cNvPr id="402" name="AutoShape 30"/>
          <p:cNvCxnSpPr>
            <a:stCxn id="394" idx="6"/>
            <a:endCxn id="400" idx="3"/>
          </p:cNvCxnSpPr>
          <p:nvPr/>
        </p:nvCxnSpPr>
        <p:spPr>
          <a:xfrm flipV="1">
            <a:off x="8791920" y="4813920"/>
            <a:ext cx="1671120" cy="603000"/>
          </a:xfrm>
          <a:prstGeom prst="straightConnector1">
            <a:avLst/>
          </a:prstGeom>
          <a:ln w="19050">
            <a:solidFill>
              <a:srgbClr val="000000"/>
            </a:solidFill>
            <a:prstDash val="dash"/>
            <a:round/>
          </a:ln>
        </p:spPr>
      </p:cxnSp>
      <p:cxnSp>
        <p:nvCxnSpPr>
          <p:cNvPr id="403" name="AutoShape 31"/>
          <p:cNvCxnSpPr>
            <a:stCxn id="400" idx="1"/>
            <a:endCxn id="393" idx="6"/>
          </p:cNvCxnSpPr>
          <p:nvPr/>
        </p:nvCxnSpPr>
        <p:spPr>
          <a:xfrm flipH="1" flipV="1">
            <a:off x="8791920" y="3952440"/>
            <a:ext cx="1671120" cy="603000"/>
          </a:xfrm>
          <a:prstGeom prst="straightConnector1">
            <a:avLst/>
          </a:prstGeom>
          <a:ln w="19050">
            <a:solidFill>
              <a:srgbClr val="000000"/>
            </a:solidFill>
            <a:prstDash val="dash"/>
            <a:round/>
          </a:ln>
        </p:spPr>
      </p:cxn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Depth-First Search</a:t>
            </a:r>
            <a:endParaRPr b="0" lang="en-US" sz="4400" spc="-1" strike="noStrike">
              <a:solidFill>
                <a:srgbClr val="000000"/>
              </a:solidFill>
              <a:latin typeface="Arial"/>
            </a:endParaRPr>
          </a:p>
        </p:txBody>
      </p:sp>
      <p:sp>
        <p:nvSpPr>
          <p:cNvPr id="405" name="PlaceHolder 2"/>
          <p:cNvSpPr>
            <a:spLocks noGrp="1"/>
          </p:cNvSpPr>
          <p:nvPr>
            <p:ph/>
          </p:nvPr>
        </p:nvSpPr>
        <p:spPr>
          <a:xfrm>
            <a:off x="838080" y="1107000"/>
            <a:ext cx="632664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Depth-first search (DFS) is a general technique for traversing a graph</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A DFS traversal of a graph G </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Visits all the vertices and edges of G</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Determines whether G is connected</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Computes the connected components of G</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Computes a spanning forest of G</a:t>
            </a:r>
            <a:endParaRPr b="0" lang="en-US" sz="2000" spc="-1" strike="noStrike">
              <a:solidFill>
                <a:srgbClr val="000000"/>
              </a:solidFill>
              <a:latin typeface="Arial"/>
            </a:endParaRPr>
          </a:p>
        </p:txBody>
      </p:sp>
      <p:sp>
        <p:nvSpPr>
          <p:cNvPr id="406" name="PlaceHolder 3"/>
          <p:cNvSpPr>
            <a:spLocks noGrp="1"/>
          </p:cNvSpPr>
          <p:nvPr>
            <p:ph type="sldNum" idx="53"/>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15735008-A88F-44AA-A66D-2E659554E78B}" type="slidenum">
              <a:rPr b="0" lang="en-US" sz="1400" spc="-1" strike="noStrike">
                <a:solidFill>
                  <a:schemeClr val="dk1">
                    <a:tint val="75000"/>
                  </a:schemeClr>
                </a:solidFill>
                <a:latin typeface="Tahoma"/>
                <a:ea typeface="MS PGothic"/>
              </a:rPr>
              <a:t>27</a:t>
            </a:fld>
            <a:endParaRPr b="0" lang="en-US" sz="1400" spc="-1" strike="noStrike">
              <a:solidFill>
                <a:srgbClr val="000000"/>
              </a:solidFill>
              <a:latin typeface="Times New Roman"/>
            </a:endParaRPr>
          </a:p>
        </p:txBody>
      </p:sp>
      <p:sp>
        <p:nvSpPr>
          <p:cNvPr id="407" name="PlaceHolder 4"/>
          <p:cNvSpPr>
            <a:spLocks noGrp="1"/>
          </p:cNvSpPr>
          <p:nvPr>
            <p:ph/>
          </p:nvPr>
        </p:nvSpPr>
        <p:spPr>
          <a:xfrm>
            <a:off x="7733520" y="1107000"/>
            <a:ext cx="3808440" cy="4646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DFS on a graph with </a:t>
            </a:r>
            <a:r>
              <a:rPr b="1" i="1" lang="en-US" sz="2400" spc="-1" strike="noStrike">
                <a:solidFill>
                  <a:schemeClr val="dk1"/>
                </a:solidFill>
                <a:latin typeface="Times New Roman"/>
              </a:rPr>
              <a:t>n</a:t>
            </a:r>
            <a:r>
              <a:rPr b="0" lang="en-US" sz="2400" spc="-1" strike="noStrike">
                <a:solidFill>
                  <a:schemeClr val="dk1"/>
                </a:solidFill>
                <a:latin typeface="Calibri"/>
              </a:rPr>
              <a:t> vertices and </a:t>
            </a:r>
            <a:r>
              <a:rPr b="1" i="1" lang="en-US" sz="2400" spc="-1" strike="noStrike">
                <a:solidFill>
                  <a:schemeClr val="dk1"/>
                </a:solidFill>
                <a:latin typeface="Times New Roman"/>
              </a:rPr>
              <a:t>m</a:t>
            </a:r>
            <a:r>
              <a:rPr b="0" lang="en-US" sz="2400" spc="-1" strike="noStrike">
                <a:solidFill>
                  <a:schemeClr val="dk1"/>
                </a:solidFill>
                <a:latin typeface="Calibri"/>
              </a:rPr>
              <a:t> edges takes </a:t>
            </a:r>
            <a:r>
              <a:rPr b="1" i="1" lang="en-US" sz="2400" spc="-1" strike="noStrike">
                <a:solidFill>
                  <a:schemeClr val="dk1"/>
                </a:solidFill>
                <a:latin typeface="Times New Roman"/>
              </a:rPr>
              <a:t>O</a:t>
            </a:r>
            <a:r>
              <a:rPr b="0" lang="en-US" sz="2400" spc="-1" strike="noStrike">
                <a:solidFill>
                  <a:schemeClr val="dk1"/>
                </a:solidFill>
                <a:latin typeface="Times New Roman"/>
              </a:rPr>
              <a:t>(</a:t>
            </a:r>
            <a:r>
              <a:rPr b="1" i="1" lang="en-US" sz="2400" spc="-1" strike="noStrike">
                <a:solidFill>
                  <a:schemeClr val="dk1"/>
                </a:solidFill>
                <a:latin typeface="Times New Roman"/>
              </a:rPr>
              <a:t>n</a:t>
            </a:r>
            <a:r>
              <a:rPr b="0" lang="en-US" sz="2400" spc="-1" strike="noStrike">
                <a:solidFill>
                  <a:schemeClr val="dk1"/>
                </a:solidFill>
                <a:latin typeface="Symbol"/>
              </a:rPr>
              <a:t> + </a:t>
            </a:r>
            <a:r>
              <a:rPr b="1" i="1" lang="en-US" sz="2400" spc="-1" strike="noStrike">
                <a:solidFill>
                  <a:schemeClr val="dk1"/>
                </a:solidFill>
                <a:latin typeface="Times New Roman"/>
              </a:rPr>
              <a:t>m</a:t>
            </a:r>
            <a:r>
              <a:rPr b="0" lang="en-US" sz="2400" spc="-1" strike="noStrike">
                <a:solidFill>
                  <a:schemeClr val="dk1"/>
                </a:solidFill>
                <a:latin typeface="Times New Roman"/>
              </a:rPr>
              <a:t> )</a:t>
            </a:r>
            <a:r>
              <a:rPr b="0" lang="en-US" sz="2400" spc="-1" strike="noStrike">
                <a:solidFill>
                  <a:schemeClr val="dk1"/>
                </a:solidFill>
                <a:latin typeface="Calibri"/>
              </a:rPr>
              <a:t> time</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DFS can be further extended to solve other graph problems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Find and report a path between two given vertices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Find a cycle in the graph</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Depth-first search is to graphs what Euler tour is to binary trees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DFS Algorithm</a:t>
            </a:r>
            <a:endParaRPr b="0" lang="en-US" sz="4400" spc="-1" strike="noStrike">
              <a:solidFill>
                <a:srgbClr val="000000"/>
              </a:solidFill>
              <a:latin typeface="Arial"/>
            </a:endParaRPr>
          </a:p>
        </p:txBody>
      </p:sp>
      <p:sp>
        <p:nvSpPr>
          <p:cNvPr id="409"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1800" spc="-1" strike="noStrike">
                <a:solidFill>
                  <a:schemeClr val="dk1"/>
                </a:solidFill>
                <a:latin typeface="Calibri"/>
              </a:rPr>
              <a:t>The algorithm uses a mechanism for setting and getting “labels” of vertices and edges</a:t>
            </a:r>
            <a:endParaRPr b="0" lang="en-US" sz="1800" spc="-1" strike="noStrike">
              <a:solidFill>
                <a:srgbClr val="000000"/>
              </a:solidFill>
              <a:latin typeface="Arial"/>
            </a:endParaRPr>
          </a:p>
        </p:txBody>
      </p:sp>
      <p:sp>
        <p:nvSpPr>
          <p:cNvPr id="410" name="PlaceHolder 3"/>
          <p:cNvSpPr>
            <a:spLocks noGrp="1"/>
          </p:cNvSpPr>
          <p:nvPr>
            <p:ph type="sldNum" idx="54"/>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2E37F457-981C-4526-A0C8-CB8E2FCE01F3}" type="slidenum">
              <a:rPr b="0" lang="en-US" sz="1400" spc="-1" strike="noStrike">
                <a:solidFill>
                  <a:schemeClr val="dk1">
                    <a:tint val="75000"/>
                  </a:schemeClr>
                </a:solidFill>
                <a:latin typeface="Tahoma"/>
                <a:ea typeface="MS PGothic"/>
              </a:rPr>
              <a:t>28</a:t>
            </a:fld>
            <a:endParaRPr b="0" lang="en-US" sz="1400" spc="-1" strike="noStrike">
              <a:solidFill>
                <a:srgbClr val="000000"/>
              </a:solidFill>
              <a:latin typeface="Times New Roman"/>
            </a:endParaRPr>
          </a:p>
        </p:txBody>
      </p:sp>
      <p:sp>
        <p:nvSpPr>
          <p:cNvPr id="411" name="Text Box 4"/>
          <p:cNvSpPr/>
          <p:nvPr/>
        </p:nvSpPr>
        <p:spPr>
          <a:xfrm>
            <a:off x="6172200" y="1981080"/>
            <a:ext cx="4037040" cy="4050000"/>
          </a:xfrm>
          <a:prstGeom prst="rect">
            <a:avLst/>
          </a:prstGeom>
          <a:noFill/>
          <a:ln w="9525">
            <a:solidFill>
              <a:srgbClr val="000000"/>
            </a:solidFill>
            <a:miter/>
          </a:ln>
        </p:spPr>
        <p:style>
          <a:lnRef idx="0"/>
          <a:fillRef idx="0"/>
          <a:effectRef idx="0"/>
          <a:fontRef idx="minor"/>
        </p:style>
        <p:txBody>
          <a:bodyPr lIns="90000" rIns="90000" tIns="45000" bIns="45000" anchor="t">
            <a:spAutoFit/>
          </a:bodyPr>
          <a:p>
            <a:pPr defTabSz="228600">
              <a:lnSpc>
                <a:spcPct val="90000"/>
              </a:lnSpc>
              <a:spcBef>
                <a:spcPts val="360"/>
              </a:spcBef>
            </a:pPr>
            <a:r>
              <a:rPr b="1" lang="en-US" sz="1800" spc="-1" strike="noStrike">
                <a:solidFill>
                  <a:srgbClr val="000000"/>
                </a:solidFill>
                <a:latin typeface="Times New Roman"/>
                <a:ea typeface="MS PGothic"/>
              </a:rPr>
              <a:t>Algorithm</a:t>
            </a:r>
            <a:r>
              <a:rPr b="0" lang="en-US" sz="1800" spc="-1" strike="noStrike">
                <a:solidFill>
                  <a:schemeClr val="dk1"/>
                </a:solidFill>
                <a:latin typeface="Times New Roman"/>
                <a:ea typeface="MS PGothic"/>
              </a:rPr>
              <a:t> </a:t>
            </a:r>
            <a:r>
              <a:rPr b="1" i="1" lang="en-US" sz="1800" spc="-1" strike="noStrike">
                <a:solidFill>
                  <a:schemeClr val="dk2"/>
                </a:solidFill>
                <a:latin typeface="Times New Roman"/>
                <a:ea typeface="MS PGothic"/>
              </a:rPr>
              <a:t>DFS</a:t>
            </a:r>
            <a:r>
              <a:rPr b="0" lang="en-US" sz="1800" spc="-1" strike="noStrike">
                <a:solidFill>
                  <a:schemeClr val="dk2"/>
                </a:solidFill>
                <a:latin typeface="Times New Roman"/>
                <a:ea typeface="MS PGothic"/>
              </a:rPr>
              <a:t>(</a:t>
            </a:r>
            <a:r>
              <a:rPr b="1" i="1" lang="en-US" sz="1800" spc="-1" strike="noStrike">
                <a:solidFill>
                  <a:schemeClr val="dk2"/>
                </a:solidFill>
                <a:latin typeface="Times New Roman"/>
                <a:ea typeface="MS PGothic"/>
              </a:rPr>
              <a:t>G, v</a:t>
            </a:r>
            <a:r>
              <a:rPr b="0" lang="en-US" sz="1800" spc="-1" strike="noStrike">
                <a:solidFill>
                  <a:schemeClr val="dk2"/>
                </a:solidFill>
                <a:latin typeface="Times New Roman"/>
                <a:ea typeface="MS PGothic"/>
              </a:rPr>
              <a:t>)</a:t>
            </a:r>
            <a:endParaRPr b="0" lang="en-US" sz="1800" spc="-1" strike="noStrike">
              <a:solidFill>
                <a:srgbClr val="000000"/>
              </a:solidFill>
              <a:latin typeface="Arial"/>
            </a:endParaRPr>
          </a:p>
          <a:p>
            <a:pPr defTabSz="228600">
              <a:lnSpc>
                <a:spcPct val="90000"/>
              </a:lnSpc>
              <a:spcBef>
                <a:spcPts val="360"/>
              </a:spcBef>
            </a:pPr>
            <a:r>
              <a:rPr b="0" lang="en-US" sz="1800" spc="-1" strike="noStrike">
                <a:solidFill>
                  <a:schemeClr val="dk2"/>
                </a:solidFill>
                <a:latin typeface="Times New Roman"/>
                <a:ea typeface="MS PGothic"/>
              </a:rPr>
              <a:t>	</a:t>
            </a:r>
            <a:r>
              <a:rPr b="1" lang="en-US" sz="1800" spc="-1" strike="noStrike">
                <a:solidFill>
                  <a:srgbClr val="000000"/>
                </a:solidFill>
                <a:latin typeface="Times New Roman"/>
                <a:ea typeface="MS PGothic"/>
              </a:rPr>
              <a:t>Input</a:t>
            </a:r>
            <a:r>
              <a:rPr b="0" lang="en-US" sz="1800" spc="-1" strike="noStrike">
                <a:solidFill>
                  <a:schemeClr val="dk1"/>
                </a:solidFill>
                <a:latin typeface="Times New Roman"/>
                <a:ea typeface="MS PGothic"/>
              </a:rPr>
              <a:t> </a:t>
            </a:r>
            <a:r>
              <a:rPr b="0" lang="en-US" sz="1800" spc="-1" strike="noStrike">
                <a:solidFill>
                  <a:schemeClr val="accent2"/>
                </a:solidFill>
                <a:latin typeface="Times New Roman"/>
                <a:ea typeface="MS PGothic"/>
              </a:rPr>
              <a:t>graph </a:t>
            </a:r>
            <a:r>
              <a:rPr b="1" i="1" lang="en-US" sz="1800" spc="-1" strike="noStrike">
                <a:solidFill>
                  <a:schemeClr val="accent2"/>
                </a:solidFill>
                <a:latin typeface="Times New Roman"/>
                <a:ea typeface="MS PGothic"/>
              </a:rPr>
              <a:t>G </a:t>
            </a:r>
            <a:r>
              <a:rPr b="0" lang="en-US" sz="1800" spc="-1" strike="noStrike">
                <a:solidFill>
                  <a:schemeClr val="accent2"/>
                </a:solidFill>
                <a:latin typeface="Times New Roman"/>
                <a:ea typeface="MS PGothic"/>
              </a:rPr>
              <a:t>and a start vertex </a:t>
            </a:r>
            <a:r>
              <a:rPr b="1" i="1" lang="en-US" sz="1800" spc="-1" strike="noStrike">
                <a:solidFill>
                  <a:schemeClr val="accent2"/>
                </a:solidFill>
                <a:latin typeface="Times New Roman"/>
                <a:ea typeface="MS PGothic"/>
              </a:rPr>
              <a:t>v</a:t>
            </a:r>
            <a:r>
              <a:rPr b="0" lang="en-US" sz="1800" spc="-1" strike="noStrike">
                <a:solidFill>
                  <a:schemeClr val="accent2"/>
                </a:solidFill>
                <a:latin typeface="Times New Roman"/>
                <a:ea typeface="MS PGothic"/>
              </a:rPr>
              <a:t> of </a:t>
            </a:r>
            <a:r>
              <a:rPr b="1" i="1" lang="en-US" sz="1800" spc="-1" strike="noStrike">
                <a:solidFill>
                  <a:schemeClr val="accent2"/>
                </a:solidFill>
                <a:latin typeface="Times New Roman"/>
                <a:ea typeface="MS PGothic"/>
              </a:rPr>
              <a:t>G</a:t>
            </a:r>
            <a:r>
              <a:rPr b="0" lang="en-US" sz="1800" spc="-1" strike="noStrike">
                <a:solidFill>
                  <a:schemeClr val="accent2"/>
                </a:solidFill>
                <a:latin typeface="Times New Roman"/>
                <a:ea typeface="MS PGothic"/>
              </a:rPr>
              <a:t> </a:t>
            </a:r>
            <a:endParaRPr b="0" lang="en-US" sz="1800" spc="-1" strike="noStrike">
              <a:solidFill>
                <a:srgbClr val="000000"/>
              </a:solidFill>
              <a:latin typeface="Arial"/>
            </a:endParaRPr>
          </a:p>
          <a:p>
            <a:pPr defTabSz="228600">
              <a:lnSpc>
                <a:spcPct val="90000"/>
              </a:lnSpc>
              <a:spcBef>
                <a:spcPts val="360"/>
              </a:spcBef>
            </a:pPr>
            <a:r>
              <a:rPr b="0"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Output</a:t>
            </a:r>
            <a:r>
              <a:rPr b="0" lang="en-US" sz="1800" spc="-1" strike="noStrike">
                <a:solidFill>
                  <a:schemeClr val="dk1"/>
                </a:solidFill>
                <a:latin typeface="Times New Roman"/>
                <a:ea typeface="MS PGothic"/>
              </a:rPr>
              <a:t> </a:t>
            </a:r>
            <a:r>
              <a:rPr b="0" lang="en-US" sz="1800" spc="-1" strike="noStrike">
                <a:solidFill>
                  <a:schemeClr val="accent2"/>
                </a:solidFill>
                <a:latin typeface="Times New Roman"/>
                <a:ea typeface="MS PGothic"/>
              </a:rPr>
              <a:t>labeling of the edges of </a:t>
            </a:r>
            <a:r>
              <a:rPr b="1" i="1" lang="en-US" sz="1800" spc="-1" strike="noStrike">
                <a:solidFill>
                  <a:schemeClr val="accent2"/>
                </a:solidFill>
                <a:latin typeface="Times New Roman"/>
                <a:ea typeface="MS PGothic"/>
              </a:rPr>
              <a:t>G</a:t>
            </a:r>
            <a:r>
              <a:rPr b="0" lang="en-US" sz="1800" spc="-1" strike="noStrike">
                <a:solidFill>
                  <a:schemeClr val="accent2"/>
                </a:solidFill>
                <a:latin typeface="Times New Roman"/>
                <a:ea typeface="MS PGothic"/>
              </a:rPr>
              <a:t> </a:t>
            </a:r>
            <a:br>
              <a:rPr sz="1800"/>
            </a:b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in the connected component of </a:t>
            </a:r>
            <a:r>
              <a:rPr b="1" i="1" lang="en-US" sz="1800" spc="-1" strike="noStrike">
                <a:solidFill>
                  <a:schemeClr val="accent2"/>
                </a:solidFill>
                <a:latin typeface="Times New Roman"/>
                <a:ea typeface="MS PGothic"/>
              </a:rPr>
              <a:t>v</a:t>
            </a:r>
            <a:r>
              <a:rPr b="0" lang="en-US" sz="1800" spc="-1" strike="noStrike">
                <a:solidFill>
                  <a:schemeClr val="accent2"/>
                </a:solidFill>
                <a:latin typeface="Times New Roman"/>
                <a:ea typeface="MS PGothic"/>
              </a:rPr>
              <a:t> </a:t>
            </a:r>
            <a:br>
              <a:rPr sz="1800"/>
            </a:b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as discovery edges and back edges</a:t>
            </a:r>
            <a:endParaRPr b="0" lang="en-US" sz="1800" spc="-1" strike="noStrike">
              <a:solidFill>
                <a:srgbClr val="000000"/>
              </a:solidFill>
              <a:latin typeface="Arial"/>
            </a:endParaRPr>
          </a:p>
          <a:p>
            <a:pPr defTabSz="228600">
              <a:lnSpc>
                <a:spcPct val="90000"/>
              </a:lnSpc>
              <a:spcBef>
                <a:spcPts val="360"/>
              </a:spcBef>
            </a:pP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v, VISITED</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90000"/>
              </a:lnSpc>
              <a:spcBef>
                <a:spcPts val="360"/>
              </a:spcBef>
            </a:pPr>
            <a:r>
              <a:rPr b="1" lang="en-US" sz="1800" spc="-1" strike="noStrike">
                <a:solidFill>
                  <a:srgbClr val="000000"/>
                </a:solidFill>
                <a:latin typeface="Times New Roman"/>
                <a:ea typeface="MS PGothic"/>
              </a:rPr>
              <a:t>for all </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e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G.incidentEdges</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v</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90000"/>
              </a:lnSpc>
              <a:spcBef>
                <a:spcPts val="360"/>
              </a:spcBef>
            </a:pPr>
            <a:r>
              <a:rPr b="0"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if</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getLabel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e</a:t>
            </a:r>
            <a:r>
              <a:rPr b="0" lang="en-US" sz="1800" spc="-1" strike="noStrike">
                <a:solidFill>
                  <a:schemeClr val="accent2"/>
                </a:solidFill>
                <a:latin typeface="Times New Roman"/>
                <a:ea typeface="MS PGothic"/>
              </a:rPr>
              <a:t>) </a:t>
            </a:r>
            <a:r>
              <a:rPr b="0" lang="en-US" sz="1800" spc="-1" strike="noStrike">
                <a:solidFill>
                  <a:srgbClr val="000000"/>
                </a:solidFill>
                <a:latin typeface="Symbol"/>
                <a:ea typeface="MS PGothic"/>
              </a:rPr>
              <a:t>= </a:t>
            </a:r>
            <a:r>
              <a:rPr b="1" i="1" lang="en-US" sz="1800" spc="-1" strike="noStrike">
                <a:solidFill>
                  <a:schemeClr val="accent2"/>
                </a:solidFill>
                <a:latin typeface="Times New Roman"/>
                <a:ea typeface="MS PGothic"/>
              </a:rPr>
              <a:t>UNEXPLORED</a:t>
            </a:r>
            <a:endParaRPr b="0" lang="en-US" sz="1800" spc="-1" strike="noStrike">
              <a:solidFill>
                <a:srgbClr val="000000"/>
              </a:solidFill>
              <a:latin typeface="Arial"/>
            </a:endParaRPr>
          </a:p>
          <a:p>
            <a:pPr marL="228600" defTabSz="228600">
              <a:lnSpc>
                <a:spcPct val="90000"/>
              </a:lnSpc>
              <a:spcBef>
                <a:spcPts val="360"/>
              </a:spcBef>
            </a:pP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i="1" lang="en-US" sz="1800" spc="-1" strike="noStrike">
                <a:solidFill>
                  <a:schemeClr val="accent2"/>
                </a:solidFill>
                <a:latin typeface="Times New Roman"/>
                <a:ea typeface="MS PGothic"/>
              </a:rPr>
              <a:t>w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opposite</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v,e</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90000"/>
              </a:lnSpc>
              <a:spcBef>
                <a:spcPts val="360"/>
              </a:spcBef>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if </a:t>
            </a:r>
            <a:r>
              <a:rPr b="1" i="1" lang="en-US" sz="1800" spc="-1" strike="noStrike">
                <a:solidFill>
                  <a:schemeClr val="accent2"/>
                </a:solidFill>
                <a:latin typeface="Times New Roman"/>
                <a:ea typeface="MS PGothic"/>
              </a:rPr>
              <a:t>getLabel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w</a:t>
            </a:r>
            <a:r>
              <a:rPr b="0" lang="en-US" sz="1800" spc="-1" strike="noStrike">
                <a:solidFill>
                  <a:schemeClr val="accent2"/>
                </a:solidFill>
                <a:latin typeface="Times New Roman"/>
                <a:ea typeface="MS PGothic"/>
              </a:rPr>
              <a:t>) </a:t>
            </a:r>
            <a:r>
              <a:rPr b="0" lang="en-US" sz="1800" spc="-1" strike="noStrike">
                <a:solidFill>
                  <a:srgbClr val="000000"/>
                </a:solidFill>
                <a:latin typeface="Symbol"/>
                <a:ea typeface="MS PGothic"/>
              </a:rPr>
              <a:t>= </a:t>
            </a:r>
            <a:r>
              <a:rPr b="1" i="1" lang="en-US" sz="1800" spc="-1" strike="noStrike">
                <a:solidFill>
                  <a:schemeClr val="accent2"/>
                </a:solidFill>
                <a:latin typeface="Times New Roman"/>
                <a:ea typeface="MS PGothic"/>
              </a:rPr>
              <a:t>UNEXPLORED</a:t>
            </a:r>
            <a:endParaRPr b="0" lang="en-US" sz="1800" spc="-1" strike="noStrike">
              <a:solidFill>
                <a:srgbClr val="000000"/>
              </a:solidFill>
              <a:latin typeface="Arial"/>
            </a:endParaRPr>
          </a:p>
          <a:p>
            <a:pPr marL="228600" defTabSz="228600">
              <a:lnSpc>
                <a:spcPct val="90000"/>
              </a:lnSpc>
              <a:spcBef>
                <a:spcPts val="360"/>
              </a:spcBef>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e, DISCOVERY</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90000"/>
              </a:lnSpc>
              <a:spcBef>
                <a:spcPts val="360"/>
              </a:spcBef>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DFS</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G, w</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90000"/>
              </a:lnSpc>
              <a:spcBef>
                <a:spcPts val="360"/>
              </a:spcBef>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else</a:t>
            </a:r>
            <a:endParaRPr b="0" lang="en-US" sz="1800" spc="-1" strike="noStrike">
              <a:solidFill>
                <a:srgbClr val="000000"/>
              </a:solidFill>
              <a:latin typeface="Arial"/>
            </a:endParaRPr>
          </a:p>
          <a:p>
            <a:pPr marL="228600" defTabSz="228600">
              <a:lnSpc>
                <a:spcPct val="90000"/>
              </a:lnSpc>
              <a:spcBef>
                <a:spcPts val="360"/>
              </a:spcBef>
            </a:pP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e, BACK</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p:txBody>
      </p:sp>
      <p:sp>
        <p:nvSpPr>
          <p:cNvPr id="412" name="Text Box 5"/>
          <p:cNvSpPr/>
          <p:nvPr/>
        </p:nvSpPr>
        <p:spPr>
          <a:xfrm>
            <a:off x="2286000" y="2587680"/>
            <a:ext cx="3732480" cy="3711600"/>
          </a:xfrm>
          <a:prstGeom prst="rect">
            <a:avLst/>
          </a:prstGeom>
          <a:noFill/>
          <a:ln w="9525">
            <a:solidFill>
              <a:srgbClr val="000000"/>
            </a:solidFill>
            <a:miter/>
          </a:ln>
        </p:spPr>
        <p:style>
          <a:lnRef idx="0"/>
          <a:fillRef idx="0"/>
          <a:effectRef idx="0"/>
          <a:fontRef idx="minor"/>
        </p:style>
        <p:txBody>
          <a:bodyPr lIns="90000" rIns="90000" tIns="45000" bIns="45000" anchor="t">
            <a:spAutoFit/>
          </a:bodyPr>
          <a:p>
            <a:pPr defTabSz="343080">
              <a:lnSpc>
                <a:spcPct val="90000"/>
              </a:lnSpc>
              <a:spcBef>
                <a:spcPts val="360"/>
              </a:spcBef>
            </a:pPr>
            <a:r>
              <a:rPr b="1" lang="en-US" sz="1800" spc="-1" strike="noStrike">
                <a:solidFill>
                  <a:srgbClr val="000000"/>
                </a:solidFill>
                <a:latin typeface="Times New Roman"/>
                <a:ea typeface="MS PGothic"/>
              </a:rPr>
              <a:t>Algorithm</a:t>
            </a:r>
            <a:r>
              <a:rPr b="0" lang="en-US" sz="1800" spc="-1" strike="noStrike">
                <a:solidFill>
                  <a:schemeClr val="dk1"/>
                </a:solidFill>
                <a:latin typeface="Times New Roman"/>
                <a:ea typeface="MS PGothic"/>
              </a:rPr>
              <a:t> </a:t>
            </a:r>
            <a:r>
              <a:rPr b="1" i="1" lang="en-US" sz="1800" spc="-1" strike="noStrike">
                <a:solidFill>
                  <a:schemeClr val="dk2"/>
                </a:solidFill>
                <a:latin typeface="Times New Roman"/>
                <a:ea typeface="MS PGothic"/>
              </a:rPr>
              <a:t>DFS</a:t>
            </a:r>
            <a:r>
              <a:rPr b="0" lang="en-US" sz="1800" spc="-1" strike="noStrike">
                <a:solidFill>
                  <a:schemeClr val="dk2"/>
                </a:solidFill>
                <a:latin typeface="Times New Roman"/>
                <a:ea typeface="MS PGothic"/>
              </a:rPr>
              <a:t>(</a:t>
            </a:r>
            <a:r>
              <a:rPr b="1" i="1" lang="en-US" sz="1800" spc="-1" strike="noStrike">
                <a:solidFill>
                  <a:schemeClr val="dk2"/>
                </a:solidFill>
                <a:latin typeface="Times New Roman"/>
                <a:ea typeface="MS PGothic"/>
              </a:rPr>
              <a:t>G</a:t>
            </a:r>
            <a:r>
              <a:rPr b="0" lang="en-US" sz="1800" spc="-1" strike="noStrike">
                <a:solidFill>
                  <a:schemeClr val="dk2"/>
                </a:solidFill>
                <a:latin typeface="Times New Roman"/>
                <a:ea typeface="MS PGothic"/>
              </a:rPr>
              <a:t>)</a:t>
            </a:r>
            <a:endParaRPr b="0" lang="en-US" sz="1800" spc="-1" strike="noStrike">
              <a:solidFill>
                <a:srgbClr val="000000"/>
              </a:solidFill>
              <a:latin typeface="Arial"/>
            </a:endParaRPr>
          </a:p>
          <a:p>
            <a:pPr defTabSz="343080">
              <a:lnSpc>
                <a:spcPct val="90000"/>
              </a:lnSpc>
              <a:spcBef>
                <a:spcPts val="360"/>
              </a:spcBef>
            </a:pPr>
            <a:r>
              <a:rPr b="0" lang="en-US" sz="1800" spc="-1" strike="noStrike">
                <a:solidFill>
                  <a:schemeClr val="dk2"/>
                </a:solidFill>
                <a:latin typeface="Times New Roman"/>
                <a:ea typeface="MS PGothic"/>
              </a:rPr>
              <a:t>	</a:t>
            </a:r>
            <a:r>
              <a:rPr b="1" lang="en-US" sz="1800" spc="-1" strike="noStrike">
                <a:solidFill>
                  <a:srgbClr val="000000"/>
                </a:solidFill>
                <a:latin typeface="Times New Roman"/>
                <a:ea typeface="MS PGothic"/>
              </a:rPr>
              <a:t>Input</a:t>
            </a:r>
            <a:r>
              <a:rPr b="0" lang="en-US" sz="1800" spc="-1" strike="noStrike">
                <a:solidFill>
                  <a:schemeClr val="dk1"/>
                </a:solidFill>
                <a:latin typeface="Times New Roman"/>
                <a:ea typeface="MS PGothic"/>
              </a:rPr>
              <a:t> </a:t>
            </a:r>
            <a:r>
              <a:rPr b="0" lang="en-US" sz="1800" spc="-1" strike="noStrike">
                <a:solidFill>
                  <a:schemeClr val="accent2"/>
                </a:solidFill>
                <a:latin typeface="Times New Roman"/>
                <a:ea typeface="MS PGothic"/>
              </a:rPr>
              <a:t>graph </a:t>
            </a:r>
            <a:r>
              <a:rPr b="1" i="1" lang="en-US" sz="1800" spc="-1" strike="noStrike">
                <a:solidFill>
                  <a:schemeClr val="accent2"/>
                </a:solidFill>
                <a:latin typeface="Times New Roman"/>
                <a:ea typeface="MS PGothic"/>
              </a:rPr>
              <a:t>G</a:t>
            </a:r>
            <a:endParaRPr b="0" lang="en-US" sz="1800" spc="-1" strike="noStrike">
              <a:solidFill>
                <a:srgbClr val="000000"/>
              </a:solidFill>
              <a:latin typeface="Arial"/>
            </a:endParaRPr>
          </a:p>
          <a:p>
            <a:pPr defTabSz="343080">
              <a:lnSpc>
                <a:spcPct val="90000"/>
              </a:lnSpc>
              <a:spcBef>
                <a:spcPts val="360"/>
              </a:spcBef>
            </a:pPr>
            <a:r>
              <a:rPr b="0"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Output</a:t>
            </a:r>
            <a:r>
              <a:rPr b="0" lang="en-US" sz="1800" spc="-1" strike="noStrike">
                <a:solidFill>
                  <a:schemeClr val="dk1"/>
                </a:solidFill>
                <a:latin typeface="Times New Roman"/>
                <a:ea typeface="MS PGothic"/>
              </a:rPr>
              <a:t> </a:t>
            </a:r>
            <a:r>
              <a:rPr b="0" lang="en-US" sz="1800" spc="-1" strike="noStrike">
                <a:solidFill>
                  <a:schemeClr val="accent2"/>
                </a:solidFill>
                <a:latin typeface="Times New Roman"/>
                <a:ea typeface="MS PGothic"/>
              </a:rPr>
              <a:t>labeling of the edges of </a:t>
            </a:r>
            <a:r>
              <a:rPr b="1" i="1" lang="en-US" sz="1800" spc="-1" strike="noStrike">
                <a:solidFill>
                  <a:schemeClr val="accent2"/>
                </a:solidFill>
                <a:latin typeface="Times New Roman"/>
                <a:ea typeface="MS PGothic"/>
              </a:rPr>
              <a:t>G</a:t>
            </a:r>
            <a:r>
              <a:rPr b="0" lang="en-US" sz="1800" spc="-1" strike="noStrike">
                <a:solidFill>
                  <a:schemeClr val="accent2"/>
                </a:solidFill>
                <a:latin typeface="Times New Roman"/>
                <a:ea typeface="MS PGothic"/>
              </a:rPr>
              <a:t> </a:t>
            </a:r>
            <a:br>
              <a:rPr sz="1800"/>
            </a:b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as discovery edges and</a:t>
            </a:r>
            <a:br>
              <a:rPr sz="1800"/>
            </a:b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back edges</a:t>
            </a:r>
            <a:endParaRPr b="0" lang="en-US" sz="1800" spc="-1" strike="noStrike">
              <a:solidFill>
                <a:srgbClr val="000000"/>
              </a:solidFill>
              <a:latin typeface="Arial"/>
            </a:endParaRPr>
          </a:p>
          <a:p>
            <a:pPr marL="228600" defTabSz="343080">
              <a:lnSpc>
                <a:spcPct val="90000"/>
              </a:lnSpc>
              <a:spcBef>
                <a:spcPts val="360"/>
              </a:spcBef>
            </a:pPr>
            <a:r>
              <a:rPr b="1" lang="en-US" sz="1800" spc="-1" strike="noStrike">
                <a:solidFill>
                  <a:srgbClr val="000000"/>
                </a:solidFill>
                <a:latin typeface="Times New Roman"/>
                <a:ea typeface="MS PGothic"/>
              </a:rPr>
              <a:t>for all </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u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G.vertices</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343080">
              <a:lnSpc>
                <a:spcPct val="90000"/>
              </a:lnSpc>
              <a:spcBef>
                <a:spcPts val="360"/>
              </a:spcBef>
            </a:pPr>
            <a:r>
              <a:rPr b="0"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u, UNEXPLORED</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343080">
              <a:lnSpc>
                <a:spcPct val="90000"/>
              </a:lnSpc>
              <a:spcBef>
                <a:spcPts val="360"/>
              </a:spcBef>
            </a:pPr>
            <a:r>
              <a:rPr b="1" lang="en-US" sz="1800" spc="-1" strike="noStrike">
                <a:solidFill>
                  <a:srgbClr val="000000"/>
                </a:solidFill>
                <a:latin typeface="Times New Roman"/>
                <a:ea typeface="MS PGothic"/>
              </a:rPr>
              <a:t>for all </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e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G.edges</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343080">
              <a:lnSpc>
                <a:spcPct val="90000"/>
              </a:lnSpc>
              <a:spcBef>
                <a:spcPts val="360"/>
              </a:spcBef>
            </a:pPr>
            <a:r>
              <a:rPr b="0"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e, UNEXPLORED</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343080">
              <a:lnSpc>
                <a:spcPct val="90000"/>
              </a:lnSpc>
              <a:spcBef>
                <a:spcPts val="360"/>
              </a:spcBef>
            </a:pPr>
            <a:r>
              <a:rPr b="1" lang="en-US" sz="1800" spc="-1" strike="noStrike">
                <a:solidFill>
                  <a:srgbClr val="000000"/>
                </a:solidFill>
                <a:latin typeface="Times New Roman"/>
                <a:ea typeface="MS PGothic"/>
              </a:rPr>
              <a:t>for all </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v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G.vertices</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343080">
              <a:lnSpc>
                <a:spcPct val="90000"/>
              </a:lnSpc>
              <a:spcBef>
                <a:spcPts val="360"/>
              </a:spcBef>
            </a:pP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if</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getLabel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v</a:t>
            </a:r>
            <a:r>
              <a:rPr b="0" lang="en-US" sz="1800" spc="-1" strike="noStrike">
                <a:solidFill>
                  <a:schemeClr val="accent2"/>
                </a:solidFill>
                <a:latin typeface="Times New Roman"/>
                <a:ea typeface="MS PGothic"/>
              </a:rPr>
              <a:t>) </a:t>
            </a:r>
            <a:r>
              <a:rPr b="0" lang="en-US" sz="1800" spc="-1" strike="noStrike">
                <a:solidFill>
                  <a:srgbClr val="000000"/>
                </a:solidFill>
                <a:latin typeface="Symbol"/>
                <a:ea typeface="MS PGothic"/>
              </a:rPr>
              <a:t>= </a:t>
            </a:r>
            <a:r>
              <a:rPr b="1" i="1" lang="en-US" sz="1800" spc="-1" strike="noStrike">
                <a:solidFill>
                  <a:schemeClr val="accent2"/>
                </a:solidFill>
                <a:latin typeface="Times New Roman"/>
                <a:ea typeface="MS PGothic"/>
              </a:rPr>
              <a:t>UNEXPLORED</a:t>
            </a:r>
            <a:endParaRPr b="0" lang="en-US" sz="1800" spc="-1" strike="noStrike">
              <a:solidFill>
                <a:srgbClr val="000000"/>
              </a:solidFill>
              <a:latin typeface="Arial"/>
            </a:endParaRPr>
          </a:p>
          <a:p>
            <a:pPr marL="228600" defTabSz="343080">
              <a:lnSpc>
                <a:spcPct val="90000"/>
              </a:lnSpc>
              <a:spcBef>
                <a:spcPts val="360"/>
              </a:spcBef>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DFS</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G, v</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Python Implementation</a:t>
            </a:r>
            <a:endParaRPr b="0" lang="en-US" sz="4400" spc="-1" strike="noStrike">
              <a:solidFill>
                <a:srgbClr val="000000"/>
              </a:solidFill>
              <a:latin typeface="Arial"/>
            </a:endParaRPr>
          </a:p>
        </p:txBody>
      </p:sp>
      <p:sp>
        <p:nvSpPr>
          <p:cNvPr id="414" name="PlaceHolder 2"/>
          <p:cNvSpPr>
            <a:spLocks noGrp="1"/>
          </p:cNvSpPr>
          <p:nvPr>
            <p:ph type="sldNum" idx="55"/>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DE4D79D3-E0A2-4312-87FF-C1B502D0B188}" type="slidenum">
              <a:rPr b="0" lang="en-US" sz="1400" spc="-1" strike="noStrike">
                <a:solidFill>
                  <a:schemeClr val="dk1">
                    <a:tint val="75000"/>
                  </a:schemeClr>
                </a:solidFill>
                <a:latin typeface="Tahoma"/>
                <a:ea typeface="MS PGothic"/>
              </a:rPr>
              <a:t>29</a:t>
            </a:fld>
            <a:endParaRPr b="0" lang="en-US" sz="1400" spc="-1" strike="noStrike">
              <a:solidFill>
                <a:srgbClr val="000000"/>
              </a:solidFill>
              <a:latin typeface="Times New Roman"/>
            </a:endParaRPr>
          </a:p>
        </p:txBody>
      </p:sp>
      <p:pic>
        <p:nvPicPr>
          <p:cNvPr id="415" name="Picture 5" descr=""/>
          <p:cNvPicPr/>
          <p:nvPr/>
        </p:nvPicPr>
        <p:blipFill>
          <a:blip r:embed="rId1"/>
          <a:stretch/>
        </p:blipFill>
        <p:spPr>
          <a:xfrm>
            <a:off x="2247840" y="2060640"/>
            <a:ext cx="7732800" cy="329724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Example</a:t>
            </a:r>
            <a:endParaRPr b="0" lang="en-US" sz="4400" spc="-1" strike="noStrike">
              <a:solidFill>
                <a:srgbClr val="000000"/>
              </a:solidFill>
              <a:latin typeface="Arial"/>
            </a:endParaRPr>
          </a:p>
        </p:txBody>
      </p:sp>
      <p:sp>
        <p:nvSpPr>
          <p:cNvPr id="417" name="PlaceHolder 2"/>
          <p:cNvSpPr>
            <a:spLocks noGrp="1"/>
          </p:cNvSpPr>
          <p:nvPr>
            <p:ph type="sldNum" idx="56"/>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5EB1C9AD-CD6C-4CA8-9EE9-454CD8C285B8}" type="slidenum">
              <a:rPr b="0" lang="en-US" sz="1400" spc="-1" strike="noStrike">
                <a:solidFill>
                  <a:schemeClr val="dk1">
                    <a:tint val="75000"/>
                  </a:schemeClr>
                </a:solidFill>
                <a:latin typeface="Tahoma"/>
                <a:ea typeface="MS PGothic"/>
              </a:rPr>
              <a:t>30</a:t>
            </a:fld>
            <a:endParaRPr b="0" lang="en-US" sz="1400" spc="-1" strike="noStrike">
              <a:solidFill>
                <a:srgbClr val="000000"/>
              </a:solidFill>
              <a:latin typeface="Times New Roman"/>
            </a:endParaRPr>
          </a:p>
        </p:txBody>
      </p:sp>
      <p:grpSp>
        <p:nvGrpSpPr>
          <p:cNvPr id="418" name="Group 74"/>
          <p:cNvGrpSpPr/>
          <p:nvPr/>
        </p:nvGrpSpPr>
        <p:grpSpPr>
          <a:xfrm>
            <a:off x="2666880" y="4265640"/>
            <a:ext cx="3080160" cy="1829160"/>
            <a:chOff x="2666880" y="4265640"/>
            <a:chExt cx="3080160" cy="1829160"/>
          </a:xfrm>
        </p:grpSpPr>
        <p:sp>
          <p:nvSpPr>
            <p:cNvPr id="419" name="Oval 4"/>
            <p:cNvSpPr/>
            <p:nvPr/>
          </p:nvSpPr>
          <p:spPr>
            <a:xfrm>
              <a:off x="4130640" y="49975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sp>
          <p:nvSpPr>
            <p:cNvPr id="420" name="Oval 5"/>
            <p:cNvSpPr/>
            <p:nvPr/>
          </p:nvSpPr>
          <p:spPr>
            <a:xfrm>
              <a:off x="2666880" y="49975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421" name="Oval 6"/>
            <p:cNvSpPr/>
            <p:nvPr/>
          </p:nvSpPr>
          <p:spPr>
            <a:xfrm>
              <a:off x="3398760" y="42656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422" name="Oval 7"/>
            <p:cNvSpPr/>
            <p:nvPr/>
          </p:nvSpPr>
          <p:spPr>
            <a:xfrm>
              <a:off x="3398760" y="57294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cxnSp>
          <p:nvCxnSpPr>
            <p:cNvPr id="423" name="AutoShape 8"/>
            <p:cNvCxnSpPr>
              <a:stCxn id="421" idx="3"/>
              <a:endCxn id="420" idx="7"/>
            </p:cNvCxnSpPr>
            <p:nvPr/>
          </p:nvCxnSpPr>
          <p:spPr>
            <a:xfrm flipH="1">
              <a:off x="2979360" y="4578120"/>
              <a:ext cx="473400" cy="473400"/>
            </a:xfrm>
            <a:prstGeom prst="straightConnector1">
              <a:avLst/>
            </a:prstGeom>
            <a:ln w="38100">
              <a:solidFill>
                <a:srgbClr val="44546a"/>
              </a:solidFill>
              <a:round/>
              <a:tailEnd len="med" type="triangle" w="med"/>
            </a:ln>
          </p:spPr>
        </p:cxnSp>
        <p:cxnSp>
          <p:nvCxnSpPr>
            <p:cNvPr id="424" name="AutoShape 9"/>
            <p:cNvCxnSpPr>
              <a:stCxn id="422" idx="1"/>
              <a:endCxn id="420" idx="5"/>
            </p:cNvCxnSpPr>
            <p:nvPr/>
          </p:nvCxnSpPr>
          <p:spPr>
            <a:xfrm flipH="1" flipV="1">
              <a:off x="2979360" y="5310000"/>
              <a:ext cx="473400" cy="473400"/>
            </a:xfrm>
            <a:prstGeom prst="straightConnector1">
              <a:avLst/>
            </a:prstGeom>
            <a:ln w="19050">
              <a:solidFill>
                <a:srgbClr val="000000"/>
              </a:solidFill>
              <a:round/>
            </a:ln>
          </p:spPr>
        </p:cxnSp>
        <p:cxnSp>
          <p:nvCxnSpPr>
            <p:cNvPr id="425" name="AutoShape 10"/>
            <p:cNvCxnSpPr>
              <a:stCxn id="422" idx="7"/>
              <a:endCxn id="419" idx="3"/>
            </p:cNvCxnSpPr>
            <p:nvPr/>
          </p:nvCxnSpPr>
          <p:spPr>
            <a:xfrm flipV="1">
              <a:off x="3711240" y="5310000"/>
              <a:ext cx="473400" cy="473400"/>
            </a:xfrm>
            <a:prstGeom prst="straightConnector1">
              <a:avLst/>
            </a:prstGeom>
            <a:ln w="19050">
              <a:solidFill>
                <a:srgbClr val="000000"/>
              </a:solidFill>
              <a:round/>
            </a:ln>
          </p:spPr>
        </p:cxnSp>
        <p:cxnSp>
          <p:nvCxnSpPr>
            <p:cNvPr id="426" name="AutoShape 11"/>
            <p:cNvCxnSpPr>
              <a:stCxn id="421" idx="5"/>
              <a:endCxn id="419" idx="1"/>
            </p:cNvCxnSpPr>
            <p:nvPr/>
          </p:nvCxnSpPr>
          <p:spPr>
            <a:xfrm>
              <a:off x="3711240" y="4578120"/>
              <a:ext cx="473400" cy="473400"/>
            </a:xfrm>
            <a:prstGeom prst="straightConnector1">
              <a:avLst/>
            </a:prstGeom>
            <a:ln w="19050">
              <a:solidFill>
                <a:srgbClr val="000000"/>
              </a:solidFill>
              <a:round/>
            </a:ln>
          </p:spPr>
        </p:cxnSp>
        <p:cxnSp>
          <p:nvCxnSpPr>
            <p:cNvPr id="427" name="AutoShape 12"/>
            <p:cNvCxnSpPr>
              <a:stCxn id="421" idx="4"/>
              <a:endCxn id="422" idx="0"/>
            </p:cNvCxnSpPr>
            <p:nvPr/>
          </p:nvCxnSpPr>
          <p:spPr>
            <a:xfrm>
              <a:off x="3581640" y="4631400"/>
              <a:ext cx="720" cy="1098720"/>
            </a:xfrm>
            <a:prstGeom prst="straightConnector1">
              <a:avLst/>
            </a:prstGeom>
            <a:ln w="19050">
              <a:solidFill>
                <a:srgbClr val="000000"/>
              </a:solidFill>
              <a:round/>
            </a:ln>
          </p:spPr>
        </p:cxnSp>
        <p:sp>
          <p:nvSpPr>
            <p:cNvPr id="428" name="Oval 13"/>
            <p:cNvSpPr/>
            <p:nvPr/>
          </p:nvSpPr>
          <p:spPr>
            <a:xfrm>
              <a:off x="5381640" y="49975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429" name="AutoShape 15"/>
            <p:cNvCxnSpPr>
              <a:stCxn id="422" idx="6"/>
              <a:endCxn id="428" idx="3"/>
            </p:cNvCxnSpPr>
            <p:nvPr/>
          </p:nvCxnSpPr>
          <p:spPr>
            <a:xfrm flipV="1">
              <a:off x="3764520" y="5310000"/>
              <a:ext cx="1671120" cy="603000"/>
            </a:xfrm>
            <a:prstGeom prst="straightConnector1">
              <a:avLst/>
            </a:prstGeom>
            <a:ln w="19050">
              <a:solidFill>
                <a:srgbClr val="000000"/>
              </a:solidFill>
              <a:round/>
            </a:ln>
          </p:spPr>
        </p:cxnSp>
        <p:cxnSp>
          <p:nvCxnSpPr>
            <p:cNvPr id="430" name="AutoShape 16"/>
            <p:cNvCxnSpPr>
              <a:stCxn id="428" idx="1"/>
              <a:endCxn id="421" idx="6"/>
            </p:cNvCxnSpPr>
            <p:nvPr/>
          </p:nvCxnSpPr>
          <p:spPr>
            <a:xfrm flipH="1" flipV="1">
              <a:off x="3764520" y="4448520"/>
              <a:ext cx="1671120" cy="603000"/>
            </a:xfrm>
            <a:prstGeom prst="straightConnector1">
              <a:avLst/>
            </a:prstGeom>
            <a:ln w="19050">
              <a:solidFill>
                <a:srgbClr val="000000"/>
              </a:solidFill>
              <a:round/>
            </a:ln>
          </p:spPr>
        </p:cxnSp>
      </p:grpSp>
      <p:grpSp>
        <p:nvGrpSpPr>
          <p:cNvPr id="431" name="Group 55"/>
          <p:cNvGrpSpPr/>
          <p:nvPr/>
        </p:nvGrpSpPr>
        <p:grpSpPr>
          <a:xfrm>
            <a:off x="6972480" y="1600200"/>
            <a:ext cx="3079800" cy="1829160"/>
            <a:chOff x="6972480" y="1600200"/>
            <a:chExt cx="3079800" cy="1829160"/>
          </a:xfrm>
        </p:grpSpPr>
        <p:sp>
          <p:nvSpPr>
            <p:cNvPr id="432" name="Oval 17"/>
            <p:cNvSpPr/>
            <p:nvPr/>
          </p:nvSpPr>
          <p:spPr>
            <a:xfrm>
              <a:off x="8435880" y="233208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sp>
          <p:nvSpPr>
            <p:cNvPr id="433" name="Oval 18"/>
            <p:cNvSpPr/>
            <p:nvPr/>
          </p:nvSpPr>
          <p:spPr>
            <a:xfrm>
              <a:off x="6972480" y="23320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434" name="Oval 19"/>
            <p:cNvSpPr/>
            <p:nvPr/>
          </p:nvSpPr>
          <p:spPr>
            <a:xfrm>
              <a:off x="7704000" y="16002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435" name="Oval 20"/>
            <p:cNvSpPr/>
            <p:nvPr/>
          </p:nvSpPr>
          <p:spPr>
            <a:xfrm>
              <a:off x="7704000" y="30639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cxnSp>
          <p:nvCxnSpPr>
            <p:cNvPr id="436" name="AutoShape 21"/>
            <p:cNvCxnSpPr>
              <a:stCxn id="434" idx="3"/>
              <a:endCxn id="433" idx="7"/>
            </p:cNvCxnSpPr>
            <p:nvPr/>
          </p:nvCxnSpPr>
          <p:spPr>
            <a:xfrm flipH="1">
              <a:off x="7284960" y="1912680"/>
              <a:ext cx="473040" cy="473400"/>
            </a:xfrm>
            <a:prstGeom prst="straightConnector1">
              <a:avLst/>
            </a:prstGeom>
            <a:ln w="38100">
              <a:solidFill>
                <a:srgbClr val="44546a"/>
              </a:solidFill>
              <a:round/>
              <a:tailEnd len="med" type="triangle" w="med"/>
            </a:ln>
          </p:spPr>
        </p:cxnSp>
        <p:cxnSp>
          <p:nvCxnSpPr>
            <p:cNvPr id="437" name="AutoShape 22"/>
            <p:cNvCxnSpPr>
              <a:stCxn id="435" idx="1"/>
              <a:endCxn id="433" idx="5"/>
            </p:cNvCxnSpPr>
            <p:nvPr/>
          </p:nvCxnSpPr>
          <p:spPr>
            <a:xfrm flipH="1" flipV="1">
              <a:off x="7284960" y="2644560"/>
              <a:ext cx="473040" cy="473400"/>
            </a:xfrm>
            <a:prstGeom prst="straightConnector1">
              <a:avLst/>
            </a:prstGeom>
            <a:ln w="38100">
              <a:solidFill>
                <a:srgbClr val="44546a"/>
              </a:solidFill>
              <a:round/>
              <a:headEnd len="med" type="triangle" w="med"/>
            </a:ln>
          </p:spPr>
        </p:cxnSp>
        <p:cxnSp>
          <p:nvCxnSpPr>
            <p:cNvPr id="438" name="AutoShape 23"/>
            <p:cNvCxnSpPr>
              <a:stCxn id="435" idx="7"/>
              <a:endCxn id="432" idx="3"/>
            </p:cNvCxnSpPr>
            <p:nvPr/>
          </p:nvCxnSpPr>
          <p:spPr>
            <a:xfrm flipV="1">
              <a:off x="8016480" y="2644560"/>
              <a:ext cx="473400" cy="473400"/>
            </a:xfrm>
            <a:prstGeom prst="straightConnector1">
              <a:avLst/>
            </a:prstGeom>
            <a:ln w="19050">
              <a:solidFill>
                <a:srgbClr val="000000"/>
              </a:solidFill>
              <a:round/>
            </a:ln>
          </p:spPr>
        </p:cxnSp>
        <p:cxnSp>
          <p:nvCxnSpPr>
            <p:cNvPr id="439" name="AutoShape 24"/>
            <p:cNvCxnSpPr>
              <a:stCxn id="434" idx="5"/>
              <a:endCxn id="432" idx="1"/>
            </p:cNvCxnSpPr>
            <p:nvPr/>
          </p:nvCxnSpPr>
          <p:spPr>
            <a:xfrm>
              <a:off x="8016480" y="1912680"/>
              <a:ext cx="473400" cy="473400"/>
            </a:xfrm>
            <a:prstGeom prst="straightConnector1">
              <a:avLst/>
            </a:prstGeom>
            <a:ln w="19050">
              <a:solidFill>
                <a:srgbClr val="000000"/>
              </a:solidFill>
              <a:round/>
            </a:ln>
          </p:spPr>
        </p:cxnSp>
        <p:cxnSp>
          <p:nvCxnSpPr>
            <p:cNvPr id="440" name="AutoShape 25"/>
            <p:cNvCxnSpPr>
              <a:stCxn id="434" idx="4"/>
              <a:endCxn id="435" idx="0"/>
            </p:cNvCxnSpPr>
            <p:nvPr/>
          </p:nvCxnSpPr>
          <p:spPr>
            <a:xfrm>
              <a:off x="7886880" y="1965960"/>
              <a:ext cx="720" cy="1098720"/>
            </a:xfrm>
            <a:prstGeom prst="straightConnector1">
              <a:avLst/>
            </a:prstGeom>
            <a:ln w="19050">
              <a:solidFill>
                <a:srgbClr val="000000"/>
              </a:solidFill>
              <a:round/>
            </a:ln>
          </p:spPr>
        </p:cxnSp>
        <p:sp>
          <p:nvSpPr>
            <p:cNvPr id="441" name="Oval 26"/>
            <p:cNvSpPr/>
            <p:nvPr/>
          </p:nvSpPr>
          <p:spPr>
            <a:xfrm>
              <a:off x="9686880" y="233208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442" name="AutoShape 28"/>
            <p:cNvCxnSpPr>
              <a:stCxn id="435" idx="6"/>
              <a:endCxn id="441" idx="3"/>
            </p:cNvCxnSpPr>
            <p:nvPr/>
          </p:nvCxnSpPr>
          <p:spPr>
            <a:xfrm flipV="1">
              <a:off x="8069760" y="2644560"/>
              <a:ext cx="1671120" cy="603000"/>
            </a:xfrm>
            <a:prstGeom prst="straightConnector1">
              <a:avLst/>
            </a:prstGeom>
            <a:ln w="19050">
              <a:solidFill>
                <a:srgbClr val="000000"/>
              </a:solidFill>
              <a:round/>
            </a:ln>
          </p:spPr>
        </p:cxnSp>
        <p:cxnSp>
          <p:nvCxnSpPr>
            <p:cNvPr id="443" name="AutoShape 29"/>
            <p:cNvCxnSpPr>
              <a:stCxn id="441" idx="1"/>
              <a:endCxn id="434" idx="6"/>
            </p:cNvCxnSpPr>
            <p:nvPr/>
          </p:nvCxnSpPr>
          <p:spPr>
            <a:xfrm flipH="1" flipV="1">
              <a:off x="8069760" y="1783080"/>
              <a:ext cx="1671120" cy="603000"/>
            </a:xfrm>
            <a:prstGeom prst="straightConnector1">
              <a:avLst/>
            </a:prstGeom>
            <a:ln w="19050">
              <a:solidFill>
                <a:srgbClr val="000000"/>
              </a:solidFill>
              <a:round/>
            </a:ln>
          </p:spPr>
        </p:cxnSp>
      </p:grpSp>
      <p:grpSp>
        <p:nvGrpSpPr>
          <p:cNvPr id="444" name="Group 54"/>
          <p:cNvGrpSpPr/>
          <p:nvPr/>
        </p:nvGrpSpPr>
        <p:grpSpPr>
          <a:xfrm>
            <a:off x="6972480" y="4267080"/>
            <a:ext cx="3079800" cy="1829160"/>
            <a:chOff x="6972480" y="4267080"/>
            <a:chExt cx="3079800" cy="1829160"/>
          </a:xfrm>
        </p:grpSpPr>
        <p:sp>
          <p:nvSpPr>
            <p:cNvPr id="445" name="Oval 30"/>
            <p:cNvSpPr/>
            <p:nvPr/>
          </p:nvSpPr>
          <p:spPr>
            <a:xfrm>
              <a:off x="8435880" y="49989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sp>
          <p:nvSpPr>
            <p:cNvPr id="446" name="Oval 31"/>
            <p:cNvSpPr/>
            <p:nvPr/>
          </p:nvSpPr>
          <p:spPr>
            <a:xfrm>
              <a:off x="6972480" y="49989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447" name="Oval 32"/>
            <p:cNvSpPr/>
            <p:nvPr/>
          </p:nvSpPr>
          <p:spPr>
            <a:xfrm>
              <a:off x="7704000" y="42670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448" name="Oval 33"/>
            <p:cNvSpPr/>
            <p:nvPr/>
          </p:nvSpPr>
          <p:spPr>
            <a:xfrm>
              <a:off x="7704000" y="57308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cxnSp>
          <p:nvCxnSpPr>
            <p:cNvPr id="449" name="AutoShape 34"/>
            <p:cNvCxnSpPr>
              <a:stCxn id="447" idx="3"/>
              <a:endCxn id="446" idx="7"/>
            </p:cNvCxnSpPr>
            <p:nvPr/>
          </p:nvCxnSpPr>
          <p:spPr>
            <a:xfrm flipH="1">
              <a:off x="7284960" y="4579560"/>
              <a:ext cx="473040" cy="473400"/>
            </a:xfrm>
            <a:prstGeom prst="straightConnector1">
              <a:avLst/>
            </a:prstGeom>
            <a:ln w="38100">
              <a:solidFill>
                <a:srgbClr val="44546a"/>
              </a:solidFill>
              <a:round/>
              <a:tailEnd len="med" type="triangle" w="med"/>
            </a:ln>
          </p:spPr>
        </p:cxnSp>
        <p:cxnSp>
          <p:nvCxnSpPr>
            <p:cNvPr id="450" name="AutoShape 35"/>
            <p:cNvCxnSpPr>
              <a:stCxn id="448" idx="1"/>
              <a:endCxn id="446" idx="5"/>
            </p:cNvCxnSpPr>
            <p:nvPr/>
          </p:nvCxnSpPr>
          <p:spPr>
            <a:xfrm flipH="1" flipV="1">
              <a:off x="7284960" y="5311440"/>
              <a:ext cx="473040" cy="473400"/>
            </a:xfrm>
            <a:prstGeom prst="straightConnector1">
              <a:avLst/>
            </a:prstGeom>
            <a:ln w="38100">
              <a:solidFill>
                <a:srgbClr val="44546a"/>
              </a:solidFill>
              <a:round/>
              <a:headEnd len="med" type="triangle" w="med"/>
            </a:ln>
          </p:spPr>
        </p:cxnSp>
        <p:cxnSp>
          <p:nvCxnSpPr>
            <p:cNvPr id="451" name="AutoShape 36"/>
            <p:cNvCxnSpPr>
              <a:stCxn id="448" idx="7"/>
              <a:endCxn id="445" idx="3"/>
            </p:cNvCxnSpPr>
            <p:nvPr/>
          </p:nvCxnSpPr>
          <p:spPr>
            <a:xfrm flipV="1">
              <a:off x="8016480" y="5311440"/>
              <a:ext cx="473400" cy="473400"/>
            </a:xfrm>
            <a:prstGeom prst="straightConnector1">
              <a:avLst/>
            </a:prstGeom>
            <a:ln w="19050">
              <a:solidFill>
                <a:srgbClr val="000000"/>
              </a:solidFill>
              <a:round/>
            </a:ln>
          </p:spPr>
        </p:cxnSp>
        <p:cxnSp>
          <p:nvCxnSpPr>
            <p:cNvPr id="452" name="AutoShape 37"/>
            <p:cNvCxnSpPr>
              <a:stCxn id="447" idx="5"/>
              <a:endCxn id="445" idx="1"/>
            </p:cNvCxnSpPr>
            <p:nvPr/>
          </p:nvCxnSpPr>
          <p:spPr>
            <a:xfrm>
              <a:off x="8016480" y="4579560"/>
              <a:ext cx="473400" cy="473400"/>
            </a:xfrm>
            <a:prstGeom prst="straightConnector1">
              <a:avLst/>
            </a:prstGeom>
            <a:ln w="19050">
              <a:solidFill>
                <a:srgbClr val="000000"/>
              </a:solidFill>
              <a:round/>
            </a:ln>
          </p:spPr>
        </p:cxnSp>
        <p:cxnSp>
          <p:nvCxnSpPr>
            <p:cNvPr id="453" name="AutoShape 38"/>
            <p:cNvCxnSpPr>
              <a:stCxn id="447" idx="4"/>
              <a:endCxn id="448" idx="0"/>
            </p:cNvCxnSpPr>
            <p:nvPr/>
          </p:nvCxnSpPr>
          <p:spPr>
            <a:xfrm>
              <a:off x="7886880" y="4632840"/>
              <a:ext cx="720" cy="1098720"/>
            </a:xfrm>
            <a:prstGeom prst="straightConnector1">
              <a:avLst/>
            </a:prstGeom>
            <a:ln w="38100">
              <a:solidFill>
                <a:srgbClr val="ed7d31"/>
              </a:solidFill>
              <a:prstDash val="dash"/>
              <a:round/>
              <a:headEnd len="med" type="triangle" w="med"/>
            </a:ln>
          </p:spPr>
        </p:cxnSp>
        <p:sp>
          <p:nvSpPr>
            <p:cNvPr id="454" name="Oval 39"/>
            <p:cNvSpPr/>
            <p:nvPr/>
          </p:nvSpPr>
          <p:spPr>
            <a:xfrm>
              <a:off x="9686880" y="49989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455" name="AutoShape 40"/>
            <p:cNvCxnSpPr>
              <a:stCxn id="448" idx="6"/>
              <a:endCxn id="454" idx="3"/>
            </p:cNvCxnSpPr>
            <p:nvPr/>
          </p:nvCxnSpPr>
          <p:spPr>
            <a:xfrm flipV="1">
              <a:off x="8069760" y="5311440"/>
              <a:ext cx="1671120" cy="603000"/>
            </a:xfrm>
            <a:prstGeom prst="straightConnector1">
              <a:avLst/>
            </a:prstGeom>
            <a:ln w="19050">
              <a:solidFill>
                <a:srgbClr val="000000"/>
              </a:solidFill>
              <a:round/>
            </a:ln>
          </p:spPr>
        </p:cxnSp>
        <p:cxnSp>
          <p:nvCxnSpPr>
            <p:cNvPr id="456" name="AutoShape 41"/>
            <p:cNvCxnSpPr>
              <a:stCxn id="454" idx="1"/>
              <a:endCxn id="447" idx="6"/>
            </p:cNvCxnSpPr>
            <p:nvPr/>
          </p:nvCxnSpPr>
          <p:spPr>
            <a:xfrm flipH="1" flipV="1">
              <a:off x="8069760" y="4449960"/>
              <a:ext cx="1671120" cy="603000"/>
            </a:xfrm>
            <a:prstGeom prst="straightConnector1">
              <a:avLst/>
            </a:prstGeom>
            <a:ln w="19050">
              <a:solidFill>
                <a:srgbClr val="000000"/>
              </a:solidFill>
              <a:round/>
            </a:ln>
          </p:spPr>
        </p:cxnSp>
      </p:grpSp>
      <p:sp>
        <p:nvSpPr>
          <p:cNvPr id="457" name="Text Box 58"/>
          <p:cNvSpPr/>
          <p:nvPr/>
        </p:nvSpPr>
        <p:spPr>
          <a:xfrm>
            <a:off x="3271680" y="2925720"/>
            <a:ext cx="232236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2"/>
                </a:solidFill>
                <a:latin typeface="Tahoma"/>
                <a:ea typeface="MS PGothic"/>
              </a:rPr>
              <a:t>discovery edge</a:t>
            </a:r>
            <a:endParaRPr b="0" lang="en-US" sz="2400" spc="-1" strike="noStrike">
              <a:solidFill>
                <a:srgbClr val="000000"/>
              </a:solidFill>
              <a:latin typeface="Arial"/>
            </a:endParaRPr>
          </a:p>
        </p:txBody>
      </p:sp>
      <p:sp>
        <p:nvSpPr>
          <p:cNvPr id="458" name="Text Box 60"/>
          <p:cNvSpPr/>
          <p:nvPr/>
        </p:nvSpPr>
        <p:spPr>
          <a:xfrm>
            <a:off x="3294000" y="3352680"/>
            <a:ext cx="164412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accent2"/>
                </a:solidFill>
                <a:latin typeface="Tahoma"/>
                <a:ea typeface="MS PGothic"/>
              </a:rPr>
              <a:t>back edge</a:t>
            </a:r>
            <a:endParaRPr b="0" lang="en-US" sz="2400" spc="-1" strike="noStrike">
              <a:solidFill>
                <a:srgbClr val="000000"/>
              </a:solidFill>
              <a:latin typeface="Arial"/>
            </a:endParaRPr>
          </a:p>
        </p:txBody>
      </p:sp>
      <p:sp>
        <p:nvSpPr>
          <p:cNvPr id="459" name="Oval 61"/>
          <p:cNvSpPr/>
          <p:nvPr/>
        </p:nvSpPr>
        <p:spPr>
          <a:xfrm>
            <a:off x="2525760" y="21178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460" name="Text Box 62"/>
          <p:cNvSpPr/>
          <p:nvPr/>
        </p:nvSpPr>
        <p:spPr>
          <a:xfrm>
            <a:off x="3285720" y="2071800"/>
            <a:ext cx="20754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2"/>
                </a:solidFill>
                <a:latin typeface="Tahoma"/>
                <a:ea typeface="MS PGothic"/>
              </a:rPr>
              <a:t>visited vertex</a:t>
            </a:r>
            <a:endParaRPr b="0" lang="en-US" sz="2400" spc="-1" strike="noStrike">
              <a:solidFill>
                <a:srgbClr val="000000"/>
              </a:solidFill>
              <a:latin typeface="Arial"/>
            </a:endParaRPr>
          </a:p>
        </p:txBody>
      </p:sp>
      <p:sp>
        <p:nvSpPr>
          <p:cNvPr id="461" name="Oval 63"/>
          <p:cNvSpPr/>
          <p:nvPr/>
        </p:nvSpPr>
        <p:spPr>
          <a:xfrm>
            <a:off x="2525760" y="16891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462" name="Text Box 64"/>
          <p:cNvSpPr/>
          <p:nvPr/>
        </p:nvSpPr>
        <p:spPr>
          <a:xfrm>
            <a:off x="3249720" y="1644480"/>
            <a:ext cx="27810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unexplored vertex</a:t>
            </a:r>
            <a:endParaRPr b="0" lang="en-US" sz="2400" spc="-1" strike="noStrike">
              <a:solidFill>
                <a:srgbClr val="000000"/>
              </a:solidFill>
              <a:latin typeface="Arial"/>
            </a:endParaRPr>
          </a:p>
        </p:txBody>
      </p:sp>
      <p:sp>
        <p:nvSpPr>
          <p:cNvPr id="463" name="Text Box 65"/>
          <p:cNvSpPr/>
          <p:nvPr/>
        </p:nvSpPr>
        <p:spPr>
          <a:xfrm>
            <a:off x="3246120" y="2498760"/>
            <a:ext cx="261036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400" spc="-1" strike="noStrike">
                <a:solidFill>
                  <a:schemeClr val="dk1"/>
                </a:solidFill>
                <a:latin typeface="Tahoma"/>
                <a:ea typeface="MS PGothic"/>
              </a:rPr>
              <a:t>unexplored edge</a:t>
            </a:r>
            <a:endParaRPr b="0" lang="en-US" sz="2400" spc="-1" strike="noStrike">
              <a:solidFill>
                <a:srgbClr val="000000"/>
              </a:solidFill>
              <a:latin typeface="Arial"/>
            </a:endParaRPr>
          </a:p>
        </p:txBody>
      </p:sp>
      <p:grpSp>
        <p:nvGrpSpPr>
          <p:cNvPr id="464" name="Group 73"/>
          <p:cNvGrpSpPr/>
          <p:nvPr/>
        </p:nvGrpSpPr>
        <p:grpSpPr>
          <a:xfrm>
            <a:off x="2269800" y="2728800"/>
            <a:ext cx="878040" cy="852840"/>
            <a:chOff x="2269800" y="2728800"/>
            <a:chExt cx="878040" cy="852840"/>
          </a:xfrm>
        </p:grpSpPr>
        <p:sp>
          <p:nvSpPr>
            <p:cNvPr id="465" name="Line 57"/>
            <p:cNvSpPr/>
            <p:nvPr/>
          </p:nvSpPr>
          <p:spPr>
            <a:xfrm>
              <a:off x="2269800" y="3154320"/>
              <a:ext cx="878040" cy="360"/>
            </a:xfrm>
            <a:prstGeom prst="line">
              <a:avLst/>
            </a:prstGeom>
            <a:ln w="38100">
              <a:solidFill>
                <a:srgbClr val="44546a"/>
              </a:solidFill>
              <a:round/>
              <a:tailEnd len="med" type="triangle" w="me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sp>
          <p:nvSpPr>
            <p:cNvPr id="466" name="Line 59"/>
            <p:cNvSpPr/>
            <p:nvPr/>
          </p:nvSpPr>
          <p:spPr>
            <a:xfrm>
              <a:off x="2269800" y="3581280"/>
              <a:ext cx="878040" cy="360"/>
            </a:xfrm>
            <a:prstGeom prst="line">
              <a:avLst/>
            </a:prstGeom>
            <a:ln w="38100">
              <a:solidFill>
                <a:srgbClr val="ed7d31"/>
              </a:solidFill>
              <a:prstDash val="dash"/>
              <a:round/>
              <a:tailEnd len="med" type="triangle" w="me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sp>
          <p:nvSpPr>
            <p:cNvPr id="467" name="Line 67"/>
            <p:cNvSpPr/>
            <p:nvPr/>
          </p:nvSpPr>
          <p:spPr>
            <a:xfrm>
              <a:off x="2269800" y="2728800"/>
              <a:ext cx="878040" cy="360"/>
            </a:xfrm>
            <a:prstGeom prst="line">
              <a:avLst/>
            </a:prstGeom>
            <a:ln w="1905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grpSp>
      <p:sp>
        <p:nvSpPr>
          <p:cNvPr id="468" name="AutoShape 75"/>
          <p:cNvSpPr/>
          <p:nvPr/>
        </p:nvSpPr>
        <p:spPr>
          <a:xfrm rot="5400000">
            <a:off x="8285040" y="3643200"/>
            <a:ext cx="455760" cy="331920"/>
          </a:xfrm>
          <a:prstGeom prst="rightArrow">
            <a:avLst>
              <a:gd name="adj1" fmla="val 50000"/>
              <a:gd name="adj2" fmla="val 34286"/>
            </a:avLst>
          </a:prstGeom>
          <a:no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469" name="AutoShape 76"/>
          <p:cNvSpPr/>
          <p:nvPr/>
        </p:nvSpPr>
        <p:spPr>
          <a:xfrm flipH="1" flipV="1" rot="8100000">
            <a:off x="5728320" y="3626640"/>
            <a:ext cx="1242360" cy="331560"/>
          </a:xfrm>
          <a:prstGeom prst="rightArrow">
            <a:avLst>
              <a:gd name="adj1" fmla="val 50000"/>
              <a:gd name="adj2" fmla="val 93214"/>
            </a:avLst>
          </a:prstGeom>
          <a:no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Example (cont.)</a:t>
            </a:r>
            <a:endParaRPr b="0" lang="en-US" sz="4400" spc="-1" strike="noStrike">
              <a:solidFill>
                <a:srgbClr val="000000"/>
              </a:solidFill>
              <a:latin typeface="Arial"/>
            </a:endParaRPr>
          </a:p>
        </p:txBody>
      </p:sp>
      <p:sp>
        <p:nvSpPr>
          <p:cNvPr id="471" name="PlaceHolder 2"/>
          <p:cNvSpPr>
            <a:spLocks noGrp="1"/>
          </p:cNvSpPr>
          <p:nvPr>
            <p:ph type="sldNum" idx="57"/>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978E7621-2168-4E75-95E8-5B62F26536B5}" type="slidenum">
              <a:rPr b="0" lang="en-US" sz="1400" spc="-1" strike="noStrike">
                <a:solidFill>
                  <a:schemeClr val="dk1">
                    <a:tint val="75000"/>
                  </a:schemeClr>
                </a:solidFill>
                <a:latin typeface="Tahoma"/>
                <a:ea typeface="MS PGothic"/>
              </a:rPr>
              <a:t>31</a:t>
            </a:fld>
            <a:endParaRPr b="0" lang="en-US" sz="1400" spc="-1" strike="noStrike">
              <a:solidFill>
                <a:srgbClr val="000000"/>
              </a:solidFill>
              <a:latin typeface="Times New Roman"/>
            </a:endParaRPr>
          </a:p>
        </p:txBody>
      </p:sp>
      <p:grpSp>
        <p:nvGrpSpPr>
          <p:cNvPr id="472" name="Group 1064"/>
          <p:cNvGrpSpPr/>
          <p:nvPr/>
        </p:nvGrpSpPr>
        <p:grpSpPr>
          <a:xfrm>
            <a:off x="2416320" y="4341960"/>
            <a:ext cx="3079800" cy="1828800"/>
            <a:chOff x="2416320" y="4341960"/>
            <a:chExt cx="3079800" cy="1828800"/>
          </a:xfrm>
        </p:grpSpPr>
        <p:sp>
          <p:nvSpPr>
            <p:cNvPr id="473" name="Oval 1027"/>
            <p:cNvSpPr/>
            <p:nvPr/>
          </p:nvSpPr>
          <p:spPr>
            <a:xfrm>
              <a:off x="3879720" y="50734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sp>
          <p:nvSpPr>
            <p:cNvPr id="474" name="Oval 1028"/>
            <p:cNvSpPr/>
            <p:nvPr/>
          </p:nvSpPr>
          <p:spPr>
            <a:xfrm>
              <a:off x="2416320" y="50734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475" name="Oval 1029"/>
            <p:cNvSpPr/>
            <p:nvPr/>
          </p:nvSpPr>
          <p:spPr>
            <a:xfrm>
              <a:off x="3147840" y="43419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476" name="Oval 1030"/>
            <p:cNvSpPr/>
            <p:nvPr/>
          </p:nvSpPr>
          <p:spPr>
            <a:xfrm>
              <a:off x="3147840" y="58053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cxnSp>
          <p:nvCxnSpPr>
            <p:cNvPr id="477" name="AutoShape 1031"/>
            <p:cNvCxnSpPr>
              <a:stCxn id="475" idx="3"/>
              <a:endCxn id="474" idx="7"/>
            </p:cNvCxnSpPr>
            <p:nvPr/>
          </p:nvCxnSpPr>
          <p:spPr>
            <a:xfrm flipH="1">
              <a:off x="2728800" y="4654440"/>
              <a:ext cx="473040" cy="473040"/>
            </a:xfrm>
            <a:prstGeom prst="straightConnector1">
              <a:avLst/>
            </a:prstGeom>
            <a:ln w="38100">
              <a:solidFill>
                <a:srgbClr val="44546a"/>
              </a:solidFill>
              <a:round/>
              <a:tailEnd len="med" type="triangle" w="med"/>
            </a:ln>
          </p:spPr>
        </p:cxnSp>
        <p:cxnSp>
          <p:nvCxnSpPr>
            <p:cNvPr id="478" name="AutoShape 1032"/>
            <p:cNvCxnSpPr>
              <a:stCxn id="476" idx="1"/>
              <a:endCxn id="474" idx="5"/>
            </p:cNvCxnSpPr>
            <p:nvPr/>
          </p:nvCxnSpPr>
          <p:spPr>
            <a:xfrm flipH="1" flipV="1">
              <a:off x="2728800" y="5385960"/>
              <a:ext cx="473040" cy="473400"/>
            </a:xfrm>
            <a:prstGeom prst="straightConnector1">
              <a:avLst/>
            </a:prstGeom>
            <a:ln w="38100">
              <a:solidFill>
                <a:srgbClr val="44546a"/>
              </a:solidFill>
              <a:round/>
              <a:headEnd len="med" type="triangle" w="med"/>
            </a:ln>
          </p:spPr>
        </p:cxnSp>
        <p:cxnSp>
          <p:nvCxnSpPr>
            <p:cNvPr id="479" name="AutoShape 1033"/>
            <p:cNvCxnSpPr>
              <a:stCxn id="476" idx="7"/>
              <a:endCxn id="473" idx="3"/>
            </p:cNvCxnSpPr>
            <p:nvPr/>
          </p:nvCxnSpPr>
          <p:spPr>
            <a:xfrm flipV="1">
              <a:off x="3460320" y="5385960"/>
              <a:ext cx="473400" cy="473400"/>
            </a:xfrm>
            <a:prstGeom prst="straightConnector1">
              <a:avLst/>
            </a:prstGeom>
            <a:ln w="38100">
              <a:solidFill>
                <a:srgbClr val="44546a"/>
              </a:solidFill>
              <a:round/>
              <a:tailEnd len="med" type="triangle" w="med"/>
            </a:ln>
          </p:spPr>
        </p:cxnSp>
        <p:cxnSp>
          <p:nvCxnSpPr>
            <p:cNvPr id="480" name="AutoShape 1034"/>
            <p:cNvCxnSpPr>
              <a:stCxn id="475" idx="5"/>
              <a:endCxn id="473" idx="1"/>
            </p:cNvCxnSpPr>
            <p:nvPr/>
          </p:nvCxnSpPr>
          <p:spPr>
            <a:xfrm>
              <a:off x="3460320" y="4654440"/>
              <a:ext cx="473400" cy="473040"/>
            </a:xfrm>
            <a:prstGeom prst="straightConnector1">
              <a:avLst/>
            </a:prstGeom>
            <a:ln w="38100">
              <a:solidFill>
                <a:srgbClr val="ed7d31"/>
              </a:solidFill>
              <a:prstDash val="dash"/>
              <a:round/>
              <a:headEnd len="med" type="triangle" w="med"/>
            </a:ln>
          </p:spPr>
        </p:cxnSp>
        <p:cxnSp>
          <p:nvCxnSpPr>
            <p:cNvPr id="481" name="AutoShape 1035"/>
            <p:cNvCxnSpPr>
              <a:stCxn id="475" idx="4"/>
              <a:endCxn id="476" idx="0"/>
            </p:cNvCxnSpPr>
            <p:nvPr/>
          </p:nvCxnSpPr>
          <p:spPr>
            <a:xfrm>
              <a:off x="3330720" y="4707720"/>
              <a:ext cx="720" cy="1098360"/>
            </a:xfrm>
            <a:prstGeom prst="straightConnector1">
              <a:avLst/>
            </a:prstGeom>
            <a:ln w="38100">
              <a:solidFill>
                <a:srgbClr val="ed7d31"/>
              </a:solidFill>
              <a:prstDash val="dash"/>
              <a:round/>
              <a:headEnd len="med" type="triangle" w="med"/>
            </a:ln>
          </p:spPr>
        </p:cxnSp>
        <p:sp>
          <p:nvSpPr>
            <p:cNvPr id="482" name="Oval 1036"/>
            <p:cNvSpPr/>
            <p:nvPr/>
          </p:nvSpPr>
          <p:spPr>
            <a:xfrm>
              <a:off x="5130720" y="507348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483" name="AutoShape 1037"/>
            <p:cNvCxnSpPr>
              <a:stCxn id="476" idx="6"/>
              <a:endCxn id="482" idx="3"/>
            </p:cNvCxnSpPr>
            <p:nvPr/>
          </p:nvCxnSpPr>
          <p:spPr>
            <a:xfrm flipV="1">
              <a:off x="3513600" y="5385960"/>
              <a:ext cx="1671120" cy="603000"/>
            </a:xfrm>
            <a:prstGeom prst="straightConnector1">
              <a:avLst/>
            </a:prstGeom>
            <a:ln w="19050">
              <a:solidFill>
                <a:srgbClr val="000000"/>
              </a:solidFill>
              <a:round/>
            </a:ln>
          </p:spPr>
        </p:cxnSp>
        <p:cxnSp>
          <p:nvCxnSpPr>
            <p:cNvPr id="484" name="AutoShape 1038"/>
            <p:cNvCxnSpPr>
              <a:stCxn id="482" idx="1"/>
              <a:endCxn id="475" idx="6"/>
            </p:cNvCxnSpPr>
            <p:nvPr/>
          </p:nvCxnSpPr>
          <p:spPr>
            <a:xfrm flipH="1" flipV="1">
              <a:off x="3513600" y="4524840"/>
              <a:ext cx="1671120" cy="602640"/>
            </a:xfrm>
            <a:prstGeom prst="straightConnector1">
              <a:avLst/>
            </a:prstGeom>
            <a:ln w="19050">
              <a:solidFill>
                <a:srgbClr val="000000"/>
              </a:solidFill>
              <a:round/>
            </a:ln>
          </p:spPr>
        </p:cxnSp>
      </p:grpSp>
      <p:grpSp>
        <p:nvGrpSpPr>
          <p:cNvPr id="485" name="Group 1065"/>
          <p:cNvGrpSpPr/>
          <p:nvPr/>
        </p:nvGrpSpPr>
        <p:grpSpPr>
          <a:xfrm>
            <a:off x="7053120" y="1676520"/>
            <a:ext cx="3080160" cy="1828800"/>
            <a:chOff x="7053120" y="1676520"/>
            <a:chExt cx="3080160" cy="1828800"/>
          </a:xfrm>
        </p:grpSpPr>
        <p:sp>
          <p:nvSpPr>
            <p:cNvPr id="486" name="Oval 1039"/>
            <p:cNvSpPr/>
            <p:nvPr/>
          </p:nvSpPr>
          <p:spPr>
            <a:xfrm>
              <a:off x="8516880" y="24084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sp>
          <p:nvSpPr>
            <p:cNvPr id="487" name="Oval 1040"/>
            <p:cNvSpPr/>
            <p:nvPr/>
          </p:nvSpPr>
          <p:spPr>
            <a:xfrm>
              <a:off x="7053120" y="24084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488" name="Oval 1041"/>
            <p:cNvSpPr/>
            <p:nvPr/>
          </p:nvSpPr>
          <p:spPr>
            <a:xfrm>
              <a:off x="7785000" y="16765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489" name="Oval 1042"/>
            <p:cNvSpPr/>
            <p:nvPr/>
          </p:nvSpPr>
          <p:spPr>
            <a:xfrm>
              <a:off x="7785000" y="31399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cxnSp>
          <p:nvCxnSpPr>
            <p:cNvPr id="490" name="AutoShape 1043"/>
            <p:cNvCxnSpPr>
              <a:stCxn id="488" idx="3"/>
              <a:endCxn id="487" idx="7"/>
            </p:cNvCxnSpPr>
            <p:nvPr/>
          </p:nvCxnSpPr>
          <p:spPr>
            <a:xfrm flipH="1">
              <a:off x="7365600" y="1989000"/>
              <a:ext cx="473400" cy="473400"/>
            </a:xfrm>
            <a:prstGeom prst="straightConnector1">
              <a:avLst/>
            </a:prstGeom>
            <a:ln w="38100">
              <a:solidFill>
                <a:srgbClr val="44546a"/>
              </a:solidFill>
              <a:round/>
              <a:tailEnd len="med" type="triangle" w="med"/>
            </a:ln>
          </p:spPr>
        </p:cxnSp>
        <p:cxnSp>
          <p:nvCxnSpPr>
            <p:cNvPr id="491" name="AutoShape 1044"/>
            <p:cNvCxnSpPr>
              <a:stCxn id="489" idx="1"/>
              <a:endCxn id="487" idx="5"/>
            </p:cNvCxnSpPr>
            <p:nvPr/>
          </p:nvCxnSpPr>
          <p:spPr>
            <a:xfrm flipH="1" flipV="1">
              <a:off x="7365600" y="2720880"/>
              <a:ext cx="473400" cy="473040"/>
            </a:xfrm>
            <a:prstGeom prst="straightConnector1">
              <a:avLst/>
            </a:prstGeom>
            <a:ln w="38100">
              <a:solidFill>
                <a:srgbClr val="44546a"/>
              </a:solidFill>
              <a:round/>
              <a:headEnd len="med" type="triangle" w="med"/>
            </a:ln>
          </p:spPr>
        </p:cxnSp>
        <p:cxnSp>
          <p:nvCxnSpPr>
            <p:cNvPr id="492" name="AutoShape 1045"/>
            <p:cNvCxnSpPr>
              <a:stCxn id="489" idx="7"/>
              <a:endCxn id="486" idx="3"/>
            </p:cNvCxnSpPr>
            <p:nvPr/>
          </p:nvCxnSpPr>
          <p:spPr>
            <a:xfrm flipV="1">
              <a:off x="8097480" y="2720880"/>
              <a:ext cx="473400" cy="473040"/>
            </a:xfrm>
            <a:prstGeom prst="straightConnector1">
              <a:avLst/>
            </a:prstGeom>
            <a:ln w="38100">
              <a:solidFill>
                <a:srgbClr val="44546a"/>
              </a:solidFill>
              <a:round/>
              <a:tailEnd len="med" type="triangle" w="med"/>
            </a:ln>
          </p:spPr>
        </p:cxnSp>
        <p:cxnSp>
          <p:nvCxnSpPr>
            <p:cNvPr id="493" name="AutoShape 1046"/>
            <p:cNvCxnSpPr>
              <a:stCxn id="488" idx="5"/>
              <a:endCxn id="486" idx="1"/>
            </p:cNvCxnSpPr>
            <p:nvPr/>
          </p:nvCxnSpPr>
          <p:spPr>
            <a:xfrm>
              <a:off x="8097480" y="1989000"/>
              <a:ext cx="473400" cy="473400"/>
            </a:xfrm>
            <a:prstGeom prst="straightConnector1">
              <a:avLst/>
            </a:prstGeom>
            <a:ln w="38100">
              <a:solidFill>
                <a:srgbClr val="ed7d31"/>
              </a:solidFill>
              <a:prstDash val="dash"/>
              <a:round/>
              <a:headEnd len="med" type="triangle" w="med"/>
            </a:ln>
          </p:spPr>
        </p:cxnSp>
        <p:cxnSp>
          <p:nvCxnSpPr>
            <p:cNvPr id="494" name="AutoShape 1047"/>
            <p:cNvCxnSpPr>
              <a:stCxn id="488" idx="4"/>
              <a:endCxn id="489" idx="0"/>
            </p:cNvCxnSpPr>
            <p:nvPr/>
          </p:nvCxnSpPr>
          <p:spPr>
            <a:xfrm>
              <a:off x="7967880" y="2042280"/>
              <a:ext cx="720" cy="1098360"/>
            </a:xfrm>
            <a:prstGeom prst="straightConnector1">
              <a:avLst/>
            </a:prstGeom>
            <a:ln w="38100">
              <a:solidFill>
                <a:srgbClr val="ed7d31"/>
              </a:solidFill>
              <a:prstDash val="dash"/>
              <a:round/>
              <a:headEnd len="med" type="triangle" w="med"/>
            </a:ln>
          </p:spPr>
        </p:cxnSp>
        <p:sp>
          <p:nvSpPr>
            <p:cNvPr id="495" name="Oval 1048"/>
            <p:cNvSpPr/>
            <p:nvPr/>
          </p:nvSpPr>
          <p:spPr>
            <a:xfrm>
              <a:off x="9767880" y="24084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496" name="AutoShape 1049"/>
            <p:cNvCxnSpPr>
              <a:stCxn id="489" idx="6"/>
              <a:endCxn id="495" idx="3"/>
            </p:cNvCxnSpPr>
            <p:nvPr/>
          </p:nvCxnSpPr>
          <p:spPr>
            <a:xfrm flipV="1">
              <a:off x="8150760" y="2720880"/>
              <a:ext cx="1671120" cy="602640"/>
            </a:xfrm>
            <a:prstGeom prst="straightConnector1">
              <a:avLst/>
            </a:prstGeom>
            <a:ln w="38100">
              <a:solidFill>
                <a:srgbClr val="44546a"/>
              </a:solidFill>
              <a:round/>
              <a:tailEnd len="med" type="triangle" w="med"/>
            </a:ln>
          </p:spPr>
        </p:cxnSp>
        <p:cxnSp>
          <p:nvCxnSpPr>
            <p:cNvPr id="497" name="AutoShape 1050"/>
            <p:cNvCxnSpPr>
              <a:stCxn id="495" idx="1"/>
              <a:endCxn id="488" idx="6"/>
            </p:cNvCxnSpPr>
            <p:nvPr/>
          </p:nvCxnSpPr>
          <p:spPr>
            <a:xfrm flipH="1" flipV="1">
              <a:off x="8150760" y="1859400"/>
              <a:ext cx="1671120" cy="603000"/>
            </a:xfrm>
            <a:prstGeom prst="straightConnector1">
              <a:avLst/>
            </a:prstGeom>
            <a:ln w="19050">
              <a:solidFill>
                <a:srgbClr val="000000"/>
              </a:solidFill>
              <a:round/>
            </a:ln>
          </p:spPr>
        </p:cxnSp>
      </p:grpSp>
      <p:grpSp>
        <p:nvGrpSpPr>
          <p:cNvPr id="498" name="Group 1063"/>
          <p:cNvGrpSpPr/>
          <p:nvPr/>
        </p:nvGrpSpPr>
        <p:grpSpPr>
          <a:xfrm>
            <a:off x="7053120" y="4341960"/>
            <a:ext cx="3080160" cy="1828800"/>
            <a:chOff x="7053120" y="4341960"/>
            <a:chExt cx="3080160" cy="1828800"/>
          </a:xfrm>
        </p:grpSpPr>
        <p:sp>
          <p:nvSpPr>
            <p:cNvPr id="499" name="Oval 1051"/>
            <p:cNvSpPr/>
            <p:nvPr/>
          </p:nvSpPr>
          <p:spPr>
            <a:xfrm>
              <a:off x="8516880" y="50734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sp>
          <p:nvSpPr>
            <p:cNvPr id="500" name="Oval 1052"/>
            <p:cNvSpPr/>
            <p:nvPr/>
          </p:nvSpPr>
          <p:spPr>
            <a:xfrm>
              <a:off x="7053120" y="50734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501" name="Oval 1053"/>
            <p:cNvSpPr/>
            <p:nvPr/>
          </p:nvSpPr>
          <p:spPr>
            <a:xfrm>
              <a:off x="7785000" y="43419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502" name="Oval 1054"/>
            <p:cNvSpPr/>
            <p:nvPr/>
          </p:nvSpPr>
          <p:spPr>
            <a:xfrm>
              <a:off x="7785000" y="58053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cxnSp>
          <p:nvCxnSpPr>
            <p:cNvPr id="503" name="AutoShape 1055"/>
            <p:cNvCxnSpPr>
              <a:stCxn id="501" idx="3"/>
              <a:endCxn id="500" idx="7"/>
            </p:cNvCxnSpPr>
            <p:nvPr/>
          </p:nvCxnSpPr>
          <p:spPr>
            <a:xfrm flipH="1">
              <a:off x="7365600" y="4654440"/>
              <a:ext cx="473400" cy="473040"/>
            </a:xfrm>
            <a:prstGeom prst="straightConnector1">
              <a:avLst/>
            </a:prstGeom>
            <a:ln w="38100">
              <a:solidFill>
                <a:srgbClr val="44546a"/>
              </a:solidFill>
              <a:round/>
              <a:tailEnd len="med" type="triangle" w="med"/>
            </a:ln>
          </p:spPr>
        </p:cxnSp>
        <p:cxnSp>
          <p:nvCxnSpPr>
            <p:cNvPr id="504" name="AutoShape 1056"/>
            <p:cNvCxnSpPr>
              <a:stCxn id="502" idx="1"/>
              <a:endCxn id="500" idx="5"/>
            </p:cNvCxnSpPr>
            <p:nvPr/>
          </p:nvCxnSpPr>
          <p:spPr>
            <a:xfrm flipH="1" flipV="1">
              <a:off x="7365600" y="5385960"/>
              <a:ext cx="473400" cy="473400"/>
            </a:xfrm>
            <a:prstGeom prst="straightConnector1">
              <a:avLst/>
            </a:prstGeom>
            <a:ln w="38100">
              <a:solidFill>
                <a:srgbClr val="44546a"/>
              </a:solidFill>
              <a:round/>
              <a:headEnd len="med" type="triangle" w="med"/>
            </a:ln>
          </p:spPr>
        </p:cxnSp>
        <p:cxnSp>
          <p:nvCxnSpPr>
            <p:cNvPr id="505" name="AutoShape 1057"/>
            <p:cNvCxnSpPr>
              <a:stCxn id="502" idx="7"/>
              <a:endCxn id="499" idx="3"/>
            </p:cNvCxnSpPr>
            <p:nvPr/>
          </p:nvCxnSpPr>
          <p:spPr>
            <a:xfrm flipV="1">
              <a:off x="8097480" y="5385960"/>
              <a:ext cx="473400" cy="473400"/>
            </a:xfrm>
            <a:prstGeom prst="straightConnector1">
              <a:avLst/>
            </a:prstGeom>
            <a:ln w="38100">
              <a:solidFill>
                <a:srgbClr val="44546a"/>
              </a:solidFill>
              <a:round/>
              <a:tailEnd len="med" type="triangle" w="med"/>
            </a:ln>
          </p:spPr>
        </p:cxnSp>
        <p:cxnSp>
          <p:nvCxnSpPr>
            <p:cNvPr id="506" name="AutoShape 1058"/>
            <p:cNvCxnSpPr>
              <a:stCxn id="501" idx="5"/>
              <a:endCxn id="499" idx="1"/>
            </p:cNvCxnSpPr>
            <p:nvPr/>
          </p:nvCxnSpPr>
          <p:spPr>
            <a:xfrm>
              <a:off x="8097480" y="4654440"/>
              <a:ext cx="473400" cy="473040"/>
            </a:xfrm>
            <a:prstGeom prst="straightConnector1">
              <a:avLst/>
            </a:prstGeom>
            <a:ln w="38100">
              <a:solidFill>
                <a:srgbClr val="ed7d31"/>
              </a:solidFill>
              <a:prstDash val="dash"/>
              <a:round/>
              <a:headEnd len="med" type="triangle" w="med"/>
            </a:ln>
          </p:spPr>
        </p:cxnSp>
        <p:cxnSp>
          <p:nvCxnSpPr>
            <p:cNvPr id="507" name="AutoShape 1059"/>
            <p:cNvCxnSpPr>
              <a:stCxn id="501" idx="4"/>
              <a:endCxn id="502" idx="0"/>
            </p:cNvCxnSpPr>
            <p:nvPr/>
          </p:nvCxnSpPr>
          <p:spPr>
            <a:xfrm>
              <a:off x="7967880" y="4707720"/>
              <a:ext cx="720" cy="1098360"/>
            </a:xfrm>
            <a:prstGeom prst="straightConnector1">
              <a:avLst/>
            </a:prstGeom>
            <a:ln w="38100">
              <a:solidFill>
                <a:srgbClr val="ed7d31"/>
              </a:solidFill>
              <a:prstDash val="dash"/>
              <a:round/>
              <a:headEnd len="med" type="triangle" w="med"/>
            </a:ln>
          </p:spPr>
        </p:cxnSp>
        <p:sp>
          <p:nvSpPr>
            <p:cNvPr id="508" name="Oval 1060"/>
            <p:cNvSpPr/>
            <p:nvPr/>
          </p:nvSpPr>
          <p:spPr>
            <a:xfrm>
              <a:off x="9767880" y="50734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509" name="AutoShape 1061"/>
            <p:cNvCxnSpPr>
              <a:stCxn id="502" idx="6"/>
              <a:endCxn id="508" idx="3"/>
            </p:cNvCxnSpPr>
            <p:nvPr/>
          </p:nvCxnSpPr>
          <p:spPr>
            <a:xfrm flipV="1">
              <a:off x="8150760" y="5385960"/>
              <a:ext cx="1671120" cy="603000"/>
            </a:xfrm>
            <a:prstGeom prst="straightConnector1">
              <a:avLst/>
            </a:prstGeom>
            <a:ln w="38100">
              <a:solidFill>
                <a:srgbClr val="44546a"/>
              </a:solidFill>
              <a:round/>
              <a:tailEnd len="med" type="triangle" w="med"/>
            </a:ln>
          </p:spPr>
        </p:cxnSp>
        <p:cxnSp>
          <p:nvCxnSpPr>
            <p:cNvPr id="510" name="AutoShape 1062"/>
            <p:cNvCxnSpPr>
              <a:stCxn id="508" idx="1"/>
              <a:endCxn id="501" idx="6"/>
            </p:cNvCxnSpPr>
            <p:nvPr/>
          </p:nvCxnSpPr>
          <p:spPr>
            <a:xfrm flipH="1" flipV="1">
              <a:off x="8150760" y="4524840"/>
              <a:ext cx="1671120" cy="602640"/>
            </a:xfrm>
            <a:prstGeom prst="straightConnector1">
              <a:avLst/>
            </a:prstGeom>
            <a:ln w="38100">
              <a:solidFill>
                <a:srgbClr val="ed7d31"/>
              </a:solidFill>
              <a:prstDash val="dash"/>
              <a:round/>
              <a:tailEnd len="med" type="triangle" w="med"/>
            </a:ln>
          </p:spPr>
        </p:cxnSp>
      </p:grpSp>
      <p:grpSp>
        <p:nvGrpSpPr>
          <p:cNvPr id="511" name="Group 1078"/>
          <p:cNvGrpSpPr/>
          <p:nvPr/>
        </p:nvGrpSpPr>
        <p:grpSpPr>
          <a:xfrm>
            <a:off x="2414520" y="1676520"/>
            <a:ext cx="3080160" cy="1828800"/>
            <a:chOff x="2414520" y="1676520"/>
            <a:chExt cx="3080160" cy="1828800"/>
          </a:xfrm>
        </p:grpSpPr>
        <p:sp>
          <p:nvSpPr>
            <p:cNvPr id="512" name="Oval 1066"/>
            <p:cNvSpPr/>
            <p:nvPr/>
          </p:nvSpPr>
          <p:spPr>
            <a:xfrm>
              <a:off x="3878280" y="24084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sp>
          <p:nvSpPr>
            <p:cNvPr id="513" name="Oval 1067"/>
            <p:cNvSpPr/>
            <p:nvPr/>
          </p:nvSpPr>
          <p:spPr>
            <a:xfrm>
              <a:off x="2414520" y="24084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514" name="Oval 1068"/>
            <p:cNvSpPr/>
            <p:nvPr/>
          </p:nvSpPr>
          <p:spPr>
            <a:xfrm>
              <a:off x="3146400" y="16765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515" name="Oval 1069"/>
            <p:cNvSpPr/>
            <p:nvPr/>
          </p:nvSpPr>
          <p:spPr>
            <a:xfrm>
              <a:off x="3146400" y="31399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cxnSp>
          <p:nvCxnSpPr>
            <p:cNvPr id="516" name="AutoShape 1070"/>
            <p:cNvCxnSpPr>
              <a:stCxn id="514" idx="3"/>
              <a:endCxn id="513" idx="7"/>
            </p:cNvCxnSpPr>
            <p:nvPr/>
          </p:nvCxnSpPr>
          <p:spPr>
            <a:xfrm flipH="1">
              <a:off x="2727000" y="1989000"/>
              <a:ext cx="473400" cy="473400"/>
            </a:xfrm>
            <a:prstGeom prst="straightConnector1">
              <a:avLst/>
            </a:prstGeom>
            <a:ln w="38100">
              <a:solidFill>
                <a:srgbClr val="44546a"/>
              </a:solidFill>
              <a:round/>
              <a:tailEnd len="med" type="triangle" w="med"/>
            </a:ln>
          </p:spPr>
        </p:cxnSp>
        <p:cxnSp>
          <p:nvCxnSpPr>
            <p:cNvPr id="517" name="AutoShape 1071"/>
            <p:cNvCxnSpPr>
              <a:stCxn id="515" idx="1"/>
              <a:endCxn id="513" idx="5"/>
            </p:cNvCxnSpPr>
            <p:nvPr/>
          </p:nvCxnSpPr>
          <p:spPr>
            <a:xfrm flipH="1" flipV="1">
              <a:off x="2727000" y="2720880"/>
              <a:ext cx="473400" cy="473040"/>
            </a:xfrm>
            <a:prstGeom prst="straightConnector1">
              <a:avLst/>
            </a:prstGeom>
            <a:ln w="38100">
              <a:solidFill>
                <a:srgbClr val="44546a"/>
              </a:solidFill>
              <a:round/>
              <a:headEnd len="med" type="triangle" w="med"/>
            </a:ln>
          </p:spPr>
        </p:cxnSp>
        <p:cxnSp>
          <p:nvCxnSpPr>
            <p:cNvPr id="518" name="AutoShape 1072"/>
            <p:cNvCxnSpPr>
              <a:stCxn id="515" idx="7"/>
              <a:endCxn id="512" idx="3"/>
            </p:cNvCxnSpPr>
            <p:nvPr/>
          </p:nvCxnSpPr>
          <p:spPr>
            <a:xfrm flipV="1">
              <a:off x="3458880" y="2720880"/>
              <a:ext cx="473400" cy="473040"/>
            </a:xfrm>
            <a:prstGeom prst="straightConnector1">
              <a:avLst/>
            </a:prstGeom>
            <a:ln w="38100">
              <a:solidFill>
                <a:srgbClr val="44546a"/>
              </a:solidFill>
              <a:round/>
              <a:tailEnd len="med" type="triangle" w="med"/>
            </a:ln>
          </p:spPr>
        </p:cxnSp>
        <p:cxnSp>
          <p:nvCxnSpPr>
            <p:cNvPr id="519" name="AutoShape 1073"/>
            <p:cNvCxnSpPr>
              <a:stCxn id="514" idx="5"/>
              <a:endCxn id="512" idx="1"/>
            </p:cNvCxnSpPr>
            <p:nvPr/>
          </p:nvCxnSpPr>
          <p:spPr>
            <a:xfrm>
              <a:off x="3458880" y="1989000"/>
              <a:ext cx="473400" cy="473400"/>
            </a:xfrm>
            <a:prstGeom prst="straightConnector1">
              <a:avLst/>
            </a:prstGeom>
            <a:ln w="19050">
              <a:solidFill>
                <a:srgbClr val="000000"/>
              </a:solidFill>
              <a:round/>
            </a:ln>
          </p:spPr>
        </p:cxnSp>
        <p:cxnSp>
          <p:nvCxnSpPr>
            <p:cNvPr id="520" name="AutoShape 1074"/>
            <p:cNvCxnSpPr>
              <a:stCxn id="514" idx="4"/>
              <a:endCxn id="515" idx="0"/>
            </p:cNvCxnSpPr>
            <p:nvPr/>
          </p:nvCxnSpPr>
          <p:spPr>
            <a:xfrm>
              <a:off x="3329280" y="2042280"/>
              <a:ext cx="720" cy="1098360"/>
            </a:xfrm>
            <a:prstGeom prst="straightConnector1">
              <a:avLst/>
            </a:prstGeom>
            <a:ln w="38100">
              <a:solidFill>
                <a:srgbClr val="ed7d31"/>
              </a:solidFill>
              <a:prstDash val="dash"/>
              <a:round/>
              <a:headEnd len="med" type="triangle" w="med"/>
            </a:ln>
          </p:spPr>
        </p:cxnSp>
        <p:sp>
          <p:nvSpPr>
            <p:cNvPr id="521" name="Oval 1075"/>
            <p:cNvSpPr/>
            <p:nvPr/>
          </p:nvSpPr>
          <p:spPr>
            <a:xfrm>
              <a:off x="5129280" y="24084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522" name="AutoShape 1076"/>
            <p:cNvCxnSpPr>
              <a:stCxn id="515" idx="6"/>
              <a:endCxn id="521" idx="3"/>
            </p:cNvCxnSpPr>
            <p:nvPr/>
          </p:nvCxnSpPr>
          <p:spPr>
            <a:xfrm flipV="1">
              <a:off x="3512160" y="2720880"/>
              <a:ext cx="1671120" cy="602640"/>
            </a:xfrm>
            <a:prstGeom prst="straightConnector1">
              <a:avLst/>
            </a:prstGeom>
            <a:ln w="19050">
              <a:solidFill>
                <a:srgbClr val="000000"/>
              </a:solidFill>
              <a:round/>
            </a:ln>
          </p:spPr>
        </p:cxnSp>
        <p:cxnSp>
          <p:nvCxnSpPr>
            <p:cNvPr id="523" name="AutoShape 1077"/>
            <p:cNvCxnSpPr>
              <a:stCxn id="521" idx="1"/>
              <a:endCxn id="514" idx="6"/>
            </p:cNvCxnSpPr>
            <p:nvPr/>
          </p:nvCxnSpPr>
          <p:spPr>
            <a:xfrm flipH="1" flipV="1">
              <a:off x="3512160" y="1859400"/>
              <a:ext cx="1671120" cy="603000"/>
            </a:xfrm>
            <a:prstGeom prst="straightConnector1">
              <a:avLst/>
            </a:prstGeom>
            <a:ln w="19050">
              <a:solidFill>
                <a:srgbClr val="000000"/>
              </a:solidFill>
              <a:round/>
            </a:ln>
          </p:spPr>
        </p:cxnSp>
      </p:grpSp>
      <p:sp>
        <p:nvSpPr>
          <p:cNvPr id="524" name="AutoShape 1079"/>
          <p:cNvSpPr/>
          <p:nvPr/>
        </p:nvSpPr>
        <p:spPr>
          <a:xfrm rot="5400000">
            <a:off x="8366040" y="3757680"/>
            <a:ext cx="455760" cy="331920"/>
          </a:xfrm>
          <a:prstGeom prst="rightArrow">
            <a:avLst>
              <a:gd name="adj1" fmla="val 50000"/>
              <a:gd name="adj2" fmla="val 34286"/>
            </a:avLst>
          </a:prstGeom>
          <a:no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525" name="AutoShape 1080"/>
          <p:cNvSpPr/>
          <p:nvPr/>
        </p:nvSpPr>
        <p:spPr>
          <a:xfrm flipH="1" flipV="1" rot="8100000">
            <a:off x="5690160" y="3731400"/>
            <a:ext cx="1242360" cy="331560"/>
          </a:xfrm>
          <a:prstGeom prst="rightArrow">
            <a:avLst>
              <a:gd name="adj1" fmla="val 50000"/>
              <a:gd name="adj2" fmla="val 93214"/>
            </a:avLst>
          </a:prstGeom>
          <a:no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526" name="AutoShape 1081"/>
          <p:cNvSpPr/>
          <p:nvPr/>
        </p:nvSpPr>
        <p:spPr>
          <a:xfrm rot="5400000">
            <a:off x="3728880" y="3757680"/>
            <a:ext cx="455760" cy="331920"/>
          </a:xfrm>
          <a:prstGeom prst="rightArrow">
            <a:avLst>
              <a:gd name="adj1" fmla="val 50000"/>
              <a:gd name="adj2" fmla="val 34286"/>
            </a:avLst>
          </a:prstGeom>
          <a:no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DFS and Maze Traversal </a:t>
            </a:r>
            <a:endParaRPr b="0" lang="en-US" sz="4400" spc="-1" strike="noStrike">
              <a:solidFill>
                <a:srgbClr val="000000"/>
              </a:solidFill>
              <a:latin typeface="Arial"/>
            </a:endParaRPr>
          </a:p>
        </p:txBody>
      </p:sp>
      <p:sp>
        <p:nvSpPr>
          <p:cNvPr id="528" name="PlaceHolder 2"/>
          <p:cNvSpPr>
            <a:spLocks noGrp="1"/>
          </p:cNvSpPr>
          <p:nvPr>
            <p:ph/>
          </p:nvPr>
        </p:nvSpPr>
        <p:spPr>
          <a:xfrm>
            <a:off x="838080" y="1107000"/>
            <a:ext cx="484668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The DFS algorithm is similar to a classic strategy for exploring a maze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We mark each intersection, corner and dead end (vertex) visited</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We mark each corridor (edge ) traversed</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We keep track of the path back to the entrance (start vertex) by means of a rope (recursion stack)</a:t>
            </a:r>
            <a:endParaRPr b="0" lang="en-US" sz="2000" spc="-1" strike="noStrike">
              <a:solidFill>
                <a:srgbClr val="000000"/>
              </a:solidFill>
              <a:latin typeface="Arial"/>
            </a:endParaRPr>
          </a:p>
        </p:txBody>
      </p:sp>
      <p:sp>
        <p:nvSpPr>
          <p:cNvPr id="529" name="PlaceHolder 3"/>
          <p:cNvSpPr>
            <a:spLocks noGrp="1"/>
          </p:cNvSpPr>
          <p:nvPr>
            <p:ph type="sldNum" idx="58"/>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7D4DB05A-9DE9-4AA0-B827-D4DDB049E752}" type="slidenum">
              <a:rPr b="0" lang="en-US" sz="1400" spc="-1" strike="noStrike">
                <a:solidFill>
                  <a:schemeClr val="dk1">
                    <a:tint val="75000"/>
                  </a:schemeClr>
                </a:solidFill>
                <a:latin typeface="Tahoma"/>
                <a:ea typeface="MS PGothic"/>
              </a:rPr>
              <a:t>32</a:t>
            </a:fld>
            <a:endParaRPr b="0" lang="en-US" sz="1400" spc="-1" strike="noStrike">
              <a:solidFill>
                <a:srgbClr val="000000"/>
              </a:solidFill>
              <a:latin typeface="Times New Roman"/>
            </a:endParaRPr>
          </a:p>
        </p:txBody>
      </p:sp>
      <p:sp>
        <p:nvSpPr>
          <p:cNvPr id="530" name="Rectangle 33"/>
          <p:cNvSpPr/>
          <p:nvPr/>
        </p:nvSpPr>
        <p:spPr>
          <a:xfrm>
            <a:off x="7172280" y="2141640"/>
            <a:ext cx="4179960" cy="3583080"/>
          </a:xfrm>
          <a:prstGeom prst="rect">
            <a:avLst/>
          </a:prstGeom>
          <a:solidFill>
            <a:srgbClr val="ffc000"/>
          </a:solidFill>
          <a:ln w="0">
            <a:solidFill>
              <a:srgbClr val="000000"/>
            </a:solidFill>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531" name="Line 34"/>
          <p:cNvSpPr/>
          <p:nvPr/>
        </p:nvSpPr>
        <p:spPr>
          <a:xfrm>
            <a:off x="7172280" y="2120760"/>
            <a:ext cx="360" cy="358452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
        <p:nvSpPr>
          <p:cNvPr id="532" name="Line 35"/>
          <p:cNvSpPr/>
          <p:nvPr/>
        </p:nvSpPr>
        <p:spPr>
          <a:xfrm>
            <a:off x="11353680" y="2120760"/>
            <a:ext cx="360" cy="358452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
        <p:nvSpPr>
          <p:cNvPr id="533" name="Line 36"/>
          <p:cNvSpPr/>
          <p:nvPr/>
        </p:nvSpPr>
        <p:spPr>
          <a:xfrm>
            <a:off x="7769160" y="2120760"/>
            <a:ext cx="3584520" cy="360"/>
          </a:xfrm>
          <a:prstGeom prst="line">
            <a:avLst/>
          </a:prstGeom>
          <a:ln w="3810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sp>
        <p:nvSpPr>
          <p:cNvPr id="534" name="Line 37"/>
          <p:cNvSpPr/>
          <p:nvPr/>
        </p:nvSpPr>
        <p:spPr>
          <a:xfrm>
            <a:off x="7172280" y="5705280"/>
            <a:ext cx="3584520" cy="360"/>
          </a:xfrm>
          <a:prstGeom prst="line">
            <a:avLst/>
          </a:prstGeom>
          <a:ln w="3810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sp>
        <p:nvSpPr>
          <p:cNvPr id="535" name="Line 38"/>
          <p:cNvSpPr/>
          <p:nvPr/>
        </p:nvSpPr>
        <p:spPr>
          <a:xfrm>
            <a:off x="7769160" y="2717640"/>
            <a:ext cx="360" cy="59832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
        <p:nvSpPr>
          <p:cNvPr id="536" name="Line 39"/>
          <p:cNvSpPr/>
          <p:nvPr/>
        </p:nvSpPr>
        <p:spPr>
          <a:xfrm>
            <a:off x="8964360" y="3315960"/>
            <a:ext cx="360" cy="59688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
        <p:nvSpPr>
          <p:cNvPr id="537" name="Line 40"/>
          <p:cNvSpPr/>
          <p:nvPr/>
        </p:nvSpPr>
        <p:spPr>
          <a:xfrm>
            <a:off x="8367480" y="3315960"/>
            <a:ext cx="360" cy="59688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
        <p:nvSpPr>
          <p:cNvPr id="538" name="Line 41"/>
          <p:cNvSpPr/>
          <p:nvPr/>
        </p:nvSpPr>
        <p:spPr>
          <a:xfrm flipH="1">
            <a:off x="7769160" y="3912840"/>
            <a:ext cx="598320" cy="360"/>
          </a:xfrm>
          <a:prstGeom prst="line">
            <a:avLst/>
          </a:prstGeom>
          <a:ln w="3810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sp>
        <p:nvSpPr>
          <p:cNvPr id="539" name="Line 43"/>
          <p:cNvSpPr/>
          <p:nvPr/>
        </p:nvSpPr>
        <p:spPr>
          <a:xfrm flipH="1">
            <a:off x="10158120" y="2717640"/>
            <a:ext cx="598680" cy="360"/>
          </a:xfrm>
          <a:prstGeom prst="line">
            <a:avLst/>
          </a:prstGeom>
          <a:ln w="3810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sp>
        <p:nvSpPr>
          <p:cNvPr id="540" name="Line 44"/>
          <p:cNvSpPr/>
          <p:nvPr/>
        </p:nvSpPr>
        <p:spPr>
          <a:xfrm>
            <a:off x="8964360" y="4510080"/>
            <a:ext cx="360" cy="119520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
        <p:nvSpPr>
          <p:cNvPr id="541" name="Line 45"/>
          <p:cNvSpPr/>
          <p:nvPr/>
        </p:nvSpPr>
        <p:spPr>
          <a:xfrm>
            <a:off x="9561240" y="2120760"/>
            <a:ext cx="360" cy="177336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
        <p:nvSpPr>
          <p:cNvPr id="542" name="Line 46"/>
          <p:cNvSpPr/>
          <p:nvPr/>
        </p:nvSpPr>
        <p:spPr>
          <a:xfrm>
            <a:off x="10158120" y="3333600"/>
            <a:ext cx="360" cy="237168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
        <p:nvSpPr>
          <p:cNvPr id="543" name="Line 47"/>
          <p:cNvSpPr/>
          <p:nvPr/>
        </p:nvSpPr>
        <p:spPr>
          <a:xfrm flipH="1">
            <a:off x="10756800" y="4528800"/>
            <a:ext cx="596880" cy="360"/>
          </a:xfrm>
          <a:prstGeom prst="line">
            <a:avLst/>
          </a:prstGeom>
          <a:ln w="3810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sp>
        <p:nvSpPr>
          <p:cNvPr id="544" name="Line 48"/>
          <p:cNvSpPr/>
          <p:nvPr/>
        </p:nvSpPr>
        <p:spPr>
          <a:xfrm>
            <a:off x="10756800" y="4510080"/>
            <a:ext cx="360" cy="59832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
        <p:nvSpPr>
          <p:cNvPr id="545" name="Line 49"/>
          <p:cNvSpPr/>
          <p:nvPr/>
        </p:nvSpPr>
        <p:spPr>
          <a:xfrm flipH="1">
            <a:off x="8964360" y="3894120"/>
            <a:ext cx="596880" cy="360"/>
          </a:xfrm>
          <a:prstGeom prst="line">
            <a:avLst/>
          </a:prstGeom>
          <a:ln w="3810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sp>
        <p:nvSpPr>
          <p:cNvPr id="546" name="Line 50"/>
          <p:cNvSpPr/>
          <p:nvPr/>
        </p:nvSpPr>
        <p:spPr>
          <a:xfrm flipH="1">
            <a:off x="7778520" y="2727000"/>
            <a:ext cx="596880" cy="360"/>
          </a:xfrm>
          <a:prstGeom prst="line">
            <a:avLst/>
          </a:prstGeom>
          <a:ln w="3810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sp>
        <p:nvSpPr>
          <p:cNvPr id="547" name="Line 51"/>
          <p:cNvSpPr/>
          <p:nvPr/>
        </p:nvSpPr>
        <p:spPr>
          <a:xfrm>
            <a:off x="9561240" y="4510080"/>
            <a:ext cx="360" cy="59832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
        <p:nvSpPr>
          <p:cNvPr id="548" name="Line 52"/>
          <p:cNvSpPr/>
          <p:nvPr/>
        </p:nvSpPr>
        <p:spPr>
          <a:xfrm flipH="1">
            <a:off x="9561240" y="4510080"/>
            <a:ext cx="596880" cy="360"/>
          </a:xfrm>
          <a:prstGeom prst="line">
            <a:avLst/>
          </a:prstGeom>
          <a:ln w="3810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sp>
        <p:nvSpPr>
          <p:cNvPr id="549" name="Line 53"/>
          <p:cNvSpPr/>
          <p:nvPr/>
        </p:nvSpPr>
        <p:spPr>
          <a:xfrm>
            <a:off x="8367480" y="3931920"/>
            <a:ext cx="360" cy="117648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
        <p:nvSpPr>
          <p:cNvPr id="550" name="Line 54"/>
          <p:cNvSpPr/>
          <p:nvPr/>
        </p:nvSpPr>
        <p:spPr>
          <a:xfrm flipH="1">
            <a:off x="7191360" y="4528800"/>
            <a:ext cx="596880" cy="360"/>
          </a:xfrm>
          <a:prstGeom prst="line">
            <a:avLst/>
          </a:prstGeom>
          <a:ln w="3810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sp>
        <p:nvSpPr>
          <p:cNvPr id="551" name="Line 55"/>
          <p:cNvSpPr/>
          <p:nvPr/>
        </p:nvSpPr>
        <p:spPr>
          <a:xfrm>
            <a:off x="7788240" y="4528800"/>
            <a:ext cx="360" cy="57960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
        <p:nvSpPr>
          <p:cNvPr id="552" name="Line 60"/>
          <p:cNvSpPr/>
          <p:nvPr/>
        </p:nvSpPr>
        <p:spPr>
          <a:xfrm>
            <a:off x="8964360" y="2120760"/>
            <a:ext cx="360" cy="59688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
        <p:nvSpPr>
          <p:cNvPr id="553" name="Line 69"/>
          <p:cNvSpPr/>
          <p:nvPr/>
        </p:nvSpPr>
        <p:spPr>
          <a:xfrm flipH="1">
            <a:off x="7619760" y="2419200"/>
            <a:ext cx="1046160" cy="360"/>
          </a:xfrm>
          <a:prstGeom prst="line">
            <a:avLst/>
          </a:prstGeom>
          <a:ln w="38100">
            <a:solidFill>
              <a:srgbClr val="2e75b6"/>
            </a:solidFill>
            <a:tailEnd len="med" type="triangle" w="med"/>
          </a:ln>
        </p:spPr>
        <p:style>
          <a:lnRef idx="1">
            <a:schemeClr val="accent1"/>
          </a:lnRef>
          <a:fillRef idx="0">
            <a:schemeClr val="accent1"/>
          </a:fillRef>
          <a:effectRef idx="0">
            <a:schemeClr val="accent1"/>
          </a:effectRef>
          <a:fontRef idx="minor"/>
        </p:style>
        <p:txBody>
          <a:bodyPr lIns="90000" rIns="90000" tIns="-44640" bIns="-44640" anchor="ctr">
            <a:noAutofit/>
          </a:bodyPr>
          <a:p>
            <a:endParaRPr b="0" lang="en-US" sz="1800" spc="-1" strike="noStrike">
              <a:solidFill>
                <a:schemeClr val="dk1"/>
              </a:solidFill>
              <a:latin typeface="Calibri"/>
            </a:endParaRPr>
          </a:p>
        </p:txBody>
      </p:sp>
      <p:sp>
        <p:nvSpPr>
          <p:cNvPr id="554" name="Line 70"/>
          <p:cNvSpPr/>
          <p:nvPr/>
        </p:nvSpPr>
        <p:spPr>
          <a:xfrm>
            <a:off x="7515000" y="2046240"/>
            <a:ext cx="360" cy="1568160"/>
          </a:xfrm>
          <a:prstGeom prst="line">
            <a:avLst/>
          </a:prstGeom>
          <a:ln w="38100">
            <a:solidFill>
              <a:srgbClr val="2e75b6"/>
            </a:solidFill>
            <a:tailEnd len="med" type="triangle" w="med"/>
          </a:ln>
        </p:spPr>
        <p:style>
          <a:lnRef idx="1">
            <a:schemeClr val="accent1"/>
          </a:lnRef>
          <a:fillRef idx="0">
            <a:schemeClr val="accent1"/>
          </a:fillRef>
          <a:effectRef idx="0">
            <a:schemeClr val="accent1"/>
          </a:effectRef>
          <a:fontRef idx="minor"/>
        </p:style>
        <p:txBody>
          <a:bodyPr lIns="90000" rIns="90000" tIns="45000" bIns="45000" anchor="ctr">
            <a:noAutofit/>
          </a:bodyPr>
          <a:p>
            <a:endParaRPr b="0" lang="en-US" sz="1800" spc="-1" strike="noStrike">
              <a:solidFill>
                <a:schemeClr val="dk1"/>
              </a:solidFill>
              <a:latin typeface="Calibri"/>
            </a:endParaRPr>
          </a:p>
        </p:txBody>
      </p:sp>
      <p:sp>
        <p:nvSpPr>
          <p:cNvPr id="555" name="Line 71"/>
          <p:cNvSpPr/>
          <p:nvPr/>
        </p:nvSpPr>
        <p:spPr>
          <a:xfrm>
            <a:off x="7515000" y="3614400"/>
            <a:ext cx="552600" cy="360"/>
          </a:xfrm>
          <a:prstGeom prst="line">
            <a:avLst/>
          </a:prstGeom>
          <a:ln w="38100">
            <a:solidFill>
              <a:srgbClr val="2e75b6"/>
            </a:solidFill>
            <a:tailEnd len="med" type="triangle" w="med"/>
          </a:ln>
        </p:spPr>
        <p:style>
          <a:lnRef idx="1">
            <a:schemeClr val="accent1"/>
          </a:lnRef>
          <a:fillRef idx="0">
            <a:schemeClr val="accent1"/>
          </a:fillRef>
          <a:effectRef idx="0">
            <a:schemeClr val="accent1"/>
          </a:effectRef>
          <a:fontRef idx="minor"/>
        </p:style>
        <p:txBody>
          <a:bodyPr lIns="90000" rIns="90000" tIns="-44640" bIns="-44640" anchor="ctr">
            <a:noAutofit/>
          </a:bodyPr>
          <a:p>
            <a:endParaRPr b="0" lang="en-US" sz="1800" spc="-1" strike="noStrike">
              <a:solidFill>
                <a:schemeClr val="dk1"/>
              </a:solidFill>
              <a:latin typeface="Calibri"/>
            </a:endParaRPr>
          </a:p>
        </p:txBody>
      </p:sp>
      <p:sp>
        <p:nvSpPr>
          <p:cNvPr id="556" name="Line 72"/>
          <p:cNvSpPr/>
          <p:nvPr/>
        </p:nvSpPr>
        <p:spPr>
          <a:xfrm flipV="1">
            <a:off x="8067600" y="2989080"/>
            <a:ext cx="360" cy="615960"/>
          </a:xfrm>
          <a:prstGeom prst="line">
            <a:avLst/>
          </a:prstGeom>
          <a:ln w="38100">
            <a:solidFill>
              <a:srgbClr val="2e75b6"/>
            </a:solidFill>
            <a:tailEnd len="med" type="triangle" w="med"/>
          </a:ln>
        </p:spPr>
        <p:style>
          <a:lnRef idx="1">
            <a:schemeClr val="accent1"/>
          </a:lnRef>
          <a:fillRef idx="0">
            <a:schemeClr val="accent1"/>
          </a:fillRef>
          <a:effectRef idx="0">
            <a:schemeClr val="accent1"/>
          </a:effectRef>
          <a:fontRef idx="minor"/>
        </p:style>
        <p:txBody>
          <a:bodyPr lIns="90000" rIns="90000" tIns="45000" bIns="45000" anchor="ctr">
            <a:noAutofit/>
          </a:bodyPr>
          <a:p>
            <a:endParaRPr b="0" lang="en-US" sz="1800" spc="-1" strike="noStrike">
              <a:solidFill>
                <a:schemeClr val="dk1"/>
              </a:solidFill>
              <a:latin typeface="Calibri"/>
            </a:endParaRPr>
          </a:p>
        </p:txBody>
      </p:sp>
      <p:sp>
        <p:nvSpPr>
          <p:cNvPr id="557" name="Line 73"/>
          <p:cNvSpPr/>
          <p:nvPr/>
        </p:nvSpPr>
        <p:spPr>
          <a:xfrm flipV="1">
            <a:off x="8665920" y="2419200"/>
            <a:ext cx="360" cy="569880"/>
          </a:xfrm>
          <a:prstGeom prst="line">
            <a:avLst/>
          </a:prstGeom>
          <a:ln w="38100">
            <a:solidFill>
              <a:srgbClr val="2e75b6"/>
            </a:solidFill>
            <a:tailEnd len="med" type="triangle" w="med"/>
          </a:ln>
        </p:spPr>
        <p:style>
          <a:lnRef idx="1">
            <a:schemeClr val="accent1"/>
          </a:lnRef>
          <a:fillRef idx="0">
            <a:schemeClr val="accent1"/>
          </a:fillRef>
          <a:effectRef idx="0">
            <a:schemeClr val="accent1"/>
          </a:effectRef>
          <a:fontRef idx="minor"/>
        </p:style>
        <p:txBody>
          <a:bodyPr lIns="90000" rIns="90000" tIns="45000" bIns="45000" anchor="ctr">
            <a:noAutofit/>
          </a:bodyPr>
          <a:p>
            <a:endParaRPr b="0" lang="en-US" sz="1800" spc="-1" strike="noStrike">
              <a:solidFill>
                <a:schemeClr val="dk1"/>
              </a:solidFill>
              <a:latin typeface="Calibri"/>
            </a:endParaRPr>
          </a:p>
        </p:txBody>
      </p:sp>
      <p:sp>
        <p:nvSpPr>
          <p:cNvPr id="558" name="Line 74"/>
          <p:cNvSpPr/>
          <p:nvPr/>
        </p:nvSpPr>
        <p:spPr>
          <a:xfrm>
            <a:off x="8067600" y="2989080"/>
            <a:ext cx="598320" cy="360"/>
          </a:xfrm>
          <a:prstGeom prst="line">
            <a:avLst/>
          </a:prstGeom>
          <a:ln w="38100">
            <a:solidFill>
              <a:srgbClr val="2e75b6"/>
            </a:solidFill>
            <a:tailEnd len="med" type="triangle" w="med"/>
          </a:ln>
        </p:spPr>
        <p:style>
          <a:lnRef idx="1">
            <a:schemeClr val="accent1"/>
          </a:lnRef>
          <a:fillRef idx="0">
            <a:schemeClr val="accent1"/>
          </a:fillRef>
          <a:effectRef idx="0">
            <a:schemeClr val="accent1"/>
          </a:effectRef>
          <a:fontRef idx="minor"/>
        </p:style>
        <p:txBody>
          <a:bodyPr lIns="90000" rIns="90000" tIns="-44640" bIns="-44640" anchor="ctr">
            <a:noAutofit/>
          </a:bodyPr>
          <a:p>
            <a:endParaRPr b="0" lang="en-US" sz="1800" spc="-1" strike="noStrike">
              <a:solidFill>
                <a:schemeClr val="dk1"/>
              </a:solidFill>
              <a:latin typeface="Calibri"/>
            </a:endParaRPr>
          </a:p>
        </p:txBody>
      </p:sp>
      <p:sp>
        <p:nvSpPr>
          <p:cNvPr id="559" name="Line 75"/>
          <p:cNvSpPr/>
          <p:nvPr/>
        </p:nvSpPr>
        <p:spPr>
          <a:xfrm>
            <a:off x="8683560" y="2989080"/>
            <a:ext cx="550800" cy="360"/>
          </a:xfrm>
          <a:prstGeom prst="line">
            <a:avLst/>
          </a:prstGeom>
          <a:ln w="38100">
            <a:solidFill>
              <a:srgbClr val="2e75b6"/>
            </a:solidFill>
            <a:tailEnd len="med" type="triangle" w="med"/>
          </a:ln>
        </p:spPr>
        <p:style>
          <a:lnRef idx="1">
            <a:schemeClr val="accent1"/>
          </a:lnRef>
          <a:fillRef idx="0">
            <a:schemeClr val="accent1"/>
          </a:fillRef>
          <a:effectRef idx="0">
            <a:schemeClr val="accent1"/>
          </a:effectRef>
          <a:fontRef idx="minor"/>
        </p:style>
        <p:txBody>
          <a:bodyPr lIns="90000" rIns="90000" tIns="-44640" bIns="-44640" anchor="ctr">
            <a:noAutofit/>
          </a:bodyPr>
          <a:p>
            <a:endParaRPr b="0" lang="en-US" sz="1800" spc="-1" strike="noStrike">
              <a:solidFill>
                <a:schemeClr val="dk1"/>
              </a:solidFill>
              <a:latin typeface="Calibri"/>
            </a:endParaRPr>
          </a:p>
        </p:txBody>
      </p:sp>
      <p:sp>
        <p:nvSpPr>
          <p:cNvPr id="560" name="Line 77"/>
          <p:cNvSpPr/>
          <p:nvPr/>
        </p:nvSpPr>
        <p:spPr>
          <a:xfrm flipV="1">
            <a:off x="9250200" y="2422440"/>
            <a:ext cx="360" cy="569880"/>
          </a:xfrm>
          <a:prstGeom prst="line">
            <a:avLst/>
          </a:prstGeom>
          <a:ln w="38100">
            <a:solidFill>
              <a:srgbClr val="2e75b6"/>
            </a:solidFill>
            <a:tailEnd len="med" type="triangle" w="med"/>
          </a:ln>
        </p:spPr>
        <p:style>
          <a:lnRef idx="1">
            <a:schemeClr val="accent1"/>
          </a:lnRef>
          <a:fillRef idx="0">
            <a:schemeClr val="accent1"/>
          </a:fillRef>
          <a:effectRef idx="0">
            <a:schemeClr val="accent1"/>
          </a:effectRef>
          <a:fontRef idx="minor"/>
        </p:style>
        <p:txBody>
          <a:bodyPr lIns="90000" rIns="90000" tIns="45000" bIns="45000" anchor="ctr">
            <a:noAutofit/>
          </a:bodyPr>
          <a:p>
            <a:endParaRPr b="0" lang="en-US" sz="1800" spc="-1" strike="noStrike">
              <a:solidFill>
                <a:schemeClr val="dk1"/>
              </a:solidFill>
              <a:latin typeface="Calibri"/>
            </a:endParaRPr>
          </a:p>
        </p:txBody>
      </p:sp>
      <p:sp>
        <p:nvSpPr>
          <p:cNvPr id="561" name="Line 78"/>
          <p:cNvSpPr/>
          <p:nvPr/>
        </p:nvSpPr>
        <p:spPr>
          <a:xfrm flipV="1">
            <a:off x="9248760" y="2989080"/>
            <a:ext cx="360" cy="615960"/>
          </a:xfrm>
          <a:prstGeom prst="line">
            <a:avLst/>
          </a:prstGeom>
          <a:ln w="38100">
            <a:solidFill>
              <a:srgbClr val="2e75b6"/>
            </a:solidFill>
            <a:headEnd len="med" type="triangle" w="med"/>
          </a:ln>
        </p:spPr>
        <p:style>
          <a:lnRef idx="1">
            <a:schemeClr val="accent1"/>
          </a:lnRef>
          <a:fillRef idx="0">
            <a:schemeClr val="accent1"/>
          </a:fillRef>
          <a:effectRef idx="0">
            <a:schemeClr val="accent1"/>
          </a:effectRef>
          <a:fontRef idx="minor"/>
        </p:style>
        <p:txBody>
          <a:bodyPr lIns="90000" rIns="90000" tIns="45000" bIns="45000" anchor="ctr">
            <a:noAutofit/>
          </a:bodyPr>
          <a:p>
            <a:endParaRPr b="0" lang="en-US" sz="1800" spc="-1" strike="noStrike">
              <a:solidFill>
                <a:schemeClr val="dk1"/>
              </a:solidFill>
              <a:latin typeface="Calibri"/>
            </a:endParaRPr>
          </a:p>
        </p:txBody>
      </p:sp>
      <p:sp>
        <p:nvSpPr>
          <p:cNvPr id="562" name="Line 79"/>
          <p:cNvSpPr/>
          <p:nvPr/>
        </p:nvSpPr>
        <p:spPr>
          <a:xfrm flipV="1">
            <a:off x="8665920" y="2989080"/>
            <a:ext cx="360" cy="1289160"/>
          </a:xfrm>
          <a:prstGeom prst="line">
            <a:avLst/>
          </a:prstGeom>
          <a:ln w="38100">
            <a:solidFill>
              <a:srgbClr val="2e75b6"/>
            </a:solidFill>
            <a:headEnd len="med" type="triangle" w="med"/>
          </a:ln>
        </p:spPr>
        <p:style>
          <a:lnRef idx="1">
            <a:schemeClr val="accent1"/>
          </a:lnRef>
          <a:fillRef idx="0">
            <a:schemeClr val="accent1"/>
          </a:fillRef>
          <a:effectRef idx="0">
            <a:schemeClr val="accent1"/>
          </a:effectRef>
          <a:fontRef idx="minor"/>
        </p:style>
        <p:txBody>
          <a:bodyPr lIns="90000" rIns="90000" tIns="45000" bIns="45000" anchor="ctr">
            <a:noAutofit/>
          </a:bodyPr>
          <a:p>
            <a:endParaRPr b="0" lang="en-US" sz="1800" spc="-1" strike="noStrike">
              <a:solidFill>
                <a:schemeClr val="dk1"/>
              </a:solidFill>
              <a:latin typeface="Calibri"/>
            </a:endParaRPr>
          </a:p>
        </p:txBody>
      </p:sp>
      <p:sp>
        <p:nvSpPr>
          <p:cNvPr id="563" name="Line 80"/>
          <p:cNvSpPr/>
          <p:nvPr/>
        </p:nvSpPr>
        <p:spPr>
          <a:xfrm>
            <a:off x="10756800" y="2717640"/>
            <a:ext cx="360" cy="1176480"/>
          </a:xfrm>
          <a:prstGeom prst="line">
            <a:avLst/>
          </a:prstGeom>
          <a:ln w="38100">
            <a:solidFill>
              <a:srgbClr val="000000"/>
            </a:solidFill>
            <a:round/>
          </a:ln>
        </p:spPr>
        <p:style>
          <a:lnRef idx="0"/>
          <a:fillRef idx="0"/>
          <a:effectRef idx="0"/>
          <a:fontRef idx="minor"/>
        </p:style>
        <p:txBody>
          <a:bodyPr lIns="90000" rIns="90000" tIns="45000" bIns="45000" anchor="ctr">
            <a:noAutofit/>
          </a:bodyPr>
          <a:p>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Properties of DFS</a:t>
            </a:r>
            <a:endParaRPr b="0" lang="en-US" sz="4400" spc="-1" strike="noStrike">
              <a:solidFill>
                <a:srgbClr val="000000"/>
              </a:solidFill>
              <a:latin typeface="Arial"/>
            </a:endParaRPr>
          </a:p>
        </p:txBody>
      </p:sp>
      <p:sp>
        <p:nvSpPr>
          <p:cNvPr id="565" name="PlaceHolder 2"/>
          <p:cNvSpPr>
            <a:spLocks noGrp="1"/>
          </p:cNvSpPr>
          <p:nvPr>
            <p:ph/>
          </p:nvPr>
        </p:nvSpPr>
        <p:spPr>
          <a:xfrm>
            <a:off x="838080" y="1107000"/>
            <a:ext cx="630000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None/>
              <a:tabLst>
                <a:tab algn="l" pos="0"/>
              </a:tabLst>
            </a:pPr>
            <a:r>
              <a:rPr b="0" lang="en-US" sz="2800" spc="-1" strike="noStrike">
                <a:solidFill>
                  <a:schemeClr val="dk2"/>
                </a:solidFill>
                <a:latin typeface="Calibri"/>
              </a:rPr>
              <a:t>Property 1</a:t>
            </a:r>
            <a:endParaRPr b="0" lang="en-US" sz="2800" spc="-1" strike="noStrike">
              <a:solidFill>
                <a:srgbClr val="000000"/>
              </a:solidFill>
              <a:latin typeface="Arial"/>
            </a:endParaRPr>
          </a:p>
          <a:p>
            <a:pPr marL="228600" indent="-228600" defTabSz="914400">
              <a:lnSpc>
                <a:spcPct val="90000"/>
              </a:lnSpc>
              <a:spcBef>
                <a:spcPts val="1001"/>
              </a:spcBef>
              <a:buNone/>
              <a:tabLst>
                <a:tab algn="l" pos="0"/>
              </a:tabLst>
            </a:pPr>
            <a:r>
              <a:rPr b="0" lang="en-US" sz="2400" spc="-1" strike="noStrike">
                <a:solidFill>
                  <a:schemeClr val="dk1"/>
                </a:solidFill>
                <a:latin typeface="Calibri"/>
              </a:rPr>
              <a:t>	</a:t>
            </a:r>
            <a:r>
              <a:rPr b="1" i="1" lang="en-US" sz="2400" spc="-1" strike="noStrike">
                <a:solidFill>
                  <a:schemeClr val="dk1"/>
                </a:solidFill>
                <a:latin typeface="Times New Roman"/>
              </a:rPr>
              <a:t>DFS</a:t>
            </a:r>
            <a:r>
              <a:rPr b="0" lang="en-US" sz="2400" spc="-1" strike="noStrike">
                <a:solidFill>
                  <a:schemeClr val="dk1"/>
                </a:solidFill>
                <a:latin typeface="Times New Roman"/>
              </a:rPr>
              <a:t>(</a:t>
            </a:r>
            <a:r>
              <a:rPr b="1" i="1" lang="en-US" sz="2400" spc="-1" strike="noStrike">
                <a:solidFill>
                  <a:schemeClr val="dk1"/>
                </a:solidFill>
                <a:latin typeface="Times New Roman"/>
              </a:rPr>
              <a:t>G, v</a:t>
            </a:r>
            <a:r>
              <a:rPr b="0" lang="en-US" sz="2400" spc="-1" strike="noStrike">
                <a:solidFill>
                  <a:schemeClr val="dk1"/>
                </a:solidFill>
                <a:latin typeface="Times New Roman"/>
              </a:rPr>
              <a:t>) </a:t>
            </a:r>
            <a:r>
              <a:rPr b="0" lang="en-US" sz="2400" spc="-1" strike="noStrike">
                <a:solidFill>
                  <a:schemeClr val="dk1"/>
                </a:solidFill>
                <a:latin typeface="Calibri"/>
              </a:rPr>
              <a:t>visits all the vertices and edges in the connected component of </a:t>
            </a:r>
            <a:r>
              <a:rPr b="1" i="1" lang="en-US" sz="2400" spc="-1" strike="noStrike">
                <a:solidFill>
                  <a:schemeClr val="dk1"/>
                </a:solidFill>
                <a:latin typeface="Times New Roman"/>
              </a:rPr>
              <a:t>v</a:t>
            </a:r>
            <a:endParaRPr b="0" lang="en-US" sz="2400" spc="-1" strike="noStrike">
              <a:solidFill>
                <a:srgbClr val="000000"/>
              </a:solidFill>
              <a:latin typeface="Arial"/>
            </a:endParaRPr>
          </a:p>
          <a:p>
            <a:pPr marL="228600" indent="-228600" defTabSz="914400">
              <a:lnSpc>
                <a:spcPct val="90000"/>
              </a:lnSpc>
              <a:spcBef>
                <a:spcPts val="1001"/>
              </a:spcBef>
              <a:buNone/>
              <a:tabLst>
                <a:tab algn="l" pos="0"/>
              </a:tabLst>
            </a:pPr>
            <a:r>
              <a:rPr b="0" lang="en-US" sz="2800" spc="-1" strike="noStrike">
                <a:solidFill>
                  <a:schemeClr val="dk2"/>
                </a:solidFill>
                <a:latin typeface="Calibri"/>
              </a:rPr>
              <a:t>Property 2</a:t>
            </a:r>
            <a:endParaRPr b="0" lang="en-US" sz="2800" spc="-1" strike="noStrike">
              <a:solidFill>
                <a:srgbClr val="000000"/>
              </a:solidFill>
              <a:latin typeface="Arial"/>
            </a:endParaRPr>
          </a:p>
          <a:p>
            <a:pPr marL="228600" indent="-228600" defTabSz="914400">
              <a:lnSpc>
                <a:spcPct val="90000"/>
              </a:lnSpc>
              <a:spcBef>
                <a:spcPts val="1001"/>
              </a:spcBef>
              <a:buNone/>
              <a:tabLst>
                <a:tab algn="l" pos="0"/>
              </a:tabLst>
            </a:pPr>
            <a:r>
              <a:rPr b="0" lang="en-US" sz="2400" spc="-1" strike="noStrike">
                <a:solidFill>
                  <a:schemeClr val="dk1"/>
                </a:solidFill>
                <a:latin typeface="Calibri"/>
              </a:rPr>
              <a:t>	</a:t>
            </a:r>
            <a:r>
              <a:rPr b="0" lang="en-US" sz="2400" spc="-1" strike="noStrike">
                <a:solidFill>
                  <a:schemeClr val="dk1"/>
                </a:solidFill>
                <a:latin typeface="Calibri"/>
              </a:rPr>
              <a:t>The discovery edges labeled by </a:t>
            </a:r>
            <a:r>
              <a:rPr b="1" i="1" lang="en-US" sz="2400" spc="-1" strike="noStrike">
                <a:solidFill>
                  <a:schemeClr val="dk1"/>
                </a:solidFill>
                <a:latin typeface="Times New Roman"/>
              </a:rPr>
              <a:t>DFS</a:t>
            </a:r>
            <a:r>
              <a:rPr b="0" lang="en-US" sz="2400" spc="-1" strike="noStrike">
                <a:solidFill>
                  <a:schemeClr val="dk1"/>
                </a:solidFill>
                <a:latin typeface="Times New Roman"/>
              </a:rPr>
              <a:t>(</a:t>
            </a:r>
            <a:r>
              <a:rPr b="1" i="1" lang="en-US" sz="2400" spc="-1" strike="noStrike">
                <a:solidFill>
                  <a:schemeClr val="dk1"/>
                </a:solidFill>
                <a:latin typeface="Times New Roman"/>
              </a:rPr>
              <a:t>G, v</a:t>
            </a:r>
            <a:r>
              <a:rPr b="0" lang="en-US" sz="2400" spc="-1" strike="noStrike">
                <a:solidFill>
                  <a:schemeClr val="dk1"/>
                </a:solidFill>
                <a:latin typeface="Times New Roman"/>
              </a:rPr>
              <a:t>) </a:t>
            </a:r>
            <a:r>
              <a:rPr b="0" lang="en-US" sz="2400" spc="-1" strike="noStrike">
                <a:solidFill>
                  <a:schemeClr val="dk1"/>
                </a:solidFill>
                <a:latin typeface="Calibri"/>
              </a:rPr>
              <a:t>form a spanning tree of the connected component of </a:t>
            </a:r>
            <a:r>
              <a:rPr b="1" i="1" lang="en-US" sz="2400" spc="-1" strike="noStrike">
                <a:solidFill>
                  <a:schemeClr val="dk1"/>
                </a:solidFill>
                <a:latin typeface="Times New Roman"/>
              </a:rPr>
              <a:t>v</a:t>
            </a:r>
            <a:endParaRPr b="0" lang="en-US" sz="2400" spc="-1" strike="noStrike">
              <a:solidFill>
                <a:srgbClr val="000000"/>
              </a:solidFill>
              <a:latin typeface="Arial"/>
            </a:endParaRPr>
          </a:p>
        </p:txBody>
      </p:sp>
      <p:sp>
        <p:nvSpPr>
          <p:cNvPr id="566" name="PlaceHolder 3"/>
          <p:cNvSpPr>
            <a:spLocks noGrp="1"/>
          </p:cNvSpPr>
          <p:nvPr>
            <p:ph type="sldNum" idx="59"/>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ED8A6663-17BD-4C23-A002-B99E3F2D44FD}" type="slidenum">
              <a:rPr b="0" lang="en-US" sz="1400" spc="-1" strike="noStrike">
                <a:solidFill>
                  <a:schemeClr val="dk1">
                    <a:tint val="75000"/>
                  </a:schemeClr>
                </a:solidFill>
                <a:latin typeface="Tahoma"/>
                <a:ea typeface="MS PGothic"/>
              </a:rPr>
              <a:t>33</a:t>
            </a:fld>
            <a:endParaRPr b="0" lang="en-US" sz="1400" spc="-1" strike="noStrike">
              <a:solidFill>
                <a:srgbClr val="000000"/>
              </a:solidFill>
              <a:latin typeface="Times New Roman"/>
            </a:endParaRPr>
          </a:p>
        </p:txBody>
      </p:sp>
      <p:grpSp>
        <p:nvGrpSpPr>
          <p:cNvPr id="567" name="Group 5"/>
          <p:cNvGrpSpPr/>
          <p:nvPr/>
        </p:nvGrpSpPr>
        <p:grpSpPr>
          <a:xfrm>
            <a:off x="7310520" y="2096280"/>
            <a:ext cx="4042080" cy="2400840"/>
            <a:chOff x="7310520" y="2096280"/>
            <a:chExt cx="4042080" cy="2400840"/>
          </a:xfrm>
        </p:grpSpPr>
        <p:sp>
          <p:nvSpPr>
            <p:cNvPr id="568" name="Oval 6"/>
            <p:cNvSpPr/>
            <p:nvPr/>
          </p:nvSpPr>
          <p:spPr>
            <a:xfrm>
              <a:off x="9231120" y="3056760"/>
              <a:ext cx="479880" cy="47988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D</a:t>
              </a:r>
              <a:endParaRPr b="0" lang="en-US" sz="2000" spc="-1" strike="noStrike">
                <a:solidFill>
                  <a:srgbClr val="ffffff"/>
                </a:solidFill>
                <a:latin typeface="Arial"/>
              </a:endParaRPr>
            </a:p>
          </p:txBody>
        </p:sp>
        <p:sp>
          <p:nvSpPr>
            <p:cNvPr id="569" name="Oval 7"/>
            <p:cNvSpPr/>
            <p:nvPr/>
          </p:nvSpPr>
          <p:spPr>
            <a:xfrm>
              <a:off x="7310520" y="3056760"/>
              <a:ext cx="479880" cy="47988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B</a:t>
              </a:r>
              <a:endParaRPr b="0" lang="en-US" sz="2000" spc="-1" strike="noStrike">
                <a:solidFill>
                  <a:srgbClr val="ffffff"/>
                </a:solidFill>
                <a:latin typeface="Arial"/>
              </a:endParaRPr>
            </a:p>
          </p:txBody>
        </p:sp>
        <p:sp>
          <p:nvSpPr>
            <p:cNvPr id="570" name="Oval 8"/>
            <p:cNvSpPr/>
            <p:nvPr/>
          </p:nvSpPr>
          <p:spPr>
            <a:xfrm>
              <a:off x="8270640" y="2096280"/>
              <a:ext cx="479880" cy="47988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A</a:t>
              </a:r>
              <a:endParaRPr b="0" lang="en-US" sz="2000" spc="-1" strike="noStrike">
                <a:solidFill>
                  <a:srgbClr val="ffffff"/>
                </a:solidFill>
                <a:latin typeface="Arial"/>
              </a:endParaRPr>
            </a:p>
          </p:txBody>
        </p:sp>
        <p:sp>
          <p:nvSpPr>
            <p:cNvPr id="571" name="Oval 9"/>
            <p:cNvSpPr/>
            <p:nvPr/>
          </p:nvSpPr>
          <p:spPr>
            <a:xfrm>
              <a:off x="8270640" y="4017240"/>
              <a:ext cx="479880" cy="47988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C</a:t>
              </a:r>
              <a:endParaRPr b="0" lang="en-US" sz="2000" spc="-1" strike="noStrike">
                <a:solidFill>
                  <a:srgbClr val="ffffff"/>
                </a:solidFill>
                <a:latin typeface="Arial"/>
              </a:endParaRPr>
            </a:p>
          </p:txBody>
        </p:sp>
        <p:cxnSp>
          <p:nvCxnSpPr>
            <p:cNvPr id="572" name="AutoShape 10"/>
            <p:cNvCxnSpPr>
              <a:stCxn id="570" idx="3"/>
              <a:endCxn id="569" idx="7"/>
            </p:cNvCxnSpPr>
            <p:nvPr/>
          </p:nvCxnSpPr>
          <p:spPr>
            <a:xfrm flipH="1">
              <a:off x="7720560" y="2506320"/>
              <a:ext cx="621000" cy="621360"/>
            </a:xfrm>
            <a:prstGeom prst="straightConnector1">
              <a:avLst/>
            </a:prstGeom>
            <a:ln w="38100">
              <a:solidFill>
                <a:srgbClr val="44546a"/>
              </a:solidFill>
              <a:round/>
              <a:tailEnd len="med" type="triangle" w="med"/>
            </a:ln>
          </p:spPr>
        </p:cxnSp>
        <p:cxnSp>
          <p:nvCxnSpPr>
            <p:cNvPr id="573" name="AutoShape 11"/>
            <p:cNvCxnSpPr>
              <a:stCxn id="571" idx="1"/>
              <a:endCxn id="569" idx="5"/>
            </p:cNvCxnSpPr>
            <p:nvPr/>
          </p:nvCxnSpPr>
          <p:spPr>
            <a:xfrm flipH="1" flipV="1">
              <a:off x="7720560" y="3466800"/>
              <a:ext cx="621000" cy="621360"/>
            </a:xfrm>
            <a:prstGeom prst="straightConnector1">
              <a:avLst/>
            </a:prstGeom>
            <a:ln w="38100">
              <a:solidFill>
                <a:srgbClr val="44546a"/>
              </a:solidFill>
              <a:round/>
              <a:headEnd len="med" type="triangle" w="med"/>
            </a:ln>
          </p:spPr>
        </p:cxnSp>
        <p:cxnSp>
          <p:nvCxnSpPr>
            <p:cNvPr id="574" name="AutoShape 12"/>
            <p:cNvCxnSpPr>
              <a:stCxn id="571" idx="7"/>
              <a:endCxn id="568" idx="3"/>
            </p:cNvCxnSpPr>
            <p:nvPr/>
          </p:nvCxnSpPr>
          <p:spPr>
            <a:xfrm flipV="1">
              <a:off x="8680680" y="3466800"/>
              <a:ext cx="621360" cy="621360"/>
            </a:xfrm>
            <a:prstGeom prst="straightConnector1">
              <a:avLst/>
            </a:prstGeom>
            <a:ln w="38100">
              <a:solidFill>
                <a:srgbClr val="44546a"/>
              </a:solidFill>
              <a:round/>
              <a:tailEnd len="med" type="triangle" w="med"/>
            </a:ln>
          </p:spPr>
        </p:cxnSp>
        <p:cxnSp>
          <p:nvCxnSpPr>
            <p:cNvPr id="575" name="AutoShape 13"/>
            <p:cNvCxnSpPr>
              <a:stCxn id="570" idx="5"/>
              <a:endCxn id="568" idx="1"/>
            </p:cNvCxnSpPr>
            <p:nvPr/>
          </p:nvCxnSpPr>
          <p:spPr>
            <a:xfrm>
              <a:off x="8680680" y="2506320"/>
              <a:ext cx="621360" cy="621360"/>
            </a:xfrm>
            <a:prstGeom prst="straightConnector1">
              <a:avLst/>
            </a:prstGeom>
            <a:ln w="38100">
              <a:solidFill>
                <a:srgbClr val="ed7d31"/>
              </a:solidFill>
              <a:prstDash val="dash"/>
              <a:round/>
              <a:headEnd len="med" type="triangle" w="med"/>
            </a:ln>
          </p:spPr>
        </p:cxnSp>
        <p:cxnSp>
          <p:nvCxnSpPr>
            <p:cNvPr id="576" name="AutoShape 14"/>
            <p:cNvCxnSpPr>
              <a:stCxn id="570" idx="4"/>
              <a:endCxn id="571" idx="0"/>
            </p:cNvCxnSpPr>
            <p:nvPr/>
          </p:nvCxnSpPr>
          <p:spPr>
            <a:xfrm>
              <a:off x="8510760" y="2576520"/>
              <a:ext cx="720" cy="1441440"/>
            </a:xfrm>
            <a:prstGeom prst="straightConnector1">
              <a:avLst/>
            </a:prstGeom>
            <a:ln w="38100">
              <a:solidFill>
                <a:srgbClr val="ed7d31"/>
              </a:solidFill>
              <a:prstDash val="dash"/>
              <a:round/>
              <a:headEnd len="med" type="triangle" w="med"/>
            </a:ln>
          </p:spPr>
        </p:cxnSp>
        <p:sp>
          <p:nvSpPr>
            <p:cNvPr id="577" name="Oval 15"/>
            <p:cNvSpPr/>
            <p:nvPr/>
          </p:nvSpPr>
          <p:spPr>
            <a:xfrm>
              <a:off x="10872720" y="3056760"/>
              <a:ext cx="479880" cy="47988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E</a:t>
              </a:r>
              <a:endParaRPr b="0" lang="en-US" sz="2000" spc="-1" strike="noStrike">
                <a:solidFill>
                  <a:srgbClr val="ffffff"/>
                </a:solidFill>
                <a:latin typeface="Arial"/>
              </a:endParaRPr>
            </a:p>
          </p:txBody>
        </p:sp>
        <p:cxnSp>
          <p:nvCxnSpPr>
            <p:cNvPr id="578" name="AutoShape 16"/>
            <p:cNvCxnSpPr>
              <a:stCxn id="571" idx="6"/>
              <a:endCxn id="577" idx="3"/>
            </p:cNvCxnSpPr>
            <p:nvPr/>
          </p:nvCxnSpPr>
          <p:spPr>
            <a:xfrm flipV="1">
              <a:off x="8750880" y="3466800"/>
              <a:ext cx="2192760" cy="791280"/>
            </a:xfrm>
            <a:prstGeom prst="straightConnector1">
              <a:avLst/>
            </a:prstGeom>
            <a:ln w="38100">
              <a:solidFill>
                <a:srgbClr val="44546a"/>
              </a:solidFill>
              <a:round/>
              <a:tailEnd len="med" type="triangle" w="med"/>
            </a:ln>
          </p:spPr>
        </p:cxnSp>
        <p:cxnSp>
          <p:nvCxnSpPr>
            <p:cNvPr id="579" name="AutoShape 17"/>
            <p:cNvCxnSpPr>
              <a:stCxn id="577" idx="1"/>
              <a:endCxn id="570" idx="6"/>
            </p:cNvCxnSpPr>
            <p:nvPr/>
          </p:nvCxnSpPr>
          <p:spPr>
            <a:xfrm flipH="1" flipV="1">
              <a:off x="8750880" y="2336400"/>
              <a:ext cx="2192760" cy="791280"/>
            </a:xfrm>
            <a:prstGeom prst="straightConnector1">
              <a:avLst/>
            </a:prstGeom>
            <a:ln w="38100">
              <a:solidFill>
                <a:srgbClr val="ed7d31"/>
              </a:solidFill>
              <a:prstDash val="dash"/>
              <a:round/>
              <a:tailEnd len="med" type="triangle" w="med"/>
            </a:ln>
          </p:spPr>
        </p:cxnSp>
      </p:gr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Analysis of DFS</a:t>
            </a:r>
            <a:endParaRPr b="0" lang="en-US" sz="4400" spc="-1" strike="noStrike">
              <a:solidFill>
                <a:srgbClr val="000000"/>
              </a:solidFill>
              <a:latin typeface="Arial"/>
            </a:endParaRPr>
          </a:p>
        </p:txBody>
      </p:sp>
      <p:sp>
        <p:nvSpPr>
          <p:cNvPr id="581"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Setting/getting a vertex/edge label takes </a:t>
            </a:r>
            <a:r>
              <a:rPr b="1" i="1" lang="en-US" sz="2400" spc="-1" strike="noStrike">
                <a:solidFill>
                  <a:schemeClr val="dk1"/>
                </a:solidFill>
                <a:latin typeface="Times New Roman"/>
              </a:rPr>
              <a:t>O</a:t>
            </a:r>
            <a:r>
              <a:rPr b="0" lang="en-US" sz="2400" spc="-1" strike="noStrike">
                <a:solidFill>
                  <a:schemeClr val="dk1"/>
                </a:solidFill>
                <a:latin typeface="Times New Roman"/>
              </a:rPr>
              <a:t>(1)</a:t>
            </a:r>
            <a:r>
              <a:rPr b="0" lang="en-US" sz="2400" spc="-1" strike="noStrike">
                <a:solidFill>
                  <a:schemeClr val="dk1"/>
                </a:solidFill>
                <a:latin typeface="Calibri"/>
              </a:rPr>
              <a:t> time</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Each vertex is labeled twice </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once as UNEXPLORED</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once as </a:t>
            </a:r>
            <a:r>
              <a:rPr b="0" lang="en-US" sz="2000" spc="-1" strike="noStrike">
                <a:solidFill>
                  <a:schemeClr val="dk2"/>
                </a:solidFill>
                <a:latin typeface="Calibri"/>
              </a:rPr>
              <a:t>VISITED</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Each edge is labeled twice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once as UNEXPLORED</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once as </a:t>
            </a:r>
            <a:r>
              <a:rPr b="0" lang="en-US" sz="2000" spc="-1" strike="noStrike">
                <a:solidFill>
                  <a:schemeClr val="dk2"/>
                </a:solidFill>
                <a:latin typeface="Calibri"/>
              </a:rPr>
              <a:t>DISCOVERY</a:t>
            </a:r>
            <a:r>
              <a:rPr b="0" lang="en-US" sz="2000" spc="-1" strike="noStrike">
                <a:solidFill>
                  <a:schemeClr val="dk1"/>
                </a:solidFill>
                <a:latin typeface="Calibri"/>
              </a:rPr>
              <a:t> or </a:t>
            </a:r>
            <a:r>
              <a:rPr b="0" lang="en-US" sz="2000" spc="-1" strike="noStrike">
                <a:solidFill>
                  <a:schemeClr val="accent2"/>
                </a:solidFill>
                <a:latin typeface="Calibri"/>
              </a:rPr>
              <a:t>BACK</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Method incidentEdges is called once for each vertex</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DFS runs in </a:t>
            </a:r>
            <a:r>
              <a:rPr b="1" i="1" lang="en-US" sz="2400" spc="-1" strike="noStrike">
                <a:solidFill>
                  <a:schemeClr val="dk1"/>
                </a:solidFill>
                <a:latin typeface="Times New Roman"/>
              </a:rPr>
              <a:t>O</a:t>
            </a:r>
            <a:r>
              <a:rPr b="0" lang="en-US" sz="2400" spc="-1" strike="noStrike">
                <a:solidFill>
                  <a:schemeClr val="dk1"/>
                </a:solidFill>
                <a:latin typeface="Times New Roman"/>
              </a:rPr>
              <a:t>(</a:t>
            </a:r>
            <a:r>
              <a:rPr b="1" i="1" lang="en-US" sz="2400" spc="-1" strike="noStrike">
                <a:solidFill>
                  <a:schemeClr val="dk1"/>
                </a:solidFill>
                <a:latin typeface="Times New Roman"/>
              </a:rPr>
              <a:t>n </a:t>
            </a:r>
            <a:r>
              <a:rPr b="0" lang="en-US" sz="2400" spc="-1" strike="noStrike">
                <a:solidFill>
                  <a:schemeClr val="dk1"/>
                </a:solidFill>
                <a:latin typeface="Symbol"/>
              </a:rPr>
              <a:t>+</a:t>
            </a:r>
            <a:r>
              <a:rPr b="1" i="1" lang="en-US" sz="2400" spc="-1" strike="noStrike">
                <a:solidFill>
                  <a:schemeClr val="dk1"/>
                </a:solidFill>
                <a:latin typeface="Times New Roman"/>
              </a:rPr>
              <a:t> m</a:t>
            </a:r>
            <a:r>
              <a:rPr b="0" lang="en-US" sz="2400" spc="-1" strike="noStrike">
                <a:solidFill>
                  <a:schemeClr val="dk1"/>
                </a:solidFill>
                <a:latin typeface="Times New Roman"/>
              </a:rPr>
              <a:t>)</a:t>
            </a:r>
            <a:r>
              <a:rPr b="0" lang="en-US" sz="2400" spc="-1" strike="noStrike">
                <a:solidFill>
                  <a:schemeClr val="dk1"/>
                </a:solidFill>
                <a:latin typeface="Calibri"/>
              </a:rPr>
              <a:t> time provided the graph is represented by the adjacency list structure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Recall that </a:t>
            </a:r>
            <a:r>
              <a:rPr b="1" lang="en-US" sz="2800" spc="-1" strike="noStrike">
                <a:solidFill>
                  <a:schemeClr val="dk1"/>
                </a:solidFill>
                <a:latin typeface="Symbol"/>
              </a:rPr>
              <a:t>S</a:t>
            </a:r>
            <a:r>
              <a:rPr b="1" i="1" lang="en-US" sz="2000" spc="-1" strike="noStrike" baseline="-25000">
                <a:solidFill>
                  <a:schemeClr val="dk1"/>
                </a:solidFill>
                <a:latin typeface="Times New Roman"/>
              </a:rPr>
              <a:t>v </a:t>
            </a:r>
            <a:r>
              <a:rPr b="0" lang="en-US" sz="2000" spc="-1" strike="noStrike">
                <a:solidFill>
                  <a:schemeClr val="dk1"/>
                </a:solidFill>
                <a:latin typeface="Times New Roman"/>
              </a:rPr>
              <a:t>deg(</a:t>
            </a:r>
            <a:r>
              <a:rPr b="1" i="1" lang="en-US" sz="2000" spc="-1" strike="noStrike">
                <a:solidFill>
                  <a:schemeClr val="dk1"/>
                </a:solidFill>
                <a:latin typeface="Times New Roman"/>
              </a:rPr>
              <a:t>v</a:t>
            </a:r>
            <a:r>
              <a:rPr b="0" lang="en-US" sz="2000" spc="-1" strike="noStrike">
                <a:solidFill>
                  <a:schemeClr val="dk1"/>
                </a:solidFill>
                <a:latin typeface="Times New Roman"/>
              </a:rPr>
              <a:t>)</a:t>
            </a:r>
            <a:r>
              <a:rPr b="1" i="1" lang="en-US" sz="2000" spc="-1" strike="noStrike">
                <a:solidFill>
                  <a:schemeClr val="dk1"/>
                </a:solidFill>
                <a:latin typeface="Times New Roman"/>
              </a:rPr>
              <a:t> </a:t>
            </a:r>
            <a:r>
              <a:rPr b="0" lang="en-US" sz="2000" spc="-1" strike="noStrike">
                <a:solidFill>
                  <a:schemeClr val="dk1"/>
                </a:solidFill>
                <a:latin typeface="Symbol"/>
              </a:rPr>
              <a:t>= </a:t>
            </a:r>
            <a:r>
              <a:rPr b="0" lang="en-US" sz="2000" spc="-1" strike="noStrike">
                <a:solidFill>
                  <a:schemeClr val="dk1"/>
                </a:solidFill>
                <a:latin typeface="Times New Roman"/>
              </a:rPr>
              <a:t>2</a:t>
            </a:r>
            <a:r>
              <a:rPr b="1" i="1" lang="en-US" sz="2000" spc="-1" strike="noStrike">
                <a:solidFill>
                  <a:schemeClr val="dk1"/>
                </a:solidFill>
                <a:latin typeface="Times New Roman"/>
              </a:rPr>
              <a:t>m</a:t>
            </a:r>
            <a:endParaRPr b="0" lang="en-US" sz="2000" spc="-1" strike="noStrike">
              <a:solidFill>
                <a:srgbClr val="000000"/>
              </a:solidFill>
              <a:latin typeface="Arial"/>
            </a:endParaRPr>
          </a:p>
        </p:txBody>
      </p:sp>
      <p:sp>
        <p:nvSpPr>
          <p:cNvPr id="582" name="PlaceHolder 3"/>
          <p:cNvSpPr>
            <a:spLocks noGrp="1"/>
          </p:cNvSpPr>
          <p:nvPr>
            <p:ph type="sldNum" idx="60"/>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0B5C1D9E-328A-4814-BF41-16E64DDBE13D}" type="slidenum">
              <a:rPr b="0" lang="en-US" sz="1400" spc="-1" strike="noStrike">
                <a:solidFill>
                  <a:schemeClr val="dk1">
                    <a:tint val="75000"/>
                  </a:schemeClr>
                </a:solidFill>
                <a:latin typeface="Tahoma"/>
                <a:ea typeface="MS PGothic"/>
              </a:rPr>
              <a:t>34</a:t>
            </a:fld>
            <a:endParaRPr b="0" lang="en-US" sz="1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Path Finding</a:t>
            </a:r>
            <a:endParaRPr b="0" lang="en-US" sz="4400" spc="-1" strike="noStrike">
              <a:solidFill>
                <a:srgbClr val="000000"/>
              </a:solidFill>
              <a:latin typeface="Arial"/>
            </a:endParaRPr>
          </a:p>
        </p:txBody>
      </p:sp>
      <p:sp>
        <p:nvSpPr>
          <p:cNvPr id="584" name="PlaceHolder 2"/>
          <p:cNvSpPr>
            <a:spLocks noGrp="1"/>
          </p:cNvSpPr>
          <p:nvPr>
            <p:ph/>
          </p:nvPr>
        </p:nvSpPr>
        <p:spPr>
          <a:xfrm>
            <a:off x="838080" y="1107000"/>
            <a:ext cx="640872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We can specialize the DFS algorithm to find a path between two given vertices </a:t>
            </a:r>
            <a:r>
              <a:rPr b="1" i="1" lang="en-US" sz="2000" spc="-1" strike="noStrike">
                <a:solidFill>
                  <a:schemeClr val="dk1"/>
                </a:solidFill>
                <a:latin typeface="Times New Roman"/>
              </a:rPr>
              <a:t>u</a:t>
            </a:r>
            <a:r>
              <a:rPr b="0" lang="en-US" sz="2000" spc="-1" strike="noStrike">
                <a:solidFill>
                  <a:schemeClr val="dk1"/>
                </a:solidFill>
                <a:latin typeface="Calibri"/>
              </a:rPr>
              <a:t> and </a:t>
            </a:r>
            <a:r>
              <a:rPr b="1" i="1" lang="en-US" sz="2000" spc="-1" strike="noStrike">
                <a:solidFill>
                  <a:schemeClr val="dk1"/>
                </a:solidFill>
                <a:latin typeface="Times New Roman"/>
              </a:rPr>
              <a:t>z</a:t>
            </a:r>
            <a:r>
              <a:rPr b="0" lang="en-US" sz="2000" spc="-1" strike="noStrike">
                <a:solidFill>
                  <a:schemeClr val="dk1"/>
                </a:solidFill>
                <a:latin typeface="Calibri"/>
              </a:rPr>
              <a:t> using the template method pattern</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We call </a:t>
            </a:r>
            <a:r>
              <a:rPr b="1" i="1" lang="en-US" sz="2000" spc="-1" strike="noStrike">
                <a:solidFill>
                  <a:schemeClr val="dk1"/>
                </a:solidFill>
                <a:latin typeface="Times New Roman"/>
              </a:rPr>
              <a:t>DFS</a:t>
            </a:r>
            <a:r>
              <a:rPr b="0" lang="en-US" sz="2000" spc="-1" strike="noStrike">
                <a:solidFill>
                  <a:schemeClr val="dk1"/>
                </a:solidFill>
                <a:latin typeface="Times New Roman"/>
              </a:rPr>
              <a:t>(</a:t>
            </a:r>
            <a:r>
              <a:rPr b="1" i="1" lang="en-US" sz="2000" spc="-1" strike="noStrike">
                <a:solidFill>
                  <a:schemeClr val="dk1"/>
                </a:solidFill>
                <a:latin typeface="Times New Roman"/>
              </a:rPr>
              <a:t>G, u</a:t>
            </a:r>
            <a:r>
              <a:rPr b="0" lang="en-US" sz="2000" spc="-1" strike="noStrike">
                <a:solidFill>
                  <a:schemeClr val="dk1"/>
                </a:solidFill>
                <a:latin typeface="Times New Roman"/>
              </a:rPr>
              <a:t>) </a:t>
            </a:r>
            <a:r>
              <a:rPr b="0" lang="en-US" sz="2000" spc="-1" strike="noStrike">
                <a:solidFill>
                  <a:schemeClr val="dk1"/>
                </a:solidFill>
                <a:latin typeface="Calibri"/>
              </a:rPr>
              <a:t>with </a:t>
            </a:r>
            <a:r>
              <a:rPr b="1" i="1" lang="en-US" sz="2000" spc="-1" strike="noStrike">
                <a:solidFill>
                  <a:schemeClr val="dk1"/>
                </a:solidFill>
                <a:latin typeface="Times New Roman"/>
              </a:rPr>
              <a:t>u</a:t>
            </a:r>
            <a:r>
              <a:rPr b="0" lang="en-US" sz="2000" spc="-1" strike="noStrike">
                <a:solidFill>
                  <a:schemeClr val="dk1"/>
                </a:solidFill>
                <a:latin typeface="Calibri"/>
              </a:rPr>
              <a:t> as the start vertex</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We use a stack </a:t>
            </a:r>
            <a:r>
              <a:rPr b="1" i="1" lang="en-US" sz="2000" spc="-1" strike="noStrike">
                <a:solidFill>
                  <a:schemeClr val="dk1"/>
                </a:solidFill>
                <a:latin typeface="Times New Roman"/>
              </a:rPr>
              <a:t>S</a:t>
            </a:r>
            <a:r>
              <a:rPr b="0" lang="en-US" sz="2000" spc="-1" strike="noStrike">
                <a:solidFill>
                  <a:schemeClr val="dk1"/>
                </a:solidFill>
                <a:latin typeface="Calibri"/>
              </a:rPr>
              <a:t> to keep track of the path between the start vertex and the current vertex</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As soon as destination vertex </a:t>
            </a:r>
            <a:r>
              <a:rPr b="1" i="1" lang="en-US" sz="2000" spc="-1" strike="noStrike">
                <a:solidFill>
                  <a:schemeClr val="dk1"/>
                </a:solidFill>
                <a:latin typeface="Times New Roman"/>
              </a:rPr>
              <a:t>z</a:t>
            </a:r>
            <a:r>
              <a:rPr b="0" lang="en-US" sz="2000" spc="-1" strike="noStrike">
                <a:solidFill>
                  <a:schemeClr val="dk1"/>
                </a:solidFill>
                <a:latin typeface="Calibri"/>
              </a:rPr>
              <a:t> is encountered, we return the path as the contents of the stack </a:t>
            </a:r>
            <a:endParaRPr b="0" lang="en-US" sz="2000" spc="-1" strike="noStrike">
              <a:solidFill>
                <a:srgbClr val="000000"/>
              </a:solidFill>
              <a:latin typeface="Arial"/>
            </a:endParaRPr>
          </a:p>
        </p:txBody>
      </p:sp>
      <p:sp>
        <p:nvSpPr>
          <p:cNvPr id="585" name="PlaceHolder 3"/>
          <p:cNvSpPr>
            <a:spLocks noGrp="1"/>
          </p:cNvSpPr>
          <p:nvPr>
            <p:ph type="sldNum" idx="61"/>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4D9D308F-9E96-448F-84EA-4256DF19024C}" type="slidenum">
              <a:rPr b="0" lang="en-US" sz="1400" spc="-1" strike="noStrike">
                <a:solidFill>
                  <a:schemeClr val="dk1">
                    <a:tint val="75000"/>
                  </a:schemeClr>
                </a:solidFill>
                <a:latin typeface="Tahoma"/>
                <a:ea typeface="MS PGothic"/>
              </a:rPr>
              <a:t>35</a:t>
            </a:fld>
            <a:endParaRPr b="0" lang="en-US" sz="1400" spc="-1" strike="noStrike">
              <a:solidFill>
                <a:srgbClr val="000000"/>
              </a:solidFill>
              <a:latin typeface="Times New Roman"/>
            </a:endParaRPr>
          </a:p>
        </p:txBody>
      </p:sp>
      <p:sp>
        <p:nvSpPr>
          <p:cNvPr id="586" name="Text Box 5"/>
          <p:cNvSpPr/>
          <p:nvPr/>
        </p:nvSpPr>
        <p:spPr>
          <a:xfrm>
            <a:off x="7576200" y="1736640"/>
            <a:ext cx="4037040" cy="4289040"/>
          </a:xfrm>
          <a:prstGeom prst="rect">
            <a:avLst/>
          </a:prstGeom>
          <a:noFill/>
          <a:ln w="9525">
            <a:solidFill>
              <a:srgbClr val="000000"/>
            </a:solidFill>
            <a:miter/>
          </a:ln>
        </p:spPr>
        <p:style>
          <a:lnRef idx="0"/>
          <a:fillRef idx="0"/>
          <a:effectRef idx="0"/>
          <a:fontRef idx="minor"/>
        </p:style>
        <p:txBody>
          <a:bodyPr lIns="90000" rIns="90000" tIns="45000" bIns="45000" anchor="t">
            <a:spAutoFit/>
          </a:bodyPr>
          <a:p>
            <a:pPr defTabSz="228600">
              <a:lnSpc>
                <a:spcPct val="80000"/>
              </a:lnSpc>
              <a:spcBef>
                <a:spcPts val="360"/>
              </a:spcBef>
            </a:pPr>
            <a:r>
              <a:rPr b="1" lang="en-US" sz="1800" spc="-1" strike="noStrike">
                <a:solidFill>
                  <a:srgbClr val="000000"/>
                </a:solidFill>
                <a:latin typeface="Times New Roman"/>
                <a:ea typeface="MS PGothic"/>
              </a:rPr>
              <a:t>Algorithm</a:t>
            </a:r>
            <a:r>
              <a:rPr b="0" lang="en-US" sz="1800" spc="-1" strike="noStrike">
                <a:solidFill>
                  <a:schemeClr val="dk1"/>
                </a:solidFill>
                <a:latin typeface="Times New Roman"/>
                <a:ea typeface="MS PGothic"/>
              </a:rPr>
              <a:t> </a:t>
            </a:r>
            <a:r>
              <a:rPr b="1" i="1" lang="en-US" sz="1800" spc="-1" strike="noStrike">
                <a:solidFill>
                  <a:schemeClr val="dk2"/>
                </a:solidFill>
                <a:latin typeface="Times New Roman"/>
                <a:ea typeface="MS PGothic"/>
              </a:rPr>
              <a:t>pathDFS</a:t>
            </a:r>
            <a:r>
              <a:rPr b="0" lang="en-US" sz="1800" spc="-1" strike="noStrike">
                <a:solidFill>
                  <a:schemeClr val="dk2"/>
                </a:solidFill>
                <a:latin typeface="Times New Roman"/>
                <a:ea typeface="MS PGothic"/>
              </a:rPr>
              <a:t>(</a:t>
            </a:r>
            <a:r>
              <a:rPr b="1" i="1" lang="en-US" sz="1800" spc="-1" strike="noStrike">
                <a:solidFill>
                  <a:schemeClr val="dk2"/>
                </a:solidFill>
                <a:latin typeface="Times New Roman"/>
                <a:ea typeface="MS PGothic"/>
              </a:rPr>
              <a:t>G, v, z</a:t>
            </a:r>
            <a:r>
              <a:rPr b="0" lang="en-US" sz="1800" spc="-1" strike="noStrike">
                <a:solidFill>
                  <a:schemeClr val="dk2"/>
                </a:solidFill>
                <a:latin typeface="Times New Roman"/>
                <a:ea typeface="MS PGothic"/>
              </a:rPr>
              <a:t>)</a:t>
            </a:r>
            <a:endParaRPr b="0" lang="en-US" sz="1800" spc="-1" strike="noStrike">
              <a:solidFill>
                <a:srgbClr val="000000"/>
              </a:solidFill>
              <a:latin typeface="Arial"/>
            </a:endParaRPr>
          </a:p>
          <a:p>
            <a:pPr defTabSz="228600">
              <a:lnSpc>
                <a:spcPct val="80000"/>
              </a:lnSpc>
              <a:spcBef>
                <a:spcPts val="360"/>
              </a:spcBef>
            </a:pP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v, VISITED</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defTabSz="228600">
              <a:lnSpc>
                <a:spcPct val="80000"/>
              </a:lnSpc>
              <a:spcBef>
                <a:spcPts val="360"/>
              </a:spcBef>
            </a:pPr>
            <a:r>
              <a:rPr b="0" lang="en-US" sz="1800" spc="-1" strike="noStrike">
                <a:solidFill>
                  <a:schemeClr val="accent2"/>
                </a:solidFill>
                <a:latin typeface="Times New Roman"/>
                <a:ea typeface="MS PGothic"/>
              </a:rPr>
              <a:t>	</a:t>
            </a:r>
            <a:r>
              <a:rPr b="1" i="1" lang="en-US" sz="1800" spc="-1" strike="noStrike">
                <a:solidFill>
                  <a:schemeClr val="dk2"/>
                </a:solidFill>
                <a:latin typeface="Times New Roman"/>
                <a:ea typeface="MS PGothic"/>
              </a:rPr>
              <a:t>S.push</a:t>
            </a:r>
            <a:r>
              <a:rPr b="0" lang="en-US" sz="1800" spc="-1" strike="noStrike">
                <a:solidFill>
                  <a:schemeClr val="dk2"/>
                </a:solidFill>
                <a:latin typeface="Times New Roman"/>
                <a:ea typeface="MS PGothic"/>
              </a:rPr>
              <a:t>(</a:t>
            </a:r>
            <a:r>
              <a:rPr b="1" i="1" lang="en-US" sz="1800" spc="-1" strike="noStrike">
                <a:solidFill>
                  <a:schemeClr val="dk2"/>
                </a:solidFill>
                <a:latin typeface="Times New Roman"/>
                <a:ea typeface="MS PGothic"/>
              </a:rPr>
              <a:t>v</a:t>
            </a:r>
            <a:r>
              <a:rPr b="0" lang="en-US" sz="1800" spc="-1" strike="noStrike">
                <a:solidFill>
                  <a:schemeClr val="dk2"/>
                </a:solidFill>
                <a:latin typeface="Times New Roman"/>
                <a:ea typeface="MS PGothic"/>
              </a:rPr>
              <a:t>)</a:t>
            </a:r>
            <a:endParaRPr b="0" lang="en-US" sz="1800" spc="-1" strike="noStrike">
              <a:solidFill>
                <a:srgbClr val="000000"/>
              </a:solidFill>
              <a:latin typeface="Arial"/>
            </a:endParaRPr>
          </a:p>
          <a:p>
            <a:pPr marL="228600" defTabSz="228600">
              <a:lnSpc>
                <a:spcPct val="80000"/>
              </a:lnSpc>
              <a:spcBef>
                <a:spcPts val="360"/>
              </a:spcBef>
            </a:pPr>
            <a:r>
              <a:rPr b="1" lang="en-US" sz="1800" spc="-1" strike="noStrike">
                <a:solidFill>
                  <a:srgbClr val="000000"/>
                </a:solidFill>
                <a:latin typeface="Times New Roman"/>
                <a:ea typeface="MS PGothic"/>
              </a:rPr>
              <a:t>if  </a:t>
            </a:r>
            <a:r>
              <a:rPr b="1" i="1" lang="en-US" sz="1800" spc="-1" strike="noStrike">
                <a:solidFill>
                  <a:schemeClr val="accent2"/>
                </a:solidFill>
                <a:latin typeface="Times New Roman"/>
                <a:ea typeface="MS PGothic"/>
              </a:rPr>
              <a:t>v</a:t>
            </a:r>
            <a:r>
              <a:rPr b="0" lang="en-US" sz="1800" spc="-1" strike="noStrike">
                <a:solidFill>
                  <a:schemeClr val="accent2"/>
                </a:solidFill>
                <a:latin typeface="Times New Roman"/>
                <a:ea typeface="MS PGothic"/>
              </a:rPr>
              <a:t> </a:t>
            </a:r>
            <a:r>
              <a:rPr b="0" lang="en-US" sz="1800" spc="-1" strike="noStrike">
                <a:solidFill>
                  <a:srgbClr val="000000"/>
                </a:solidFill>
                <a:latin typeface="Symbol"/>
                <a:ea typeface="MS PGothic"/>
              </a:rPr>
              <a:t>= </a:t>
            </a:r>
            <a:r>
              <a:rPr b="1" i="1" lang="en-US" sz="1800" spc="-1" strike="noStrike">
                <a:solidFill>
                  <a:schemeClr val="accent2"/>
                </a:solidFill>
                <a:latin typeface="Times New Roman"/>
                <a:ea typeface="MS PGothic"/>
              </a:rPr>
              <a:t>z</a:t>
            </a:r>
            <a:endParaRPr b="0" lang="en-US" sz="1800" spc="-1" strike="noStrike">
              <a:solidFill>
                <a:srgbClr val="000000"/>
              </a:solidFill>
              <a:latin typeface="Arial"/>
            </a:endParaRPr>
          </a:p>
          <a:p>
            <a:pPr marL="228600" defTabSz="228600">
              <a:lnSpc>
                <a:spcPct val="80000"/>
              </a:lnSpc>
              <a:spcBef>
                <a:spcPts val="360"/>
              </a:spcBef>
            </a:pPr>
            <a:r>
              <a:rPr b="1" i="1"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return </a:t>
            </a:r>
            <a:r>
              <a:rPr b="1" i="1" lang="en-US" sz="1800" spc="-1" strike="noStrike">
                <a:solidFill>
                  <a:schemeClr val="dk2"/>
                </a:solidFill>
                <a:latin typeface="Times New Roman"/>
                <a:ea typeface="MS PGothic"/>
              </a:rPr>
              <a:t>S.elements</a:t>
            </a:r>
            <a:r>
              <a:rPr b="0" lang="en-US" sz="1800" spc="-1" strike="noStrike">
                <a:solidFill>
                  <a:schemeClr val="dk2"/>
                </a:solidFill>
                <a:latin typeface="Times New Roman"/>
                <a:ea typeface="MS PGothic"/>
              </a:rPr>
              <a:t>()</a:t>
            </a:r>
            <a:endParaRPr b="0" lang="en-US" sz="1800" spc="-1" strike="noStrike">
              <a:solidFill>
                <a:srgbClr val="000000"/>
              </a:solidFill>
              <a:latin typeface="Arial"/>
            </a:endParaRPr>
          </a:p>
          <a:p>
            <a:pPr marL="228600" defTabSz="228600">
              <a:lnSpc>
                <a:spcPct val="80000"/>
              </a:lnSpc>
              <a:spcBef>
                <a:spcPts val="360"/>
              </a:spcBef>
            </a:pPr>
            <a:r>
              <a:rPr b="1" lang="en-US" sz="1800" spc="-1" strike="noStrike">
                <a:solidFill>
                  <a:srgbClr val="000000"/>
                </a:solidFill>
                <a:latin typeface="Times New Roman"/>
                <a:ea typeface="MS PGothic"/>
              </a:rPr>
              <a:t>for all </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e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G.incidentEdges</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v</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80000"/>
              </a:lnSpc>
              <a:spcBef>
                <a:spcPts val="360"/>
              </a:spcBef>
            </a:pPr>
            <a:r>
              <a:rPr b="0"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if</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getLabel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e</a:t>
            </a:r>
            <a:r>
              <a:rPr b="0" lang="en-US" sz="1800" spc="-1" strike="noStrike">
                <a:solidFill>
                  <a:schemeClr val="accent2"/>
                </a:solidFill>
                <a:latin typeface="Times New Roman"/>
                <a:ea typeface="MS PGothic"/>
              </a:rPr>
              <a:t>) </a:t>
            </a:r>
            <a:r>
              <a:rPr b="0" lang="en-US" sz="1800" spc="-1" strike="noStrike">
                <a:solidFill>
                  <a:srgbClr val="000000"/>
                </a:solidFill>
                <a:latin typeface="Symbol"/>
                <a:ea typeface="MS PGothic"/>
              </a:rPr>
              <a:t>= </a:t>
            </a:r>
            <a:r>
              <a:rPr b="1" i="1" lang="en-US" sz="1800" spc="-1" strike="noStrike">
                <a:solidFill>
                  <a:schemeClr val="accent2"/>
                </a:solidFill>
                <a:latin typeface="Times New Roman"/>
                <a:ea typeface="MS PGothic"/>
              </a:rPr>
              <a:t>UNEXPLORED</a:t>
            </a:r>
            <a:endParaRPr b="0" lang="en-US" sz="1800" spc="-1" strike="noStrike">
              <a:solidFill>
                <a:srgbClr val="000000"/>
              </a:solidFill>
              <a:latin typeface="Arial"/>
            </a:endParaRPr>
          </a:p>
          <a:p>
            <a:pPr marL="228600" defTabSz="228600">
              <a:lnSpc>
                <a:spcPct val="80000"/>
              </a:lnSpc>
              <a:spcBef>
                <a:spcPts val="360"/>
              </a:spcBef>
            </a:pP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i="1" lang="en-US" sz="1800" spc="-1" strike="noStrike">
                <a:solidFill>
                  <a:schemeClr val="accent2"/>
                </a:solidFill>
                <a:latin typeface="Times New Roman"/>
                <a:ea typeface="MS PGothic"/>
              </a:rPr>
              <a:t>w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opposite</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v,e</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80000"/>
              </a:lnSpc>
              <a:spcBef>
                <a:spcPts val="360"/>
              </a:spcBef>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if </a:t>
            </a:r>
            <a:r>
              <a:rPr b="1" i="1" lang="en-US" sz="1800" spc="-1" strike="noStrike">
                <a:solidFill>
                  <a:schemeClr val="accent2"/>
                </a:solidFill>
                <a:latin typeface="Times New Roman"/>
                <a:ea typeface="MS PGothic"/>
              </a:rPr>
              <a:t>getLabel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w</a:t>
            </a:r>
            <a:r>
              <a:rPr b="0" lang="en-US" sz="1800" spc="-1" strike="noStrike">
                <a:solidFill>
                  <a:schemeClr val="accent2"/>
                </a:solidFill>
                <a:latin typeface="Times New Roman"/>
                <a:ea typeface="MS PGothic"/>
              </a:rPr>
              <a:t>) </a:t>
            </a:r>
            <a:r>
              <a:rPr b="0" lang="en-US" sz="1800" spc="-1" strike="noStrike">
                <a:solidFill>
                  <a:srgbClr val="000000"/>
                </a:solidFill>
                <a:latin typeface="Symbol"/>
                <a:ea typeface="MS PGothic"/>
              </a:rPr>
              <a:t>= </a:t>
            </a:r>
            <a:r>
              <a:rPr b="1" i="1" lang="en-US" sz="1800" spc="-1" strike="noStrike">
                <a:solidFill>
                  <a:schemeClr val="accent2"/>
                </a:solidFill>
                <a:latin typeface="Times New Roman"/>
                <a:ea typeface="MS PGothic"/>
              </a:rPr>
              <a:t>UNEXPLORED</a:t>
            </a:r>
            <a:endParaRPr b="0" lang="en-US" sz="1800" spc="-1" strike="noStrike">
              <a:solidFill>
                <a:srgbClr val="000000"/>
              </a:solidFill>
              <a:latin typeface="Arial"/>
            </a:endParaRPr>
          </a:p>
          <a:p>
            <a:pPr marL="228600" defTabSz="228600">
              <a:lnSpc>
                <a:spcPct val="80000"/>
              </a:lnSpc>
              <a:spcBef>
                <a:spcPts val="360"/>
              </a:spcBef>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e, DISCOVERY</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80000"/>
              </a:lnSpc>
              <a:spcBef>
                <a:spcPts val="360"/>
              </a:spcBef>
            </a:pPr>
            <a:r>
              <a:rPr b="1" i="1"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	</a:t>
            </a:r>
            <a:r>
              <a:rPr b="1" i="1" lang="en-US" sz="1800" spc="-1" strike="noStrike">
                <a:solidFill>
                  <a:schemeClr val="dk2"/>
                </a:solidFill>
                <a:latin typeface="Times New Roman"/>
                <a:ea typeface="MS PGothic"/>
              </a:rPr>
              <a:t>S.push</a:t>
            </a:r>
            <a:r>
              <a:rPr b="0" lang="en-US" sz="1800" spc="-1" strike="noStrike">
                <a:solidFill>
                  <a:schemeClr val="dk2"/>
                </a:solidFill>
                <a:latin typeface="Times New Roman"/>
                <a:ea typeface="MS PGothic"/>
              </a:rPr>
              <a:t>(</a:t>
            </a:r>
            <a:r>
              <a:rPr b="1" i="1" lang="en-US" sz="1800" spc="-1" strike="noStrike">
                <a:solidFill>
                  <a:schemeClr val="dk2"/>
                </a:solidFill>
                <a:latin typeface="Times New Roman"/>
                <a:ea typeface="MS PGothic"/>
              </a:rPr>
              <a:t>e</a:t>
            </a:r>
            <a:r>
              <a:rPr b="0" lang="en-US" sz="1800" spc="-1" strike="noStrike">
                <a:solidFill>
                  <a:schemeClr val="dk2"/>
                </a:solidFill>
                <a:latin typeface="Times New Roman"/>
                <a:ea typeface="MS PGothic"/>
              </a:rPr>
              <a:t>)</a:t>
            </a:r>
            <a:endParaRPr b="0" lang="en-US" sz="1800" spc="-1" strike="noStrike">
              <a:solidFill>
                <a:srgbClr val="000000"/>
              </a:solidFill>
              <a:latin typeface="Arial"/>
            </a:endParaRPr>
          </a:p>
          <a:p>
            <a:pPr marL="228600" defTabSz="228600">
              <a:lnSpc>
                <a:spcPct val="80000"/>
              </a:lnSpc>
              <a:spcBef>
                <a:spcPts val="360"/>
              </a:spcBef>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pathDFS</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G, w, z</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80000"/>
              </a:lnSpc>
              <a:spcBef>
                <a:spcPts val="360"/>
              </a:spcBef>
            </a:pPr>
            <a:r>
              <a:rPr b="1" i="1"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	</a:t>
            </a:r>
            <a:r>
              <a:rPr b="1" i="1" lang="en-US" sz="1800" spc="-1" strike="noStrike">
                <a:solidFill>
                  <a:schemeClr val="dk2"/>
                </a:solidFill>
                <a:latin typeface="Times New Roman"/>
                <a:ea typeface="MS PGothic"/>
              </a:rPr>
              <a:t>S.pop</a:t>
            </a:r>
            <a:r>
              <a:rPr b="0" lang="en-US" sz="1800" spc="-1" strike="noStrike">
                <a:solidFill>
                  <a:schemeClr val="dk2"/>
                </a:solidFill>
                <a:latin typeface="Times New Roman"/>
                <a:ea typeface="MS PGothic"/>
              </a:rPr>
              <a:t>(</a:t>
            </a:r>
            <a:r>
              <a:rPr b="1" i="1" lang="en-US" sz="1800" spc="-1" strike="noStrike">
                <a:solidFill>
                  <a:schemeClr val="dk2"/>
                </a:solidFill>
                <a:latin typeface="Times New Roman"/>
                <a:ea typeface="MS PGothic"/>
              </a:rPr>
              <a:t>e</a:t>
            </a:r>
            <a:r>
              <a:rPr b="0" lang="en-US" sz="1800" spc="-1" strike="noStrike">
                <a:solidFill>
                  <a:schemeClr val="dk2"/>
                </a:solidFill>
                <a:latin typeface="Times New Roman"/>
                <a:ea typeface="MS PGothic"/>
              </a:rPr>
              <a:t>)</a:t>
            </a:r>
            <a:endParaRPr b="0" lang="en-US" sz="1800" spc="-1" strike="noStrike">
              <a:solidFill>
                <a:srgbClr val="000000"/>
              </a:solidFill>
              <a:latin typeface="Arial"/>
            </a:endParaRPr>
          </a:p>
          <a:p>
            <a:pPr marL="228600" defTabSz="228600">
              <a:lnSpc>
                <a:spcPct val="80000"/>
              </a:lnSpc>
              <a:spcBef>
                <a:spcPts val="360"/>
              </a:spcBef>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else</a:t>
            </a:r>
            <a:endParaRPr b="0" lang="en-US" sz="1800" spc="-1" strike="noStrike">
              <a:solidFill>
                <a:srgbClr val="000000"/>
              </a:solidFill>
              <a:latin typeface="Arial"/>
            </a:endParaRPr>
          </a:p>
          <a:p>
            <a:pPr marL="228600" defTabSz="228600">
              <a:lnSpc>
                <a:spcPct val="80000"/>
              </a:lnSpc>
              <a:spcBef>
                <a:spcPts val="360"/>
              </a:spcBef>
            </a:pP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e, BACK</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80000"/>
              </a:lnSpc>
              <a:spcBef>
                <a:spcPts val="360"/>
              </a:spcBef>
            </a:pPr>
            <a:r>
              <a:rPr b="1" i="1" lang="en-US" sz="1800" spc="-1" strike="noStrike">
                <a:solidFill>
                  <a:schemeClr val="dk2"/>
                </a:solidFill>
                <a:latin typeface="Times New Roman"/>
                <a:ea typeface="MS PGothic"/>
              </a:rPr>
              <a:t>S.pop</a:t>
            </a:r>
            <a:r>
              <a:rPr b="0" lang="en-US" sz="1800" spc="-1" strike="noStrike">
                <a:solidFill>
                  <a:schemeClr val="dk2"/>
                </a:solidFill>
                <a:latin typeface="Times New Roman"/>
                <a:ea typeface="MS PGothic"/>
              </a:rPr>
              <a:t>(</a:t>
            </a:r>
            <a:r>
              <a:rPr b="1" i="1" lang="en-US" sz="1800" spc="-1" strike="noStrike">
                <a:solidFill>
                  <a:schemeClr val="dk2"/>
                </a:solidFill>
                <a:latin typeface="Times New Roman"/>
                <a:ea typeface="MS PGothic"/>
              </a:rPr>
              <a:t>v</a:t>
            </a:r>
            <a:r>
              <a:rPr b="0" lang="en-US" sz="1800" spc="-1" strike="noStrike">
                <a:solidFill>
                  <a:schemeClr val="dk2"/>
                </a:solidFill>
                <a:latin typeface="Times New Roman"/>
                <a:ea typeface="MS PGothic"/>
              </a:rPr>
              <a: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Cycle Finding</a:t>
            </a:r>
            <a:endParaRPr b="0" lang="en-US" sz="4400" spc="-1" strike="noStrike">
              <a:solidFill>
                <a:srgbClr val="000000"/>
              </a:solidFill>
              <a:latin typeface="Arial"/>
            </a:endParaRPr>
          </a:p>
        </p:txBody>
      </p:sp>
      <p:sp>
        <p:nvSpPr>
          <p:cNvPr id="588" name="PlaceHolder 2"/>
          <p:cNvSpPr>
            <a:spLocks noGrp="1"/>
          </p:cNvSpPr>
          <p:nvPr>
            <p:ph/>
          </p:nvPr>
        </p:nvSpPr>
        <p:spPr>
          <a:xfrm>
            <a:off x="838080" y="1107000"/>
            <a:ext cx="638640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We can specialize the DFS algorithm to find a simple cycle using the template method pattern</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We use a stack </a:t>
            </a:r>
            <a:r>
              <a:rPr b="1" i="1" lang="en-US" sz="2000" spc="-1" strike="noStrike">
                <a:solidFill>
                  <a:schemeClr val="dk1"/>
                </a:solidFill>
                <a:latin typeface="Times New Roman"/>
              </a:rPr>
              <a:t>S</a:t>
            </a:r>
            <a:r>
              <a:rPr b="0" lang="en-US" sz="2000" spc="-1" strike="noStrike">
                <a:solidFill>
                  <a:schemeClr val="dk1"/>
                </a:solidFill>
                <a:latin typeface="Calibri"/>
              </a:rPr>
              <a:t> to keep track of the path between the start vertex and the current vertex</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As soon as a back edge </a:t>
            </a:r>
            <a:r>
              <a:rPr b="0" lang="en-US" sz="2400" spc="-1" strike="noStrike">
                <a:solidFill>
                  <a:schemeClr val="dk1"/>
                </a:solidFill>
                <a:latin typeface="Times New Roman"/>
              </a:rPr>
              <a:t>(</a:t>
            </a:r>
            <a:r>
              <a:rPr b="1" i="1" lang="en-US" sz="2400" spc="-1" strike="noStrike">
                <a:solidFill>
                  <a:schemeClr val="dk1"/>
                </a:solidFill>
                <a:latin typeface="Times New Roman"/>
              </a:rPr>
              <a:t>v, w</a:t>
            </a:r>
            <a:r>
              <a:rPr b="0" lang="en-US" sz="2400" spc="-1" strike="noStrike">
                <a:solidFill>
                  <a:schemeClr val="dk1"/>
                </a:solidFill>
                <a:latin typeface="Times New Roman"/>
              </a:rPr>
              <a:t>)</a:t>
            </a:r>
            <a:r>
              <a:rPr b="0" lang="en-US" sz="2000" spc="-1" strike="noStrike">
                <a:solidFill>
                  <a:schemeClr val="dk1"/>
                </a:solidFill>
                <a:latin typeface="Calibri"/>
              </a:rPr>
              <a:t> is encountered, we return the cycle as the portion of the stack from the top to vertex </a:t>
            </a:r>
            <a:r>
              <a:rPr b="1" i="1" lang="en-US" sz="2400" spc="-1" strike="noStrike">
                <a:solidFill>
                  <a:schemeClr val="dk1"/>
                </a:solidFill>
                <a:latin typeface="Times New Roman"/>
              </a:rPr>
              <a:t>w</a:t>
            </a:r>
            <a:endParaRPr b="0" lang="en-US" sz="2400" spc="-1" strike="noStrike">
              <a:solidFill>
                <a:srgbClr val="000000"/>
              </a:solidFill>
              <a:latin typeface="Arial"/>
            </a:endParaRPr>
          </a:p>
        </p:txBody>
      </p:sp>
      <p:sp>
        <p:nvSpPr>
          <p:cNvPr id="589" name="PlaceHolder 3"/>
          <p:cNvSpPr>
            <a:spLocks noGrp="1"/>
          </p:cNvSpPr>
          <p:nvPr>
            <p:ph type="sldNum" idx="62"/>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B5C361F0-5EA2-4FF3-9002-E6489C249ECF}" type="slidenum">
              <a:rPr b="0" lang="en-US" sz="1400" spc="-1" strike="noStrike">
                <a:solidFill>
                  <a:schemeClr val="dk1">
                    <a:tint val="75000"/>
                  </a:schemeClr>
                </a:solidFill>
                <a:latin typeface="Tahoma"/>
                <a:ea typeface="MS PGothic"/>
              </a:rPr>
              <a:t>36</a:t>
            </a:fld>
            <a:endParaRPr b="0" lang="en-US" sz="1400" spc="-1" strike="noStrike">
              <a:solidFill>
                <a:srgbClr val="000000"/>
              </a:solidFill>
              <a:latin typeface="Times New Roman"/>
            </a:endParaRPr>
          </a:p>
        </p:txBody>
      </p:sp>
      <p:sp>
        <p:nvSpPr>
          <p:cNvPr id="590" name="Text Box 4"/>
          <p:cNvSpPr/>
          <p:nvPr/>
        </p:nvSpPr>
        <p:spPr>
          <a:xfrm>
            <a:off x="7322760" y="1479600"/>
            <a:ext cx="4037040" cy="4529160"/>
          </a:xfrm>
          <a:prstGeom prst="rect">
            <a:avLst/>
          </a:prstGeom>
          <a:noFill/>
          <a:ln w="9525">
            <a:solidFill>
              <a:srgbClr val="000000"/>
            </a:solidFill>
            <a:miter/>
          </a:ln>
        </p:spPr>
        <p:style>
          <a:lnRef idx="0"/>
          <a:fillRef idx="0"/>
          <a:effectRef idx="0"/>
          <a:fontRef idx="minor"/>
        </p:style>
        <p:txBody>
          <a:bodyPr lIns="90000" rIns="90000" tIns="45000" bIns="45000" anchor="t">
            <a:spAutoFit/>
          </a:bodyPr>
          <a:p>
            <a:pPr defTabSz="228600">
              <a:lnSpc>
                <a:spcPct val="80000"/>
              </a:lnSpc>
              <a:spcBef>
                <a:spcPts val="320"/>
              </a:spcBef>
            </a:pPr>
            <a:r>
              <a:rPr b="1" lang="en-US" sz="1600" spc="-1" strike="noStrike">
                <a:solidFill>
                  <a:srgbClr val="000000"/>
                </a:solidFill>
                <a:latin typeface="Times New Roman"/>
                <a:ea typeface="MS PGothic"/>
              </a:rPr>
              <a:t>Algorithm</a:t>
            </a:r>
            <a:r>
              <a:rPr b="0" lang="en-US" sz="1600" spc="-1" strike="noStrike">
                <a:solidFill>
                  <a:schemeClr val="dk1"/>
                </a:solidFill>
                <a:latin typeface="Times New Roman"/>
                <a:ea typeface="MS PGothic"/>
              </a:rPr>
              <a:t> </a:t>
            </a:r>
            <a:r>
              <a:rPr b="1" i="1" lang="en-US" sz="1600" spc="-1" strike="noStrike">
                <a:solidFill>
                  <a:schemeClr val="dk2"/>
                </a:solidFill>
                <a:latin typeface="Times New Roman"/>
                <a:ea typeface="MS PGothic"/>
              </a:rPr>
              <a:t>cycleDFS</a:t>
            </a:r>
            <a:r>
              <a:rPr b="0" lang="en-US" sz="1600" spc="-1" strike="noStrike">
                <a:solidFill>
                  <a:schemeClr val="dk2"/>
                </a:solidFill>
                <a:latin typeface="Times New Roman"/>
                <a:ea typeface="MS PGothic"/>
              </a:rPr>
              <a:t>(</a:t>
            </a:r>
            <a:r>
              <a:rPr b="1" i="1" lang="en-US" sz="1600" spc="-1" strike="noStrike">
                <a:solidFill>
                  <a:schemeClr val="dk2"/>
                </a:solidFill>
                <a:latin typeface="Times New Roman"/>
                <a:ea typeface="MS PGothic"/>
              </a:rPr>
              <a:t>G, v, z</a:t>
            </a:r>
            <a:r>
              <a:rPr b="0" lang="en-US" sz="1600" spc="-1" strike="noStrike">
                <a:solidFill>
                  <a:schemeClr val="dk2"/>
                </a:solidFill>
                <a:latin typeface="Times New Roman"/>
                <a:ea typeface="MS PGothic"/>
              </a:rPr>
              <a:t>)</a:t>
            </a:r>
            <a:endParaRPr b="0" lang="en-US" sz="1600" spc="-1" strike="noStrike">
              <a:solidFill>
                <a:srgbClr val="000000"/>
              </a:solidFill>
              <a:latin typeface="Arial"/>
            </a:endParaRPr>
          </a:p>
          <a:p>
            <a:pPr defTabSz="228600">
              <a:lnSpc>
                <a:spcPct val="80000"/>
              </a:lnSpc>
              <a:spcBef>
                <a:spcPts val="320"/>
              </a:spcBef>
            </a:pPr>
            <a:r>
              <a:rPr b="0" lang="en-US" sz="1600" spc="-1" strike="noStrike">
                <a:solidFill>
                  <a:schemeClr val="dk2"/>
                </a:solidFill>
                <a:latin typeface="Times New Roman"/>
                <a:ea typeface="MS PGothic"/>
              </a:rPr>
              <a:t>	</a:t>
            </a:r>
            <a:r>
              <a:rPr b="1" i="1" lang="en-US" sz="1600" spc="-1" strike="noStrike">
                <a:solidFill>
                  <a:schemeClr val="accent2"/>
                </a:solidFill>
                <a:latin typeface="Times New Roman"/>
                <a:ea typeface="MS PGothic"/>
              </a:rPr>
              <a:t>setLabel</a:t>
            </a:r>
            <a:r>
              <a:rPr b="0" lang="en-US" sz="1600" spc="-1" strike="noStrike">
                <a:solidFill>
                  <a:schemeClr val="accent2"/>
                </a:solidFill>
                <a:latin typeface="Times New Roman"/>
                <a:ea typeface="MS PGothic"/>
              </a:rPr>
              <a:t>(</a:t>
            </a:r>
            <a:r>
              <a:rPr b="1" i="1" lang="en-US" sz="1600" spc="-1" strike="noStrike">
                <a:solidFill>
                  <a:schemeClr val="accent2"/>
                </a:solidFill>
                <a:latin typeface="Times New Roman"/>
                <a:ea typeface="MS PGothic"/>
              </a:rPr>
              <a:t>v, VISITED</a:t>
            </a:r>
            <a:r>
              <a:rPr b="0" lang="en-US" sz="1600" spc="-1" strike="noStrike">
                <a:solidFill>
                  <a:schemeClr val="accent2"/>
                </a:solidFill>
                <a:latin typeface="Times New Roman"/>
                <a:ea typeface="MS PGothic"/>
              </a:rPr>
              <a:t>)</a:t>
            </a:r>
            <a:endParaRPr b="0" lang="en-US" sz="1600" spc="-1" strike="noStrike">
              <a:solidFill>
                <a:srgbClr val="000000"/>
              </a:solidFill>
              <a:latin typeface="Arial"/>
            </a:endParaRPr>
          </a:p>
          <a:p>
            <a:pPr defTabSz="228600">
              <a:lnSpc>
                <a:spcPct val="80000"/>
              </a:lnSpc>
              <a:spcBef>
                <a:spcPts val="320"/>
              </a:spcBef>
            </a:pPr>
            <a:r>
              <a:rPr b="0" lang="en-US" sz="1600" spc="-1" strike="noStrike">
                <a:solidFill>
                  <a:schemeClr val="accent2"/>
                </a:solidFill>
                <a:latin typeface="Times New Roman"/>
                <a:ea typeface="MS PGothic"/>
              </a:rPr>
              <a:t>	</a:t>
            </a:r>
            <a:r>
              <a:rPr b="1" i="1" lang="en-US" sz="1600" spc="-1" strike="noStrike">
                <a:solidFill>
                  <a:schemeClr val="dk2"/>
                </a:solidFill>
                <a:latin typeface="Times New Roman"/>
                <a:ea typeface="MS PGothic"/>
              </a:rPr>
              <a:t>S.push</a:t>
            </a:r>
            <a:r>
              <a:rPr b="0" lang="en-US" sz="1600" spc="-1" strike="noStrike">
                <a:solidFill>
                  <a:schemeClr val="dk2"/>
                </a:solidFill>
                <a:latin typeface="Times New Roman"/>
                <a:ea typeface="MS PGothic"/>
              </a:rPr>
              <a:t>(</a:t>
            </a:r>
            <a:r>
              <a:rPr b="1" i="1" lang="en-US" sz="1600" spc="-1" strike="noStrike">
                <a:solidFill>
                  <a:schemeClr val="dk2"/>
                </a:solidFill>
                <a:latin typeface="Times New Roman"/>
                <a:ea typeface="MS PGothic"/>
              </a:rPr>
              <a:t>v</a:t>
            </a:r>
            <a:r>
              <a:rPr b="0" lang="en-US" sz="1600" spc="-1" strike="noStrike">
                <a:solidFill>
                  <a:schemeClr val="dk2"/>
                </a:solidFill>
                <a:latin typeface="Times New Roman"/>
                <a:ea typeface="MS PGothic"/>
              </a:rPr>
              <a:t>)</a:t>
            </a:r>
            <a:endParaRPr b="0" lang="en-US" sz="1600" spc="-1" strike="noStrike">
              <a:solidFill>
                <a:srgbClr val="000000"/>
              </a:solidFill>
              <a:latin typeface="Arial"/>
            </a:endParaRPr>
          </a:p>
          <a:p>
            <a:pPr marL="228600" defTabSz="228600">
              <a:lnSpc>
                <a:spcPct val="80000"/>
              </a:lnSpc>
              <a:spcBef>
                <a:spcPts val="320"/>
              </a:spcBef>
            </a:pPr>
            <a:r>
              <a:rPr b="1" lang="en-US" sz="1600" spc="-1" strike="noStrike">
                <a:solidFill>
                  <a:srgbClr val="000000"/>
                </a:solidFill>
                <a:latin typeface="Times New Roman"/>
                <a:ea typeface="MS PGothic"/>
              </a:rPr>
              <a:t>for all </a:t>
            </a:r>
            <a:r>
              <a:rPr b="0" lang="en-US" sz="1600" spc="-1" strike="noStrike">
                <a:solidFill>
                  <a:schemeClr val="dk2"/>
                </a:solidFill>
                <a:latin typeface="Times New Roman"/>
                <a:ea typeface="MS PGothic"/>
              </a:rPr>
              <a:t> </a:t>
            </a:r>
            <a:r>
              <a:rPr b="1" i="1" lang="en-US" sz="1600" spc="-1" strike="noStrike">
                <a:solidFill>
                  <a:schemeClr val="accent2"/>
                </a:solidFill>
                <a:latin typeface="Times New Roman"/>
                <a:ea typeface="MS PGothic"/>
              </a:rPr>
              <a:t>e </a:t>
            </a:r>
            <a:r>
              <a:rPr b="0" lang="en-US" sz="1600" spc="-1" strike="noStrike">
                <a:solidFill>
                  <a:srgbClr val="000000"/>
                </a:solidFill>
                <a:latin typeface="Symbol"/>
                <a:ea typeface="MS PGothic"/>
              </a:rPr>
              <a:t></a:t>
            </a:r>
            <a:r>
              <a:rPr b="1" i="1" lang="en-US" sz="1600" spc="-1" strike="noStrike">
                <a:solidFill>
                  <a:schemeClr val="accent2"/>
                </a:solidFill>
                <a:latin typeface="Times New Roman"/>
                <a:ea typeface="MS PGothic"/>
              </a:rPr>
              <a:t> G.incidentEdges</a:t>
            </a:r>
            <a:r>
              <a:rPr b="0" lang="en-US" sz="1600" spc="-1" strike="noStrike">
                <a:solidFill>
                  <a:schemeClr val="accent2"/>
                </a:solidFill>
                <a:latin typeface="Times New Roman"/>
                <a:ea typeface="MS PGothic"/>
              </a:rPr>
              <a:t>(</a:t>
            </a:r>
            <a:r>
              <a:rPr b="1" i="1" lang="en-US" sz="1600" spc="-1" strike="noStrike">
                <a:solidFill>
                  <a:schemeClr val="accent2"/>
                </a:solidFill>
                <a:latin typeface="Times New Roman"/>
                <a:ea typeface="MS PGothic"/>
              </a:rPr>
              <a:t>v</a:t>
            </a:r>
            <a:r>
              <a:rPr b="0" lang="en-US" sz="1600" spc="-1" strike="noStrike">
                <a:solidFill>
                  <a:schemeClr val="accent2"/>
                </a:solidFill>
                <a:latin typeface="Times New Roman"/>
                <a:ea typeface="MS PGothic"/>
              </a:rPr>
              <a:t>)</a:t>
            </a:r>
            <a:endParaRPr b="0" lang="en-US" sz="1600" spc="-1" strike="noStrike">
              <a:solidFill>
                <a:srgbClr val="000000"/>
              </a:solidFill>
              <a:latin typeface="Arial"/>
            </a:endParaRPr>
          </a:p>
          <a:p>
            <a:pPr marL="228600" defTabSz="228600">
              <a:lnSpc>
                <a:spcPct val="80000"/>
              </a:lnSpc>
              <a:spcBef>
                <a:spcPts val="320"/>
              </a:spcBef>
            </a:pPr>
            <a:r>
              <a:rPr b="0" lang="en-US" sz="1600" spc="-1" strike="noStrike">
                <a:solidFill>
                  <a:schemeClr val="accent2"/>
                </a:solidFill>
                <a:latin typeface="Times New Roman"/>
                <a:ea typeface="MS PGothic"/>
              </a:rPr>
              <a:t>	</a:t>
            </a:r>
            <a:r>
              <a:rPr b="1" lang="en-US" sz="1600" spc="-1" strike="noStrike">
                <a:solidFill>
                  <a:srgbClr val="000000"/>
                </a:solidFill>
                <a:latin typeface="Times New Roman"/>
                <a:ea typeface="MS PGothic"/>
              </a:rPr>
              <a:t>if</a:t>
            </a:r>
            <a:r>
              <a:rPr b="0" lang="en-US" sz="1600" spc="-1" strike="noStrike">
                <a:solidFill>
                  <a:schemeClr val="dk2"/>
                </a:solidFill>
                <a:latin typeface="Times New Roman"/>
                <a:ea typeface="MS PGothic"/>
              </a:rPr>
              <a:t>  </a:t>
            </a:r>
            <a:r>
              <a:rPr b="1" i="1" lang="en-US" sz="1600" spc="-1" strike="noStrike">
                <a:solidFill>
                  <a:schemeClr val="accent2"/>
                </a:solidFill>
                <a:latin typeface="Times New Roman"/>
                <a:ea typeface="MS PGothic"/>
              </a:rPr>
              <a:t>getLabel</a:t>
            </a:r>
            <a:r>
              <a:rPr b="0" lang="en-US" sz="1600" spc="-1" strike="noStrike">
                <a:solidFill>
                  <a:schemeClr val="accent2"/>
                </a:solidFill>
                <a:latin typeface="Times New Roman"/>
                <a:ea typeface="MS PGothic"/>
              </a:rPr>
              <a:t>(</a:t>
            </a:r>
            <a:r>
              <a:rPr b="1" i="1" lang="en-US" sz="1600" spc="-1" strike="noStrike">
                <a:solidFill>
                  <a:schemeClr val="accent2"/>
                </a:solidFill>
                <a:latin typeface="Times New Roman"/>
                <a:ea typeface="MS PGothic"/>
              </a:rPr>
              <a:t>e</a:t>
            </a:r>
            <a:r>
              <a:rPr b="0" lang="en-US" sz="1600" spc="-1" strike="noStrike">
                <a:solidFill>
                  <a:schemeClr val="accent2"/>
                </a:solidFill>
                <a:latin typeface="Times New Roman"/>
                <a:ea typeface="MS PGothic"/>
              </a:rPr>
              <a:t>) </a:t>
            </a:r>
            <a:r>
              <a:rPr b="0" lang="en-US" sz="1600" spc="-1" strike="noStrike">
                <a:solidFill>
                  <a:srgbClr val="000000"/>
                </a:solidFill>
                <a:latin typeface="Symbol"/>
                <a:ea typeface="MS PGothic"/>
              </a:rPr>
              <a:t>= </a:t>
            </a:r>
            <a:r>
              <a:rPr b="1" i="1" lang="en-US" sz="1600" spc="-1" strike="noStrike">
                <a:solidFill>
                  <a:schemeClr val="accent2"/>
                </a:solidFill>
                <a:latin typeface="Times New Roman"/>
                <a:ea typeface="MS PGothic"/>
              </a:rPr>
              <a:t>UNEXPLORED</a:t>
            </a:r>
            <a:endParaRPr b="0" lang="en-US" sz="1600" spc="-1" strike="noStrike">
              <a:solidFill>
                <a:srgbClr val="000000"/>
              </a:solidFill>
              <a:latin typeface="Arial"/>
            </a:endParaRPr>
          </a:p>
          <a:p>
            <a:pPr marL="228600" defTabSz="228600">
              <a:lnSpc>
                <a:spcPct val="80000"/>
              </a:lnSpc>
              <a:spcBef>
                <a:spcPts val="320"/>
              </a:spcBef>
            </a:pPr>
            <a:r>
              <a:rPr b="1" lang="en-US" sz="1600" spc="-1" strike="noStrike">
                <a:solidFill>
                  <a:srgbClr val="000000"/>
                </a:solidFill>
                <a:latin typeface="Times New Roman"/>
                <a:ea typeface="MS PGothic"/>
              </a:rPr>
              <a:t>	</a:t>
            </a:r>
            <a:r>
              <a:rPr b="1" lang="en-US" sz="1600" spc="-1" strike="noStrike">
                <a:solidFill>
                  <a:srgbClr val="000000"/>
                </a:solidFill>
                <a:latin typeface="Times New Roman"/>
                <a:ea typeface="MS PGothic"/>
              </a:rPr>
              <a:t>	</a:t>
            </a:r>
            <a:r>
              <a:rPr b="1" i="1" lang="en-US" sz="1600" spc="-1" strike="noStrike">
                <a:solidFill>
                  <a:schemeClr val="accent2"/>
                </a:solidFill>
                <a:latin typeface="Times New Roman"/>
                <a:ea typeface="MS PGothic"/>
              </a:rPr>
              <a:t>w </a:t>
            </a:r>
            <a:r>
              <a:rPr b="0" lang="en-US" sz="1600" spc="-1" strike="noStrike">
                <a:solidFill>
                  <a:srgbClr val="000000"/>
                </a:solidFill>
                <a:latin typeface="Symbol"/>
                <a:ea typeface="MS PGothic"/>
              </a:rPr>
              <a:t></a:t>
            </a:r>
            <a:r>
              <a:rPr b="1" i="1" lang="en-US" sz="1600" spc="-1" strike="noStrike">
                <a:solidFill>
                  <a:schemeClr val="accent2"/>
                </a:solidFill>
                <a:latin typeface="Times New Roman"/>
                <a:ea typeface="MS PGothic"/>
              </a:rPr>
              <a:t> opposite</a:t>
            </a:r>
            <a:r>
              <a:rPr b="0" lang="en-US" sz="1600" spc="-1" strike="noStrike">
                <a:solidFill>
                  <a:schemeClr val="accent2"/>
                </a:solidFill>
                <a:latin typeface="Times New Roman"/>
                <a:ea typeface="MS PGothic"/>
              </a:rPr>
              <a:t>(</a:t>
            </a:r>
            <a:r>
              <a:rPr b="1" i="1" lang="en-US" sz="1600" spc="-1" strike="noStrike">
                <a:solidFill>
                  <a:schemeClr val="accent2"/>
                </a:solidFill>
                <a:latin typeface="Times New Roman"/>
                <a:ea typeface="MS PGothic"/>
              </a:rPr>
              <a:t>v,e</a:t>
            </a:r>
            <a:r>
              <a:rPr b="0" lang="en-US" sz="1600" spc="-1" strike="noStrike">
                <a:solidFill>
                  <a:schemeClr val="accent2"/>
                </a:solidFill>
                <a:latin typeface="Times New Roman"/>
                <a:ea typeface="MS PGothic"/>
              </a:rPr>
              <a:t>)</a:t>
            </a:r>
            <a:endParaRPr b="0" lang="en-US" sz="1600" spc="-1" strike="noStrike">
              <a:solidFill>
                <a:srgbClr val="000000"/>
              </a:solidFill>
              <a:latin typeface="Arial"/>
            </a:endParaRPr>
          </a:p>
          <a:p>
            <a:pPr marL="228600" defTabSz="228600">
              <a:lnSpc>
                <a:spcPct val="80000"/>
              </a:lnSpc>
              <a:spcBef>
                <a:spcPts val="320"/>
              </a:spcBef>
            </a:pPr>
            <a:r>
              <a:rPr b="1" i="1" lang="en-US" sz="1600" spc="-1" strike="noStrike">
                <a:solidFill>
                  <a:schemeClr val="accent2"/>
                </a:solidFill>
                <a:latin typeface="Times New Roman"/>
                <a:ea typeface="MS PGothic"/>
              </a:rPr>
              <a:t>	</a:t>
            </a:r>
            <a:r>
              <a:rPr b="1" i="1" lang="en-US" sz="1600" spc="-1" strike="noStrike">
                <a:solidFill>
                  <a:schemeClr val="accent2"/>
                </a:solidFill>
                <a:latin typeface="Times New Roman"/>
                <a:ea typeface="MS PGothic"/>
              </a:rPr>
              <a:t>	</a:t>
            </a:r>
            <a:r>
              <a:rPr b="1" i="1" lang="en-US" sz="1600" spc="-1" strike="noStrike">
                <a:solidFill>
                  <a:schemeClr val="dk2"/>
                </a:solidFill>
                <a:latin typeface="Times New Roman"/>
                <a:ea typeface="MS PGothic"/>
              </a:rPr>
              <a:t>S.push</a:t>
            </a:r>
            <a:r>
              <a:rPr b="0" lang="en-US" sz="1600" spc="-1" strike="noStrike">
                <a:solidFill>
                  <a:schemeClr val="dk2"/>
                </a:solidFill>
                <a:latin typeface="Times New Roman"/>
                <a:ea typeface="MS PGothic"/>
              </a:rPr>
              <a:t>(</a:t>
            </a:r>
            <a:r>
              <a:rPr b="1" i="1" lang="en-US" sz="1600" spc="-1" strike="noStrike">
                <a:solidFill>
                  <a:schemeClr val="dk2"/>
                </a:solidFill>
                <a:latin typeface="Times New Roman"/>
                <a:ea typeface="MS PGothic"/>
              </a:rPr>
              <a:t>e</a:t>
            </a:r>
            <a:r>
              <a:rPr b="0" lang="en-US" sz="1600" spc="-1" strike="noStrike">
                <a:solidFill>
                  <a:schemeClr val="dk2"/>
                </a:solidFill>
                <a:latin typeface="Times New Roman"/>
                <a:ea typeface="MS PGothic"/>
              </a:rPr>
              <a:t>)</a:t>
            </a:r>
            <a:endParaRPr b="0" lang="en-US" sz="1600" spc="-1" strike="noStrike">
              <a:solidFill>
                <a:srgbClr val="000000"/>
              </a:solidFill>
              <a:latin typeface="Arial"/>
            </a:endParaRPr>
          </a:p>
          <a:p>
            <a:pPr marL="228600" defTabSz="228600">
              <a:lnSpc>
                <a:spcPct val="80000"/>
              </a:lnSpc>
              <a:spcBef>
                <a:spcPts val="320"/>
              </a:spcBef>
            </a:pPr>
            <a:r>
              <a:rPr b="0" lang="en-US" sz="1600" spc="-1" strike="noStrike">
                <a:solidFill>
                  <a:schemeClr val="accent2"/>
                </a:solidFill>
                <a:latin typeface="Times New Roman"/>
                <a:ea typeface="MS PGothic"/>
              </a:rPr>
              <a:t>	</a:t>
            </a:r>
            <a:r>
              <a:rPr b="0" lang="en-US" sz="1600" spc="-1" strike="noStrike">
                <a:solidFill>
                  <a:schemeClr val="accent2"/>
                </a:solidFill>
                <a:latin typeface="Times New Roman"/>
                <a:ea typeface="MS PGothic"/>
              </a:rPr>
              <a:t>	</a:t>
            </a:r>
            <a:r>
              <a:rPr b="1" lang="en-US" sz="1600" spc="-1" strike="noStrike">
                <a:solidFill>
                  <a:srgbClr val="000000"/>
                </a:solidFill>
                <a:latin typeface="Times New Roman"/>
                <a:ea typeface="MS PGothic"/>
              </a:rPr>
              <a:t>if </a:t>
            </a:r>
            <a:r>
              <a:rPr b="1" i="1" lang="en-US" sz="1600" spc="-1" strike="noStrike">
                <a:solidFill>
                  <a:schemeClr val="accent2"/>
                </a:solidFill>
                <a:latin typeface="Times New Roman"/>
                <a:ea typeface="MS PGothic"/>
              </a:rPr>
              <a:t>getLabel</a:t>
            </a:r>
            <a:r>
              <a:rPr b="0" lang="en-US" sz="1600" spc="-1" strike="noStrike">
                <a:solidFill>
                  <a:schemeClr val="accent2"/>
                </a:solidFill>
                <a:latin typeface="Times New Roman"/>
                <a:ea typeface="MS PGothic"/>
              </a:rPr>
              <a:t>(</a:t>
            </a:r>
            <a:r>
              <a:rPr b="1" i="1" lang="en-US" sz="1600" spc="-1" strike="noStrike">
                <a:solidFill>
                  <a:schemeClr val="accent2"/>
                </a:solidFill>
                <a:latin typeface="Times New Roman"/>
                <a:ea typeface="MS PGothic"/>
              </a:rPr>
              <a:t>w</a:t>
            </a:r>
            <a:r>
              <a:rPr b="0" lang="en-US" sz="1600" spc="-1" strike="noStrike">
                <a:solidFill>
                  <a:schemeClr val="accent2"/>
                </a:solidFill>
                <a:latin typeface="Times New Roman"/>
                <a:ea typeface="MS PGothic"/>
              </a:rPr>
              <a:t>) </a:t>
            </a:r>
            <a:r>
              <a:rPr b="0" lang="en-US" sz="1600" spc="-1" strike="noStrike">
                <a:solidFill>
                  <a:srgbClr val="000000"/>
                </a:solidFill>
                <a:latin typeface="Symbol"/>
                <a:ea typeface="MS PGothic"/>
              </a:rPr>
              <a:t>= </a:t>
            </a:r>
            <a:r>
              <a:rPr b="1" i="1" lang="en-US" sz="1600" spc="-1" strike="noStrike">
                <a:solidFill>
                  <a:schemeClr val="accent2"/>
                </a:solidFill>
                <a:latin typeface="Times New Roman"/>
                <a:ea typeface="MS PGothic"/>
              </a:rPr>
              <a:t>UNEXPLORED</a:t>
            </a:r>
            <a:endParaRPr b="0" lang="en-US" sz="1600" spc="-1" strike="noStrike">
              <a:solidFill>
                <a:srgbClr val="000000"/>
              </a:solidFill>
              <a:latin typeface="Arial"/>
            </a:endParaRPr>
          </a:p>
          <a:p>
            <a:pPr marL="228600" defTabSz="228600">
              <a:lnSpc>
                <a:spcPct val="80000"/>
              </a:lnSpc>
              <a:spcBef>
                <a:spcPts val="320"/>
              </a:spcBef>
            </a:pPr>
            <a:r>
              <a:rPr b="0" lang="en-US" sz="1600" spc="-1" strike="noStrike">
                <a:solidFill>
                  <a:schemeClr val="accent2"/>
                </a:solidFill>
                <a:latin typeface="Times New Roman"/>
                <a:ea typeface="MS PGothic"/>
              </a:rPr>
              <a:t>	</a:t>
            </a:r>
            <a:r>
              <a:rPr b="0" lang="en-US" sz="1600" spc="-1" strike="noStrike">
                <a:solidFill>
                  <a:schemeClr val="accent2"/>
                </a:solidFill>
                <a:latin typeface="Times New Roman"/>
                <a:ea typeface="MS PGothic"/>
              </a:rPr>
              <a:t>	</a:t>
            </a:r>
            <a:r>
              <a:rPr b="0" lang="en-US" sz="1600" spc="-1" strike="noStrike">
                <a:solidFill>
                  <a:schemeClr val="accent2"/>
                </a:solidFill>
                <a:latin typeface="Times New Roman"/>
                <a:ea typeface="MS PGothic"/>
              </a:rPr>
              <a:t>	</a:t>
            </a:r>
            <a:r>
              <a:rPr b="0" lang="en-US" sz="1600" spc="-1" strike="noStrike">
                <a:solidFill>
                  <a:schemeClr val="accent2"/>
                </a:solidFill>
                <a:latin typeface="Times New Roman"/>
                <a:ea typeface="MS PGothic"/>
              </a:rPr>
              <a:t> </a:t>
            </a:r>
            <a:r>
              <a:rPr b="1" i="1" lang="en-US" sz="1600" spc="-1" strike="noStrike">
                <a:solidFill>
                  <a:schemeClr val="accent2"/>
                </a:solidFill>
                <a:latin typeface="Times New Roman"/>
                <a:ea typeface="MS PGothic"/>
              </a:rPr>
              <a:t>setLabel</a:t>
            </a:r>
            <a:r>
              <a:rPr b="0" lang="en-US" sz="1600" spc="-1" strike="noStrike">
                <a:solidFill>
                  <a:schemeClr val="accent2"/>
                </a:solidFill>
                <a:latin typeface="Times New Roman"/>
                <a:ea typeface="MS PGothic"/>
              </a:rPr>
              <a:t>(</a:t>
            </a:r>
            <a:r>
              <a:rPr b="1" i="1" lang="en-US" sz="1600" spc="-1" strike="noStrike">
                <a:solidFill>
                  <a:schemeClr val="accent2"/>
                </a:solidFill>
                <a:latin typeface="Times New Roman"/>
                <a:ea typeface="MS PGothic"/>
              </a:rPr>
              <a:t>e, DISCOVERY</a:t>
            </a:r>
            <a:r>
              <a:rPr b="0" lang="en-US" sz="1600" spc="-1" strike="noStrike">
                <a:solidFill>
                  <a:schemeClr val="accent2"/>
                </a:solidFill>
                <a:latin typeface="Times New Roman"/>
                <a:ea typeface="MS PGothic"/>
              </a:rPr>
              <a:t>)</a:t>
            </a:r>
            <a:endParaRPr b="0" lang="en-US" sz="1600" spc="-1" strike="noStrike">
              <a:solidFill>
                <a:srgbClr val="000000"/>
              </a:solidFill>
              <a:latin typeface="Arial"/>
            </a:endParaRPr>
          </a:p>
          <a:p>
            <a:pPr marL="228600" defTabSz="228600">
              <a:lnSpc>
                <a:spcPct val="80000"/>
              </a:lnSpc>
              <a:spcBef>
                <a:spcPts val="320"/>
              </a:spcBef>
            </a:pPr>
            <a:r>
              <a:rPr b="0" lang="en-US" sz="1600" spc="-1" strike="noStrike">
                <a:solidFill>
                  <a:schemeClr val="accent2"/>
                </a:solidFill>
                <a:latin typeface="Times New Roman"/>
                <a:ea typeface="MS PGothic"/>
              </a:rPr>
              <a:t>	</a:t>
            </a:r>
            <a:r>
              <a:rPr b="0" lang="en-US" sz="1600" spc="-1" strike="noStrike">
                <a:solidFill>
                  <a:schemeClr val="accent2"/>
                </a:solidFill>
                <a:latin typeface="Times New Roman"/>
                <a:ea typeface="MS PGothic"/>
              </a:rPr>
              <a:t>	</a:t>
            </a:r>
            <a:r>
              <a:rPr b="0" lang="en-US" sz="1600" spc="-1" strike="noStrike">
                <a:solidFill>
                  <a:schemeClr val="accent2"/>
                </a:solidFill>
                <a:latin typeface="Times New Roman"/>
                <a:ea typeface="MS PGothic"/>
              </a:rPr>
              <a:t>	</a:t>
            </a:r>
            <a:r>
              <a:rPr b="1" i="1" lang="en-US" sz="1600" spc="-1" strike="noStrike">
                <a:solidFill>
                  <a:schemeClr val="accent2"/>
                </a:solidFill>
                <a:latin typeface="Times New Roman"/>
                <a:ea typeface="MS PGothic"/>
              </a:rPr>
              <a:t>pathDFS</a:t>
            </a:r>
            <a:r>
              <a:rPr b="0" lang="en-US" sz="1600" spc="-1" strike="noStrike">
                <a:solidFill>
                  <a:schemeClr val="accent2"/>
                </a:solidFill>
                <a:latin typeface="Times New Roman"/>
                <a:ea typeface="MS PGothic"/>
              </a:rPr>
              <a:t>(</a:t>
            </a:r>
            <a:r>
              <a:rPr b="1" i="1" lang="en-US" sz="1600" spc="-1" strike="noStrike">
                <a:solidFill>
                  <a:schemeClr val="accent2"/>
                </a:solidFill>
                <a:latin typeface="Times New Roman"/>
                <a:ea typeface="MS PGothic"/>
              </a:rPr>
              <a:t>G, w, z</a:t>
            </a:r>
            <a:r>
              <a:rPr b="0" lang="en-US" sz="1600" spc="-1" strike="noStrike">
                <a:solidFill>
                  <a:schemeClr val="accent2"/>
                </a:solidFill>
                <a:latin typeface="Times New Roman"/>
                <a:ea typeface="MS PGothic"/>
              </a:rPr>
              <a:t>)</a:t>
            </a:r>
            <a:endParaRPr b="0" lang="en-US" sz="1600" spc="-1" strike="noStrike">
              <a:solidFill>
                <a:srgbClr val="000000"/>
              </a:solidFill>
              <a:latin typeface="Arial"/>
            </a:endParaRPr>
          </a:p>
          <a:p>
            <a:pPr marL="228600" defTabSz="228600">
              <a:lnSpc>
                <a:spcPct val="80000"/>
              </a:lnSpc>
              <a:spcBef>
                <a:spcPts val="320"/>
              </a:spcBef>
            </a:pPr>
            <a:r>
              <a:rPr b="1" i="1" lang="en-US" sz="1600" spc="-1" strike="noStrike">
                <a:solidFill>
                  <a:schemeClr val="accent2"/>
                </a:solidFill>
                <a:latin typeface="Times New Roman"/>
                <a:ea typeface="MS PGothic"/>
              </a:rPr>
              <a:t>	</a:t>
            </a:r>
            <a:r>
              <a:rPr b="1" i="1" lang="en-US" sz="1600" spc="-1" strike="noStrike">
                <a:solidFill>
                  <a:schemeClr val="accent2"/>
                </a:solidFill>
                <a:latin typeface="Times New Roman"/>
                <a:ea typeface="MS PGothic"/>
              </a:rPr>
              <a:t>	</a:t>
            </a:r>
            <a:r>
              <a:rPr b="1" i="1" lang="en-US" sz="1600" spc="-1" strike="noStrike">
                <a:solidFill>
                  <a:schemeClr val="accent2"/>
                </a:solidFill>
                <a:latin typeface="Times New Roman"/>
                <a:ea typeface="MS PGothic"/>
              </a:rPr>
              <a:t>	</a:t>
            </a:r>
            <a:r>
              <a:rPr b="1" i="1" lang="en-US" sz="1600" spc="-1" strike="noStrike">
                <a:solidFill>
                  <a:schemeClr val="dk2"/>
                </a:solidFill>
                <a:latin typeface="Times New Roman"/>
                <a:ea typeface="MS PGothic"/>
              </a:rPr>
              <a:t>S.pop</a:t>
            </a:r>
            <a:r>
              <a:rPr b="0" lang="en-US" sz="1600" spc="-1" strike="noStrike">
                <a:solidFill>
                  <a:schemeClr val="dk2"/>
                </a:solidFill>
                <a:latin typeface="Times New Roman"/>
                <a:ea typeface="MS PGothic"/>
              </a:rPr>
              <a:t>(</a:t>
            </a:r>
            <a:r>
              <a:rPr b="1" i="1" lang="en-US" sz="1600" spc="-1" strike="noStrike">
                <a:solidFill>
                  <a:schemeClr val="dk2"/>
                </a:solidFill>
                <a:latin typeface="Times New Roman"/>
                <a:ea typeface="MS PGothic"/>
              </a:rPr>
              <a:t>e</a:t>
            </a:r>
            <a:r>
              <a:rPr b="0" lang="en-US" sz="1600" spc="-1" strike="noStrike">
                <a:solidFill>
                  <a:schemeClr val="dk2"/>
                </a:solidFill>
                <a:latin typeface="Times New Roman"/>
                <a:ea typeface="MS PGothic"/>
              </a:rPr>
              <a:t>)</a:t>
            </a:r>
            <a:endParaRPr b="0" lang="en-US" sz="1600" spc="-1" strike="noStrike">
              <a:solidFill>
                <a:srgbClr val="000000"/>
              </a:solidFill>
              <a:latin typeface="Arial"/>
            </a:endParaRPr>
          </a:p>
          <a:p>
            <a:pPr marL="228600" defTabSz="228600">
              <a:lnSpc>
                <a:spcPct val="80000"/>
              </a:lnSpc>
              <a:spcBef>
                <a:spcPts val="320"/>
              </a:spcBef>
            </a:pPr>
            <a:r>
              <a:rPr b="0" lang="en-US" sz="1600" spc="-1" strike="noStrike">
                <a:solidFill>
                  <a:schemeClr val="accent2"/>
                </a:solidFill>
                <a:latin typeface="Times New Roman"/>
                <a:ea typeface="MS PGothic"/>
              </a:rPr>
              <a:t>	</a:t>
            </a:r>
            <a:r>
              <a:rPr b="0" lang="en-US" sz="1600" spc="-1" strike="noStrike">
                <a:solidFill>
                  <a:schemeClr val="accent2"/>
                </a:solidFill>
                <a:latin typeface="Times New Roman"/>
                <a:ea typeface="MS PGothic"/>
              </a:rPr>
              <a:t>	</a:t>
            </a:r>
            <a:r>
              <a:rPr b="1" lang="en-US" sz="1600" spc="-1" strike="noStrike">
                <a:solidFill>
                  <a:srgbClr val="000000"/>
                </a:solidFill>
                <a:latin typeface="Times New Roman"/>
                <a:ea typeface="MS PGothic"/>
              </a:rPr>
              <a:t>else</a:t>
            </a:r>
            <a:endParaRPr b="0" lang="en-US" sz="1600" spc="-1" strike="noStrike">
              <a:solidFill>
                <a:srgbClr val="000000"/>
              </a:solidFill>
              <a:latin typeface="Arial"/>
            </a:endParaRPr>
          </a:p>
          <a:p>
            <a:pPr marL="228600" defTabSz="228600">
              <a:lnSpc>
                <a:spcPct val="80000"/>
              </a:lnSpc>
              <a:spcBef>
                <a:spcPts val="320"/>
              </a:spcBef>
            </a:pPr>
            <a:r>
              <a:rPr b="1" lang="en-US" sz="1600" spc="-1" strike="noStrike">
                <a:solidFill>
                  <a:srgbClr val="000000"/>
                </a:solidFill>
                <a:latin typeface="Times New Roman"/>
                <a:ea typeface="MS PGothic"/>
              </a:rPr>
              <a:t>	</a:t>
            </a:r>
            <a:r>
              <a:rPr b="1" lang="en-US" sz="1600" spc="-1" strike="noStrike">
                <a:solidFill>
                  <a:srgbClr val="000000"/>
                </a:solidFill>
                <a:latin typeface="Times New Roman"/>
                <a:ea typeface="MS PGothic"/>
              </a:rPr>
              <a:t>	</a:t>
            </a:r>
            <a:r>
              <a:rPr b="1" lang="en-US" sz="1600" spc="-1" strike="noStrike">
                <a:solidFill>
                  <a:srgbClr val="000000"/>
                </a:solidFill>
                <a:latin typeface="Times New Roman"/>
                <a:ea typeface="MS PGothic"/>
              </a:rPr>
              <a:t>	</a:t>
            </a:r>
            <a:r>
              <a:rPr b="1" i="1" lang="en-US" sz="1600" spc="-1" strike="noStrike">
                <a:solidFill>
                  <a:schemeClr val="dk2"/>
                </a:solidFill>
                <a:latin typeface="Times New Roman"/>
                <a:ea typeface="MS PGothic"/>
              </a:rPr>
              <a:t>T </a:t>
            </a:r>
            <a:r>
              <a:rPr b="0" lang="en-US" sz="1600" spc="-1" strike="noStrike">
                <a:solidFill>
                  <a:srgbClr val="000000"/>
                </a:solidFill>
                <a:latin typeface="Symbol"/>
                <a:ea typeface="MS PGothic"/>
              </a:rPr>
              <a:t></a:t>
            </a:r>
            <a:r>
              <a:rPr b="1" i="1" lang="en-US" sz="1600" spc="-1" strike="noStrike">
                <a:solidFill>
                  <a:schemeClr val="accent2"/>
                </a:solidFill>
                <a:latin typeface="Times New Roman"/>
                <a:ea typeface="MS PGothic"/>
              </a:rPr>
              <a:t> </a:t>
            </a:r>
            <a:r>
              <a:rPr b="0" lang="en-US" sz="1600" spc="-1" strike="noStrike">
                <a:solidFill>
                  <a:schemeClr val="dk2"/>
                </a:solidFill>
                <a:latin typeface="Times New Roman"/>
                <a:ea typeface="MS PGothic"/>
              </a:rPr>
              <a:t>new empty stack</a:t>
            </a:r>
            <a:endParaRPr b="0" lang="en-US" sz="1600" spc="-1" strike="noStrike">
              <a:solidFill>
                <a:srgbClr val="000000"/>
              </a:solidFill>
              <a:latin typeface="Arial"/>
            </a:endParaRPr>
          </a:p>
          <a:p>
            <a:pPr marL="228600" defTabSz="228600">
              <a:lnSpc>
                <a:spcPct val="80000"/>
              </a:lnSpc>
              <a:spcBef>
                <a:spcPts val="320"/>
              </a:spcBef>
            </a:pPr>
            <a:r>
              <a:rPr b="1" i="1" lang="en-US" sz="1600" spc="-1" strike="noStrike">
                <a:solidFill>
                  <a:schemeClr val="accent2"/>
                </a:solidFill>
                <a:latin typeface="Times New Roman"/>
                <a:ea typeface="MS PGothic"/>
              </a:rPr>
              <a:t>	</a:t>
            </a:r>
            <a:r>
              <a:rPr b="1" i="1" lang="en-US" sz="1600" spc="-1" strike="noStrike">
                <a:solidFill>
                  <a:schemeClr val="accent2"/>
                </a:solidFill>
                <a:latin typeface="Times New Roman"/>
                <a:ea typeface="MS PGothic"/>
              </a:rPr>
              <a:t>	</a:t>
            </a:r>
            <a:r>
              <a:rPr b="1" i="1" lang="en-US" sz="1600" spc="-1" strike="noStrike">
                <a:solidFill>
                  <a:schemeClr val="accent2"/>
                </a:solidFill>
                <a:latin typeface="Times New Roman"/>
                <a:ea typeface="MS PGothic"/>
              </a:rPr>
              <a:t>	</a:t>
            </a:r>
            <a:r>
              <a:rPr b="1" lang="en-US" sz="1600" spc="-1" strike="noStrike">
                <a:solidFill>
                  <a:srgbClr val="000000"/>
                </a:solidFill>
                <a:latin typeface="Times New Roman"/>
                <a:ea typeface="MS PGothic"/>
              </a:rPr>
              <a:t>repeat</a:t>
            </a:r>
            <a:endParaRPr b="0" lang="en-US" sz="1600" spc="-1" strike="noStrike">
              <a:solidFill>
                <a:srgbClr val="000000"/>
              </a:solidFill>
              <a:latin typeface="Arial"/>
            </a:endParaRPr>
          </a:p>
          <a:p>
            <a:pPr marL="228600" defTabSz="228600">
              <a:lnSpc>
                <a:spcPct val="80000"/>
              </a:lnSpc>
              <a:spcBef>
                <a:spcPts val="320"/>
              </a:spcBef>
            </a:pPr>
            <a:r>
              <a:rPr b="1" lang="en-US" sz="1600" spc="-1" strike="noStrike">
                <a:solidFill>
                  <a:srgbClr val="000000"/>
                </a:solidFill>
                <a:latin typeface="Times New Roman"/>
                <a:ea typeface="MS PGothic"/>
              </a:rPr>
              <a:t>	</a:t>
            </a:r>
            <a:r>
              <a:rPr b="1" lang="en-US" sz="1600" spc="-1" strike="noStrike">
                <a:solidFill>
                  <a:srgbClr val="000000"/>
                </a:solidFill>
                <a:latin typeface="Times New Roman"/>
                <a:ea typeface="MS PGothic"/>
              </a:rPr>
              <a:t>	</a:t>
            </a:r>
            <a:r>
              <a:rPr b="1" lang="en-US" sz="1600" spc="-1" strike="noStrike">
                <a:solidFill>
                  <a:srgbClr val="000000"/>
                </a:solidFill>
                <a:latin typeface="Times New Roman"/>
                <a:ea typeface="MS PGothic"/>
              </a:rPr>
              <a:t>	</a:t>
            </a:r>
            <a:r>
              <a:rPr b="1" lang="en-US" sz="1600" spc="-1" strike="noStrike">
                <a:solidFill>
                  <a:srgbClr val="000000"/>
                </a:solidFill>
                <a:latin typeface="Times New Roman"/>
                <a:ea typeface="MS PGothic"/>
              </a:rPr>
              <a:t>	</a:t>
            </a:r>
            <a:r>
              <a:rPr b="1" i="1" lang="en-US" sz="1600" spc="-1" strike="noStrike">
                <a:solidFill>
                  <a:schemeClr val="dk2"/>
                </a:solidFill>
                <a:latin typeface="Times New Roman"/>
                <a:ea typeface="MS PGothic"/>
              </a:rPr>
              <a:t>o </a:t>
            </a:r>
            <a:r>
              <a:rPr b="0" lang="en-US" sz="1600" spc="-1" strike="noStrike">
                <a:solidFill>
                  <a:srgbClr val="000000"/>
                </a:solidFill>
                <a:latin typeface="Symbol"/>
                <a:ea typeface="MS PGothic"/>
              </a:rPr>
              <a:t></a:t>
            </a:r>
            <a:r>
              <a:rPr b="1" i="1" lang="en-US" sz="1600" spc="-1" strike="noStrike">
                <a:solidFill>
                  <a:schemeClr val="accent2"/>
                </a:solidFill>
                <a:latin typeface="Times New Roman"/>
                <a:ea typeface="MS PGothic"/>
              </a:rPr>
              <a:t> </a:t>
            </a:r>
            <a:r>
              <a:rPr b="1" i="1" lang="en-US" sz="1600" spc="-1" strike="noStrike">
                <a:solidFill>
                  <a:schemeClr val="dk2"/>
                </a:solidFill>
                <a:latin typeface="Times New Roman"/>
                <a:ea typeface="MS PGothic"/>
              </a:rPr>
              <a:t>S.pop</a:t>
            </a:r>
            <a:r>
              <a:rPr b="0" lang="en-US" sz="1600" spc="-1" strike="noStrike">
                <a:solidFill>
                  <a:schemeClr val="dk2"/>
                </a:solidFill>
                <a:latin typeface="Times New Roman"/>
                <a:ea typeface="MS PGothic"/>
              </a:rPr>
              <a:t>()</a:t>
            </a:r>
            <a:endParaRPr b="0" lang="en-US" sz="1600" spc="-1" strike="noStrike">
              <a:solidFill>
                <a:srgbClr val="000000"/>
              </a:solidFill>
              <a:latin typeface="Arial"/>
            </a:endParaRPr>
          </a:p>
          <a:p>
            <a:pPr marL="228600" defTabSz="228600">
              <a:lnSpc>
                <a:spcPct val="80000"/>
              </a:lnSpc>
              <a:spcBef>
                <a:spcPts val="320"/>
              </a:spcBef>
            </a:pPr>
            <a:r>
              <a:rPr b="1" lang="en-US" sz="1600" spc="-1" strike="noStrike">
                <a:solidFill>
                  <a:srgbClr val="000000"/>
                </a:solidFill>
                <a:latin typeface="Times New Roman"/>
                <a:ea typeface="MS PGothic"/>
              </a:rPr>
              <a:t>	</a:t>
            </a:r>
            <a:r>
              <a:rPr b="1" lang="en-US" sz="1600" spc="-1" strike="noStrike">
                <a:solidFill>
                  <a:srgbClr val="000000"/>
                </a:solidFill>
                <a:latin typeface="Times New Roman"/>
                <a:ea typeface="MS PGothic"/>
              </a:rPr>
              <a:t>	</a:t>
            </a:r>
            <a:r>
              <a:rPr b="1" lang="en-US" sz="1600" spc="-1" strike="noStrike">
                <a:solidFill>
                  <a:srgbClr val="000000"/>
                </a:solidFill>
                <a:latin typeface="Times New Roman"/>
                <a:ea typeface="MS PGothic"/>
              </a:rPr>
              <a:t>	</a:t>
            </a:r>
            <a:r>
              <a:rPr b="1" lang="en-US" sz="1600" spc="-1" strike="noStrike">
                <a:solidFill>
                  <a:srgbClr val="000000"/>
                </a:solidFill>
                <a:latin typeface="Times New Roman"/>
                <a:ea typeface="MS PGothic"/>
              </a:rPr>
              <a:t>	</a:t>
            </a:r>
            <a:r>
              <a:rPr b="1" i="1" lang="en-US" sz="1600" spc="-1" strike="noStrike">
                <a:solidFill>
                  <a:schemeClr val="dk2"/>
                </a:solidFill>
                <a:latin typeface="Times New Roman"/>
                <a:ea typeface="MS PGothic"/>
              </a:rPr>
              <a:t>T.push</a:t>
            </a:r>
            <a:r>
              <a:rPr b="0" lang="en-US" sz="1600" spc="-1" strike="noStrike">
                <a:solidFill>
                  <a:schemeClr val="dk2"/>
                </a:solidFill>
                <a:latin typeface="Times New Roman"/>
                <a:ea typeface="MS PGothic"/>
              </a:rPr>
              <a:t>(</a:t>
            </a:r>
            <a:r>
              <a:rPr b="1" i="1" lang="en-US" sz="1600" spc="-1" strike="noStrike">
                <a:solidFill>
                  <a:schemeClr val="dk2"/>
                </a:solidFill>
                <a:latin typeface="Times New Roman"/>
                <a:ea typeface="MS PGothic"/>
              </a:rPr>
              <a:t>o</a:t>
            </a:r>
            <a:r>
              <a:rPr b="0" lang="en-US" sz="1600" spc="-1" strike="noStrike">
                <a:solidFill>
                  <a:schemeClr val="dk2"/>
                </a:solidFill>
                <a:latin typeface="Times New Roman"/>
                <a:ea typeface="MS PGothic"/>
              </a:rPr>
              <a:t>)</a:t>
            </a:r>
            <a:endParaRPr b="0" lang="en-US" sz="1600" spc="-1" strike="noStrike">
              <a:solidFill>
                <a:srgbClr val="000000"/>
              </a:solidFill>
              <a:latin typeface="Arial"/>
            </a:endParaRPr>
          </a:p>
          <a:p>
            <a:pPr marL="228600" defTabSz="228600">
              <a:lnSpc>
                <a:spcPct val="80000"/>
              </a:lnSpc>
              <a:spcBef>
                <a:spcPts val="320"/>
              </a:spcBef>
            </a:pPr>
            <a:r>
              <a:rPr b="0" lang="en-US" sz="1600" spc="-1" strike="noStrike">
                <a:solidFill>
                  <a:schemeClr val="dk2"/>
                </a:solidFill>
                <a:latin typeface="Times New Roman"/>
                <a:ea typeface="MS PGothic"/>
              </a:rPr>
              <a:t>	</a:t>
            </a:r>
            <a:r>
              <a:rPr b="0" lang="en-US" sz="1600" spc="-1" strike="noStrike">
                <a:solidFill>
                  <a:schemeClr val="dk2"/>
                </a:solidFill>
                <a:latin typeface="Times New Roman"/>
                <a:ea typeface="MS PGothic"/>
              </a:rPr>
              <a:t>	</a:t>
            </a:r>
            <a:r>
              <a:rPr b="0" lang="en-US" sz="1600" spc="-1" strike="noStrike">
                <a:solidFill>
                  <a:schemeClr val="dk2"/>
                </a:solidFill>
                <a:latin typeface="Times New Roman"/>
                <a:ea typeface="MS PGothic"/>
              </a:rPr>
              <a:t>	</a:t>
            </a:r>
            <a:r>
              <a:rPr b="1" lang="en-US" sz="1600" spc="-1" strike="noStrike">
                <a:solidFill>
                  <a:srgbClr val="000000"/>
                </a:solidFill>
                <a:latin typeface="Times New Roman"/>
                <a:ea typeface="MS PGothic"/>
              </a:rPr>
              <a:t>until </a:t>
            </a:r>
            <a:r>
              <a:rPr b="1" i="1" lang="en-US" sz="1600" spc="-1" strike="noStrike">
                <a:solidFill>
                  <a:schemeClr val="dk2"/>
                </a:solidFill>
                <a:latin typeface="Times New Roman"/>
                <a:ea typeface="MS PGothic"/>
              </a:rPr>
              <a:t>o</a:t>
            </a:r>
            <a:r>
              <a:rPr b="0" lang="en-US" sz="1600" spc="-1" strike="noStrike">
                <a:solidFill>
                  <a:schemeClr val="dk2"/>
                </a:solidFill>
                <a:latin typeface="Times New Roman"/>
                <a:ea typeface="MS PGothic"/>
              </a:rPr>
              <a:t> </a:t>
            </a:r>
            <a:r>
              <a:rPr b="0" lang="en-US" sz="1600" spc="-1" strike="noStrike">
                <a:solidFill>
                  <a:srgbClr val="000000"/>
                </a:solidFill>
                <a:latin typeface="Symbol"/>
                <a:ea typeface="MS PGothic"/>
              </a:rPr>
              <a:t>= </a:t>
            </a:r>
            <a:r>
              <a:rPr b="1" i="1" lang="en-US" sz="1600" spc="-1" strike="noStrike">
                <a:solidFill>
                  <a:schemeClr val="dk2"/>
                </a:solidFill>
                <a:latin typeface="Times New Roman"/>
                <a:ea typeface="MS PGothic"/>
              </a:rPr>
              <a:t>w</a:t>
            </a:r>
            <a:endParaRPr b="0" lang="en-US" sz="1600" spc="-1" strike="noStrike">
              <a:solidFill>
                <a:srgbClr val="000000"/>
              </a:solidFill>
              <a:latin typeface="Arial"/>
            </a:endParaRPr>
          </a:p>
          <a:p>
            <a:pPr marL="228600" defTabSz="228600">
              <a:lnSpc>
                <a:spcPct val="80000"/>
              </a:lnSpc>
              <a:spcBef>
                <a:spcPts val="320"/>
              </a:spcBef>
            </a:pPr>
            <a:r>
              <a:rPr b="1" i="1" lang="en-US" sz="1600" spc="-1" strike="noStrike">
                <a:solidFill>
                  <a:schemeClr val="accent2"/>
                </a:solidFill>
                <a:latin typeface="Times New Roman"/>
                <a:ea typeface="MS PGothic"/>
              </a:rPr>
              <a:t>	</a:t>
            </a:r>
            <a:r>
              <a:rPr b="1" i="1" lang="en-US" sz="1600" spc="-1" strike="noStrike">
                <a:solidFill>
                  <a:schemeClr val="accent2"/>
                </a:solidFill>
                <a:latin typeface="Times New Roman"/>
                <a:ea typeface="MS PGothic"/>
              </a:rPr>
              <a:t>	</a:t>
            </a:r>
            <a:r>
              <a:rPr b="1" i="1" lang="en-US" sz="1600" spc="-1" strike="noStrike">
                <a:solidFill>
                  <a:schemeClr val="accent2"/>
                </a:solidFill>
                <a:latin typeface="Times New Roman"/>
                <a:ea typeface="MS PGothic"/>
              </a:rPr>
              <a:t>	</a:t>
            </a:r>
            <a:r>
              <a:rPr b="1" lang="en-US" sz="1600" spc="-1" strike="noStrike">
                <a:solidFill>
                  <a:srgbClr val="000000"/>
                </a:solidFill>
                <a:latin typeface="Times New Roman"/>
                <a:ea typeface="MS PGothic"/>
              </a:rPr>
              <a:t>return </a:t>
            </a:r>
            <a:r>
              <a:rPr b="1" i="1" lang="en-US" sz="1600" spc="-1" strike="noStrike">
                <a:solidFill>
                  <a:schemeClr val="dk2"/>
                </a:solidFill>
                <a:latin typeface="Times New Roman"/>
                <a:ea typeface="MS PGothic"/>
              </a:rPr>
              <a:t>T.elements</a:t>
            </a:r>
            <a:r>
              <a:rPr b="0" lang="en-US" sz="1600" spc="-1" strike="noStrike">
                <a:solidFill>
                  <a:schemeClr val="dk2"/>
                </a:solidFill>
                <a:latin typeface="Times New Roman"/>
                <a:ea typeface="MS PGothic"/>
              </a:rPr>
              <a:t>()</a:t>
            </a:r>
            <a:endParaRPr b="0" lang="en-US" sz="1600" spc="-1" strike="noStrike">
              <a:solidFill>
                <a:srgbClr val="000000"/>
              </a:solidFill>
              <a:latin typeface="Arial"/>
            </a:endParaRPr>
          </a:p>
          <a:p>
            <a:pPr marL="228600" defTabSz="228600">
              <a:lnSpc>
                <a:spcPct val="80000"/>
              </a:lnSpc>
              <a:spcBef>
                <a:spcPts val="320"/>
              </a:spcBef>
            </a:pPr>
            <a:r>
              <a:rPr b="1" i="1" lang="en-US" sz="1600" spc="-1" strike="noStrike">
                <a:solidFill>
                  <a:schemeClr val="dk2"/>
                </a:solidFill>
                <a:latin typeface="Times New Roman"/>
                <a:ea typeface="MS PGothic"/>
              </a:rPr>
              <a:t>S.pop</a:t>
            </a:r>
            <a:r>
              <a:rPr b="0" lang="en-US" sz="1600" spc="-1" strike="noStrike">
                <a:solidFill>
                  <a:schemeClr val="dk2"/>
                </a:solidFill>
                <a:latin typeface="Times New Roman"/>
                <a:ea typeface="MS PGothic"/>
              </a:rPr>
              <a:t>(</a:t>
            </a:r>
            <a:r>
              <a:rPr b="1" i="1" lang="en-US" sz="1600" spc="-1" strike="noStrike">
                <a:solidFill>
                  <a:schemeClr val="dk2"/>
                </a:solidFill>
                <a:latin typeface="Times New Roman"/>
                <a:ea typeface="MS PGothic"/>
              </a:rPr>
              <a:t>v</a:t>
            </a:r>
            <a:r>
              <a:rPr b="0" lang="en-US" sz="1600" spc="-1" strike="noStrike">
                <a:solidFill>
                  <a:schemeClr val="dk2"/>
                </a:solidFill>
                <a:latin typeface="Times New Roman"/>
                <a:ea typeface="MS PGothic"/>
              </a:rPr>
              <a: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Breadth-First Search</a:t>
            </a:r>
            <a:endParaRPr b="0" lang="en-US" sz="4400" spc="-1" strike="noStrike">
              <a:solidFill>
                <a:srgbClr val="000000"/>
              </a:solidFill>
              <a:latin typeface="Arial"/>
            </a:endParaRPr>
          </a:p>
        </p:txBody>
      </p:sp>
      <p:sp>
        <p:nvSpPr>
          <p:cNvPr id="592" name="PlaceHolder 2"/>
          <p:cNvSpPr>
            <a:spLocks noGrp="1"/>
          </p:cNvSpPr>
          <p:nvPr>
            <p:ph/>
          </p:nvPr>
        </p:nvSpPr>
        <p:spPr>
          <a:xfrm>
            <a:off x="838080" y="1107000"/>
            <a:ext cx="627480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Breadth-first search (BFS) is a general technique for traversing a graph</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A BFS traversal of a graph G </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Visits all the vertices and edges of G</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Determines whether G is connected</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Computes the connected components of G</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Computes a spanning forest of G</a:t>
            </a:r>
            <a:endParaRPr b="0" lang="en-US" sz="2000" spc="-1" strike="noStrike">
              <a:solidFill>
                <a:srgbClr val="000000"/>
              </a:solidFill>
              <a:latin typeface="Arial"/>
            </a:endParaRPr>
          </a:p>
        </p:txBody>
      </p:sp>
      <p:sp>
        <p:nvSpPr>
          <p:cNvPr id="593" name="PlaceHolder 3"/>
          <p:cNvSpPr>
            <a:spLocks noGrp="1"/>
          </p:cNvSpPr>
          <p:nvPr>
            <p:ph type="sldNum" idx="63"/>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844FE68E-97FA-499F-B62C-7AE2188F4501}" type="slidenum">
              <a:rPr b="0" lang="en-US" sz="1400" spc="-1" strike="noStrike">
                <a:solidFill>
                  <a:schemeClr val="dk1">
                    <a:tint val="75000"/>
                  </a:schemeClr>
                </a:solidFill>
                <a:latin typeface="Tahoma"/>
                <a:ea typeface="MS PGothic"/>
              </a:rPr>
              <a:t>37</a:t>
            </a:fld>
            <a:endParaRPr b="0" lang="en-US" sz="1400" spc="-1" strike="noStrike">
              <a:solidFill>
                <a:srgbClr val="000000"/>
              </a:solidFill>
              <a:latin typeface="Times New Roman"/>
            </a:endParaRPr>
          </a:p>
        </p:txBody>
      </p:sp>
      <p:sp>
        <p:nvSpPr>
          <p:cNvPr id="594" name="PlaceHolder 4"/>
          <p:cNvSpPr>
            <a:spLocks noGrp="1"/>
          </p:cNvSpPr>
          <p:nvPr>
            <p:ph/>
          </p:nvPr>
        </p:nvSpPr>
        <p:spPr>
          <a:xfrm>
            <a:off x="7679520" y="1104840"/>
            <a:ext cx="3808440" cy="4646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BFS on a graph with </a:t>
            </a:r>
            <a:r>
              <a:rPr b="1" i="1" lang="en-US" sz="2400" spc="-1" strike="noStrike">
                <a:solidFill>
                  <a:schemeClr val="dk1"/>
                </a:solidFill>
                <a:latin typeface="Times New Roman"/>
              </a:rPr>
              <a:t>n</a:t>
            </a:r>
            <a:r>
              <a:rPr b="0" lang="en-US" sz="2400" spc="-1" strike="noStrike">
                <a:solidFill>
                  <a:schemeClr val="dk1"/>
                </a:solidFill>
                <a:latin typeface="Calibri"/>
              </a:rPr>
              <a:t> vertices and </a:t>
            </a:r>
            <a:r>
              <a:rPr b="1" i="1" lang="en-US" sz="2400" spc="-1" strike="noStrike">
                <a:solidFill>
                  <a:schemeClr val="dk1"/>
                </a:solidFill>
                <a:latin typeface="Times New Roman"/>
              </a:rPr>
              <a:t>m</a:t>
            </a:r>
            <a:r>
              <a:rPr b="0" lang="en-US" sz="2400" spc="-1" strike="noStrike">
                <a:solidFill>
                  <a:schemeClr val="dk1"/>
                </a:solidFill>
                <a:latin typeface="Calibri"/>
              </a:rPr>
              <a:t> edges takes </a:t>
            </a:r>
            <a:r>
              <a:rPr b="1" i="1" lang="en-US" sz="2400" spc="-1" strike="noStrike">
                <a:solidFill>
                  <a:schemeClr val="dk1"/>
                </a:solidFill>
                <a:latin typeface="Times New Roman"/>
              </a:rPr>
              <a:t>O</a:t>
            </a:r>
            <a:r>
              <a:rPr b="0" lang="en-US" sz="2400" spc="-1" strike="noStrike">
                <a:solidFill>
                  <a:schemeClr val="dk1"/>
                </a:solidFill>
                <a:latin typeface="Times New Roman"/>
              </a:rPr>
              <a:t>(</a:t>
            </a:r>
            <a:r>
              <a:rPr b="1" i="1" lang="en-US" sz="2400" spc="-1" strike="noStrike">
                <a:solidFill>
                  <a:schemeClr val="dk1"/>
                </a:solidFill>
                <a:latin typeface="Times New Roman"/>
              </a:rPr>
              <a:t>n</a:t>
            </a:r>
            <a:r>
              <a:rPr b="0" lang="en-US" sz="2400" spc="-1" strike="noStrike">
                <a:solidFill>
                  <a:schemeClr val="dk1"/>
                </a:solidFill>
                <a:latin typeface="Symbol"/>
              </a:rPr>
              <a:t> + </a:t>
            </a:r>
            <a:r>
              <a:rPr b="1" i="1" lang="en-US" sz="2400" spc="-1" strike="noStrike">
                <a:solidFill>
                  <a:schemeClr val="dk1"/>
                </a:solidFill>
                <a:latin typeface="Times New Roman"/>
              </a:rPr>
              <a:t>m</a:t>
            </a:r>
            <a:r>
              <a:rPr b="0" lang="en-US" sz="2400" spc="-1" strike="noStrike">
                <a:solidFill>
                  <a:schemeClr val="dk1"/>
                </a:solidFill>
                <a:latin typeface="Times New Roman"/>
              </a:rPr>
              <a:t> )</a:t>
            </a:r>
            <a:r>
              <a:rPr b="0" lang="en-US" sz="2400" spc="-1" strike="noStrike">
                <a:solidFill>
                  <a:schemeClr val="dk1"/>
                </a:solidFill>
                <a:latin typeface="Calibri"/>
              </a:rPr>
              <a:t> time</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BFS can be further extended to solve other graph problems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Find and report a path with the minimum number of edges between two given vertices </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Find a simple cycle, if there is one</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BFS Algorithm</a:t>
            </a:r>
            <a:endParaRPr b="0" lang="en-US" sz="4400" spc="-1" strike="noStrike">
              <a:solidFill>
                <a:srgbClr val="000000"/>
              </a:solidFill>
              <a:latin typeface="Arial"/>
            </a:endParaRPr>
          </a:p>
        </p:txBody>
      </p:sp>
      <p:sp>
        <p:nvSpPr>
          <p:cNvPr id="596"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1800" spc="-1" strike="noStrike">
                <a:solidFill>
                  <a:schemeClr val="dk1"/>
                </a:solidFill>
                <a:latin typeface="Calibri"/>
              </a:rPr>
              <a:t>The algorithm uses a mechanism for setting and getting “labels” of vertices and edges</a:t>
            </a:r>
            <a:endParaRPr b="0" lang="en-US" sz="1800" spc="-1" strike="noStrike">
              <a:solidFill>
                <a:srgbClr val="000000"/>
              </a:solidFill>
              <a:latin typeface="Arial"/>
            </a:endParaRPr>
          </a:p>
        </p:txBody>
      </p:sp>
      <p:sp>
        <p:nvSpPr>
          <p:cNvPr id="597" name="PlaceHolder 3"/>
          <p:cNvSpPr>
            <a:spLocks noGrp="1"/>
          </p:cNvSpPr>
          <p:nvPr>
            <p:ph type="sldNum" idx="64"/>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2E310B25-91D9-40D4-A6AE-5540802E2F26}" type="slidenum">
              <a:rPr b="0" lang="en-US" sz="1400" spc="-1" strike="noStrike">
                <a:solidFill>
                  <a:schemeClr val="dk1">
                    <a:tint val="75000"/>
                  </a:schemeClr>
                </a:solidFill>
                <a:latin typeface="Tahoma"/>
                <a:ea typeface="MS PGothic"/>
              </a:rPr>
              <a:t>38</a:t>
            </a:fld>
            <a:endParaRPr b="0" lang="en-US" sz="1400" spc="-1" strike="noStrike">
              <a:solidFill>
                <a:srgbClr val="000000"/>
              </a:solidFill>
              <a:latin typeface="Times New Roman"/>
            </a:endParaRPr>
          </a:p>
        </p:txBody>
      </p:sp>
      <p:sp>
        <p:nvSpPr>
          <p:cNvPr id="598" name="Text Box 4"/>
          <p:cNvSpPr/>
          <p:nvPr/>
        </p:nvSpPr>
        <p:spPr>
          <a:xfrm>
            <a:off x="6095880" y="1649880"/>
            <a:ext cx="4418280" cy="4995000"/>
          </a:xfrm>
          <a:prstGeom prst="rect">
            <a:avLst/>
          </a:prstGeom>
          <a:noFill/>
          <a:ln w="9525">
            <a:solidFill>
              <a:srgbClr val="000000"/>
            </a:solidFill>
            <a:miter/>
          </a:ln>
        </p:spPr>
        <p:style>
          <a:lnRef idx="0"/>
          <a:fillRef idx="0"/>
          <a:effectRef idx="0"/>
          <a:fontRef idx="minor"/>
        </p:style>
        <p:txBody>
          <a:bodyPr lIns="90000" rIns="90000" tIns="45000" bIns="45000" anchor="t">
            <a:spAutoFit/>
          </a:bodyPr>
          <a:p>
            <a:pPr defTabSz="228600">
              <a:lnSpc>
                <a:spcPct val="95000"/>
              </a:lnSpc>
            </a:pPr>
            <a:r>
              <a:rPr b="1" lang="en-US" sz="1800" spc="-1" strike="noStrike">
                <a:solidFill>
                  <a:srgbClr val="000000"/>
                </a:solidFill>
                <a:latin typeface="Times New Roman"/>
                <a:ea typeface="MS PGothic"/>
              </a:rPr>
              <a:t>Algorithm</a:t>
            </a:r>
            <a:r>
              <a:rPr b="0" lang="en-US" sz="1800" spc="-1" strike="noStrike">
                <a:solidFill>
                  <a:schemeClr val="dk1"/>
                </a:solidFill>
                <a:latin typeface="Times New Roman"/>
                <a:ea typeface="MS PGothic"/>
              </a:rPr>
              <a:t> </a:t>
            </a:r>
            <a:r>
              <a:rPr b="1" i="1" lang="en-US" sz="1800" spc="-1" strike="noStrike">
                <a:solidFill>
                  <a:schemeClr val="dk2"/>
                </a:solidFill>
                <a:latin typeface="Times New Roman"/>
                <a:ea typeface="MS PGothic"/>
              </a:rPr>
              <a:t>BFS</a:t>
            </a:r>
            <a:r>
              <a:rPr b="0" lang="en-US" sz="1800" spc="-1" strike="noStrike">
                <a:solidFill>
                  <a:schemeClr val="dk2"/>
                </a:solidFill>
                <a:latin typeface="Times New Roman"/>
                <a:ea typeface="MS PGothic"/>
              </a:rPr>
              <a:t>(</a:t>
            </a:r>
            <a:r>
              <a:rPr b="1" i="1" lang="en-US" sz="1800" spc="-1" strike="noStrike">
                <a:solidFill>
                  <a:schemeClr val="dk2"/>
                </a:solidFill>
                <a:latin typeface="Times New Roman"/>
                <a:ea typeface="MS PGothic"/>
              </a:rPr>
              <a:t>G, s</a:t>
            </a:r>
            <a:r>
              <a:rPr b="0" lang="en-US" sz="1800" spc="-1" strike="noStrike">
                <a:solidFill>
                  <a:schemeClr val="dk2"/>
                </a:solidFill>
                <a:latin typeface="Times New Roman"/>
                <a:ea typeface="MS PGothic"/>
              </a:rPr>
              <a:t>)</a:t>
            </a:r>
            <a:endParaRPr b="0" lang="en-US" sz="1800" spc="-1" strike="noStrike">
              <a:solidFill>
                <a:srgbClr val="000000"/>
              </a:solidFill>
              <a:latin typeface="Arial"/>
            </a:endParaRPr>
          </a:p>
          <a:p>
            <a:pPr defTabSz="228600">
              <a:lnSpc>
                <a:spcPct val="95000"/>
              </a:lnSpc>
            </a:pP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L</a:t>
            </a:r>
            <a:r>
              <a:rPr b="0" lang="en-US" sz="1800" spc="-1" strike="noStrike" baseline="-25000">
                <a:solidFill>
                  <a:schemeClr val="accent2"/>
                </a:solidFill>
                <a:latin typeface="Times New Roman"/>
                <a:ea typeface="MS PGothic"/>
              </a:rPr>
              <a:t>0</a:t>
            </a:r>
            <a:r>
              <a:rPr b="1" i="1" lang="en-US" sz="1800" spc="-1" strike="noStrike">
                <a:solidFill>
                  <a:schemeClr val="accent2"/>
                </a:solidFill>
                <a:latin typeface="Times New Roman"/>
                <a:ea typeface="MS PGothic"/>
              </a:rPr>
              <a:t>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new empty sequence</a:t>
            </a:r>
            <a:endParaRPr b="0" lang="en-US" sz="1800" spc="-1" strike="noStrike">
              <a:solidFill>
                <a:srgbClr val="000000"/>
              </a:solidFill>
              <a:latin typeface="Arial"/>
            </a:endParaRPr>
          </a:p>
          <a:p>
            <a:pPr marL="228600" defTabSz="228600">
              <a:lnSpc>
                <a:spcPct val="95000"/>
              </a:lnSpc>
            </a:pPr>
            <a:r>
              <a:rPr b="1" i="1" lang="en-US" sz="1800" spc="-1" strike="noStrike">
                <a:solidFill>
                  <a:schemeClr val="accent2"/>
                </a:solidFill>
                <a:latin typeface="Times New Roman"/>
                <a:ea typeface="MS PGothic"/>
              </a:rPr>
              <a:t>L</a:t>
            </a:r>
            <a:r>
              <a:rPr b="0" lang="en-US" sz="1800" spc="-1" strike="noStrike" baseline="-25000">
                <a:solidFill>
                  <a:schemeClr val="accent2"/>
                </a:solidFill>
                <a:latin typeface="Times New Roman"/>
                <a:ea typeface="MS PGothic"/>
              </a:rPr>
              <a:t>0</a:t>
            </a:r>
            <a:r>
              <a:rPr b="1" i="1" lang="en-US" sz="1800" spc="-1" strike="noStrike">
                <a:solidFill>
                  <a:schemeClr val="accent2"/>
                </a:solidFill>
                <a:latin typeface="Times New Roman"/>
                <a:ea typeface="MS PGothic"/>
              </a:rPr>
              <a:t>.addLast</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s</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95000"/>
              </a:lnSpc>
            </a:pP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s, </a:t>
            </a:r>
            <a:r>
              <a:rPr b="1" i="1" lang="en-US" sz="1600" spc="-1" strike="noStrike">
                <a:solidFill>
                  <a:schemeClr val="accent2"/>
                </a:solidFill>
                <a:latin typeface="Times New Roman"/>
                <a:ea typeface="MS PGothic"/>
              </a:rPr>
              <a:t>VISITED</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95000"/>
              </a:lnSpc>
            </a:pPr>
            <a:r>
              <a:rPr b="1" i="1" lang="en-US" sz="1800" spc="-1" strike="noStrike">
                <a:solidFill>
                  <a:schemeClr val="accent2"/>
                </a:solidFill>
                <a:latin typeface="Times New Roman"/>
                <a:ea typeface="MS PGothic"/>
              </a:rPr>
              <a:t>i </a:t>
            </a:r>
            <a:r>
              <a:rPr b="0" lang="en-US" sz="1800" spc="-1" strike="noStrike">
                <a:solidFill>
                  <a:srgbClr val="000000"/>
                </a:solidFill>
                <a:latin typeface="Symbol"/>
                <a:ea typeface="MS PGothic"/>
              </a:rPr>
              <a:t></a:t>
            </a:r>
            <a:r>
              <a:rPr b="0" lang="en-US" sz="1800" spc="-1" strike="noStrike">
                <a:solidFill>
                  <a:srgbClr val="000000"/>
                </a:solidFill>
                <a:latin typeface="Times New Roman"/>
                <a:ea typeface="MS PGothic"/>
              </a:rPr>
              <a:t> </a:t>
            </a:r>
            <a:r>
              <a:rPr b="0" lang="en-US" sz="1800" spc="-1" strike="noStrike">
                <a:solidFill>
                  <a:schemeClr val="accent2"/>
                </a:solidFill>
                <a:latin typeface="Times New Roman"/>
                <a:ea typeface="MS PGothic"/>
              </a:rPr>
              <a:t>0</a:t>
            </a:r>
            <a:r>
              <a:rPr b="0" lang="en-US" sz="1800" spc="-1" strike="noStrike">
                <a:solidFill>
                  <a:srgbClr val="000000"/>
                </a:solidFill>
                <a:latin typeface="Times New Roman"/>
                <a:ea typeface="MS PGothic"/>
              </a:rPr>
              <a:t> </a:t>
            </a:r>
            <a:endParaRPr b="0" lang="en-US" sz="1800" spc="-1" strike="noStrike">
              <a:solidFill>
                <a:srgbClr val="000000"/>
              </a:solidFill>
              <a:latin typeface="Arial"/>
            </a:endParaRPr>
          </a:p>
          <a:p>
            <a:pPr marL="228600" defTabSz="228600">
              <a:lnSpc>
                <a:spcPct val="95000"/>
              </a:lnSpc>
            </a:pPr>
            <a:r>
              <a:rPr b="1" lang="en-US" sz="1800" spc="-1" strike="noStrike">
                <a:solidFill>
                  <a:srgbClr val="000000"/>
                </a:solidFill>
                <a:latin typeface="Times New Roman"/>
                <a:ea typeface="MS PGothic"/>
              </a:rPr>
              <a:t>while </a:t>
            </a:r>
            <a:r>
              <a:rPr b="0" lang="en-US" sz="1800" spc="-1" strike="noStrike">
                <a:solidFill>
                  <a:schemeClr val="dk2"/>
                </a:solidFill>
                <a:latin typeface="Times New Roman"/>
                <a:ea typeface="MS PGothic"/>
              </a:rPr>
              <a:t>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L</a:t>
            </a:r>
            <a:r>
              <a:rPr b="1" i="1" lang="en-US" sz="1800" spc="-1" strike="noStrike" baseline="-25000">
                <a:solidFill>
                  <a:schemeClr val="accent2"/>
                </a:solidFill>
                <a:latin typeface="Times New Roman"/>
                <a:ea typeface="MS PGothic"/>
              </a:rPr>
              <a:t>i</a:t>
            </a:r>
            <a:r>
              <a:rPr b="1" i="1" lang="en-US" sz="1800" spc="-1" strike="noStrike">
                <a:solidFill>
                  <a:schemeClr val="accent2"/>
                </a:solidFill>
                <a:latin typeface="Times New Roman"/>
                <a:ea typeface="MS PGothic"/>
              </a:rPr>
              <a:t>.isEmpty</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95000"/>
              </a:lnSpc>
            </a:pPr>
            <a:r>
              <a:rPr b="1" i="1"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L</a:t>
            </a:r>
            <a:r>
              <a:rPr b="1" i="1" lang="en-US" sz="1800" spc="-1" strike="noStrike" baseline="-25000">
                <a:solidFill>
                  <a:schemeClr val="accent2"/>
                </a:solidFill>
                <a:latin typeface="Times New Roman"/>
                <a:ea typeface="MS PGothic"/>
              </a:rPr>
              <a:t>i </a:t>
            </a:r>
            <a:r>
              <a:rPr b="0" lang="en-US" sz="1800" spc="-1" strike="noStrike" baseline="-25000">
                <a:solidFill>
                  <a:schemeClr val="accent2"/>
                </a:solidFill>
                <a:latin typeface="Symbol"/>
                <a:ea typeface="MS PGothic"/>
              </a:rPr>
              <a:t>+</a:t>
            </a:r>
            <a:r>
              <a:rPr b="0" lang="en-US" sz="1800" spc="-1" strike="noStrike" baseline="-25000">
                <a:solidFill>
                  <a:schemeClr val="accent2"/>
                </a:solidFill>
                <a:latin typeface="Times New Roman"/>
                <a:ea typeface="MS PGothic"/>
              </a:rPr>
              <a:t>1</a:t>
            </a:r>
            <a:r>
              <a:rPr b="1" i="1" lang="en-US" sz="1800" spc="-1" strike="noStrike">
                <a:solidFill>
                  <a:schemeClr val="accent2"/>
                </a:solidFill>
                <a:latin typeface="Times New Roman"/>
                <a:ea typeface="MS PGothic"/>
              </a:rPr>
              <a:t>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new empty sequence</a:t>
            </a:r>
            <a:r>
              <a:rPr b="1" lang="en-US" sz="1800" spc="-1" strike="noStrike">
                <a:solidFill>
                  <a:srgbClr val="000000"/>
                </a:solidFill>
                <a:latin typeface="Times New Roman"/>
                <a:ea typeface="MS PGothic"/>
              </a:rPr>
              <a:t> </a:t>
            </a:r>
            <a:endParaRPr b="0" lang="en-US" sz="1800" spc="-1" strike="noStrike">
              <a:solidFill>
                <a:srgbClr val="000000"/>
              </a:solidFill>
              <a:latin typeface="Arial"/>
            </a:endParaRPr>
          </a:p>
          <a:p>
            <a:pPr marL="228600" defTabSz="228600">
              <a:lnSpc>
                <a:spcPct val="95000"/>
              </a:lnSpc>
            </a:pP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for all </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v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L</a:t>
            </a:r>
            <a:r>
              <a:rPr b="1" i="1" lang="en-US" sz="1800" spc="-1" strike="noStrike" baseline="-25000">
                <a:solidFill>
                  <a:schemeClr val="accent2"/>
                </a:solidFill>
                <a:latin typeface="Times New Roman"/>
                <a:ea typeface="MS PGothic"/>
              </a:rPr>
              <a:t>i</a:t>
            </a:r>
            <a:r>
              <a:rPr b="1" i="1" lang="en-US" sz="1800" spc="-1" strike="noStrike">
                <a:solidFill>
                  <a:schemeClr val="accent2"/>
                </a:solidFill>
                <a:latin typeface="Times New Roman"/>
                <a:ea typeface="MS PGothic"/>
              </a:rPr>
              <a:t>.elements</a:t>
            </a:r>
            <a:r>
              <a:rPr b="0" lang="en-US" sz="1800" spc="-1" strike="noStrike">
                <a:solidFill>
                  <a:schemeClr val="accent2"/>
                </a:solidFill>
                <a:latin typeface="Times New Roman"/>
                <a:ea typeface="MS PGothic"/>
              </a:rPr>
              <a:t>() </a:t>
            </a:r>
            <a:br>
              <a:rPr sz="1800"/>
            </a:b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for all </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e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G.incidentEdges</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v</a:t>
            </a:r>
            <a:r>
              <a:rPr b="0" lang="en-US" sz="1800" spc="-1" strike="noStrike">
                <a:solidFill>
                  <a:schemeClr val="accent2"/>
                </a:solidFill>
                <a:latin typeface="Times New Roman"/>
                <a:ea typeface="MS PGothic"/>
              </a:rPr>
              <a:t>) </a:t>
            </a:r>
            <a:endParaRPr b="0" lang="en-US" sz="1800" spc="-1" strike="noStrike">
              <a:solidFill>
                <a:srgbClr val="000000"/>
              </a:solidFill>
              <a:latin typeface="Arial"/>
            </a:endParaRPr>
          </a:p>
          <a:p>
            <a:pPr marL="228600" defTabSz="228600">
              <a:lnSpc>
                <a:spcPct val="95000"/>
              </a:lnSpc>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if</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getLabel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e</a:t>
            </a:r>
            <a:r>
              <a:rPr b="0" lang="en-US" sz="1800" spc="-1" strike="noStrike">
                <a:solidFill>
                  <a:schemeClr val="accent2"/>
                </a:solidFill>
                <a:latin typeface="Times New Roman"/>
                <a:ea typeface="MS PGothic"/>
              </a:rPr>
              <a:t>) </a:t>
            </a:r>
            <a:r>
              <a:rPr b="0" lang="en-US" sz="1800" spc="-1" strike="noStrike">
                <a:solidFill>
                  <a:srgbClr val="000000"/>
                </a:solidFill>
                <a:latin typeface="Symbol"/>
                <a:ea typeface="MS PGothic"/>
              </a:rPr>
              <a:t>= </a:t>
            </a:r>
            <a:r>
              <a:rPr b="1" i="1" lang="en-US" sz="1600" spc="-1" strike="noStrike">
                <a:solidFill>
                  <a:schemeClr val="accent2"/>
                </a:solidFill>
                <a:latin typeface="Times New Roman"/>
                <a:ea typeface="MS PGothic"/>
              </a:rPr>
              <a:t>UNEXPLORED</a:t>
            </a:r>
            <a:endParaRPr b="0" lang="en-US" sz="1600" spc="-1" strike="noStrike">
              <a:solidFill>
                <a:srgbClr val="000000"/>
              </a:solidFill>
              <a:latin typeface="Arial"/>
            </a:endParaRPr>
          </a:p>
          <a:p>
            <a:pPr marL="228600" defTabSz="228600">
              <a:lnSpc>
                <a:spcPct val="95000"/>
              </a:lnSpc>
            </a:pP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i="1" lang="en-US" sz="1800" spc="-1" strike="noStrike">
                <a:solidFill>
                  <a:schemeClr val="accent2"/>
                </a:solidFill>
                <a:latin typeface="Times New Roman"/>
                <a:ea typeface="MS PGothic"/>
              </a:rPr>
              <a:t>w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opposite</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v,e</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95000"/>
              </a:lnSpc>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if  </a:t>
            </a:r>
            <a:r>
              <a:rPr b="1" i="1" lang="en-US" sz="1800" spc="-1" strike="noStrike">
                <a:solidFill>
                  <a:schemeClr val="accent2"/>
                </a:solidFill>
                <a:latin typeface="Times New Roman"/>
                <a:ea typeface="MS PGothic"/>
              </a:rPr>
              <a:t>getLabel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w</a:t>
            </a:r>
            <a:r>
              <a:rPr b="0" lang="en-US" sz="1800" spc="-1" strike="noStrike">
                <a:solidFill>
                  <a:schemeClr val="accent2"/>
                </a:solidFill>
                <a:latin typeface="Times New Roman"/>
                <a:ea typeface="MS PGothic"/>
              </a:rPr>
              <a:t>) </a:t>
            </a:r>
            <a:r>
              <a:rPr b="0" lang="en-US" sz="1800" spc="-1" strike="noStrike">
                <a:solidFill>
                  <a:srgbClr val="000000"/>
                </a:solidFill>
                <a:latin typeface="Symbol"/>
                <a:ea typeface="MS PGothic"/>
              </a:rPr>
              <a:t>= </a:t>
            </a:r>
            <a:r>
              <a:rPr b="1" i="1" lang="en-US" sz="1600" spc="-1" strike="noStrike">
                <a:solidFill>
                  <a:schemeClr val="accent2"/>
                </a:solidFill>
                <a:latin typeface="Times New Roman"/>
                <a:ea typeface="MS PGothic"/>
              </a:rPr>
              <a:t>UNEXPLORED</a:t>
            </a:r>
            <a:endParaRPr b="0" lang="en-US" sz="1600" spc="-1" strike="noStrike">
              <a:solidFill>
                <a:srgbClr val="000000"/>
              </a:solidFill>
              <a:latin typeface="Arial"/>
            </a:endParaRPr>
          </a:p>
          <a:p>
            <a:pPr marL="228600" defTabSz="228600">
              <a:lnSpc>
                <a:spcPct val="95000"/>
              </a:lnSpc>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e, </a:t>
            </a:r>
            <a:r>
              <a:rPr b="1" i="1" lang="en-US" sz="1600" spc="-1" strike="noStrike">
                <a:solidFill>
                  <a:schemeClr val="accent2"/>
                </a:solidFill>
                <a:latin typeface="Times New Roman"/>
                <a:ea typeface="MS PGothic"/>
              </a:rPr>
              <a:t>DISCOVERY</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95000"/>
              </a:lnSpc>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w, </a:t>
            </a:r>
            <a:r>
              <a:rPr b="1" i="1" lang="en-US" sz="1600" spc="-1" strike="noStrike">
                <a:solidFill>
                  <a:schemeClr val="accent2"/>
                </a:solidFill>
                <a:latin typeface="Times New Roman"/>
                <a:ea typeface="MS PGothic"/>
              </a:rPr>
              <a:t>VISITED</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95000"/>
              </a:lnSpc>
            </a:pPr>
            <a:r>
              <a:rPr b="1" i="1"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L</a:t>
            </a:r>
            <a:r>
              <a:rPr b="1" i="1" lang="en-US" sz="1800" spc="-1" strike="noStrike" baseline="-25000">
                <a:solidFill>
                  <a:schemeClr val="accent2"/>
                </a:solidFill>
                <a:latin typeface="Times New Roman"/>
                <a:ea typeface="MS PGothic"/>
              </a:rPr>
              <a:t>i </a:t>
            </a:r>
            <a:r>
              <a:rPr b="0" lang="en-US" sz="1800" spc="-1" strike="noStrike" baseline="-25000">
                <a:solidFill>
                  <a:schemeClr val="accent2"/>
                </a:solidFill>
                <a:latin typeface="Symbol"/>
                <a:ea typeface="MS PGothic"/>
              </a:rPr>
              <a:t>+</a:t>
            </a:r>
            <a:r>
              <a:rPr b="0" lang="en-US" sz="1800" spc="-1" strike="noStrike" baseline="-25000">
                <a:solidFill>
                  <a:schemeClr val="accent2"/>
                </a:solidFill>
                <a:latin typeface="Times New Roman"/>
                <a:ea typeface="MS PGothic"/>
              </a:rPr>
              <a:t>1</a:t>
            </a:r>
            <a:r>
              <a:rPr b="1" i="1" lang="en-US" sz="1800" spc="-1" strike="noStrike">
                <a:solidFill>
                  <a:schemeClr val="accent2"/>
                </a:solidFill>
                <a:latin typeface="Times New Roman"/>
                <a:ea typeface="MS PGothic"/>
              </a:rPr>
              <a:t>.addLast</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w</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95000"/>
              </a:lnSpc>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else</a:t>
            </a:r>
            <a:endParaRPr b="0" lang="en-US" sz="1800" spc="-1" strike="noStrike">
              <a:solidFill>
                <a:srgbClr val="000000"/>
              </a:solidFill>
              <a:latin typeface="Arial"/>
            </a:endParaRPr>
          </a:p>
          <a:p>
            <a:pPr marL="228600" defTabSz="228600">
              <a:lnSpc>
                <a:spcPct val="95000"/>
              </a:lnSpc>
            </a:pP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	</a:t>
            </a: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e, </a:t>
            </a:r>
            <a:r>
              <a:rPr b="1" i="1" lang="en-US" sz="1600" spc="-1" strike="noStrike">
                <a:solidFill>
                  <a:schemeClr val="accent2"/>
                </a:solidFill>
                <a:latin typeface="Times New Roman"/>
                <a:ea typeface="MS PGothic"/>
              </a:rPr>
              <a:t>CROSS</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228600">
              <a:lnSpc>
                <a:spcPct val="95000"/>
              </a:lnSpc>
            </a:pPr>
            <a:r>
              <a:rPr b="0"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i </a:t>
            </a:r>
            <a:r>
              <a:rPr b="0" lang="en-US" sz="1800" spc="-1" strike="noStrike">
                <a:solidFill>
                  <a:srgbClr val="000000"/>
                </a:solidFill>
                <a:latin typeface="Symbol"/>
                <a:ea typeface="MS PGothic"/>
              </a:rPr>
              <a:t></a:t>
            </a:r>
            <a:r>
              <a:rPr b="0" lang="en-US" sz="1800" spc="-1" strike="noStrike">
                <a:solidFill>
                  <a:srgbClr val="000000"/>
                </a:solidFill>
                <a:latin typeface="Times New Roman"/>
                <a:ea typeface="MS PGothic"/>
              </a:rPr>
              <a:t> </a:t>
            </a:r>
            <a:r>
              <a:rPr b="1" i="1" lang="en-US" sz="1800" spc="-1" strike="noStrike">
                <a:solidFill>
                  <a:schemeClr val="accent2"/>
                </a:solidFill>
                <a:latin typeface="Times New Roman"/>
                <a:ea typeface="MS PGothic"/>
              </a:rPr>
              <a:t>i </a:t>
            </a:r>
            <a:r>
              <a:rPr b="0" lang="en-US" sz="1800" spc="-1" strike="noStrike">
                <a:solidFill>
                  <a:schemeClr val="accent2"/>
                </a:solidFill>
                <a:latin typeface="Symbol"/>
                <a:ea typeface="MS PGothic"/>
              </a:rPr>
              <a:t>+</a:t>
            </a:r>
            <a:r>
              <a:rPr b="0" lang="en-US" sz="1800" spc="-1" strike="noStrike">
                <a:solidFill>
                  <a:schemeClr val="accent2"/>
                </a:solidFill>
                <a:latin typeface="Times New Roman"/>
                <a:ea typeface="MS PGothic"/>
              </a:rPr>
              <a:t>1</a:t>
            </a:r>
            <a:endParaRPr b="0" lang="en-US" sz="1800" spc="-1" strike="noStrike">
              <a:solidFill>
                <a:srgbClr val="000000"/>
              </a:solidFill>
              <a:latin typeface="Arial"/>
            </a:endParaRPr>
          </a:p>
        </p:txBody>
      </p:sp>
      <p:sp>
        <p:nvSpPr>
          <p:cNvPr id="599" name="Text Box 5"/>
          <p:cNvSpPr/>
          <p:nvPr/>
        </p:nvSpPr>
        <p:spPr>
          <a:xfrm>
            <a:off x="1609560" y="1642320"/>
            <a:ext cx="3503880" cy="3683880"/>
          </a:xfrm>
          <a:prstGeom prst="rect">
            <a:avLst/>
          </a:prstGeom>
          <a:noFill/>
          <a:ln w="9525">
            <a:solidFill>
              <a:srgbClr val="000000"/>
            </a:solidFill>
            <a:miter/>
          </a:ln>
        </p:spPr>
        <p:style>
          <a:lnRef idx="0"/>
          <a:fillRef idx="0"/>
          <a:effectRef idx="0"/>
          <a:fontRef idx="minor"/>
        </p:style>
        <p:txBody>
          <a:bodyPr lIns="90000" rIns="90000" tIns="45000" bIns="45000" anchor="t">
            <a:spAutoFit/>
          </a:bodyPr>
          <a:p>
            <a:pPr defTabSz="343080">
              <a:lnSpc>
                <a:spcPct val="90000"/>
              </a:lnSpc>
              <a:spcBef>
                <a:spcPts val="360"/>
              </a:spcBef>
            </a:pPr>
            <a:r>
              <a:rPr b="1" lang="en-US" sz="1800" spc="-1" strike="noStrike">
                <a:solidFill>
                  <a:srgbClr val="000000"/>
                </a:solidFill>
                <a:latin typeface="Times New Roman"/>
                <a:ea typeface="MS PGothic"/>
              </a:rPr>
              <a:t>Algorithm</a:t>
            </a:r>
            <a:r>
              <a:rPr b="0" lang="en-US" sz="1800" spc="-1" strike="noStrike">
                <a:solidFill>
                  <a:schemeClr val="dk1"/>
                </a:solidFill>
                <a:latin typeface="Times New Roman"/>
                <a:ea typeface="MS PGothic"/>
              </a:rPr>
              <a:t> </a:t>
            </a:r>
            <a:r>
              <a:rPr b="1" i="1" lang="en-US" sz="1800" spc="-1" strike="noStrike">
                <a:solidFill>
                  <a:schemeClr val="dk2"/>
                </a:solidFill>
                <a:latin typeface="Times New Roman"/>
                <a:ea typeface="MS PGothic"/>
              </a:rPr>
              <a:t>BFS</a:t>
            </a:r>
            <a:r>
              <a:rPr b="0" lang="en-US" sz="1800" spc="-1" strike="noStrike">
                <a:solidFill>
                  <a:schemeClr val="dk2"/>
                </a:solidFill>
                <a:latin typeface="Times New Roman"/>
                <a:ea typeface="MS PGothic"/>
              </a:rPr>
              <a:t>(</a:t>
            </a:r>
            <a:r>
              <a:rPr b="1" i="1" lang="en-US" sz="1800" spc="-1" strike="noStrike">
                <a:solidFill>
                  <a:schemeClr val="dk2"/>
                </a:solidFill>
                <a:latin typeface="Times New Roman"/>
                <a:ea typeface="MS PGothic"/>
              </a:rPr>
              <a:t>G</a:t>
            </a:r>
            <a:r>
              <a:rPr b="0" lang="en-US" sz="1800" spc="-1" strike="noStrike">
                <a:solidFill>
                  <a:schemeClr val="dk2"/>
                </a:solidFill>
                <a:latin typeface="Times New Roman"/>
                <a:ea typeface="MS PGothic"/>
              </a:rPr>
              <a:t>)</a:t>
            </a:r>
            <a:endParaRPr b="0" lang="en-US" sz="1800" spc="-1" strike="noStrike">
              <a:solidFill>
                <a:srgbClr val="000000"/>
              </a:solidFill>
              <a:latin typeface="Arial"/>
            </a:endParaRPr>
          </a:p>
          <a:p>
            <a:pPr defTabSz="343080">
              <a:lnSpc>
                <a:spcPct val="90000"/>
              </a:lnSpc>
              <a:spcBef>
                <a:spcPts val="360"/>
              </a:spcBef>
            </a:pPr>
            <a:r>
              <a:rPr b="0" lang="en-US" sz="1800" spc="-1" strike="noStrike">
                <a:solidFill>
                  <a:schemeClr val="dk2"/>
                </a:solidFill>
                <a:latin typeface="Times New Roman"/>
                <a:ea typeface="MS PGothic"/>
              </a:rPr>
              <a:t>	</a:t>
            </a:r>
            <a:r>
              <a:rPr b="1" lang="en-US" sz="1800" spc="-1" strike="noStrike">
                <a:solidFill>
                  <a:srgbClr val="000000"/>
                </a:solidFill>
                <a:latin typeface="Times New Roman"/>
                <a:ea typeface="MS PGothic"/>
              </a:rPr>
              <a:t>Input</a:t>
            </a:r>
            <a:r>
              <a:rPr b="0" lang="en-US" sz="1800" spc="-1" strike="noStrike">
                <a:solidFill>
                  <a:schemeClr val="dk1"/>
                </a:solidFill>
                <a:latin typeface="Times New Roman"/>
                <a:ea typeface="MS PGothic"/>
              </a:rPr>
              <a:t> </a:t>
            </a:r>
            <a:r>
              <a:rPr b="0" lang="en-US" sz="1800" spc="-1" strike="noStrike">
                <a:solidFill>
                  <a:schemeClr val="accent2"/>
                </a:solidFill>
                <a:latin typeface="Times New Roman"/>
                <a:ea typeface="MS PGothic"/>
              </a:rPr>
              <a:t>graph </a:t>
            </a:r>
            <a:r>
              <a:rPr b="1" i="1" lang="en-US" sz="1800" spc="-1" strike="noStrike">
                <a:solidFill>
                  <a:schemeClr val="accent2"/>
                </a:solidFill>
                <a:latin typeface="Times New Roman"/>
                <a:ea typeface="MS PGothic"/>
              </a:rPr>
              <a:t>G</a:t>
            </a:r>
            <a:endParaRPr b="0" lang="en-US" sz="1800" spc="-1" strike="noStrike">
              <a:solidFill>
                <a:srgbClr val="000000"/>
              </a:solidFill>
              <a:latin typeface="Arial"/>
            </a:endParaRPr>
          </a:p>
          <a:p>
            <a:pPr defTabSz="343080">
              <a:lnSpc>
                <a:spcPct val="90000"/>
              </a:lnSpc>
              <a:spcBef>
                <a:spcPts val="360"/>
              </a:spcBef>
            </a:pPr>
            <a:r>
              <a:rPr b="0" lang="en-US" sz="1800" spc="-1" strike="noStrike">
                <a:solidFill>
                  <a:schemeClr val="accent2"/>
                </a:solidFill>
                <a:latin typeface="Times New Roman"/>
                <a:ea typeface="MS PGothic"/>
              </a:rPr>
              <a:t>	</a:t>
            </a:r>
            <a:r>
              <a:rPr b="1" lang="en-US" sz="1800" spc="-1" strike="noStrike">
                <a:solidFill>
                  <a:srgbClr val="000000"/>
                </a:solidFill>
                <a:latin typeface="Times New Roman"/>
                <a:ea typeface="MS PGothic"/>
              </a:rPr>
              <a:t>Output</a:t>
            </a:r>
            <a:r>
              <a:rPr b="0" lang="en-US" sz="1800" spc="-1" strike="noStrike">
                <a:solidFill>
                  <a:schemeClr val="dk1"/>
                </a:solidFill>
                <a:latin typeface="Times New Roman"/>
                <a:ea typeface="MS PGothic"/>
              </a:rPr>
              <a:t> </a:t>
            </a:r>
            <a:r>
              <a:rPr b="0" lang="en-US" sz="1800" spc="-1" strike="noStrike">
                <a:solidFill>
                  <a:schemeClr val="accent2"/>
                </a:solidFill>
                <a:latin typeface="Times New Roman"/>
                <a:ea typeface="MS PGothic"/>
              </a:rPr>
              <a:t>labeling of the edges </a:t>
            </a:r>
            <a:br>
              <a:rPr sz="1800"/>
            </a:b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and partition of the </a:t>
            </a:r>
            <a:br>
              <a:rPr sz="1800"/>
            </a:b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vertices  of </a:t>
            </a:r>
            <a:r>
              <a:rPr b="1" i="1" lang="en-US" sz="1800" spc="-1" strike="noStrike">
                <a:solidFill>
                  <a:schemeClr val="accent2"/>
                </a:solidFill>
                <a:latin typeface="Times New Roman"/>
                <a:ea typeface="MS PGothic"/>
              </a:rPr>
              <a:t>G </a:t>
            </a:r>
            <a:endParaRPr b="0" lang="en-US" sz="1800" spc="-1" strike="noStrike">
              <a:solidFill>
                <a:srgbClr val="000000"/>
              </a:solidFill>
              <a:latin typeface="Arial"/>
            </a:endParaRPr>
          </a:p>
          <a:p>
            <a:pPr marL="228600" defTabSz="343080">
              <a:lnSpc>
                <a:spcPct val="90000"/>
              </a:lnSpc>
              <a:spcBef>
                <a:spcPts val="360"/>
              </a:spcBef>
            </a:pPr>
            <a:r>
              <a:rPr b="1" lang="en-US" sz="1800" spc="-1" strike="noStrike">
                <a:solidFill>
                  <a:srgbClr val="000000"/>
                </a:solidFill>
                <a:latin typeface="Times New Roman"/>
                <a:ea typeface="MS PGothic"/>
              </a:rPr>
              <a:t>for all </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u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G.vertices</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343080">
              <a:lnSpc>
                <a:spcPct val="90000"/>
              </a:lnSpc>
              <a:spcBef>
                <a:spcPts val="360"/>
              </a:spcBef>
            </a:pPr>
            <a:r>
              <a:rPr b="0"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u, </a:t>
            </a:r>
            <a:r>
              <a:rPr b="1" i="1" lang="en-US" sz="1600" spc="-1" strike="noStrike">
                <a:solidFill>
                  <a:schemeClr val="accent2"/>
                </a:solidFill>
                <a:latin typeface="Times New Roman"/>
                <a:ea typeface="MS PGothic"/>
              </a:rPr>
              <a:t>UNEXPLORED</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343080">
              <a:lnSpc>
                <a:spcPct val="90000"/>
              </a:lnSpc>
              <a:spcBef>
                <a:spcPts val="360"/>
              </a:spcBef>
            </a:pPr>
            <a:r>
              <a:rPr b="1" lang="en-US" sz="1800" spc="-1" strike="noStrike">
                <a:solidFill>
                  <a:srgbClr val="000000"/>
                </a:solidFill>
                <a:latin typeface="Times New Roman"/>
                <a:ea typeface="MS PGothic"/>
              </a:rPr>
              <a:t>for all </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e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G.edges</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343080">
              <a:lnSpc>
                <a:spcPct val="90000"/>
              </a:lnSpc>
              <a:spcBef>
                <a:spcPts val="360"/>
              </a:spcBef>
            </a:pPr>
            <a:r>
              <a:rPr b="0"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setLabel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e, </a:t>
            </a:r>
            <a:r>
              <a:rPr b="1" i="1" lang="en-US" sz="1600" spc="-1" strike="noStrike">
                <a:solidFill>
                  <a:schemeClr val="accent2"/>
                </a:solidFill>
                <a:latin typeface="Times New Roman"/>
                <a:ea typeface="MS PGothic"/>
              </a:rPr>
              <a:t>UNEXPLORED</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343080">
              <a:lnSpc>
                <a:spcPct val="90000"/>
              </a:lnSpc>
              <a:spcBef>
                <a:spcPts val="360"/>
              </a:spcBef>
            </a:pPr>
            <a:r>
              <a:rPr b="1" lang="en-US" sz="1800" spc="-1" strike="noStrike">
                <a:solidFill>
                  <a:srgbClr val="000000"/>
                </a:solidFill>
                <a:latin typeface="Times New Roman"/>
                <a:ea typeface="MS PGothic"/>
              </a:rPr>
              <a:t>for all </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v </a:t>
            </a:r>
            <a:r>
              <a:rPr b="0" lang="en-US" sz="1800" spc="-1" strike="noStrike">
                <a:solidFill>
                  <a:srgbClr val="000000"/>
                </a:solidFill>
                <a:latin typeface="Symbol"/>
                <a:ea typeface="MS PGothic"/>
              </a:rPr>
              <a:t></a:t>
            </a:r>
            <a:r>
              <a:rPr b="1" i="1" lang="en-US" sz="1800" spc="-1" strike="noStrike">
                <a:solidFill>
                  <a:schemeClr val="accent2"/>
                </a:solidFill>
                <a:latin typeface="Times New Roman"/>
                <a:ea typeface="MS PGothic"/>
              </a:rPr>
              <a:t> G.vertices</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a:p>
            <a:pPr marL="228600" defTabSz="343080">
              <a:lnSpc>
                <a:spcPct val="90000"/>
              </a:lnSpc>
              <a:spcBef>
                <a:spcPts val="360"/>
              </a:spcBef>
            </a:pPr>
            <a:r>
              <a:rPr b="1" lang="en-US" sz="1800" spc="-1" strike="noStrike">
                <a:solidFill>
                  <a:srgbClr val="000000"/>
                </a:solidFill>
                <a:latin typeface="Times New Roman"/>
                <a:ea typeface="MS PGothic"/>
              </a:rPr>
              <a:t>	</a:t>
            </a:r>
            <a:r>
              <a:rPr b="1" lang="en-US" sz="1800" spc="-1" strike="noStrike">
                <a:solidFill>
                  <a:srgbClr val="000000"/>
                </a:solidFill>
                <a:latin typeface="Times New Roman"/>
                <a:ea typeface="MS PGothic"/>
              </a:rPr>
              <a:t>if</a:t>
            </a:r>
            <a:r>
              <a:rPr b="0" lang="en-US" sz="1800" spc="-1" strike="noStrike">
                <a:solidFill>
                  <a:schemeClr val="dk2"/>
                </a:solidFill>
                <a:latin typeface="Times New Roman"/>
                <a:ea typeface="MS PGothic"/>
              </a:rPr>
              <a:t>  </a:t>
            </a:r>
            <a:r>
              <a:rPr b="1" i="1" lang="en-US" sz="1800" spc="-1" strike="noStrike">
                <a:solidFill>
                  <a:schemeClr val="accent2"/>
                </a:solidFill>
                <a:latin typeface="Times New Roman"/>
                <a:ea typeface="MS PGothic"/>
              </a:rPr>
              <a:t>getLabel</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v</a:t>
            </a:r>
            <a:r>
              <a:rPr b="0" lang="en-US" sz="1800" spc="-1" strike="noStrike">
                <a:solidFill>
                  <a:schemeClr val="accent2"/>
                </a:solidFill>
                <a:latin typeface="Times New Roman"/>
                <a:ea typeface="MS PGothic"/>
              </a:rPr>
              <a:t>) </a:t>
            </a:r>
            <a:r>
              <a:rPr b="0" lang="en-US" sz="1800" spc="-1" strike="noStrike">
                <a:solidFill>
                  <a:srgbClr val="000000"/>
                </a:solidFill>
                <a:latin typeface="Symbol"/>
                <a:ea typeface="MS PGothic"/>
              </a:rPr>
              <a:t>= </a:t>
            </a:r>
            <a:r>
              <a:rPr b="1" i="1" lang="en-US" sz="1600" spc="-1" strike="noStrike">
                <a:solidFill>
                  <a:schemeClr val="accent2"/>
                </a:solidFill>
                <a:latin typeface="Times New Roman"/>
                <a:ea typeface="MS PGothic"/>
              </a:rPr>
              <a:t>UNEXPLORED</a:t>
            </a:r>
            <a:endParaRPr b="0" lang="en-US" sz="1600" spc="-1" strike="noStrike">
              <a:solidFill>
                <a:srgbClr val="000000"/>
              </a:solidFill>
              <a:latin typeface="Arial"/>
            </a:endParaRPr>
          </a:p>
          <a:p>
            <a:pPr marL="228600" defTabSz="343080">
              <a:lnSpc>
                <a:spcPct val="90000"/>
              </a:lnSpc>
              <a:spcBef>
                <a:spcPts val="360"/>
              </a:spcBef>
            </a:pPr>
            <a:r>
              <a:rPr b="0" lang="en-US" sz="1800" spc="-1" strike="noStrike">
                <a:solidFill>
                  <a:schemeClr val="accent2"/>
                </a:solidFill>
                <a:latin typeface="Times New Roman"/>
                <a:ea typeface="MS PGothic"/>
              </a:rPr>
              <a:t>	</a:t>
            </a:r>
            <a:r>
              <a:rPr b="0" lang="en-US" sz="1800" spc="-1" strike="noStrike">
                <a:solidFill>
                  <a:schemeClr val="accent2"/>
                </a:solidFill>
                <a:latin typeface="Times New Roman"/>
                <a:ea typeface="MS PGothic"/>
              </a:rPr>
              <a:t>	</a:t>
            </a:r>
            <a:r>
              <a:rPr b="1" i="1" lang="en-US" sz="1800" spc="-1" strike="noStrike">
                <a:solidFill>
                  <a:schemeClr val="accent2"/>
                </a:solidFill>
                <a:latin typeface="Times New Roman"/>
                <a:ea typeface="MS PGothic"/>
              </a:rPr>
              <a:t>BFS</a:t>
            </a:r>
            <a:r>
              <a:rPr b="0" lang="en-US" sz="1800" spc="-1" strike="noStrike">
                <a:solidFill>
                  <a:schemeClr val="accent2"/>
                </a:solidFill>
                <a:latin typeface="Times New Roman"/>
                <a:ea typeface="MS PGothic"/>
              </a:rPr>
              <a:t>(</a:t>
            </a:r>
            <a:r>
              <a:rPr b="1" i="1" lang="en-US" sz="1800" spc="-1" strike="noStrike">
                <a:solidFill>
                  <a:schemeClr val="accent2"/>
                </a:solidFill>
                <a:latin typeface="Times New Roman"/>
                <a:ea typeface="MS PGothic"/>
              </a:rPr>
              <a:t>G, v</a:t>
            </a:r>
            <a:r>
              <a:rPr b="0" lang="en-US" sz="1800" spc="-1" strike="noStrike">
                <a:solidFill>
                  <a:schemeClr val="accent2"/>
                </a:solidFill>
                <a:latin typeface="Times New Roman"/>
                <a:ea typeface="MS PGothic"/>
              </a:rPr>
              <a: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0"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Python Implementation</a:t>
            </a:r>
            <a:endParaRPr b="0" lang="en-US" sz="4400" spc="-1" strike="noStrike">
              <a:solidFill>
                <a:srgbClr val="000000"/>
              </a:solidFill>
              <a:latin typeface="Arial"/>
            </a:endParaRPr>
          </a:p>
        </p:txBody>
      </p:sp>
      <p:sp>
        <p:nvSpPr>
          <p:cNvPr id="601" name="PlaceHolder 2"/>
          <p:cNvSpPr>
            <a:spLocks noGrp="1"/>
          </p:cNvSpPr>
          <p:nvPr>
            <p:ph type="sldNum" idx="65"/>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52B4B89D-2CF5-429F-A1DF-F6195BAC322F}" type="slidenum">
              <a:rPr b="0" lang="en-US" sz="1400" spc="-1" strike="noStrike">
                <a:solidFill>
                  <a:schemeClr val="dk1">
                    <a:tint val="75000"/>
                  </a:schemeClr>
                </a:solidFill>
                <a:latin typeface="Tahoma"/>
                <a:ea typeface="MS PGothic"/>
              </a:rPr>
              <a:t>39</a:t>
            </a:fld>
            <a:endParaRPr b="0" lang="en-US" sz="1400" spc="-1" strike="noStrike">
              <a:solidFill>
                <a:srgbClr val="000000"/>
              </a:solidFill>
              <a:latin typeface="Times New Roman"/>
            </a:endParaRPr>
          </a:p>
        </p:txBody>
      </p:sp>
      <p:pic>
        <p:nvPicPr>
          <p:cNvPr id="602" name="Picture 5" descr=""/>
          <p:cNvPicPr/>
          <p:nvPr/>
        </p:nvPicPr>
        <p:blipFill>
          <a:blip r:embed="rId1"/>
          <a:stretch/>
        </p:blipFill>
        <p:spPr>
          <a:xfrm>
            <a:off x="2349360" y="1173960"/>
            <a:ext cx="7491600" cy="450864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Example</a:t>
            </a:r>
            <a:endParaRPr b="0" lang="en-US" sz="4400" spc="-1" strike="noStrike">
              <a:solidFill>
                <a:srgbClr val="000000"/>
              </a:solidFill>
              <a:latin typeface="Arial"/>
            </a:endParaRPr>
          </a:p>
        </p:txBody>
      </p:sp>
      <p:sp>
        <p:nvSpPr>
          <p:cNvPr id="604" name="PlaceHolder 2"/>
          <p:cNvSpPr>
            <a:spLocks noGrp="1"/>
          </p:cNvSpPr>
          <p:nvPr>
            <p:ph type="sldNum" idx="66"/>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40447F0D-7D5D-4DD4-AE20-1393CACCD1AB}" type="slidenum">
              <a:rPr b="0" lang="en-US" sz="1400" spc="-1" strike="noStrike">
                <a:solidFill>
                  <a:schemeClr val="dk1">
                    <a:tint val="75000"/>
                  </a:schemeClr>
                </a:solidFill>
                <a:latin typeface="Tahoma"/>
                <a:ea typeface="MS PGothic"/>
              </a:rPr>
              <a:t>40</a:t>
            </a:fld>
            <a:endParaRPr b="0" lang="en-US" sz="1400" spc="-1" strike="noStrike">
              <a:solidFill>
                <a:srgbClr val="000000"/>
              </a:solidFill>
              <a:latin typeface="Times New Roman"/>
            </a:endParaRPr>
          </a:p>
        </p:txBody>
      </p:sp>
      <p:sp>
        <p:nvSpPr>
          <p:cNvPr id="605" name="AutoShape 86"/>
          <p:cNvSpPr/>
          <p:nvPr/>
        </p:nvSpPr>
        <p:spPr>
          <a:xfrm>
            <a:off x="2635200" y="493560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606" name="AutoShape 81"/>
          <p:cNvSpPr/>
          <p:nvPr/>
        </p:nvSpPr>
        <p:spPr>
          <a:xfrm>
            <a:off x="3240000" y="420372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607" name="Oval 4"/>
          <p:cNvSpPr/>
          <p:nvPr/>
        </p:nvSpPr>
        <p:spPr>
          <a:xfrm>
            <a:off x="4078440" y="49975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608" name="Oval 5"/>
          <p:cNvSpPr/>
          <p:nvPr/>
        </p:nvSpPr>
        <p:spPr>
          <a:xfrm>
            <a:off x="2857680" y="49975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609" name="Oval 6"/>
          <p:cNvSpPr/>
          <p:nvPr/>
        </p:nvSpPr>
        <p:spPr>
          <a:xfrm>
            <a:off x="3486240" y="42656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610" name="Oval 7"/>
          <p:cNvSpPr/>
          <p:nvPr/>
        </p:nvSpPr>
        <p:spPr>
          <a:xfrm>
            <a:off x="3467160" y="57294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611" name="AutoShape 8"/>
          <p:cNvCxnSpPr>
            <a:stCxn id="609" idx="3"/>
            <a:endCxn id="608" idx="7"/>
          </p:cNvCxnSpPr>
          <p:nvPr/>
        </p:nvCxnSpPr>
        <p:spPr>
          <a:xfrm flipH="1">
            <a:off x="3170160" y="4578120"/>
            <a:ext cx="370080" cy="473400"/>
          </a:xfrm>
          <a:prstGeom prst="straightConnector1">
            <a:avLst/>
          </a:prstGeom>
          <a:ln w="38100">
            <a:solidFill>
              <a:srgbClr val="44546a"/>
            </a:solidFill>
            <a:round/>
            <a:tailEnd len="med" type="triangle" w="med"/>
          </a:ln>
        </p:spPr>
      </p:cxnSp>
      <p:cxnSp>
        <p:nvCxnSpPr>
          <p:cNvPr id="612" name="AutoShape 9"/>
          <p:cNvCxnSpPr>
            <a:stCxn id="610" idx="1"/>
            <a:endCxn id="608" idx="5"/>
          </p:cNvCxnSpPr>
          <p:nvPr/>
        </p:nvCxnSpPr>
        <p:spPr>
          <a:xfrm flipH="1" flipV="1">
            <a:off x="3170160" y="5310000"/>
            <a:ext cx="351000" cy="473400"/>
          </a:xfrm>
          <a:prstGeom prst="straightConnector1">
            <a:avLst/>
          </a:prstGeom>
          <a:ln w="19050">
            <a:solidFill>
              <a:srgbClr val="000000"/>
            </a:solidFill>
            <a:round/>
          </a:ln>
        </p:spPr>
      </p:cxnSp>
      <p:cxnSp>
        <p:nvCxnSpPr>
          <p:cNvPr id="613" name="AutoShape 10"/>
          <p:cNvCxnSpPr>
            <a:stCxn id="610" idx="7"/>
            <a:endCxn id="607" idx="3"/>
          </p:cNvCxnSpPr>
          <p:nvPr/>
        </p:nvCxnSpPr>
        <p:spPr>
          <a:xfrm flipV="1">
            <a:off x="3779640" y="5310000"/>
            <a:ext cx="352800" cy="473400"/>
          </a:xfrm>
          <a:prstGeom prst="straightConnector1">
            <a:avLst/>
          </a:prstGeom>
          <a:ln w="19050">
            <a:solidFill>
              <a:srgbClr val="000000"/>
            </a:solidFill>
            <a:round/>
          </a:ln>
        </p:spPr>
      </p:cxnSp>
      <p:cxnSp>
        <p:nvCxnSpPr>
          <p:cNvPr id="614" name="AutoShape 11"/>
          <p:cNvCxnSpPr>
            <a:stCxn id="609" idx="5"/>
            <a:endCxn id="607" idx="1"/>
          </p:cNvCxnSpPr>
          <p:nvPr/>
        </p:nvCxnSpPr>
        <p:spPr>
          <a:xfrm>
            <a:off x="3798720" y="4578120"/>
            <a:ext cx="333720" cy="473400"/>
          </a:xfrm>
          <a:prstGeom prst="straightConnector1">
            <a:avLst/>
          </a:prstGeom>
          <a:ln w="19050">
            <a:solidFill>
              <a:srgbClr val="000000"/>
            </a:solidFill>
            <a:round/>
          </a:ln>
        </p:spPr>
      </p:cxnSp>
      <p:cxnSp>
        <p:nvCxnSpPr>
          <p:cNvPr id="615" name="AutoShape 12"/>
          <p:cNvCxnSpPr>
            <a:stCxn id="608" idx="6"/>
            <a:endCxn id="607" idx="2"/>
          </p:cNvCxnSpPr>
          <p:nvPr/>
        </p:nvCxnSpPr>
        <p:spPr>
          <a:xfrm>
            <a:off x="3223440" y="5180400"/>
            <a:ext cx="855720" cy="720"/>
          </a:xfrm>
          <a:prstGeom prst="straightConnector1">
            <a:avLst/>
          </a:prstGeom>
          <a:ln w="19050">
            <a:solidFill>
              <a:srgbClr val="000000"/>
            </a:solidFill>
            <a:round/>
          </a:ln>
        </p:spPr>
      </p:cxnSp>
      <p:sp>
        <p:nvSpPr>
          <p:cNvPr id="616" name="Oval 13"/>
          <p:cNvSpPr/>
          <p:nvPr/>
        </p:nvSpPr>
        <p:spPr>
          <a:xfrm>
            <a:off x="5300640" y="49975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617" name="AutoShape 15"/>
          <p:cNvCxnSpPr>
            <a:stCxn id="618" idx="7"/>
            <a:endCxn id="616" idx="3"/>
          </p:cNvCxnSpPr>
          <p:nvPr/>
        </p:nvCxnSpPr>
        <p:spPr>
          <a:xfrm flipV="1">
            <a:off x="5001840" y="5310000"/>
            <a:ext cx="352800" cy="473400"/>
          </a:xfrm>
          <a:prstGeom prst="straightConnector1">
            <a:avLst/>
          </a:prstGeom>
          <a:ln w="19050">
            <a:solidFill>
              <a:srgbClr val="000000"/>
            </a:solidFill>
            <a:round/>
          </a:ln>
        </p:spPr>
      </p:cxnSp>
      <p:cxnSp>
        <p:nvCxnSpPr>
          <p:cNvPr id="619" name="AutoShape 16"/>
          <p:cNvCxnSpPr>
            <a:stCxn id="616" idx="1"/>
            <a:endCxn id="609" idx="6"/>
          </p:cNvCxnSpPr>
          <p:nvPr/>
        </p:nvCxnSpPr>
        <p:spPr>
          <a:xfrm flipH="1" flipV="1">
            <a:off x="3852000" y="4448520"/>
            <a:ext cx="1502640" cy="603000"/>
          </a:xfrm>
          <a:prstGeom prst="straightConnector1">
            <a:avLst/>
          </a:prstGeom>
          <a:ln w="19050">
            <a:solidFill>
              <a:srgbClr val="000000"/>
            </a:solidFill>
            <a:round/>
          </a:ln>
        </p:spPr>
      </p:cxnSp>
      <p:sp>
        <p:nvSpPr>
          <p:cNvPr id="620" name="Text Box 58"/>
          <p:cNvSpPr/>
          <p:nvPr/>
        </p:nvSpPr>
        <p:spPr>
          <a:xfrm>
            <a:off x="3271680" y="2925720"/>
            <a:ext cx="2322360" cy="4554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400" spc="-1" strike="noStrike">
                <a:solidFill>
                  <a:schemeClr val="dk2"/>
                </a:solidFill>
                <a:latin typeface="Tahoma"/>
                <a:ea typeface="MS PGothic"/>
              </a:rPr>
              <a:t>discovery edge</a:t>
            </a:r>
            <a:endParaRPr b="0" lang="en-US" sz="2400" spc="-1" strike="noStrike">
              <a:solidFill>
                <a:srgbClr val="000000"/>
              </a:solidFill>
              <a:latin typeface="Arial"/>
            </a:endParaRPr>
          </a:p>
        </p:txBody>
      </p:sp>
      <p:sp>
        <p:nvSpPr>
          <p:cNvPr id="621" name="Text Box 60"/>
          <p:cNvSpPr/>
          <p:nvPr/>
        </p:nvSpPr>
        <p:spPr>
          <a:xfrm>
            <a:off x="3256920" y="3352680"/>
            <a:ext cx="1719000" cy="4554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400" spc="-1" strike="noStrike">
                <a:solidFill>
                  <a:schemeClr val="accent2"/>
                </a:solidFill>
                <a:latin typeface="Tahoma"/>
                <a:ea typeface="MS PGothic"/>
              </a:rPr>
              <a:t>cross edge</a:t>
            </a:r>
            <a:endParaRPr b="0" lang="en-US" sz="2400" spc="-1" strike="noStrike">
              <a:solidFill>
                <a:srgbClr val="000000"/>
              </a:solidFill>
              <a:latin typeface="Arial"/>
            </a:endParaRPr>
          </a:p>
        </p:txBody>
      </p:sp>
      <p:sp>
        <p:nvSpPr>
          <p:cNvPr id="622" name="Oval 61"/>
          <p:cNvSpPr/>
          <p:nvPr/>
        </p:nvSpPr>
        <p:spPr>
          <a:xfrm>
            <a:off x="2525760" y="21178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623" name="Text Box 62"/>
          <p:cNvSpPr/>
          <p:nvPr/>
        </p:nvSpPr>
        <p:spPr>
          <a:xfrm>
            <a:off x="3285720" y="2071800"/>
            <a:ext cx="2075400" cy="4554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400" spc="-1" strike="noStrike">
                <a:solidFill>
                  <a:schemeClr val="dk2"/>
                </a:solidFill>
                <a:latin typeface="Tahoma"/>
                <a:ea typeface="MS PGothic"/>
              </a:rPr>
              <a:t>visited vertex</a:t>
            </a:r>
            <a:endParaRPr b="0" lang="en-US" sz="2400" spc="-1" strike="noStrike">
              <a:solidFill>
                <a:srgbClr val="000000"/>
              </a:solidFill>
              <a:latin typeface="Arial"/>
            </a:endParaRPr>
          </a:p>
        </p:txBody>
      </p:sp>
      <p:sp>
        <p:nvSpPr>
          <p:cNvPr id="624" name="Oval 63"/>
          <p:cNvSpPr/>
          <p:nvPr/>
        </p:nvSpPr>
        <p:spPr>
          <a:xfrm>
            <a:off x="2525760" y="16891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625" name="Text Box 64"/>
          <p:cNvSpPr/>
          <p:nvPr/>
        </p:nvSpPr>
        <p:spPr>
          <a:xfrm>
            <a:off x="3249720" y="1644480"/>
            <a:ext cx="2781000" cy="4554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400" spc="-1" strike="noStrike">
                <a:solidFill>
                  <a:schemeClr val="dk1"/>
                </a:solidFill>
                <a:latin typeface="Tahoma"/>
                <a:ea typeface="MS PGothic"/>
              </a:rPr>
              <a:t>unexplored vertex</a:t>
            </a:r>
            <a:endParaRPr b="0" lang="en-US" sz="2400" spc="-1" strike="noStrike">
              <a:solidFill>
                <a:srgbClr val="000000"/>
              </a:solidFill>
              <a:latin typeface="Arial"/>
            </a:endParaRPr>
          </a:p>
        </p:txBody>
      </p:sp>
      <p:sp>
        <p:nvSpPr>
          <p:cNvPr id="626" name="Text Box 65"/>
          <p:cNvSpPr/>
          <p:nvPr/>
        </p:nvSpPr>
        <p:spPr>
          <a:xfrm>
            <a:off x="3246120" y="2498760"/>
            <a:ext cx="2610360" cy="4554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400" spc="-1" strike="noStrike">
                <a:solidFill>
                  <a:schemeClr val="dk1"/>
                </a:solidFill>
                <a:latin typeface="Tahoma"/>
                <a:ea typeface="MS PGothic"/>
              </a:rPr>
              <a:t>unexplored edge</a:t>
            </a:r>
            <a:endParaRPr b="0" lang="en-US" sz="2400" spc="-1" strike="noStrike">
              <a:solidFill>
                <a:srgbClr val="000000"/>
              </a:solidFill>
              <a:latin typeface="Arial"/>
            </a:endParaRPr>
          </a:p>
        </p:txBody>
      </p:sp>
      <p:grpSp>
        <p:nvGrpSpPr>
          <p:cNvPr id="627" name="Group 73"/>
          <p:cNvGrpSpPr/>
          <p:nvPr/>
        </p:nvGrpSpPr>
        <p:grpSpPr>
          <a:xfrm>
            <a:off x="2269800" y="2728800"/>
            <a:ext cx="878040" cy="852840"/>
            <a:chOff x="2269800" y="2728800"/>
            <a:chExt cx="878040" cy="852840"/>
          </a:xfrm>
        </p:grpSpPr>
        <p:sp>
          <p:nvSpPr>
            <p:cNvPr id="628" name="Line 57"/>
            <p:cNvSpPr/>
            <p:nvPr/>
          </p:nvSpPr>
          <p:spPr>
            <a:xfrm>
              <a:off x="2269800" y="3154320"/>
              <a:ext cx="878040" cy="360"/>
            </a:xfrm>
            <a:prstGeom prst="line">
              <a:avLst/>
            </a:prstGeom>
            <a:ln w="38100">
              <a:solidFill>
                <a:srgbClr val="44546a"/>
              </a:solidFill>
              <a:round/>
              <a:tailEnd len="med" type="triangle" w="me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sp>
          <p:nvSpPr>
            <p:cNvPr id="629" name="Line 59"/>
            <p:cNvSpPr/>
            <p:nvPr/>
          </p:nvSpPr>
          <p:spPr>
            <a:xfrm>
              <a:off x="2269800" y="3581280"/>
              <a:ext cx="878040" cy="360"/>
            </a:xfrm>
            <a:prstGeom prst="line">
              <a:avLst/>
            </a:prstGeom>
            <a:ln w="38100">
              <a:solidFill>
                <a:srgbClr val="ed7d31"/>
              </a:solidFill>
              <a:prstDash val="dash"/>
              <a:round/>
              <a:tailEnd len="med" type="triangle" w="me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sp>
          <p:nvSpPr>
            <p:cNvPr id="630" name="Line 67"/>
            <p:cNvSpPr/>
            <p:nvPr/>
          </p:nvSpPr>
          <p:spPr>
            <a:xfrm>
              <a:off x="2269800" y="2728800"/>
              <a:ext cx="878040" cy="360"/>
            </a:xfrm>
            <a:prstGeom prst="line">
              <a:avLst/>
            </a:prstGeom>
            <a:ln w="19050">
              <a:solidFill>
                <a:srgbClr val="000000"/>
              </a:solidFill>
              <a:round/>
            </a:ln>
          </p:spPr>
          <p:style>
            <a:lnRef idx="0"/>
            <a:fillRef idx="0"/>
            <a:effectRef idx="0"/>
            <a:fontRef idx="minor"/>
          </p:style>
          <p:txBody>
            <a:bodyPr lIns="90000" rIns="90000" tIns="-44640" bIns="-44640" anchor="ctr">
              <a:noAutofit/>
            </a:bodyPr>
            <a:p>
              <a:endParaRPr b="0" lang="en-US" sz="1800" spc="-1" strike="noStrike">
                <a:solidFill>
                  <a:schemeClr val="dk1"/>
                </a:solidFill>
                <a:latin typeface="Calibri"/>
              </a:endParaRPr>
            </a:p>
          </p:txBody>
        </p:sp>
      </p:grpSp>
      <p:sp>
        <p:nvSpPr>
          <p:cNvPr id="631" name="AutoShape 75"/>
          <p:cNvSpPr/>
          <p:nvPr/>
        </p:nvSpPr>
        <p:spPr>
          <a:xfrm rot="5400000">
            <a:off x="8285040" y="3643200"/>
            <a:ext cx="455760" cy="331920"/>
          </a:xfrm>
          <a:prstGeom prst="rightArrow">
            <a:avLst>
              <a:gd name="adj1" fmla="val 50000"/>
              <a:gd name="adj2" fmla="val 34286"/>
            </a:avLst>
          </a:prstGeom>
          <a:no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632" name="AutoShape 76"/>
          <p:cNvSpPr/>
          <p:nvPr/>
        </p:nvSpPr>
        <p:spPr>
          <a:xfrm flipH="1" flipV="1" rot="8100000">
            <a:off x="5728320" y="3626640"/>
            <a:ext cx="1242360" cy="331560"/>
          </a:xfrm>
          <a:prstGeom prst="rightArrow">
            <a:avLst>
              <a:gd name="adj1" fmla="val 50000"/>
              <a:gd name="adj2" fmla="val 93214"/>
            </a:avLst>
          </a:prstGeom>
          <a:no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633" name="Text Box 78"/>
          <p:cNvSpPr/>
          <p:nvPr/>
        </p:nvSpPr>
        <p:spPr>
          <a:xfrm>
            <a:off x="2743200" y="402264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0</a:t>
            </a:r>
            <a:endParaRPr b="0" lang="en-US" sz="2000" spc="-1" strike="noStrike">
              <a:solidFill>
                <a:srgbClr val="000000"/>
              </a:solidFill>
              <a:latin typeface="Arial"/>
            </a:endParaRPr>
          </a:p>
        </p:txBody>
      </p:sp>
      <p:sp>
        <p:nvSpPr>
          <p:cNvPr id="634" name="Text Box 82"/>
          <p:cNvSpPr/>
          <p:nvPr/>
        </p:nvSpPr>
        <p:spPr>
          <a:xfrm>
            <a:off x="2133720" y="474660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1</a:t>
            </a:r>
            <a:endParaRPr b="0" lang="en-US" sz="2000" spc="-1" strike="noStrike">
              <a:solidFill>
                <a:srgbClr val="000000"/>
              </a:solidFill>
              <a:latin typeface="Arial"/>
            </a:endParaRPr>
          </a:p>
        </p:txBody>
      </p:sp>
      <p:cxnSp>
        <p:nvCxnSpPr>
          <p:cNvPr id="635" name="AutoShape 83"/>
          <p:cNvCxnSpPr>
            <a:stCxn id="607" idx="6"/>
            <a:endCxn id="616" idx="2"/>
          </p:cNvCxnSpPr>
          <p:nvPr/>
        </p:nvCxnSpPr>
        <p:spPr>
          <a:xfrm>
            <a:off x="4444200" y="5180400"/>
            <a:ext cx="857160" cy="720"/>
          </a:xfrm>
          <a:prstGeom prst="straightConnector1">
            <a:avLst/>
          </a:prstGeom>
          <a:ln w="19050">
            <a:solidFill>
              <a:srgbClr val="000000"/>
            </a:solidFill>
            <a:round/>
          </a:ln>
        </p:spPr>
      </p:cxnSp>
      <p:sp>
        <p:nvSpPr>
          <p:cNvPr id="618" name="Oval 84"/>
          <p:cNvSpPr/>
          <p:nvPr/>
        </p:nvSpPr>
        <p:spPr>
          <a:xfrm>
            <a:off x="4689360" y="57294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636" name="AutoShape 85"/>
          <p:cNvCxnSpPr>
            <a:stCxn id="607" idx="5"/>
            <a:endCxn id="618" idx="1"/>
          </p:cNvCxnSpPr>
          <p:nvPr/>
        </p:nvCxnSpPr>
        <p:spPr>
          <a:xfrm>
            <a:off x="4390920" y="5310000"/>
            <a:ext cx="352440" cy="473400"/>
          </a:xfrm>
          <a:prstGeom prst="straightConnector1">
            <a:avLst/>
          </a:prstGeom>
          <a:ln w="19050">
            <a:solidFill>
              <a:srgbClr val="000000"/>
            </a:solidFill>
            <a:round/>
          </a:ln>
        </p:spPr>
      </p:cxnSp>
      <p:grpSp>
        <p:nvGrpSpPr>
          <p:cNvPr id="637" name="Group 106"/>
          <p:cNvGrpSpPr/>
          <p:nvPr/>
        </p:nvGrpSpPr>
        <p:grpSpPr>
          <a:xfrm>
            <a:off x="6715080" y="1289160"/>
            <a:ext cx="3532680" cy="2071800"/>
            <a:chOff x="6715080" y="1289160"/>
            <a:chExt cx="3532680" cy="2071800"/>
          </a:xfrm>
        </p:grpSpPr>
        <p:sp>
          <p:nvSpPr>
            <p:cNvPr id="638" name="AutoShape 87"/>
            <p:cNvSpPr/>
            <p:nvPr/>
          </p:nvSpPr>
          <p:spPr>
            <a:xfrm>
              <a:off x="7216920" y="2201760"/>
              <a:ext cx="205272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639" name="AutoShape 88"/>
            <p:cNvSpPr/>
            <p:nvPr/>
          </p:nvSpPr>
          <p:spPr>
            <a:xfrm>
              <a:off x="7821720" y="146988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640" name="Oval 89"/>
            <p:cNvSpPr/>
            <p:nvPr/>
          </p:nvSpPr>
          <p:spPr>
            <a:xfrm>
              <a:off x="8659800" y="22636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641" name="Oval 90"/>
            <p:cNvSpPr/>
            <p:nvPr/>
          </p:nvSpPr>
          <p:spPr>
            <a:xfrm>
              <a:off x="7439040" y="22636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642" name="Oval 91"/>
            <p:cNvSpPr/>
            <p:nvPr/>
          </p:nvSpPr>
          <p:spPr>
            <a:xfrm>
              <a:off x="8067600" y="15318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643" name="Oval 92"/>
            <p:cNvSpPr/>
            <p:nvPr/>
          </p:nvSpPr>
          <p:spPr>
            <a:xfrm>
              <a:off x="8048520" y="29955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644" name="AutoShape 93"/>
            <p:cNvCxnSpPr>
              <a:stCxn id="642" idx="3"/>
              <a:endCxn id="641" idx="7"/>
            </p:cNvCxnSpPr>
            <p:nvPr/>
          </p:nvCxnSpPr>
          <p:spPr>
            <a:xfrm flipH="1">
              <a:off x="7751520" y="1844280"/>
              <a:ext cx="370080" cy="473400"/>
            </a:xfrm>
            <a:prstGeom prst="straightConnector1">
              <a:avLst/>
            </a:prstGeom>
            <a:ln w="38100">
              <a:solidFill>
                <a:srgbClr val="44546a"/>
              </a:solidFill>
              <a:round/>
              <a:tailEnd len="med" type="triangle" w="med"/>
            </a:ln>
          </p:spPr>
        </p:cxnSp>
        <p:cxnSp>
          <p:nvCxnSpPr>
            <p:cNvPr id="645" name="AutoShape 94"/>
            <p:cNvCxnSpPr>
              <a:stCxn id="643" idx="1"/>
              <a:endCxn id="641" idx="5"/>
            </p:cNvCxnSpPr>
            <p:nvPr/>
          </p:nvCxnSpPr>
          <p:spPr>
            <a:xfrm flipH="1" flipV="1">
              <a:off x="7751520" y="2576160"/>
              <a:ext cx="351000" cy="473400"/>
            </a:xfrm>
            <a:prstGeom prst="straightConnector1">
              <a:avLst/>
            </a:prstGeom>
            <a:ln w="19050">
              <a:solidFill>
                <a:srgbClr val="000000"/>
              </a:solidFill>
              <a:round/>
            </a:ln>
          </p:spPr>
        </p:cxnSp>
        <p:cxnSp>
          <p:nvCxnSpPr>
            <p:cNvPr id="646" name="AutoShape 95"/>
            <p:cNvCxnSpPr>
              <a:stCxn id="643" idx="7"/>
              <a:endCxn id="640" idx="3"/>
            </p:cNvCxnSpPr>
            <p:nvPr/>
          </p:nvCxnSpPr>
          <p:spPr>
            <a:xfrm flipV="1">
              <a:off x="8361000" y="2576160"/>
              <a:ext cx="352800" cy="473400"/>
            </a:xfrm>
            <a:prstGeom prst="straightConnector1">
              <a:avLst/>
            </a:prstGeom>
            <a:ln w="19050">
              <a:solidFill>
                <a:srgbClr val="000000"/>
              </a:solidFill>
              <a:round/>
            </a:ln>
          </p:spPr>
        </p:cxnSp>
        <p:cxnSp>
          <p:nvCxnSpPr>
            <p:cNvPr id="647" name="AutoShape 96"/>
            <p:cNvCxnSpPr>
              <a:stCxn id="642" idx="5"/>
              <a:endCxn id="640" idx="1"/>
            </p:cNvCxnSpPr>
            <p:nvPr/>
          </p:nvCxnSpPr>
          <p:spPr>
            <a:xfrm>
              <a:off x="8380080" y="1844280"/>
              <a:ext cx="333720" cy="473400"/>
            </a:xfrm>
            <a:prstGeom prst="straightConnector1">
              <a:avLst/>
            </a:prstGeom>
            <a:ln w="38100">
              <a:solidFill>
                <a:srgbClr val="44546a"/>
              </a:solidFill>
              <a:round/>
              <a:tailEnd len="med" type="triangle" w="med"/>
            </a:ln>
          </p:spPr>
        </p:cxnSp>
        <p:cxnSp>
          <p:nvCxnSpPr>
            <p:cNvPr id="648" name="AutoShape 97"/>
            <p:cNvCxnSpPr>
              <a:stCxn id="641" idx="6"/>
              <a:endCxn id="640" idx="2"/>
            </p:cNvCxnSpPr>
            <p:nvPr/>
          </p:nvCxnSpPr>
          <p:spPr>
            <a:xfrm>
              <a:off x="7804800" y="2446560"/>
              <a:ext cx="855720" cy="720"/>
            </a:xfrm>
            <a:prstGeom prst="straightConnector1">
              <a:avLst/>
            </a:prstGeom>
            <a:ln w="19050">
              <a:solidFill>
                <a:srgbClr val="000000"/>
              </a:solidFill>
              <a:round/>
            </a:ln>
          </p:spPr>
        </p:cxnSp>
        <p:sp>
          <p:nvSpPr>
            <p:cNvPr id="649" name="Oval 98"/>
            <p:cNvSpPr/>
            <p:nvPr/>
          </p:nvSpPr>
          <p:spPr>
            <a:xfrm>
              <a:off x="9882360" y="226368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650" name="AutoShape 99"/>
            <p:cNvCxnSpPr>
              <a:stCxn id="651" idx="7"/>
              <a:endCxn id="649" idx="3"/>
            </p:cNvCxnSpPr>
            <p:nvPr/>
          </p:nvCxnSpPr>
          <p:spPr>
            <a:xfrm flipV="1">
              <a:off x="9583560" y="2576160"/>
              <a:ext cx="352800" cy="473400"/>
            </a:xfrm>
            <a:prstGeom prst="straightConnector1">
              <a:avLst/>
            </a:prstGeom>
            <a:ln w="19050">
              <a:solidFill>
                <a:srgbClr val="000000"/>
              </a:solidFill>
              <a:round/>
            </a:ln>
          </p:spPr>
        </p:cxnSp>
        <p:cxnSp>
          <p:nvCxnSpPr>
            <p:cNvPr id="652" name="AutoShape 100"/>
            <p:cNvCxnSpPr>
              <a:stCxn id="649" idx="1"/>
              <a:endCxn id="642" idx="6"/>
            </p:cNvCxnSpPr>
            <p:nvPr/>
          </p:nvCxnSpPr>
          <p:spPr>
            <a:xfrm flipH="1" flipV="1">
              <a:off x="8433360" y="1714680"/>
              <a:ext cx="1503000" cy="603000"/>
            </a:xfrm>
            <a:prstGeom prst="straightConnector1">
              <a:avLst/>
            </a:prstGeom>
            <a:ln w="19050">
              <a:solidFill>
                <a:srgbClr val="000000"/>
              </a:solidFill>
              <a:round/>
            </a:ln>
          </p:spPr>
        </p:cxnSp>
        <p:sp>
          <p:nvSpPr>
            <p:cNvPr id="653" name="Text Box 101"/>
            <p:cNvSpPr/>
            <p:nvPr/>
          </p:nvSpPr>
          <p:spPr>
            <a:xfrm>
              <a:off x="7324560" y="128916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0</a:t>
              </a:r>
              <a:endParaRPr b="0" lang="en-US" sz="2000" spc="-1" strike="noStrike">
                <a:solidFill>
                  <a:srgbClr val="000000"/>
                </a:solidFill>
                <a:latin typeface="Arial"/>
              </a:endParaRPr>
            </a:p>
          </p:txBody>
        </p:sp>
        <p:sp>
          <p:nvSpPr>
            <p:cNvPr id="654" name="Text Box 102"/>
            <p:cNvSpPr/>
            <p:nvPr/>
          </p:nvSpPr>
          <p:spPr>
            <a:xfrm>
              <a:off x="6715080" y="201312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1</a:t>
              </a:r>
              <a:endParaRPr b="0" lang="en-US" sz="2000" spc="-1" strike="noStrike">
                <a:solidFill>
                  <a:srgbClr val="000000"/>
                </a:solidFill>
                <a:latin typeface="Arial"/>
              </a:endParaRPr>
            </a:p>
          </p:txBody>
        </p:sp>
        <p:cxnSp>
          <p:nvCxnSpPr>
            <p:cNvPr id="655" name="AutoShape 103"/>
            <p:cNvCxnSpPr>
              <a:stCxn id="640" idx="6"/>
              <a:endCxn id="649" idx="2"/>
            </p:cNvCxnSpPr>
            <p:nvPr/>
          </p:nvCxnSpPr>
          <p:spPr>
            <a:xfrm>
              <a:off x="9025560" y="2446560"/>
              <a:ext cx="857520" cy="720"/>
            </a:xfrm>
            <a:prstGeom prst="straightConnector1">
              <a:avLst/>
            </a:prstGeom>
            <a:ln w="19050">
              <a:solidFill>
                <a:srgbClr val="000000"/>
              </a:solidFill>
              <a:round/>
            </a:ln>
          </p:spPr>
        </p:cxnSp>
        <p:sp>
          <p:nvSpPr>
            <p:cNvPr id="651" name="Oval 104"/>
            <p:cNvSpPr/>
            <p:nvPr/>
          </p:nvSpPr>
          <p:spPr>
            <a:xfrm>
              <a:off x="9271080" y="29955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656" name="AutoShape 105"/>
            <p:cNvCxnSpPr>
              <a:stCxn id="640" idx="5"/>
              <a:endCxn id="651" idx="1"/>
            </p:cNvCxnSpPr>
            <p:nvPr/>
          </p:nvCxnSpPr>
          <p:spPr>
            <a:xfrm>
              <a:off x="8972280" y="2576160"/>
              <a:ext cx="352800" cy="473400"/>
            </a:xfrm>
            <a:prstGeom prst="straightConnector1">
              <a:avLst/>
            </a:prstGeom>
            <a:ln w="19050">
              <a:solidFill>
                <a:srgbClr val="000000"/>
              </a:solidFill>
              <a:round/>
            </a:ln>
          </p:spPr>
        </p:cxnSp>
      </p:grpSp>
      <p:sp>
        <p:nvSpPr>
          <p:cNvPr id="657" name="AutoShape 108"/>
          <p:cNvSpPr/>
          <p:nvPr/>
        </p:nvSpPr>
        <p:spPr>
          <a:xfrm>
            <a:off x="7215120" y="4935600"/>
            <a:ext cx="314640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658" name="AutoShape 109"/>
          <p:cNvSpPr/>
          <p:nvPr/>
        </p:nvSpPr>
        <p:spPr>
          <a:xfrm>
            <a:off x="7819920" y="420372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659" name="Oval 110"/>
          <p:cNvSpPr/>
          <p:nvPr/>
        </p:nvSpPr>
        <p:spPr>
          <a:xfrm>
            <a:off x="8658360" y="49975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660" name="Oval 111"/>
          <p:cNvSpPr/>
          <p:nvPr/>
        </p:nvSpPr>
        <p:spPr>
          <a:xfrm>
            <a:off x="7437600" y="49975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661" name="Oval 112"/>
          <p:cNvSpPr/>
          <p:nvPr/>
        </p:nvSpPr>
        <p:spPr>
          <a:xfrm>
            <a:off x="8066160" y="42656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662" name="Oval 113"/>
          <p:cNvSpPr/>
          <p:nvPr/>
        </p:nvSpPr>
        <p:spPr>
          <a:xfrm>
            <a:off x="8047080" y="57294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663" name="AutoShape 114"/>
          <p:cNvCxnSpPr>
            <a:stCxn id="661" idx="3"/>
            <a:endCxn id="660" idx="7"/>
          </p:cNvCxnSpPr>
          <p:nvPr/>
        </p:nvCxnSpPr>
        <p:spPr>
          <a:xfrm flipH="1">
            <a:off x="7750080" y="4578120"/>
            <a:ext cx="370080" cy="473400"/>
          </a:xfrm>
          <a:prstGeom prst="straightConnector1">
            <a:avLst/>
          </a:prstGeom>
          <a:ln w="38100">
            <a:solidFill>
              <a:srgbClr val="44546a"/>
            </a:solidFill>
            <a:round/>
            <a:tailEnd len="med" type="triangle" w="med"/>
          </a:ln>
        </p:spPr>
      </p:cxnSp>
      <p:cxnSp>
        <p:nvCxnSpPr>
          <p:cNvPr id="664" name="AutoShape 115"/>
          <p:cNvCxnSpPr>
            <a:stCxn id="662" idx="1"/>
            <a:endCxn id="660" idx="5"/>
          </p:cNvCxnSpPr>
          <p:nvPr/>
        </p:nvCxnSpPr>
        <p:spPr>
          <a:xfrm flipH="1" flipV="1">
            <a:off x="7750080" y="5310000"/>
            <a:ext cx="351000" cy="473400"/>
          </a:xfrm>
          <a:prstGeom prst="straightConnector1">
            <a:avLst/>
          </a:prstGeom>
          <a:ln w="19050">
            <a:solidFill>
              <a:srgbClr val="000000"/>
            </a:solidFill>
            <a:round/>
          </a:ln>
        </p:spPr>
      </p:cxnSp>
      <p:cxnSp>
        <p:nvCxnSpPr>
          <p:cNvPr id="665" name="AutoShape 116"/>
          <p:cNvCxnSpPr>
            <a:stCxn id="662" idx="7"/>
            <a:endCxn id="659" idx="3"/>
          </p:cNvCxnSpPr>
          <p:nvPr/>
        </p:nvCxnSpPr>
        <p:spPr>
          <a:xfrm flipV="1">
            <a:off x="8359560" y="5310000"/>
            <a:ext cx="352800" cy="473400"/>
          </a:xfrm>
          <a:prstGeom prst="straightConnector1">
            <a:avLst/>
          </a:prstGeom>
          <a:ln w="19050">
            <a:solidFill>
              <a:srgbClr val="000000"/>
            </a:solidFill>
            <a:round/>
          </a:ln>
        </p:spPr>
      </p:cxnSp>
      <p:cxnSp>
        <p:nvCxnSpPr>
          <p:cNvPr id="666" name="AutoShape 117"/>
          <p:cNvCxnSpPr>
            <a:stCxn id="661" idx="5"/>
            <a:endCxn id="659" idx="1"/>
          </p:cNvCxnSpPr>
          <p:nvPr/>
        </p:nvCxnSpPr>
        <p:spPr>
          <a:xfrm>
            <a:off x="8378640" y="4578120"/>
            <a:ext cx="333720" cy="473400"/>
          </a:xfrm>
          <a:prstGeom prst="straightConnector1">
            <a:avLst/>
          </a:prstGeom>
          <a:ln w="38100">
            <a:solidFill>
              <a:srgbClr val="44546a"/>
            </a:solidFill>
            <a:round/>
            <a:tailEnd len="med" type="triangle" w="med"/>
          </a:ln>
        </p:spPr>
      </p:cxnSp>
      <p:cxnSp>
        <p:nvCxnSpPr>
          <p:cNvPr id="667" name="AutoShape 118"/>
          <p:cNvCxnSpPr>
            <a:stCxn id="660" idx="6"/>
            <a:endCxn id="659" idx="2"/>
          </p:cNvCxnSpPr>
          <p:nvPr/>
        </p:nvCxnSpPr>
        <p:spPr>
          <a:xfrm>
            <a:off x="7803360" y="5180400"/>
            <a:ext cx="855720" cy="720"/>
          </a:xfrm>
          <a:prstGeom prst="straightConnector1">
            <a:avLst/>
          </a:prstGeom>
          <a:ln w="19050">
            <a:solidFill>
              <a:srgbClr val="000000"/>
            </a:solidFill>
            <a:round/>
          </a:ln>
        </p:spPr>
      </p:cxnSp>
      <p:sp>
        <p:nvSpPr>
          <p:cNvPr id="668" name="Oval 119"/>
          <p:cNvSpPr/>
          <p:nvPr/>
        </p:nvSpPr>
        <p:spPr>
          <a:xfrm>
            <a:off x="9880560" y="49975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669" name="AutoShape 120"/>
          <p:cNvCxnSpPr>
            <a:stCxn id="670" idx="7"/>
            <a:endCxn id="668" idx="3"/>
          </p:cNvCxnSpPr>
          <p:nvPr/>
        </p:nvCxnSpPr>
        <p:spPr>
          <a:xfrm flipV="1">
            <a:off x="9581760" y="5310000"/>
            <a:ext cx="352800" cy="473400"/>
          </a:xfrm>
          <a:prstGeom prst="straightConnector1">
            <a:avLst/>
          </a:prstGeom>
          <a:ln w="19050">
            <a:solidFill>
              <a:srgbClr val="000000"/>
            </a:solidFill>
            <a:round/>
          </a:ln>
        </p:spPr>
      </p:cxnSp>
      <p:cxnSp>
        <p:nvCxnSpPr>
          <p:cNvPr id="671" name="AutoShape 121"/>
          <p:cNvCxnSpPr>
            <a:stCxn id="668" idx="1"/>
            <a:endCxn id="661" idx="6"/>
          </p:cNvCxnSpPr>
          <p:nvPr/>
        </p:nvCxnSpPr>
        <p:spPr>
          <a:xfrm flipH="1" flipV="1">
            <a:off x="8431920" y="4448520"/>
            <a:ext cx="1502640" cy="603000"/>
          </a:xfrm>
          <a:prstGeom prst="straightConnector1">
            <a:avLst/>
          </a:prstGeom>
          <a:ln w="38100">
            <a:solidFill>
              <a:srgbClr val="44546a"/>
            </a:solidFill>
            <a:round/>
            <a:headEnd len="med" type="triangle" w="med"/>
          </a:ln>
        </p:spPr>
      </p:cxnSp>
      <p:sp>
        <p:nvSpPr>
          <p:cNvPr id="672" name="Text Box 122"/>
          <p:cNvSpPr/>
          <p:nvPr/>
        </p:nvSpPr>
        <p:spPr>
          <a:xfrm>
            <a:off x="7323120" y="402264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0</a:t>
            </a:r>
            <a:endParaRPr b="0" lang="en-US" sz="2000" spc="-1" strike="noStrike">
              <a:solidFill>
                <a:srgbClr val="000000"/>
              </a:solidFill>
              <a:latin typeface="Arial"/>
            </a:endParaRPr>
          </a:p>
        </p:txBody>
      </p:sp>
      <p:sp>
        <p:nvSpPr>
          <p:cNvPr id="673" name="Text Box 123"/>
          <p:cNvSpPr/>
          <p:nvPr/>
        </p:nvSpPr>
        <p:spPr>
          <a:xfrm>
            <a:off x="6713640" y="474660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1</a:t>
            </a:r>
            <a:endParaRPr b="0" lang="en-US" sz="2000" spc="-1" strike="noStrike">
              <a:solidFill>
                <a:srgbClr val="000000"/>
              </a:solidFill>
              <a:latin typeface="Arial"/>
            </a:endParaRPr>
          </a:p>
        </p:txBody>
      </p:sp>
      <p:cxnSp>
        <p:nvCxnSpPr>
          <p:cNvPr id="674" name="AutoShape 124"/>
          <p:cNvCxnSpPr>
            <a:stCxn id="659" idx="6"/>
            <a:endCxn id="668" idx="2"/>
          </p:cNvCxnSpPr>
          <p:nvPr/>
        </p:nvCxnSpPr>
        <p:spPr>
          <a:xfrm>
            <a:off x="9024120" y="5180400"/>
            <a:ext cx="857160" cy="720"/>
          </a:xfrm>
          <a:prstGeom prst="straightConnector1">
            <a:avLst/>
          </a:prstGeom>
          <a:ln w="19050">
            <a:solidFill>
              <a:srgbClr val="000000"/>
            </a:solidFill>
            <a:round/>
          </a:ln>
        </p:spPr>
      </p:cxnSp>
      <p:sp>
        <p:nvSpPr>
          <p:cNvPr id="670" name="Oval 125"/>
          <p:cNvSpPr/>
          <p:nvPr/>
        </p:nvSpPr>
        <p:spPr>
          <a:xfrm>
            <a:off x="9269280" y="57294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675" name="AutoShape 126"/>
          <p:cNvCxnSpPr>
            <a:stCxn id="659" idx="5"/>
            <a:endCxn id="670" idx="1"/>
          </p:cNvCxnSpPr>
          <p:nvPr/>
        </p:nvCxnSpPr>
        <p:spPr>
          <a:xfrm>
            <a:off x="8970840" y="5310000"/>
            <a:ext cx="352440" cy="473400"/>
          </a:xfrm>
          <a:prstGeom prst="straightConnector1">
            <a:avLst/>
          </a:prstGeom>
          <a:ln w="19050">
            <a:solidFill>
              <a:srgbClr val="000000"/>
            </a:solidFill>
            <a:round/>
          </a:ln>
        </p:spPr>
      </p:cxn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Example (cont.)</a:t>
            </a:r>
            <a:endParaRPr b="0" lang="en-US" sz="4400" spc="-1" strike="noStrike">
              <a:solidFill>
                <a:srgbClr val="000000"/>
              </a:solidFill>
              <a:latin typeface="Arial"/>
            </a:endParaRPr>
          </a:p>
        </p:txBody>
      </p:sp>
      <p:sp>
        <p:nvSpPr>
          <p:cNvPr id="677" name="PlaceHolder 2"/>
          <p:cNvSpPr>
            <a:spLocks noGrp="1"/>
          </p:cNvSpPr>
          <p:nvPr>
            <p:ph type="sldNum" idx="67"/>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FE87C761-1B3C-4096-BD32-8C1F9955B758}" type="slidenum">
              <a:rPr b="0" lang="en-US" sz="1400" spc="-1" strike="noStrike">
                <a:solidFill>
                  <a:schemeClr val="dk1">
                    <a:tint val="75000"/>
                  </a:schemeClr>
                </a:solidFill>
                <a:latin typeface="Tahoma"/>
                <a:ea typeface="MS PGothic"/>
              </a:rPr>
              <a:t>41</a:t>
            </a:fld>
            <a:endParaRPr b="0" lang="en-US" sz="1400" spc="-1" strike="noStrike">
              <a:solidFill>
                <a:srgbClr val="000000"/>
              </a:solidFill>
              <a:latin typeface="Times New Roman"/>
            </a:endParaRPr>
          </a:p>
        </p:txBody>
      </p:sp>
      <p:sp>
        <p:nvSpPr>
          <p:cNvPr id="678" name="AutoShape 1079"/>
          <p:cNvSpPr/>
          <p:nvPr/>
        </p:nvSpPr>
        <p:spPr>
          <a:xfrm rot="5400000">
            <a:off x="8235720" y="3757680"/>
            <a:ext cx="455760" cy="331920"/>
          </a:xfrm>
          <a:prstGeom prst="rightArrow">
            <a:avLst>
              <a:gd name="adj1" fmla="val 50000"/>
              <a:gd name="adj2" fmla="val 34286"/>
            </a:avLst>
          </a:prstGeom>
          <a:no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679" name="AutoShape 1080"/>
          <p:cNvSpPr/>
          <p:nvPr/>
        </p:nvSpPr>
        <p:spPr>
          <a:xfrm flipH="1" flipV="1" rot="8100000">
            <a:off x="5690160" y="3731400"/>
            <a:ext cx="1242360" cy="331560"/>
          </a:xfrm>
          <a:prstGeom prst="rightArrow">
            <a:avLst>
              <a:gd name="adj1" fmla="val 50000"/>
              <a:gd name="adj2" fmla="val 93214"/>
            </a:avLst>
          </a:prstGeom>
          <a:no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680" name="AutoShape 1081"/>
          <p:cNvSpPr/>
          <p:nvPr/>
        </p:nvSpPr>
        <p:spPr>
          <a:xfrm rot="5400000">
            <a:off x="3816360" y="3757680"/>
            <a:ext cx="455760" cy="331920"/>
          </a:xfrm>
          <a:prstGeom prst="rightArrow">
            <a:avLst>
              <a:gd name="adj1" fmla="val 50000"/>
              <a:gd name="adj2" fmla="val 34286"/>
            </a:avLst>
          </a:prstGeom>
          <a:no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grpSp>
        <p:nvGrpSpPr>
          <p:cNvPr id="681" name="Group 1101"/>
          <p:cNvGrpSpPr/>
          <p:nvPr/>
        </p:nvGrpSpPr>
        <p:grpSpPr>
          <a:xfrm>
            <a:off x="2219400" y="1508040"/>
            <a:ext cx="3647880" cy="2072160"/>
            <a:chOff x="2219400" y="1508040"/>
            <a:chExt cx="3647880" cy="2072160"/>
          </a:xfrm>
        </p:grpSpPr>
        <p:sp>
          <p:nvSpPr>
            <p:cNvPr id="682" name="AutoShape 1082"/>
            <p:cNvSpPr/>
            <p:nvPr/>
          </p:nvSpPr>
          <p:spPr>
            <a:xfrm>
              <a:off x="2720880" y="2421000"/>
              <a:ext cx="314640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683" name="AutoShape 1083"/>
            <p:cNvSpPr/>
            <p:nvPr/>
          </p:nvSpPr>
          <p:spPr>
            <a:xfrm>
              <a:off x="3325680" y="168912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684" name="Oval 1084"/>
            <p:cNvSpPr/>
            <p:nvPr/>
          </p:nvSpPr>
          <p:spPr>
            <a:xfrm>
              <a:off x="4164120" y="24829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685" name="Oval 1085"/>
            <p:cNvSpPr/>
            <p:nvPr/>
          </p:nvSpPr>
          <p:spPr>
            <a:xfrm>
              <a:off x="2943360" y="24829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686" name="Oval 1086"/>
            <p:cNvSpPr/>
            <p:nvPr/>
          </p:nvSpPr>
          <p:spPr>
            <a:xfrm>
              <a:off x="3571920" y="17510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687" name="Oval 1087"/>
            <p:cNvSpPr/>
            <p:nvPr/>
          </p:nvSpPr>
          <p:spPr>
            <a:xfrm>
              <a:off x="3552840" y="32148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688" name="AutoShape 1088"/>
            <p:cNvCxnSpPr>
              <a:stCxn id="686" idx="3"/>
              <a:endCxn id="685" idx="7"/>
            </p:cNvCxnSpPr>
            <p:nvPr/>
          </p:nvCxnSpPr>
          <p:spPr>
            <a:xfrm flipH="1">
              <a:off x="3255840" y="2063520"/>
              <a:ext cx="370080" cy="473400"/>
            </a:xfrm>
            <a:prstGeom prst="straightConnector1">
              <a:avLst/>
            </a:prstGeom>
            <a:ln w="38100">
              <a:solidFill>
                <a:srgbClr val="44546a"/>
              </a:solidFill>
              <a:round/>
              <a:tailEnd len="med" type="triangle" w="med"/>
            </a:ln>
          </p:spPr>
        </p:cxnSp>
        <p:cxnSp>
          <p:nvCxnSpPr>
            <p:cNvPr id="689" name="AutoShape 1089"/>
            <p:cNvCxnSpPr>
              <a:stCxn id="687" idx="1"/>
              <a:endCxn id="685" idx="5"/>
            </p:cNvCxnSpPr>
            <p:nvPr/>
          </p:nvCxnSpPr>
          <p:spPr>
            <a:xfrm flipH="1" flipV="1">
              <a:off x="3255840" y="2795400"/>
              <a:ext cx="351000" cy="473400"/>
            </a:xfrm>
            <a:prstGeom prst="straightConnector1">
              <a:avLst/>
            </a:prstGeom>
            <a:ln w="19050">
              <a:solidFill>
                <a:srgbClr val="000000"/>
              </a:solidFill>
              <a:round/>
            </a:ln>
          </p:spPr>
        </p:cxnSp>
        <p:cxnSp>
          <p:nvCxnSpPr>
            <p:cNvPr id="690" name="AutoShape 1090"/>
            <p:cNvCxnSpPr>
              <a:stCxn id="687" idx="7"/>
              <a:endCxn id="684" idx="3"/>
            </p:cNvCxnSpPr>
            <p:nvPr/>
          </p:nvCxnSpPr>
          <p:spPr>
            <a:xfrm flipV="1">
              <a:off x="3865320" y="2795400"/>
              <a:ext cx="352800" cy="473400"/>
            </a:xfrm>
            <a:prstGeom prst="straightConnector1">
              <a:avLst/>
            </a:prstGeom>
            <a:ln w="19050">
              <a:solidFill>
                <a:srgbClr val="000000"/>
              </a:solidFill>
              <a:round/>
            </a:ln>
          </p:spPr>
        </p:cxnSp>
        <p:cxnSp>
          <p:nvCxnSpPr>
            <p:cNvPr id="691" name="AutoShape 1091"/>
            <p:cNvCxnSpPr>
              <a:stCxn id="686" idx="5"/>
              <a:endCxn id="684" idx="1"/>
            </p:cNvCxnSpPr>
            <p:nvPr/>
          </p:nvCxnSpPr>
          <p:spPr>
            <a:xfrm>
              <a:off x="3884400" y="2063520"/>
              <a:ext cx="333720" cy="473400"/>
            </a:xfrm>
            <a:prstGeom prst="straightConnector1">
              <a:avLst/>
            </a:prstGeom>
            <a:ln w="38100">
              <a:solidFill>
                <a:srgbClr val="44546a"/>
              </a:solidFill>
              <a:round/>
              <a:tailEnd len="med" type="triangle" w="med"/>
            </a:ln>
          </p:spPr>
        </p:cxnSp>
        <p:cxnSp>
          <p:nvCxnSpPr>
            <p:cNvPr id="692" name="AutoShape 1092"/>
            <p:cNvCxnSpPr>
              <a:stCxn id="685" idx="6"/>
              <a:endCxn id="684" idx="2"/>
            </p:cNvCxnSpPr>
            <p:nvPr/>
          </p:nvCxnSpPr>
          <p:spPr>
            <a:xfrm>
              <a:off x="3309120" y="2665800"/>
              <a:ext cx="855720" cy="720"/>
            </a:xfrm>
            <a:prstGeom prst="straightConnector1">
              <a:avLst/>
            </a:prstGeom>
            <a:ln w="38100">
              <a:solidFill>
                <a:srgbClr val="ed7d31"/>
              </a:solidFill>
              <a:prstDash val="dash"/>
              <a:round/>
              <a:tailEnd len="med" type="triangle" w="med"/>
            </a:ln>
          </p:spPr>
        </p:cxnSp>
        <p:sp>
          <p:nvSpPr>
            <p:cNvPr id="693" name="Oval 1093"/>
            <p:cNvSpPr/>
            <p:nvPr/>
          </p:nvSpPr>
          <p:spPr>
            <a:xfrm>
              <a:off x="5386320" y="24829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694" name="AutoShape 1094"/>
            <p:cNvCxnSpPr>
              <a:stCxn id="695" idx="7"/>
              <a:endCxn id="693" idx="3"/>
            </p:cNvCxnSpPr>
            <p:nvPr/>
          </p:nvCxnSpPr>
          <p:spPr>
            <a:xfrm flipV="1">
              <a:off x="5087520" y="2795400"/>
              <a:ext cx="352800" cy="473400"/>
            </a:xfrm>
            <a:prstGeom prst="straightConnector1">
              <a:avLst/>
            </a:prstGeom>
            <a:ln w="19050">
              <a:solidFill>
                <a:srgbClr val="000000"/>
              </a:solidFill>
              <a:round/>
            </a:ln>
          </p:spPr>
        </p:cxnSp>
        <p:cxnSp>
          <p:nvCxnSpPr>
            <p:cNvPr id="696" name="AutoShape 1095"/>
            <p:cNvCxnSpPr>
              <a:stCxn id="693" idx="1"/>
              <a:endCxn id="686" idx="6"/>
            </p:cNvCxnSpPr>
            <p:nvPr/>
          </p:nvCxnSpPr>
          <p:spPr>
            <a:xfrm flipH="1" flipV="1">
              <a:off x="3937680" y="1933920"/>
              <a:ext cx="1502640" cy="603000"/>
            </a:xfrm>
            <a:prstGeom prst="straightConnector1">
              <a:avLst/>
            </a:prstGeom>
            <a:ln w="38100">
              <a:solidFill>
                <a:srgbClr val="44546a"/>
              </a:solidFill>
              <a:round/>
              <a:headEnd len="med" type="triangle" w="med"/>
            </a:ln>
          </p:spPr>
        </p:cxnSp>
        <p:sp>
          <p:nvSpPr>
            <p:cNvPr id="697" name="Text Box 1096"/>
            <p:cNvSpPr/>
            <p:nvPr/>
          </p:nvSpPr>
          <p:spPr>
            <a:xfrm>
              <a:off x="2828880" y="150804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0</a:t>
              </a:r>
              <a:endParaRPr b="0" lang="en-US" sz="2000" spc="-1" strike="noStrike">
                <a:solidFill>
                  <a:srgbClr val="000000"/>
                </a:solidFill>
                <a:latin typeface="Arial"/>
              </a:endParaRPr>
            </a:p>
          </p:txBody>
        </p:sp>
        <p:sp>
          <p:nvSpPr>
            <p:cNvPr id="698" name="Text Box 1097"/>
            <p:cNvSpPr/>
            <p:nvPr/>
          </p:nvSpPr>
          <p:spPr>
            <a:xfrm>
              <a:off x="2219400" y="223200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1</a:t>
              </a:r>
              <a:endParaRPr b="0" lang="en-US" sz="2000" spc="-1" strike="noStrike">
                <a:solidFill>
                  <a:srgbClr val="000000"/>
                </a:solidFill>
                <a:latin typeface="Arial"/>
              </a:endParaRPr>
            </a:p>
          </p:txBody>
        </p:sp>
        <p:cxnSp>
          <p:nvCxnSpPr>
            <p:cNvPr id="699" name="AutoShape 1098"/>
            <p:cNvCxnSpPr>
              <a:stCxn id="684" idx="6"/>
              <a:endCxn id="693" idx="2"/>
            </p:cNvCxnSpPr>
            <p:nvPr/>
          </p:nvCxnSpPr>
          <p:spPr>
            <a:xfrm>
              <a:off x="4529880" y="2665800"/>
              <a:ext cx="857160" cy="720"/>
            </a:xfrm>
            <a:prstGeom prst="straightConnector1">
              <a:avLst/>
            </a:prstGeom>
            <a:ln w="19050">
              <a:solidFill>
                <a:srgbClr val="000000"/>
              </a:solidFill>
              <a:round/>
            </a:ln>
          </p:spPr>
        </p:cxnSp>
        <p:sp>
          <p:nvSpPr>
            <p:cNvPr id="695" name="Oval 1099"/>
            <p:cNvSpPr/>
            <p:nvPr/>
          </p:nvSpPr>
          <p:spPr>
            <a:xfrm>
              <a:off x="4775040" y="32148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700" name="AutoShape 1100"/>
            <p:cNvCxnSpPr>
              <a:stCxn id="684" idx="5"/>
              <a:endCxn id="695" idx="1"/>
            </p:cNvCxnSpPr>
            <p:nvPr/>
          </p:nvCxnSpPr>
          <p:spPr>
            <a:xfrm>
              <a:off x="4476600" y="2795400"/>
              <a:ext cx="352440" cy="473400"/>
            </a:xfrm>
            <a:prstGeom prst="straightConnector1">
              <a:avLst/>
            </a:prstGeom>
            <a:ln w="19050">
              <a:solidFill>
                <a:srgbClr val="000000"/>
              </a:solidFill>
              <a:round/>
            </a:ln>
          </p:spPr>
        </p:cxnSp>
      </p:grpSp>
      <p:grpSp>
        <p:nvGrpSpPr>
          <p:cNvPr id="701" name="Group 1125"/>
          <p:cNvGrpSpPr/>
          <p:nvPr/>
        </p:nvGrpSpPr>
        <p:grpSpPr>
          <a:xfrm>
            <a:off x="2219400" y="4151160"/>
            <a:ext cx="3647880" cy="2129040"/>
            <a:chOff x="2219400" y="4151160"/>
            <a:chExt cx="3647880" cy="2129040"/>
          </a:xfrm>
        </p:grpSpPr>
        <p:sp>
          <p:nvSpPr>
            <p:cNvPr id="702" name="AutoShape 1123"/>
            <p:cNvSpPr/>
            <p:nvPr/>
          </p:nvSpPr>
          <p:spPr>
            <a:xfrm>
              <a:off x="3316320" y="579276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03" name="AutoShape 1103"/>
            <p:cNvSpPr/>
            <p:nvPr/>
          </p:nvSpPr>
          <p:spPr>
            <a:xfrm>
              <a:off x="2720880" y="5064120"/>
              <a:ext cx="314640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04" name="AutoShape 1104"/>
            <p:cNvSpPr/>
            <p:nvPr/>
          </p:nvSpPr>
          <p:spPr>
            <a:xfrm>
              <a:off x="3325680" y="433224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05" name="Oval 1105"/>
            <p:cNvSpPr/>
            <p:nvPr/>
          </p:nvSpPr>
          <p:spPr>
            <a:xfrm>
              <a:off x="4164120" y="51260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706" name="Oval 1106"/>
            <p:cNvSpPr/>
            <p:nvPr/>
          </p:nvSpPr>
          <p:spPr>
            <a:xfrm>
              <a:off x="2943360" y="51260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707" name="Oval 1107"/>
            <p:cNvSpPr/>
            <p:nvPr/>
          </p:nvSpPr>
          <p:spPr>
            <a:xfrm>
              <a:off x="3571920" y="43941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708" name="Oval 1108"/>
            <p:cNvSpPr/>
            <p:nvPr/>
          </p:nvSpPr>
          <p:spPr>
            <a:xfrm>
              <a:off x="3552840" y="58579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709" name="AutoShape 1109"/>
            <p:cNvCxnSpPr>
              <a:stCxn id="707" idx="3"/>
              <a:endCxn id="706" idx="7"/>
            </p:cNvCxnSpPr>
            <p:nvPr/>
          </p:nvCxnSpPr>
          <p:spPr>
            <a:xfrm flipH="1">
              <a:off x="3255840" y="4706640"/>
              <a:ext cx="370080" cy="473400"/>
            </a:xfrm>
            <a:prstGeom prst="straightConnector1">
              <a:avLst/>
            </a:prstGeom>
            <a:ln w="38100">
              <a:solidFill>
                <a:srgbClr val="44546a"/>
              </a:solidFill>
              <a:round/>
              <a:tailEnd len="med" type="triangle" w="med"/>
            </a:ln>
          </p:spPr>
        </p:cxnSp>
        <p:cxnSp>
          <p:nvCxnSpPr>
            <p:cNvPr id="710" name="AutoShape 1110"/>
            <p:cNvCxnSpPr>
              <a:stCxn id="708" idx="1"/>
              <a:endCxn id="706" idx="5"/>
            </p:cNvCxnSpPr>
            <p:nvPr/>
          </p:nvCxnSpPr>
          <p:spPr>
            <a:xfrm flipH="1" flipV="1">
              <a:off x="3255840" y="5438520"/>
              <a:ext cx="351000" cy="473400"/>
            </a:xfrm>
            <a:prstGeom prst="straightConnector1">
              <a:avLst/>
            </a:prstGeom>
            <a:ln w="38100">
              <a:solidFill>
                <a:srgbClr val="44546a"/>
              </a:solidFill>
              <a:round/>
              <a:headEnd len="med" type="triangle" w="med"/>
            </a:ln>
          </p:spPr>
        </p:cxnSp>
        <p:cxnSp>
          <p:nvCxnSpPr>
            <p:cNvPr id="711" name="AutoShape 1111"/>
            <p:cNvCxnSpPr>
              <a:stCxn id="708" idx="7"/>
              <a:endCxn id="705" idx="3"/>
            </p:cNvCxnSpPr>
            <p:nvPr/>
          </p:nvCxnSpPr>
          <p:spPr>
            <a:xfrm flipV="1">
              <a:off x="3865320" y="5438520"/>
              <a:ext cx="352800" cy="473400"/>
            </a:xfrm>
            <a:prstGeom prst="straightConnector1">
              <a:avLst/>
            </a:prstGeom>
            <a:ln w="19050">
              <a:solidFill>
                <a:srgbClr val="000000"/>
              </a:solidFill>
              <a:round/>
            </a:ln>
          </p:spPr>
        </p:cxnSp>
        <p:cxnSp>
          <p:nvCxnSpPr>
            <p:cNvPr id="712" name="AutoShape 1112"/>
            <p:cNvCxnSpPr>
              <a:stCxn id="707" idx="5"/>
              <a:endCxn id="705" idx="1"/>
            </p:cNvCxnSpPr>
            <p:nvPr/>
          </p:nvCxnSpPr>
          <p:spPr>
            <a:xfrm>
              <a:off x="3884400" y="4706640"/>
              <a:ext cx="333720" cy="473400"/>
            </a:xfrm>
            <a:prstGeom prst="straightConnector1">
              <a:avLst/>
            </a:prstGeom>
            <a:ln w="38100">
              <a:solidFill>
                <a:srgbClr val="44546a"/>
              </a:solidFill>
              <a:round/>
              <a:tailEnd len="med" type="triangle" w="med"/>
            </a:ln>
          </p:spPr>
        </p:cxnSp>
        <p:cxnSp>
          <p:nvCxnSpPr>
            <p:cNvPr id="713" name="AutoShape 1113"/>
            <p:cNvCxnSpPr>
              <a:stCxn id="706" idx="6"/>
              <a:endCxn id="705" idx="2"/>
            </p:cNvCxnSpPr>
            <p:nvPr/>
          </p:nvCxnSpPr>
          <p:spPr>
            <a:xfrm>
              <a:off x="3309120" y="5308920"/>
              <a:ext cx="855720" cy="720"/>
            </a:xfrm>
            <a:prstGeom prst="straightConnector1">
              <a:avLst/>
            </a:prstGeom>
            <a:ln w="38100">
              <a:solidFill>
                <a:srgbClr val="ed7d31"/>
              </a:solidFill>
              <a:prstDash val="dash"/>
              <a:round/>
              <a:tailEnd len="med" type="triangle" w="med"/>
            </a:ln>
          </p:spPr>
        </p:cxnSp>
        <p:sp>
          <p:nvSpPr>
            <p:cNvPr id="714" name="Oval 1114"/>
            <p:cNvSpPr/>
            <p:nvPr/>
          </p:nvSpPr>
          <p:spPr>
            <a:xfrm>
              <a:off x="5386320" y="51260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715" name="AutoShape 1115"/>
            <p:cNvCxnSpPr>
              <a:stCxn id="716" idx="7"/>
              <a:endCxn id="714" idx="3"/>
            </p:cNvCxnSpPr>
            <p:nvPr/>
          </p:nvCxnSpPr>
          <p:spPr>
            <a:xfrm flipV="1">
              <a:off x="5087520" y="5438520"/>
              <a:ext cx="352800" cy="473400"/>
            </a:xfrm>
            <a:prstGeom prst="straightConnector1">
              <a:avLst/>
            </a:prstGeom>
            <a:ln w="19050">
              <a:solidFill>
                <a:srgbClr val="000000"/>
              </a:solidFill>
              <a:round/>
            </a:ln>
          </p:spPr>
        </p:cxnSp>
        <p:cxnSp>
          <p:nvCxnSpPr>
            <p:cNvPr id="717" name="AutoShape 1116"/>
            <p:cNvCxnSpPr>
              <a:stCxn id="714" idx="1"/>
              <a:endCxn id="707" idx="6"/>
            </p:cNvCxnSpPr>
            <p:nvPr/>
          </p:nvCxnSpPr>
          <p:spPr>
            <a:xfrm flipH="1" flipV="1">
              <a:off x="3937680" y="4577040"/>
              <a:ext cx="1502640" cy="603000"/>
            </a:xfrm>
            <a:prstGeom prst="straightConnector1">
              <a:avLst/>
            </a:prstGeom>
            <a:ln w="38100">
              <a:solidFill>
                <a:srgbClr val="44546a"/>
              </a:solidFill>
              <a:round/>
              <a:headEnd len="med" type="triangle" w="med"/>
            </a:ln>
          </p:spPr>
        </p:cxnSp>
        <p:sp>
          <p:nvSpPr>
            <p:cNvPr id="718" name="Text Box 1117"/>
            <p:cNvSpPr/>
            <p:nvPr/>
          </p:nvSpPr>
          <p:spPr>
            <a:xfrm>
              <a:off x="2828880" y="415116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0</a:t>
              </a:r>
              <a:endParaRPr b="0" lang="en-US" sz="2000" spc="-1" strike="noStrike">
                <a:solidFill>
                  <a:srgbClr val="000000"/>
                </a:solidFill>
                <a:latin typeface="Arial"/>
              </a:endParaRPr>
            </a:p>
          </p:txBody>
        </p:sp>
        <p:sp>
          <p:nvSpPr>
            <p:cNvPr id="719" name="Text Box 1118"/>
            <p:cNvSpPr/>
            <p:nvPr/>
          </p:nvSpPr>
          <p:spPr>
            <a:xfrm>
              <a:off x="2219400" y="487512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1</a:t>
              </a:r>
              <a:endParaRPr b="0" lang="en-US" sz="2000" spc="-1" strike="noStrike">
                <a:solidFill>
                  <a:srgbClr val="000000"/>
                </a:solidFill>
                <a:latin typeface="Arial"/>
              </a:endParaRPr>
            </a:p>
          </p:txBody>
        </p:sp>
        <p:cxnSp>
          <p:nvCxnSpPr>
            <p:cNvPr id="720" name="AutoShape 1119"/>
            <p:cNvCxnSpPr>
              <a:stCxn id="705" idx="6"/>
              <a:endCxn id="714" idx="2"/>
            </p:cNvCxnSpPr>
            <p:nvPr/>
          </p:nvCxnSpPr>
          <p:spPr>
            <a:xfrm>
              <a:off x="4529880" y="5308920"/>
              <a:ext cx="857160" cy="720"/>
            </a:xfrm>
            <a:prstGeom prst="straightConnector1">
              <a:avLst/>
            </a:prstGeom>
            <a:ln w="19050">
              <a:solidFill>
                <a:srgbClr val="000000"/>
              </a:solidFill>
              <a:round/>
            </a:ln>
          </p:spPr>
        </p:cxnSp>
        <p:sp>
          <p:nvSpPr>
            <p:cNvPr id="716" name="Oval 1120"/>
            <p:cNvSpPr/>
            <p:nvPr/>
          </p:nvSpPr>
          <p:spPr>
            <a:xfrm>
              <a:off x="4775040" y="58579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721" name="AutoShape 1121"/>
            <p:cNvCxnSpPr>
              <a:stCxn id="705" idx="5"/>
              <a:endCxn id="716" idx="1"/>
            </p:cNvCxnSpPr>
            <p:nvPr/>
          </p:nvCxnSpPr>
          <p:spPr>
            <a:xfrm>
              <a:off x="4476600" y="5438520"/>
              <a:ext cx="352440" cy="473400"/>
            </a:xfrm>
            <a:prstGeom prst="straightConnector1">
              <a:avLst/>
            </a:prstGeom>
            <a:ln w="19050">
              <a:solidFill>
                <a:srgbClr val="000000"/>
              </a:solidFill>
              <a:round/>
            </a:ln>
          </p:spPr>
        </p:cxnSp>
        <p:sp>
          <p:nvSpPr>
            <p:cNvPr id="722" name="Text Box 1124"/>
            <p:cNvSpPr/>
            <p:nvPr/>
          </p:nvSpPr>
          <p:spPr>
            <a:xfrm>
              <a:off x="2809800" y="558972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2</a:t>
              </a:r>
              <a:endParaRPr b="0" lang="en-US" sz="2000" spc="-1" strike="noStrike">
                <a:solidFill>
                  <a:srgbClr val="000000"/>
                </a:solidFill>
                <a:latin typeface="Arial"/>
              </a:endParaRPr>
            </a:p>
          </p:txBody>
        </p:sp>
      </p:grpSp>
      <p:grpSp>
        <p:nvGrpSpPr>
          <p:cNvPr id="723" name="Group 1170"/>
          <p:cNvGrpSpPr/>
          <p:nvPr/>
        </p:nvGrpSpPr>
        <p:grpSpPr>
          <a:xfrm>
            <a:off x="6637320" y="1508040"/>
            <a:ext cx="3648240" cy="2129040"/>
            <a:chOff x="6637320" y="1508040"/>
            <a:chExt cx="3648240" cy="2129040"/>
          </a:xfrm>
        </p:grpSpPr>
        <p:sp>
          <p:nvSpPr>
            <p:cNvPr id="724" name="AutoShape 1127"/>
            <p:cNvSpPr/>
            <p:nvPr/>
          </p:nvSpPr>
          <p:spPr>
            <a:xfrm>
              <a:off x="7734240" y="314964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25" name="AutoShape 1128"/>
            <p:cNvSpPr/>
            <p:nvPr/>
          </p:nvSpPr>
          <p:spPr>
            <a:xfrm>
              <a:off x="7139160" y="2421000"/>
              <a:ext cx="314640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26" name="AutoShape 1129"/>
            <p:cNvSpPr/>
            <p:nvPr/>
          </p:nvSpPr>
          <p:spPr>
            <a:xfrm>
              <a:off x="7743960" y="168912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27" name="Oval 1130"/>
            <p:cNvSpPr/>
            <p:nvPr/>
          </p:nvSpPr>
          <p:spPr>
            <a:xfrm>
              <a:off x="8582040" y="24829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728" name="Oval 1131"/>
            <p:cNvSpPr/>
            <p:nvPr/>
          </p:nvSpPr>
          <p:spPr>
            <a:xfrm>
              <a:off x="7361280" y="24829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729" name="Oval 1132"/>
            <p:cNvSpPr/>
            <p:nvPr/>
          </p:nvSpPr>
          <p:spPr>
            <a:xfrm>
              <a:off x="7989840" y="17510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730" name="Oval 1133"/>
            <p:cNvSpPr/>
            <p:nvPr/>
          </p:nvSpPr>
          <p:spPr>
            <a:xfrm>
              <a:off x="7970760" y="32148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731" name="AutoShape 1134"/>
            <p:cNvCxnSpPr>
              <a:stCxn id="729" idx="3"/>
              <a:endCxn id="728" idx="7"/>
            </p:cNvCxnSpPr>
            <p:nvPr/>
          </p:nvCxnSpPr>
          <p:spPr>
            <a:xfrm flipH="1">
              <a:off x="7673760" y="2063520"/>
              <a:ext cx="370080" cy="473400"/>
            </a:xfrm>
            <a:prstGeom prst="straightConnector1">
              <a:avLst/>
            </a:prstGeom>
            <a:ln w="38100">
              <a:solidFill>
                <a:srgbClr val="44546a"/>
              </a:solidFill>
              <a:round/>
              <a:tailEnd len="med" type="triangle" w="med"/>
            </a:ln>
          </p:spPr>
        </p:cxnSp>
        <p:cxnSp>
          <p:nvCxnSpPr>
            <p:cNvPr id="732" name="AutoShape 1135"/>
            <p:cNvCxnSpPr>
              <a:stCxn id="730" idx="1"/>
              <a:endCxn id="728" idx="5"/>
            </p:cNvCxnSpPr>
            <p:nvPr/>
          </p:nvCxnSpPr>
          <p:spPr>
            <a:xfrm flipH="1" flipV="1">
              <a:off x="7673760" y="2795400"/>
              <a:ext cx="351000" cy="473400"/>
            </a:xfrm>
            <a:prstGeom prst="straightConnector1">
              <a:avLst/>
            </a:prstGeom>
            <a:ln w="38100">
              <a:solidFill>
                <a:srgbClr val="44546a"/>
              </a:solidFill>
              <a:round/>
              <a:headEnd len="med" type="triangle" w="med"/>
            </a:ln>
          </p:spPr>
        </p:cxnSp>
        <p:cxnSp>
          <p:nvCxnSpPr>
            <p:cNvPr id="733" name="AutoShape 1136"/>
            <p:cNvCxnSpPr>
              <a:stCxn id="730" idx="7"/>
              <a:endCxn id="727" idx="3"/>
            </p:cNvCxnSpPr>
            <p:nvPr/>
          </p:nvCxnSpPr>
          <p:spPr>
            <a:xfrm flipV="1">
              <a:off x="8283240" y="2795400"/>
              <a:ext cx="352800" cy="473400"/>
            </a:xfrm>
            <a:prstGeom prst="straightConnector1">
              <a:avLst/>
            </a:prstGeom>
            <a:ln w="19050">
              <a:solidFill>
                <a:srgbClr val="000000"/>
              </a:solidFill>
              <a:round/>
            </a:ln>
          </p:spPr>
        </p:cxnSp>
        <p:cxnSp>
          <p:nvCxnSpPr>
            <p:cNvPr id="734" name="AutoShape 1137"/>
            <p:cNvCxnSpPr>
              <a:stCxn id="729" idx="5"/>
              <a:endCxn id="727" idx="1"/>
            </p:cNvCxnSpPr>
            <p:nvPr/>
          </p:nvCxnSpPr>
          <p:spPr>
            <a:xfrm>
              <a:off x="8302320" y="2063520"/>
              <a:ext cx="333720" cy="473400"/>
            </a:xfrm>
            <a:prstGeom prst="straightConnector1">
              <a:avLst/>
            </a:prstGeom>
            <a:ln w="38100">
              <a:solidFill>
                <a:srgbClr val="44546a"/>
              </a:solidFill>
              <a:round/>
              <a:tailEnd len="med" type="triangle" w="med"/>
            </a:ln>
          </p:spPr>
        </p:cxnSp>
        <p:cxnSp>
          <p:nvCxnSpPr>
            <p:cNvPr id="735" name="AutoShape 1138"/>
            <p:cNvCxnSpPr>
              <a:stCxn id="728" idx="6"/>
              <a:endCxn id="727" idx="2"/>
            </p:cNvCxnSpPr>
            <p:nvPr/>
          </p:nvCxnSpPr>
          <p:spPr>
            <a:xfrm>
              <a:off x="7727040" y="2665800"/>
              <a:ext cx="855720" cy="720"/>
            </a:xfrm>
            <a:prstGeom prst="straightConnector1">
              <a:avLst/>
            </a:prstGeom>
            <a:ln w="38100">
              <a:solidFill>
                <a:srgbClr val="ed7d31"/>
              </a:solidFill>
              <a:prstDash val="dash"/>
              <a:round/>
              <a:tailEnd len="med" type="triangle" w="med"/>
            </a:ln>
          </p:spPr>
        </p:cxnSp>
        <p:sp>
          <p:nvSpPr>
            <p:cNvPr id="736" name="Oval 1139"/>
            <p:cNvSpPr/>
            <p:nvPr/>
          </p:nvSpPr>
          <p:spPr>
            <a:xfrm>
              <a:off x="9804240" y="24829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737" name="AutoShape 1140"/>
            <p:cNvCxnSpPr>
              <a:stCxn id="738" idx="7"/>
              <a:endCxn id="736" idx="3"/>
            </p:cNvCxnSpPr>
            <p:nvPr/>
          </p:nvCxnSpPr>
          <p:spPr>
            <a:xfrm flipV="1">
              <a:off x="9505800" y="2795400"/>
              <a:ext cx="352440" cy="473400"/>
            </a:xfrm>
            <a:prstGeom prst="straightConnector1">
              <a:avLst/>
            </a:prstGeom>
            <a:ln w="19050">
              <a:solidFill>
                <a:srgbClr val="000000"/>
              </a:solidFill>
              <a:round/>
            </a:ln>
          </p:spPr>
        </p:cxnSp>
        <p:cxnSp>
          <p:nvCxnSpPr>
            <p:cNvPr id="739" name="AutoShape 1141"/>
            <p:cNvCxnSpPr>
              <a:stCxn id="736" idx="1"/>
              <a:endCxn id="729" idx="6"/>
            </p:cNvCxnSpPr>
            <p:nvPr/>
          </p:nvCxnSpPr>
          <p:spPr>
            <a:xfrm flipH="1" flipV="1">
              <a:off x="8355600" y="1933920"/>
              <a:ext cx="1502640" cy="603000"/>
            </a:xfrm>
            <a:prstGeom prst="straightConnector1">
              <a:avLst/>
            </a:prstGeom>
            <a:ln w="38100">
              <a:solidFill>
                <a:srgbClr val="44546a"/>
              </a:solidFill>
              <a:round/>
              <a:headEnd len="med" type="triangle" w="med"/>
            </a:ln>
          </p:spPr>
        </p:cxnSp>
        <p:sp>
          <p:nvSpPr>
            <p:cNvPr id="740" name="Text Box 1142"/>
            <p:cNvSpPr/>
            <p:nvPr/>
          </p:nvSpPr>
          <p:spPr>
            <a:xfrm>
              <a:off x="7246800" y="150804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0</a:t>
              </a:r>
              <a:endParaRPr b="0" lang="en-US" sz="2000" spc="-1" strike="noStrike">
                <a:solidFill>
                  <a:srgbClr val="000000"/>
                </a:solidFill>
                <a:latin typeface="Arial"/>
              </a:endParaRPr>
            </a:p>
          </p:txBody>
        </p:sp>
        <p:sp>
          <p:nvSpPr>
            <p:cNvPr id="741" name="Text Box 1143"/>
            <p:cNvSpPr/>
            <p:nvPr/>
          </p:nvSpPr>
          <p:spPr>
            <a:xfrm>
              <a:off x="6637320" y="223200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1</a:t>
              </a:r>
              <a:endParaRPr b="0" lang="en-US" sz="2000" spc="-1" strike="noStrike">
                <a:solidFill>
                  <a:srgbClr val="000000"/>
                </a:solidFill>
                <a:latin typeface="Arial"/>
              </a:endParaRPr>
            </a:p>
          </p:txBody>
        </p:sp>
        <p:cxnSp>
          <p:nvCxnSpPr>
            <p:cNvPr id="742" name="AutoShape 1144"/>
            <p:cNvCxnSpPr>
              <a:stCxn id="727" idx="6"/>
              <a:endCxn id="736" idx="2"/>
            </p:cNvCxnSpPr>
            <p:nvPr/>
          </p:nvCxnSpPr>
          <p:spPr>
            <a:xfrm>
              <a:off x="8947800" y="2665800"/>
              <a:ext cx="857160" cy="720"/>
            </a:xfrm>
            <a:prstGeom prst="straightConnector1">
              <a:avLst/>
            </a:prstGeom>
            <a:ln w="38100">
              <a:solidFill>
                <a:srgbClr val="ed7d31"/>
              </a:solidFill>
              <a:prstDash val="dash"/>
              <a:round/>
              <a:tailEnd len="med" type="triangle" w="med"/>
            </a:ln>
          </p:spPr>
        </p:cxnSp>
        <p:sp>
          <p:nvSpPr>
            <p:cNvPr id="738" name="Oval 1145"/>
            <p:cNvSpPr/>
            <p:nvPr/>
          </p:nvSpPr>
          <p:spPr>
            <a:xfrm>
              <a:off x="9193320" y="321480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743" name="AutoShape 1146"/>
            <p:cNvCxnSpPr>
              <a:stCxn id="727" idx="5"/>
              <a:endCxn id="738" idx="1"/>
            </p:cNvCxnSpPr>
            <p:nvPr/>
          </p:nvCxnSpPr>
          <p:spPr>
            <a:xfrm>
              <a:off x="8894520" y="2795400"/>
              <a:ext cx="352800" cy="473400"/>
            </a:xfrm>
            <a:prstGeom prst="straightConnector1">
              <a:avLst/>
            </a:prstGeom>
            <a:ln w="19050">
              <a:solidFill>
                <a:srgbClr val="000000"/>
              </a:solidFill>
              <a:round/>
            </a:ln>
          </p:spPr>
        </p:cxnSp>
        <p:sp>
          <p:nvSpPr>
            <p:cNvPr id="744" name="Text Box 1147"/>
            <p:cNvSpPr/>
            <p:nvPr/>
          </p:nvSpPr>
          <p:spPr>
            <a:xfrm>
              <a:off x="7227720" y="294624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2</a:t>
              </a:r>
              <a:endParaRPr b="0" lang="en-US" sz="2000" spc="-1" strike="noStrike">
                <a:solidFill>
                  <a:srgbClr val="000000"/>
                </a:solidFill>
                <a:latin typeface="Arial"/>
              </a:endParaRPr>
            </a:p>
          </p:txBody>
        </p:sp>
      </p:grpSp>
      <p:grpSp>
        <p:nvGrpSpPr>
          <p:cNvPr id="745" name="Group 1171"/>
          <p:cNvGrpSpPr/>
          <p:nvPr/>
        </p:nvGrpSpPr>
        <p:grpSpPr>
          <a:xfrm>
            <a:off x="6637320" y="4151160"/>
            <a:ext cx="3648240" cy="2129040"/>
            <a:chOff x="6637320" y="4151160"/>
            <a:chExt cx="3648240" cy="2129040"/>
          </a:xfrm>
        </p:grpSpPr>
        <p:sp>
          <p:nvSpPr>
            <p:cNvPr id="746" name="AutoShape 1148"/>
            <p:cNvSpPr/>
            <p:nvPr/>
          </p:nvSpPr>
          <p:spPr>
            <a:xfrm>
              <a:off x="7734240" y="579276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47" name="AutoShape 1149"/>
            <p:cNvSpPr/>
            <p:nvPr/>
          </p:nvSpPr>
          <p:spPr>
            <a:xfrm>
              <a:off x="7139160" y="5064120"/>
              <a:ext cx="314640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48" name="AutoShape 1150"/>
            <p:cNvSpPr/>
            <p:nvPr/>
          </p:nvSpPr>
          <p:spPr>
            <a:xfrm>
              <a:off x="7743960" y="433224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49" name="Oval 1151"/>
            <p:cNvSpPr/>
            <p:nvPr/>
          </p:nvSpPr>
          <p:spPr>
            <a:xfrm>
              <a:off x="8582040" y="51260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750" name="Oval 1152"/>
            <p:cNvSpPr/>
            <p:nvPr/>
          </p:nvSpPr>
          <p:spPr>
            <a:xfrm>
              <a:off x="7361280" y="51260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751" name="Oval 1153"/>
            <p:cNvSpPr/>
            <p:nvPr/>
          </p:nvSpPr>
          <p:spPr>
            <a:xfrm>
              <a:off x="7989840" y="43941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752" name="Oval 1154"/>
            <p:cNvSpPr/>
            <p:nvPr/>
          </p:nvSpPr>
          <p:spPr>
            <a:xfrm>
              <a:off x="7970760" y="58579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753" name="AutoShape 1155"/>
            <p:cNvCxnSpPr>
              <a:stCxn id="751" idx="3"/>
              <a:endCxn id="750" idx="7"/>
            </p:cNvCxnSpPr>
            <p:nvPr/>
          </p:nvCxnSpPr>
          <p:spPr>
            <a:xfrm flipH="1">
              <a:off x="7673760" y="4706640"/>
              <a:ext cx="370080" cy="473400"/>
            </a:xfrm>
            <a:prstGeom prst="straightConnector1">
              <a:avLst/>
            </a:prstGeom>
            <a:ln w="38100">
              <a:solidFill>
                <a:srgbClr val="44546a"/>
              </a:solidFill>
              <a:round/>
              <a:tailEnd len="med" type="triangle" w="med"/>
            </a:ln>
          </p:spPr>
        </p:cxnSp>
        <p:cxnSp>
          <p:nvCxnSpPr>
            <p:cNvPr id="754" name="AutoShape 1156"/>
            <p:cNvCxnSpPr>
              <a:stCxn id="752" idx="1"/>
              <a:endCxn id="750" idx="5"/>
            </p:cNvCxnSpPr>
            <p:nvPr/>
          </p:nvCxnSpPr>
          <p:spPr>
            <a:xfrm flipH="1" flipV="1">
              <a:off x="7673760" y="5438520"/>
              <a:ext cx="351000" cy="473400"/>
            </a:xfrm>
            <a:prstGeom prst="straightConnector1">
              <a:avLst/>
            </a:prstGeom>
            <a:ln w="38100">
              <a:solidFill>
                <a:srgbClr val="44546a"/>
              </a:solidFill>
              <a:round/>
              <a:headEnd len="med" type="triangle" w="med"/>
            </a:ln>
          </p:spPr>
        </p:cxnSp>
        <p:cxnSp>
          <p:nvCxnSpPr>
            <p:cNvPr id="755" name="AutoShape 1157"/>
            <p:cNvCxnSpPr>
              <a:stCxn id="752" idx="7"/>
              <a:endCxn id="749" idx="3"/>
            </p:cNvCxnSpPr>
            <p:nvPr/>
          </p:nvCxnSpPr>
          <p:spPr>
            <a:xfrm flipV="1">
              <a:off x="8283240" y="5438520"/>
              <a:ext cx="352800" cy="473400"/>
            </a:xfrm>
            <a:prstGeom prst="straightConnector1">
              <a:avLst/>
            </a:prstGeom>
            <a:ln w="38100">
              <a:solidFill>
                <a:srgbClr val="ed7d31"/>
              </a:solidFill>
              <a:prstDash val="dash"/>
              <a:round/>
              <a:headEnd len="med" type="triangle" w="med"/>
            </a:ln>
          </p:spPr>
        </p:cxnSp>
        <p:cxnSp>
          <p:nvCxnSpPr>
            <p:cNvPr id="756" name="AutoShape 1158"/>
            <p:cNvCxnSpPr>
              <a:stCxn id="751" idx="5"/>
              <a:endCxn id="749" idx="1"/>
            </p:cNvCxnSpPr>
            <p:nvPr/>
          </p:nvCxnSpPr>
          <p:spPr>
            <a:xfrm>
              <a:off x="8302320" y="4706640"/>
              <a:ext cx="333720" cy="473400"/>
            </a:xfrm>
            <a:prstGeom prst="straightConnector1">
              <a:avLst/>
            </a:prstGeom>
            <a:ln w="38100">
              <a:solidFill>
                <a:srgbClr val="44546a"/>
              </a:solidFill>
              <a:round/>
              <a:tailEnd len="med" type="triangle" w="med"/>
            </a:ln>
          </p:spPr>
        </p:cxnSp>
        <p:cxnSp>
          <p:nvCxnSpPr>
            <p:cNvPr id="757" name="AutoShape 1159"/>
            <p:cNvCxnSpPr>
              <a:stCxn id="750" idx="6"/>
              <a:endCxn id="749" idx="2"/>
            </p:cNvCxnSpPr>
            <p:nvPr/>
          </p:nvCxnSpPr>
          <p:spPr>
            <a:xfrm>
              <a:off x="7727040" y="5308920"/>
              <a:ext cx="855720" cy="720"/>
            </a:xfrm>
            <a:prstGeom prst="straightConnector1">
              <a:avLst/>
            </a:prstGeom>
            <a:ln w="38100">
              <a:solidFill>
                <a:srgbClr val="ed7d31"/>
              </a:solidFill>
              <a:prstDash val="dash"/>
              <a:round/>
              <a:tailEnd len="med" type="triangle" w="med"/>
            </a:ln>
          </p:spPr>
        </p:cxnSp>
        <p:sp>
          <p:nvSpPr>
            <p:cNvPr id="758" name="Oval 1160"/>
            <p:cNvSpPr/>
            <p:nvPr/>
          </p:nvSpPr>
          <p:spPr>
            <a:xfrm>
              <a:off x="9804240" y="51260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759" name="AutoShape 1161"/>
            <p:cNvCxnSpPr>
              <a:stCxn id="760" idx="7"/>
              <a:endCxn id="758" idx="3"/>
            </p:cNvCxnSpPr>
            <p:nvPr/>
          </p:nvCxnSpPr>
          <p:spPr>
            <a:xfrm flipV="1">
              <a:off x="9505800" y="5438520"/>
              <a:ext cx="352440" cy="473400"/>
            </a:xfrm>
            <a:prstGeom prst="straightConnector1">
              <a:avLst/>
            </a:prstGeom>
            <a:ln w="19050">
              <a:solidFill>
                <a:srgbClr val="000000"/>
              </a:solidFill>
              <a:round/>
            </a:ln>
          </p:spPr>
        </p:cxnSp>
        <p:cxnSp>
          <p:nvCxnSpPr>
            <p:cNvPr id="761" name="AutoShape 1162"/>
            <p:cNvCxnSpPr>
              <a:stCxn id="758" idx="1"/>
              <a:endCxn id="751" idx="6"/>
            </p:cNvCxnSpPr>
            <p:nvPr/>
          </p:nvCxnSpPr>
          <p:spPr>
            <a:xfrm flipH="1" flipV="1">
              <a:off x="8355600" y="4577040"/>
              <a:ext cx="1502640" cy="603000"/>
            </a:xfrm>
            <a:prstGeom prst="straightConnector1">
              <a:avLst/>
            </a:prstGeom>
            <a:ln w="38100">
              <a:solidFill>
                <a:srgbClr val="44546a"/>
              </a:solidFill>
              <a:round/>
              <a:headEnd len="med" type="triangle" w="med"/>
            </a:ln>
          </p:spPr>
        </p:cxnSp>
        <p:sp>
          <p:nvSpPr>
            <p:cNvPr id="762" name="Text Box 1163"/>
            <p:cNvSpPr/>
            <p:nvPr/>
          </p:nvSpPr>
          <p:spPr>
            <a:xfrm>
              <a:off x="7246800" y="415116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0</a:t>
              </a:r>
              <a:endParaRPr b="0" lang="en-US" sz="2000" spc="-1" strike="noStrike">
                <a:solidFill>
                  <a:srgbClr val="000000"/>
                </a:solidFill>
                <a:latin typeface="Arial"/>
              </a:endParaRPr>
            </a:p>
          </p:txBody>
        </p:sp>
        <p:sp>
          <p:nvSpPr>
            <p:cNvPr id="763" name="Text Box 1164"/>
            <p:cNvSpPr/>
            <p:nvPr/>
          </p:nvSpPr>
          <p:spPr>
            <a:xfrm>
              <a:off x="6637320" y="487512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1</a:t>
              </a:r>
              <a:endParaRPr b="0" lang="en-US" sz="2000" spc="-1" strike="noStrike">
                <a:solidFill>
                  <a:srgbClr val="000000"/>
                </a:solidFill>
                <a:latin typeface="Arial"/>
              </a:endParaRPr>
            </a:p>
          </p:txBody>
        </p:sp>
        <p:cxnSp>
          <p:nvCxnSpPr>
            <p:cNvPr id="764" name="AutoShape 1165"/>
            <p:cNvCxnSpPr>
              <a:stCxn id="749" idx="6"/>
              <a:endCxn id="758" idx="2"/>
            </p:cNvCxnSpPr>
            <p:nvPr/>
          </p:nvCxnSpPr>
          <p:spPr>
            <a:xfrm>
              <a:off x="8947800" y="5308920"/>
              <a:ext cx="857160" cy="720"/>
            </a:xfrm>
            <a:prstGeom prst="straightConnector1">
              <a:avLst/>
            </a:prstGeom>
            <a:ln w="38100">
              <a:solidFill>
                <a:srgbClr val="ed7d31"/>
              </a:solidFill>
              <a:prstDash val="dash"/>
              <a:round/>
              <a:tailEnd len="med" type="triangle" w="med"/>
            </a:ln>
          </p:spPr>
        </p:cxnSp>
        <p:sp>
          <p:nvSpPr>
            <p:cNvPr id="760" name="Oval 1166"/>
            <p:cNvSpPr/>
            <p:nvPr/>
          </p:nvSpPr>
          <p:spPr>
            <a:xfrm>
              <a:off x="9193320" y="58579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765" name="AutoShape 1167"/>
            <p:cNvCxnSpPr>
              <a:stCxn id="749" idx="5"/>
              <a:endCxn id="760" idx="1"/>
            </p:cNvCxnSpPr>
            <p:nvPr/>
          </p:nvCxnSpPr>
          <p:spPr>
            <a:xfrm>
              <a:off x="8894520" y="5438520"/>
              <a:ext cx="352800" cy="473400"/>
            </a:xfrm>
            <a:prstGeom prst="straightConnector1">
              <a:avLst/>
            </a:prstGeom>
            <a:ln w="19050">
              <a:solidFill>
                <a:srgbClr val="000000"/>
              </a:solidFill>
              <a:round/>
            </a:ln>
          </p:spPr>
        </p:cxnSp>
        <p:sp>
          <p:nvSpPr>
            <p:cNvPr id="766" name="Text Box 1168"/>
            <p:cNvSpPr/>
            <p:nvPr/>
          </p:nvSpPr>
          <p:spPr>
            <a:xfrm>
              <a:off x="7227720" y="558972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2</a:t>
              </a:r>
              <a:endParaRPr b="0" lang="en-US" sz="2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7"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Example (cont.)</a:t>
            </a:r>
            <a:endParaRPr b="0" lang="en-US" sz="4400" spc="-1" strike="noStrike">
              <a:solidFill>
                <a:srgbClr val="000000"/>
              </a:solidFill>
              <a:latin typeface="Arial"/>
            </a:endParaRPr>
          </a:p>
        </p:txBody>
      </p:sp>
      <p:sp>
        <p:nvSpPr>
          <p:cNvPr id="768" name="PlaceHolder 2"/>
          <p:cNvSpPr>
            <a:spLocks noGrp="1"/>
          </p:cNvSpPr>
          <p:nvPr>
            <p:ph type="sldNum" idx="68"/>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5534C52E-8498-4325-B525-E3801E80E5DB}" type="slidenum">
              <a:rPr b="0" lang="en-US" sz="1400" spc="-1" strike="noStrike">
                <a:solidFill>
                  <a:schemeClr val="dk1">
                    <a:tint val="75000"/>
                  </a:schemeClr>
                </a:solidFill>
                <a:latin typeface="Tahoma"/>
                <a:ea typeface="MS PGothic"/>
              </a:rPr>
              <a:t>42</a:t>
            </a:fld>
            <a:endParaRPr b="0" lang="en-US" sz="1400" spc="-1" strike="noStrike">
              <a:solidFill>
                <a:srgbClr val="000000"/>
              </a:solidFill>
              <a:latin typeface="Times New Roman"/>
            </a:endParaRPr>
          </a:p>
        </p:txBody>
      </p:sp>
      <p:grpSp>
        <p:nvGrpSpPr>
          <p:cNvPr id="769" name="Group 3"/>
          <p:cNvGrpSpPr/>
          <p:nvPr/>
        </p:nvGrpSpPr>
        <p:grpSpPr>
          <a:xfrm>
            <a:off x="2133720" y="1450800"/>
            <a:ext cx="3647880" cy="2129040"/>
            <a:chOff x="2133720" y="1450800"/>
            <a:chExt cx="3647880" cy="2129040"/>
          </a:xfrm>
        </p:grpSpPr>
        <p:sp>
          <p:nvSpPr>
            <p:cNvPr id="770" name="AutoShape 4"/>
            <p:cNvSpPr/>
            <p:nvPr/>
          </p:nvSpPr>
          <p:spPr>
            <a:xfrm>
              <a:off x="3230640" y="309240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71" name="AutoShape 5"/>
            <p:cNvSpPr/>
            <p:nvPr/>
          </p:nvSpPr>
          <p:spPr>
            <a:xfrm>
              <a:off x="2635200" y="2363760"/>
              <a:ext cx="314640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72" name="AutoShape 6"/>
            <p:cNvSpPr/>
            <p:nvPr/>
          </p:nvSpPr>
          <p:spPr>
            <a:xfrm>
              <a:off x="3240000" y="163188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73" name="Oval 7"/>
            <p:cNvSpPr/>
            <p:nvPr/>
          </p:nvSpPr>
          <p:spPr>
            <a:xfrm>
              <a:off x="4078440" y="24256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774" name="Oval 8"/>
            <p:cNvSpPr/>
            <p:nvPr/>
          </p:nvSpPr>
          <p:spPr>
            <a:xfrm>
              <a:off x="2857680" y="24256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775" name="Oval 9"/>
            <p:cNvSpPr/>
            <p:nvPr/>
          </p:nvSpPr>
          <p:spPr>
            <a:xfrm>
              <a:off x="3486240" y="16938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776" name="Oval 10"/>
            <p:cNvSpPr/>
            <p:nvPr/>
          </p:nvSpPr>
          <p:spPr>
            <a:xfrm>
              <a:off x="3467160" y="31575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777" name="AutoShape 11"/>
            <p:cNvCxnSpPr>
              <a:stCxn id="775" idx="3"/>
              <a:endCxn id="774" idx="7"/>
            </p:cNvCxnSpPr>
            <p:nvPr/>
          </p:nvCxnSpPr>
          <p:spPr>
            <a:xfrm flipH="1">
              <a:off x="3170160" y="2006280"/>
              <a:ext cx="370080" cy="473400"/>
            </a:xfrm>
            <a:prstGeom prst="straightConnector1">
              <a:avLst/>
            </a:prstGeom>
            <a:ln w="38100">
              <a:solidFill>
                <a:srgbClr val="44546a"/>
              </a:solidFill>
              <a:round/>
              <a:tailEnd len="med" type="triangle" w="med"/>
            </a:ln>
          </p:spPr>
        </p:cxnSp>
        <p:cxnSp>
          <p:nvCxnSpPr>
            <p:cNvPr id="778" name="AutoShape 12"/>
            <p:cNvCxnSpPr>
              <a:stCxn id="776" idx="1"/>
              <a:endCxn id="774" idx="5"/>
            </p:cNvCxnSpPr>
            <p:nvPr/>
          </p:nvCxnSpPr>
          <p:spPr>
            <a:xfrm flipH="1" flipV="1">
              <a:off x="3170160" y="2738160"/>
              <a:ext cx="351000" cy="473400"/>
            </a:xfrm>
            <a:prstGeom prst="straightConnector1">
              <a:avLst/>
            </a:prstGeom>
            <a:ln w="38100">
              <a:solidFill>
                <a:srgbClr val="44546a"/>
              </a:solidFill>
              <a:round/>
              <a:headEnd len="med" type="triangle" w="med"/>
            </a:ln>
          </p:spPr>
        </p:cxnSp>
        <p:cxnSp>
          <p:nvCxnSpPr>
            <p:cNvPr id="779" name="AutoShape 13"/>
            <p:cNvCxnSpPr>
              <a:stCxn id="776" idx="7"/>
              <a:endCxn id="773" idx="3"/>
            </p:cNvCxnSpPr>
            <p:nvPr/>
          </p:nvCxnSpPr>
          <p:spPr>
            <a:xfrm flipV="1">
              <a:off x="3779640" y="2738160"/>
              <a:ext cx="352800" cy="473400"/>
            </a:xfrm>
            <a:prstGeom prst="straightConnector1">
              <a:avLst/>
            </a:prstGeom>
            <a:ln w="38100">
              <a:solidFill>
                <a:srgbClr val="ed7d31"/>
              </a:solidFill>
              <a:prstDash val="dash"/>
              <a:round/>
              <a:headEnd len="med" type="triangle" w="med"/>
            </a:ln>
          </p:spPr>
        </p:cxnSp>
        <p:cxnSp>
          <p:nvCxnSpPr>
            <p:cNvPr id="780" name="AutoShape 14"/>
            <p:cNvCxnSpPr>
              <a:stCxn id="775" idx="5"/>
              <a:endCxn id="773" idx="1"/>
            </p:cNvCxnSpPr>
            <p:nvPr/>
          </p:nvCxnSpPr>
          <p:spPr>
            <a:xfrm>
              <a:off x="3798720" y="2006280"/>
              <a:ext cx="333720" cy="473400"/>
            </a:xfrm>
            <a:prstGeom prst="straightConnector1">
              <a:avLst/>
            </a:prstGeom>
            <a:ln w="38100">
              <a:solidFill>
                <a:srgbClr val="44546a"/>
              </a:solidFill>
              <a:round/>
              <a:tailEnd len="med" type="triangle" w="med"/>
            </a:ln>
          </p:spPr>
        </p:cxnSp>
        <p:cxnSp>
          <p:nvCxnSpPr>
            <p:cNvPr id="781" name="AutoShape 15"/>
            <p:cNvCxnSpPr>
              <a:stCxn id="774" idx="6"/>
              <a:endCxn id="773" idx="2"/>
            </p:cNvCxnSpPr>
            <p:nvPr/>
          </p:nvCxnSpPr>
          <p:spPr>
            <a:xfrm>
              <a:off x="3223440" y="2608560"/>
              <a:ext cx="855720" cy="720"/>
            </a:xfrm>
            <a:prstGeom prst="straightConnector1">
              <a:avLst/>
            </a:prstGeom>
            <a:ln w="38100">
              <a:solidFill>
                <a:srgbClr val="ed7d31"/>
              </a:solidFill>
              <a:prstDash val="dash"/>
              <a:round/>
              <a:tailEnd len="med" type="triangle" w="med"/>
            </a:ln>
          </p:spPr>
        </p:cxnSp>
        <p:sp>
          <p:nvSpPr>
            <p:cNvPr id="782" name="Oval 16"/>
            <p:cNvSpPr/>
            <p:nvPr/>
          </p:nvSpPr>
          <p:spPr>
            <a:xfrm>
              <a:off x="5300640" y="24256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783" name="AutoShape 17"/>
            <p:cNvCxnSpPr>
              <a:stCxn id="784" idx="7"/>
              <a:endCxn id="782" idx="3"/>
            </p:cNvCxnSpPr>
            <p:nvPr/>
          </p:nvCxnSpPr>
          <p:spPr>
            <a:xfrm flipV="1">
              <a:off x="5001840" y="2738160"/>
              <a:ext cx="352800" cy="473400"/>
            </a:xfrm>
            <a:prstGeom prst="straightConnector1">
              <a:avLst/>
            </a:prstGeom>
            <a:ln w="19050">
              <a:solidFill>
                <a:srgbClr val="000000"/>
              </a:solidFill>
              <a:round/>
            </a:ln>
          </p:spPr>
        </p:cxnSp>
        <p:cxnSp>
          <p:nvCxnSpPr>
            <p:cNvPr id="785" name="AutoShape 18"/>
            <p:cNvCxnSpPr>
              <a:stCxn id="782" idx="1"/>
              <a:endCxn id="775" idx="6"/>
            </p:cNvCxnSpPr>
            <p:nvPr/>
          </p:nvCxnSpPr>
          <p:spPr>
            <a:xfrm flipH="1" flipV="1">
              <a:off x="3852000" y="1876680"/>
              <a:ext cx="1502640" cy="603000"/>
            </a:xfrm>
            <a:prstGeom prst="straightConnector1">
              <a:avLst/>
            </a:prstGeom>
            <a:ln w="38100">
              <a:solidFill>
                <a:srgbClr val="44546a"/>
              </a:solidFill>
              <a:round/>
              <a:headEnd len="med" type="triangle" w="med"/>
            </a:ln>
          </p:spPr>
        </p:cxnSp>
        <p:sp>
          <p:nvSpPr>
            <p:cNvPr id="786" name="Text Box 19"/>
            <p:cNvSpPr/>
            <p:nvPr/>
          </p:nvSpPr>
          <p:spPr>
            <a:xfrm>
              <a:off x="2743200" y="145080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0</a:t>
              </a:r>
              <a:endParaRPr b="0" lang="en-US" sz="2000" spc="-1" strike="noStrike">
                <a:solidFill>
                  <a:srgbClr val="000000"/>
                </a:solidFill>
                <a:latin typeface="Arial"/>
              </a:endParaRPr>
            </a:p>
          </p:txBody>
        </p:sp>
        <p:sp>
          <p:nvSpPr>
            <p:cNvPr id="787" name="Text Box 20"/>
            <p:cNvSpPr/>
            <p:nvPr/>
          </p:nvSpPr>
          <p:spPr>
            <a:xfrm>
              <a:off x="2133720" y="217476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1</a:t>
              </a:r>
              <a:endParaRPr b="0" lang="en-US" sz="2000" spc="-1" strike="noStrike">
                <a:solidFill>
                  <a:srgbClr val="000000"/>
                </a:solidFill>
                <a:latin typeface="Arial"/>
              </a:endParaRPr>
            </a:p>
          </p:txBody>
        </p:sp>
        <p:cxnSp>
          <p:nvCxnSpPr>
            <p:cNvPr id="788" name="AutoShape 21"/>
            <p:cNvCxnSpPr>
              <a:stCxn id="773" idx="6"/>
              <a:endCxn id="782" idx="2"/>
            </p:cNvCxnSpPr>
            <p:nvPr/>
          </p:nvCxnSpPr>
          <p:spPr>
            <a:xfrm>
              <a:off x="4444200" y="2608560"/>
              <a:ext cx="857160" cy="720"/>
            </a:xfrm>
            <a:prstGeom prst="straightConnector1">
              <a:avLst/>
            </a:prstGeom>
            <a:ln w="38100">
              <a:solidFill>
                <a:srgbClr val="ed7d31"/>
              </a:solidFill>
              <a:prstDash val="dash"/>
              <a:round/>
              <a:tailEnd len="med" type="triangle" w="med"/>
            </a:ln>
          </p:spPr>
        </p:cxnSp>
        <p:sp>
          <p:nvSpPr>
            <p:cNvPr id="784" name="Oval 22"/>
            <p:cNvSpPr/>
            <p:nvPr/>
          </p:nvSpPr>
          <p:spPr>
            <a:xfrm>
              <a:off x="4689360" y="31575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789" name="AutoShape 23"/>
            <p:cNvCxnSpPr>
              <a:stCxn id="773" idx="5"/>
              <a:endCxn id="784" idx="1"/>
            </p:cNvCxnSpPr>
            <p:nvPr/>
          </p:nvCxnSpPr>
          <p:spPr>
            <a:xfrm>
              <a:off x="4390920" y="2738160"/>
              <a:ext cx="352440" cy="473400"/>
            </a:xfrm>
            <a:prstGeom prst="straightConnector1">
              <a:avLst/>
            </a:prstGeom>
            <a:ln w="19050">
              <a:solidFill>
                <a:srgbClr val="000000"/>
              </a:solidFill>
              <a:round/>
            </a:ln>
          </p:spPr>
        </p:cxnSp>
        <p:sp>
          <p:nvSpPr>
            <p:cNvPr id="790" name="Text Box 24"/>
            <p:cNvSpPr/>
            <p:nvPr/>
          </p:nvSpPr>
          <p:spPr>
            <a:xfrm>
              <a:off x="2724120" y="288936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2</a:t>
              </a:r>
              <a:endParaRPr b="0" lang="en-US" sz="2000" spc="-1" strike="noStrike">
                <a:solidFill>
                  <a:srgbClr val="000000"/>
                </a:solidFill>
                <a:latin typeface="Arial"/>
              </a:endParaRPr>
            </a:p>
          </p:txBody>
        </p:sp>
      </p:grpSp>
      <p:sp>
        <p:nvSpPr>
          <p:cNvPr id="791" name="AutoShape 26"/>
          <p:cNvSpPr/>
          <p:nvPr/>
        </p:nvSpPr>
        <p:spPr>
          <a:xfrm flipH="1" flipV="1" rot="8100000">
            <a:off x="5690160" y="3731400"/>
            <a:ext cx="1242360" cy="331560"/>
          </a:xfrm>
          <a:prstGeom prst="rightArrow">
            <a:avLst>
              <a:gd name="adj1" fmla="val 50000"/>
              <a:gd name="adj2" fmla="val 93214"/>
            </a:avLst>
          </a:prstGeom>
          <a:no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92" name="AutoShape 27"/>
          <p:cNvSpPr/>
          <p:nvPr/>
        </p:nvSpPr>
        <p:spPr>
          <a:xfrm rot="5400000">
            <a:off x="3732120" y="3757680"/>
            <a:ext cx="455760" cy="331920"/>
          </a:xfrm>
          <a:prstGeom prst="rightArrow">
            <a:avLst>
              <a:gd name="adj1" fmla="val 50000"/>
              <a:gd name="adj2" fmla="val 34286"/>
            </a:avLst>
          </a:prstGeom>
          <a:no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grpSp>
        <p:nvGrpSpPr>
          <p:cNvPr id="793" name="Group 50"/>
          <p:cNvGrpSpPr/>
          <p:nvPr/>
        </p:nvGrpSpPr>
        <p:grpSpPr>
          <a:xfrm>
            <a:off x="2133720" y="4152960"/>
            <a:ext cx="3647880" cy="2128680"/>
            <a:chOff x="2133720" y="4152960"/>
            <a:chExt cx="3647880" cy="2128680"/>
          </a:xfrm>
        </p:grpSpPr>
        <p:sp>
          <p:nvSpPr>
            <p:cNvPr id="794" name="AutoShape 29"/>
            <p:cNvSpPr/>
            <p:nvPr/>
          </p:nvSpPr>
          <p:spPr>
            <a:xfrm>
              <a:off x="3230640" y="5794200"/>
              <a:ext cx="204804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95" name="AutoShape 30"/>
            <p:cNvSpPr/>
            <p:nvPr/>
          </p:nvSpPr>
          <p:spPr>
            <a:xfrm>
              <a:off x="2635200" y="5065560"/>
              <a:ext cx="314640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96" name="AutoShape 31"/>
            <p:cNvSpPr/>
            <p:nvPr/>
          </p:nvSpPr>
          <p:spPr>
            <a:xfrm>
              <a:off x="3240000" y="433404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797" name="Oval 32"/>
            <p:cNvSpPr/>
            <p:nvPr/>
          </p:nvSpPr>
          <p:spPr>
            <a:xfrm>
              <a:off x="4078440" y="51274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798" name="Oval 33"/>
            <p:cNvSpPr/>
            <p:nvPr/>
          </p:nvSpPr>
          <p:spPr>
            <a:xfrm>
              <a:off x="2857680" y="51274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799" name="Oval 34"/>
            <p:cNvSpPr/>
            <p:nvPr/>
          </p:nvSpPr>
          <p:spPr>
            <a:xfrm>
              <a:off x="3486240" y="43959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800" name="Oval 35"/>
            <p:cNvSpPr/>
            <p:nvPr/>
          </p:nvSpPr>
          <p:spPr>
            <a:xfrm>
              <a:off x="3467160" y="58593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801" name="AutoShape 36"/>
            <p:cNvCxnSpPr>
              <a:stCxn id="799" idx="3"/>
              <a:endCxn id="798" idx="7"/>
            </p:cNvCxnSpPr>
            <p:nvPr/>
          </p:nvCxnSpPr>
          <p:spPr>
            <a:xfrm flipH="1">
              <a:off x="3170160" y="4708440"/>
              <a:ext cx="370080" cy="473040"/>
            </a:xfrm>
            <a:prstGeom prst="straightConnector1">
              <a:avLst/>
            </a:prstGeom>
            <a:ln w="38100">
              <a:solidFill>
                <a:srgbClr val="44546a"/>
              </a:solidFill>
              <a:round/>
              <a:tailEnd len="med" type="triangle" w="med"/>
            </a:ln>
          </p:spPr>
        </p:cxnSp>
        <p:cxnSp>
          <p:nvCxnSpPr>
            <p:cNvPr id="802" name="AutoShape 37"/>
            <p:cNvCxnSpPr>
              <a:stCxn id="800" idx="1"/>
              <a:endCxn id="798" idx="5"/>
            </p:cNvCxnSpPr>
            <p:nvPr/>
          </p:nvCxnSpPr>
          <p:spPr>
            <a:xfrm flipH="1" flipV="1">
              <a:off x="3170160" y="5439960"/>
              <a:ext cx="351000" cy="473400"/>
            </a:xfrm>
            <a:prstGeom prst="straightConnector1">
              <a:avLst/>
            </a:prstGeom>
            <a:ln w="38100">
              <a:solidFill>
                <a:srgbClr val="44546a"/>
              </a:solidFill>
              <a:round/>
              <a:headEnd len="med" type="triangle" w="med"/>
            </a:ln>
          </p:spPr>
        </p:cxnSp>
        <p:cxnSp>
          <p:nvCxnSpPr>
            <p:cNvPr id="803" name="AutoShape 38"/>
            <p:cNvCxnSpPr>
              <a:stCxn id="800" idx="7"/>
              <a:endCxn id="797" idx="3"/>
            </p:cNvCxnSpPr>
            <p:nvPr/>
          </p:nvCxnSpPr>
          <p:spPr>
            <a:xfrm flipV="1">
              <a:off x="3779640" y="5439960"/>
              <a:ext cx="352800" cy="473400"/>
            </a:xfrm>
            <a:prstGeom prst="straightConnector1">
              <a:avLst/>
            </a:prstGeom>
            <a:ln w="38100">
              <a:solidFill>
                <a:srgbClr val="ed7d31"/>
              </a:solidFill>
              <a:prstDash val="dash"/>
              <a:round/>
              <a:headEnd len="med" type="triangle" w="med"/>
            </a:ln>
          </p:spPr>
        </p:cxnSp>
        <p:cxnSp>
          <p:nvCxnSpPr>
            <p:cNvPr id="804" name="AutoShape 39"/>
            <p:cNvCxnSpPr>
              <a:stCxn id="799" idx="5"/>
              <a:endCxn id="797" idx="1"/>
            </p:cNvCxnSpPr>
            <p:nvPr/>
          </p:nvCxnSpPr>
          <p:spPr>
            <a:xfrm>
              <a:off x="3798720" y="4708440"/>
              <a:ext cx="333720" cy="473040"/>
            </a:xfrm>
            <a:prstGeom prst="straightConnector1">
              <a:avLst/>
            </a:prstGeom>
            <a:ln w="38100">
              <a:solidFill>
                <a:srgbClr val="44546a"/>
              </a:solidFill>
              <a:round/>
              <a:tailEnd len="med" type="triangle" w="med"/>
            </a:ln>
          </p:spPr>
        </p:cxnSp>
        <p:cxnSp>
          <p:nvCxnSpPr>
            <p:cNvPr id="805" name="AutoShape 40"/>
            <p:cNvCxnSpPr>
              <a:stCxn id="798" idx="6"/>
              <a:endCxn id="797" idx="2"/>
            </p:cNvCxnSpPr>
            <p:nvPr/>
          </p:nvCxnSpPr>
          <p:spPr>
            <a:xfrm>
              <a:off x="3223440" y="5310360"/>
              <a:ext cx="855720" cy="720"/>
            </a:xfrm>
            <a:prstGeom prst="straightConnector1">
              <a:avLst/>
            </a:prstGeom>
            <a:ln w="38100">
              <a:solidFill>
                <a:srgbClr val="ed7d31"/>
              </a:solidFill>
              <a:prstDash val="dash"/>
              <a:round/>
              <a:tailEnd len="med" type="triangle" w="med"/>
            </a:ln>
          </p:spPr>
        </p:cxnSp>
        <p:sp>
          <p:nvSpPr>
            <p:cNvPr id="806" name="Oval 41"/>
            <p:cNvSpPr/>
            <p:nvPr/>
          </p:nvSpPr>
          <p:spPr>
            <a:xfrm>
              <a:off x="5300640" y="51274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807" name="AutoShape 42"/>
            <p:cNvCxnSpPr>
              <a:stCxn id="808" idx="7"/>
              <a:endCxn id="806" idx="3"/>
            </p:cNvCxnSpPr>
            <p:nvPr/>
          </p:nvCxnSpPr>
          <p:spPr>
            <a:xfrm flipV="1">
              <a:off x="5001840" y="5439960"/>
              <a:ext cx="352800" cy="473400"/>
            </a:xfrm>
            <a:prstGeom prst="straightConnector1">
              <a:avLst/>
            </a:prstGeom>
            <a:ln w="19050">
              <a:solidFill>
                <a:srgbClr val="000000"/>
              </a:solidFill>
              <a:round/>
            </a:ln>
          </p:spPr>
        </p:cxnSp>
        <p:cxnSp>
          <p:nvCxnSpPr>
            <p:cNvPr id="809" name="AutoShape 43"/>
            <p:cNvCxnSpPr>
              <a:stCxn id="806" idx="1"/>
              <a:endCxn id="799" idx="6"/>
            </p:cNvCxnSpPr>
            <p:nvPr/>
          </p:nvCxnSpPr>
          <p:spPr>
            <a:xfrm flipH="1" flipV="1">
              <a:off x="3852000" y="4578840"/>
              <a:ext cx="1502640" cy="602640"/>
            </a:xfrm>
            <a:prstGeom prst="straightConnector1">
              <a:avLst/>
            </a:prstGeom>
            <a:ln w="38100">
              <a:solidFill>
                <a:srgbClr val="44546a"/>
              </a:solidFill>
              <a:round/>
              <a:headEnd len="med" type="triangle" w="med"/>
            </a:ln>
          </p:spPr>
        </p:cxnSp>
        <p:sp>
          <p:nvSpPr>
            <p:cNvPr id="810" name="Text Box 44"/>
            <p:cNvSpPr/>
            <p:nvPr/>
          </p:nvSpPr>
          <p:spPr>
            <a:xfrm>
              <a:off x="2743200" y="415296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0</a:t>
              </a:r>
              <a:endParaRPr b="0" lang="en-US" sz="2000" spc="-1" strike="noStrike">
                <a:solidFill>
                  <a:srgbClr val="000000"/>
                </a:solidFill>
                <a:latin typeface="Arial"/>
              </a:endParaRPr>
            </a:p>
          </p:txBody>
        </p:sp>
        <p:sp>
          <p:nvSpPr>
            <p:cNvPr id="811" name="Text Box 45"/>
            <p:cNvSpPr/>
            <p:nvPr/>
          </p:nvSpPr>
          <p:spPr>
            <a:xfrm>
              <a:off x="2133720" y="487692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1</a:t>
              </a:r>
              <a:endParaRPr b="0" lang="en-US" sz="2000" spc="-1" strike="noStrike">
                <a:solidFill>
                  <a:srgbClr val="000000"/>
                </a:solidFill>
                <a:latin typeface="Arial"/>
              </a:endParaRPr>
            </a:p>
          </p:txBody>
        </p:sp>
        <p:cxnSp>
          <p:nvCxnSpPr>
            <p:cNvPr id="812" name="AutoShape 46"/>
            <p:cNvCxnSpPr>
              <a:stCxn id="797" idx="6"/>
              <a:endCxn id="806" idx="2"/>
            </p:cNvCxnSpPr>
            <p:nvPr/>
          </p:nvCxnSpPr>
          <p:spPr>
            <a:xfrm>
              <a:off x="4444200" y="5310360"/>
              <a:ext cx="857160" cy="720"/>
            </a:xfrm>
            <a:prstGeom prst="straightConnector1">
              <a:avLst/>
            </a:prstGeom>
            <a:ln w="38100">
              <a:solidFill>
                <a:srgbClr val="ed7d31"/>
              </a:solidFill>
              <a:prstDash val="dash"/>
              <a:round/>
              <a:tailEnd len="med" type="triangle" w="med"/>
            </a:ln>
          </p:spPr>
        </p:cxnSp>
        <p:sp>
          <p:nvSpPr>
            <p:cNvPr id="808" name="Oval 47"/>
            <p:cNvSpPr/>
            <p:nvPr/>
          </p:nvSpPr>
          <p:spPr>
            <a:xfrm>
              <a:off x="4689360" y="58593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813" name="AutoShape 48"/>
            <p:cNvCxnSpPr>
              <a:stCxn id="797" idx="5"/>
              <a:endCxn id="808" idx="1"/>
            </p:cNvCxnSpPr>
            <p:nvPr/>
          </p:nvCxnSpPr>
          <p:spPr>
            <a:xfrm>
              <a:off x="4390920" y="5439960"/>
              <a:ext cx="352440" cy="473400"/>
            </a:xfrm>
            <a:prstGeom prst="straightConnector1">
              <a:avLst/>
            </a:prstGeom>
            <a:ln w="38100">
              <a:solidFill>
                <a:srgbClr val="44546a"/>
              </a:solidFill>
              <a:round/>
              <a:tailEnd len="med" type="triangle" w="med"/>
            </a:ln>
          </p:spPr>
        </p:cxnSp>
        <p:sp>
          <p:nvSpPr>
            <p:cNvPr id="814" name="Text Box 49"/>
            <p:cNvSpPr/>
            <p:nvPr/>
          </p:nvSpPr>
          <p:spPr>
            <a:xfrm>
              <a:off x="2724120" y="559116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2</a:t>
              </a:r>
              <a:endParaRPr b="0" lang="en-US" sz="2000" spc="-1" strike="noStrike">
                <a:solidFill>
                  <a:srgbClr val="000000"/>
                </a:solidFill>
                <a:latin typeface="Arial"/>
              </a:endParaRPr>
            </a:p>
          </p:txBody>
        </p:sp>
      </p:grpSp>
      <p:sp>
        <p:nvSpPr>
          <p:cNvPr id="815" name="AutoShape 52"/>
          <p:cNvSpPr/>
          <p:nvPr/>
        </p:nvSpPr>
        <p:spPr>
          <a:xfrm>
            <a:off x="7567560" y="3092400"/>
            <a:ext cx="204804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816" name="AutoShape 53"/>
          <p:cNvSpPr/>
          <p:nvPr/>
        </p:nvSpPr>
        <p:spPr>
          <a:xfrm>
            <a:off x="6972480" y="2363760"/>
            <a:ext cx="314640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817" name="AutoShape 54"/>
          <p:cNvSpPr/>
          <p:nvPr/>
        </p:nvSpPr>
        <p:spPr>
          <a:xfrm>
            <a:off x="7577280" y="163188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818" name="Oval 55"/>
          <p:cNvSpPr/>
          <p:nvPr/>
        </p:nvSpPr>
        <p:spPr>
          <a:xfrm>
            <a:off x="8415360" y="24256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819" name="Oval 56"/>
          <p:cNvSpPr/>
          <p:nvPr/>
        </p:nvSpPr>
        <p:spPr>
          <a:xfrm>
            <a:off x="7194600" y="24256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820" name="Oval 57"/>
          <p:cNvSpPr/>
          <p:nvPr/>
        </p:nvSpPr>
        <p:spPr>
          <a:xfrm>
            <a:off x="7823160" y="16938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821" name="Oval 58"/>
          <p:cNvSpPr/>
          <p:nvPr/>
        </p:nvSpPr>
        <p:spPr>
          <a:xfrm>
            <a:off x="7804080" y="31575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822" name="AutoShape 59"/>
          <p:cNvCxnSpPr>
            <a:stCxn id="820" idx="3"/>
            <a:endCxn id="819" idx="7"/>
          </p:cNvCxnSpPr>
          <p:nvPr/>
        </p:nvCxnSpPr>
        <p:spPr>
          <a:xfrm flipH="1">
            <a:off x="7507080" y="2006280"/>
            <a:ext cx="370080" cy="473400"/>
          </a:xfrm>
          <a:prstGeom prst="straightConnector1">
            <a:avLst/>
          </a:prstGeom>
          <a:ln w="38100">
            <a:solidFill>
              <a:srgbClr val="44546a"/>
            </a:solidFill>
            <a:round/>
            <a:tailEnd len="med" type="triangle" w="med"/>
          </a:ln>
        </p:spPr>
      </p:cxnSp>
      <p:cxnSp>
        <p:nvCxnSpPr>
          <p:cNvPr id="823" name="AutoShape 60"/>
          <p:cNvCxnSpPr>
            <a:stCxn id="821" idx="1"/>
            <a:endCxn id="819" idx="5"/>
          </p:cNvCxnSpPr>
          <p:nvPr/>
        </p:nvCxnSpPr>
        <p:spPr>
          <a:xfrm flipH="1" flipV="1">
            <a:off x="7507080" y="2738160"/>
            <a:ext cx="351000" cy="473400"/>
          </a:xfrm>
          <a:prstGeom prst="straightConnector1">
            <a:avLst/>
          </a:prstGeom>
          <a:ln w="38100">
            <a:solidFill>
              <a:srgbClr val="44546a"/>
            </a:solidFill>
            <a:round/>
            <a:headEnd len="med" type="triangle" w="med"/>
          </a:ln>
        </p:spPr>
      </p:cxnSp>
      <p:cxnSp>
        <p:nvCxnSpPr>
          <p:cNvPr id="824" name="AutoShape 61"/>
          <p:cNvCxnSpPr>
            <a:stCxn id="821" idx="7"/>
            <a:endCxn id="818" idx="3"/>
          </p:cNvCxnSpPr>
          <p:nvPr/>
        </p:nvCxnSpPr>
        <p:spPr>
          <a:xfrm flipV="1">
            <a:off x="8116560" y="2738160"/>
            <a:ext cx="352800" cy="473400"/>
          </a:xfrm>
          <a:prstGeom prst="straightConnector1">
            <a:avLst/>
          </a:prstGeom>
          <a:ln w="38100">
            <a:solidFill>
              <a:srgbClr val="ed7d31"/>
            </a:solidFill>
            <a:prstDash val="dash"/>
            <a:round/>
            <a:headEnd len="med" type="triangle" w="med"/>
          </a:ln>
        </p:spPr>
      </p:cxnSp>
      <p:cxnSp>
        <p:nvCxnSpPr>
          <p:cNvPr id="825" name="AutoShape 62"/>
          <p:cNvCxnSpPr>
            <a:stCxn id="820" idx="5"/>
            <a:endCxn id="818" idx="1"/>
          </p:cNvCxnSpPr>
          <p:nvPr/>
        </p:nvCxnSpPr>
        <p:spPr>
          <a:xfrm>
            <a:off x="8135640" y="2006280"/>
            <a:ext cx="333720" cy="473400"/>
          </a:xfrm>
          <a:prstGeom prst="straightConnector1">
            <a:avLst/>
          </a:prstGeom>
          <a:ln w="38100">
            <a:solidFill>
              <a:srgbClr val="44546a"/>
            </a:solidFill>
            <a:round/>
            <a:tailEnd len="med" type="triangle" w="med"/>
          </a:ln>
        </p:spPr>
      </p:cxnSp>
      <p:cxnSp>
        <p:nvCxnSpPr>
          <p:cNvPr id="826" name="AutoShape 63"/>
          <p:cNvCxnSpPr>
            <a:stCxn id="819" idx="6"/>
            <a:endCxn id="818" idx="2"/>
          </p:cNvCxnSpPr>
          <p:nvPr/>
        </p:nvCxnSpPr>
        <p:spPr>
          <a:xfrm>
            <a:off x="7560360" y="2608560"/>
            <a:ext cx="855720" cy="720"/>
          </a:xfrm>
          <a:prstGeom prst="straightConnector1">
            <a:avLst/>
          </a:prstGeom>
          <a:ln w="38100">
            <a:solidFill>
              <a:srgbClr val="ed7d31"/>
            </a:solidFill>
            <a:prstDash val="dash"/>
            <a:round/>
            <a:tailEnd len="med" type="triangle" w="med"/>
          </a:ln>
        </p:spPr>
      </p:cxnSp>
      <p:sp>
        <p:nvSpPr>
          <p:cNvPr id="827" name="Oval 64"/>
          <p:cNvSpPr/>
          <p:nvPr/>
        </p:nvSpPr>
        <p:spPr>
          <a:xfrm>
            <a:off x="9637560" y="24256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828" name="AutoShape 65"/>
          <p:cNvCxnSpPr>
            <a:stCxn id="829" idx="7"/>
            <a:endCxn id="827" idx="3"/>
          </p:cNvCxnSpPr>
          <p:nvPr/>
        </p:nvCxnSpPr>
        <p:spPr>
          <a:xfrm flipV="1">
            <a:off x="9339120" y="2738160"/>
            <a:ext cx="352440" cy="473400"/>
          </a:xfrm>
          <a:prstGeom prst="straightConnector1">
            <a:avLst/>
          </a:prstGeom>
          <a:ln w="38100">
            <a:solidFill>
              <a:srgbClr val="ed7d31"/>
            </a:solidFill>
            <a:prstDash val="dash"/>
            <a:round/>
            <a:headEnd len="med" type="triangle" w="med"/>
          </a:ln>
        </p:spPr>
      </p:cxnSp>
      <p:cxnSp>
        <p:nvCxnSpPr>
          <p:cNvPr id="830" name="AutoShape 66"/>
          <p:cNvCxnSpPr>
            <a:stCxn id="827" idx="1"/>
            <a:endCxn id="820" idx="6"/>
          </p:cNvCxnSpPr>
          <p:nvPr/>
        </p:nvCxnSpPr>
        <p:spPr>
          <a:xfrm flipH="1" flipV="1">
            <a:off x="8188920" y="1876680"/>
            <a:ext cx="1502640" cy="603000"/>
          </a:xfrm>
          <a:prstGeom prst="straightConnector1">
            <a:avLst/>
          </a:prstGeom>
          <a:ln w="38100">
            <a:solidFill>
              <a:srgbClr val="44546a"/>
            </a:solidFill>
            <a:round/>
            <a:headEnd len="med" type="triangle" w="med"/>
          </a:ln>
        </p:spPr>
      </p:cxnSp>
      <p:sp>
        <p:nvSpPr>
          <p:cNvPr id="831" name="Text Box 67"/>
          <p:cNvSpPr/>
          <p:nvPr/>
        </p:nvSpPr>
        <p:spPr>
          <a:xfrm>
            <a:off x="7080120" y="145080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0</a:t>
            </a:r>
            <a:endParaRPr b="0" lang="en-US" sz="2000" spc="-1" strike="noStrike">
              <a:solidFill>
                <a:srgbClr val="000000"/>
              </a:solidFill>
              <a:latin typeface="Arial"/>
            </a:endParaRPr>
          </a:p>
        </p:txBody>
      </p:sp>
      <p:sp>
        <p:nvSpPr>
          <p:cNvPr id="832" name="Text Box 68"/>
          <p:cNvSpPr/>
          <p:nvPr/>
        </p:nvSpPr>
        <p:spPr>
          <a:xfrm>
            <a:off x="6470640" y="217476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1</a:t>
            </a:r>
            <a:endParaRPr b="0" lang="en-US" sz="2000" spc="-1" strike="noStrike">
              <a:solidFill>
                <a:srgbClr val="000000"/>
              </a:solidFill>
              <a:latin typeface="Arial"/>
            </a:endParaRPr>
          </a:p>
        </p:txBody>
      </p:sp>
      <p:cxnSp>
        <p:nvCxnSpPr>
          <p:cNvPr id="833" name="AutoShape 69"/>
          <p:cNvCxnSpPr>
            <a:stCxn id="818" idx="6"/>
            <a:endCxn id="827" idx="2"/>
          </p:cNvCxnSpPr>
          <p:nvPr/>
        </p:nvCxnSpPr>
        <p:spPr>
          <a:xfrm>
            <a:off x="8781120" y="2608560"/>
            <a:ext cx="857160" cy="720"/>
          </a:xfrm>
          <a:prstGeom prst="straightConnector1">
            <a:avLst/>
          </a:prstGeom>
          <a:ln w="38100">
            <a:solidFill>
              <a:srgbClr val="ed7d31"/>
            </a:solidFill>
            <a:prstDash val="dash"/>
            <a:round/>
            <a:tailEnd len="med" type="triangle" w="med"/>
          </a:ln>
        </p:spPr>
      </p:cxnSp>
      <p:sp>
        <p:nvSpPr>
          <p:cNvPr id="829" name="Oval 70"/>
          <p:cNvSpPr/>
          <p:nvPr/>
        </p:nvSpPr>
        <p:spPr>
          <a:xfrm>
            <a:off x="9026640" y="31575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834" name="AutoShape 71"/>
          <p:cNvCxnSpPr>
            <a:stCxn id="818" idx="5"/>
            <a:endCxn id="829" idx="1"/>
          </p:cNvCxnSpPr>
          <p:nvPr/>
        </p:nvCxnSpPr>
        <p:spPr>
          <a:xfrm>
            <a:off x="8727840" y="2738160"/>
            <a:ext cx="352800" cy="473400"/>
          </a:xfrm>
          <a:prstGeom prst="straightConnector1">
            <a:avLst/>
          </a:prstGeom>
          <a:ln w="38100">
            <a:solidFill>
              <a:srgbClr val="44546a"/>
            </a:solidFill>
            <a:round/>
            <a:tailEnd len="med" type="triangle" w="med"/>
          </a:ln>
        </p:spPr>
      </p:cxnSp>
      <p:sp>
        <p:nvSpPr>
          <p:cNvPr id="835" name="Text Box 72"/>
          <p:cNvSpPr/>
          <p:nvPr/>
        </p:nvSpPr>
        <p:spPr>
          <a:xfrm>
            <a:off x="7061040" y="288936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2</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6"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Properties</a:t>
            </a:r>
            <a:endParaRPr b="0" lang="en-US" sz="4400" spc="-1" strike="noStrike">
              <a:solidFill>
                <a:srgbClr val="000000"/>
              </a:solidFill>
              <a:latin typeface="Arial"/>
            </a:endParaRPr>
          </a:p>
        </p:txBody>
      </p:sp>
      <p:sp>
        <p:nvSpPr>
          <p:cNvPr id="837" name="PlaceHolder 2"/>
          <p:cNvSpPr>
            <a:spLocks noGrp="1"/>
          </p:cNvSpPr>
          <p:nvPr>
            <p:ph/>
          </p:nvPr>
        </p:nvSpPr>
        <p:spPr>
          <a:xfrm>
            <a:off x="838080" y="1107000"/>
            <a:ext cx="6510600" cy="5068440"/>
          </a:xfrm>
          <a:prstGeom prst="rect">
            <a:avLst/>
          </a:prstGeom>
          <a:noFill/>
          <a:ln w="0">
            <a:noFill/>
          </a:ln>
        </p:spPr>
        <p:txBody>
          <a:bodyPr lIns="91440" rIns="91440" tIns="45720" bIns="45720" anchor="t">
            <a:noAutofit/>
          </a:bodyPr>
          <a:p>
            <a:pPr marL="228600" indent="-228600" defTabSz="914400">
              <a:lnSpc>
                <a:spcPct val="90000"/>
              </a:lnSpc>
              <a:spcBef>
                <a:spcPts val="360"/>
              </a:spcBef>
              <a:buNone/>
              <a:tabLst>
                <a:tab algn="l" pos="0"/>
              </a:tabLst>
            </a:pPr>
            <a:r>
              <a:rPr b="0" lang="en-US" sz="2400" spc="-1" strike="noStrike">
                <a:solidFill>
                  <a:schemeClr val="dk2"/>
                </a:solidFill>
                <a:latin typeface="Calibri"/>
              </a:rPr>
              <a:t>Notation</a:t>
            </a:r>
            <a:endParaRPr b="0" lang="en-US" sz="2400" spc="-1" strike="noStrike">
              <a:solidFill>
                <a:srgbClr val="000000"/>
              </a:solidFill>
              <a:latin typeface="Arial"/>
            </a:endParaRPr>
          </a:p>
          <a:p>
            <a:pPr marL="685800" indent="-228600" defTabSz="914400">
              <a:lnSpc>
                <a:spcPct val="90000"/>
              </a:lnSpc>
              <a:spcBef>
                <a:spcPts val="300"/>
              </a:spcBef>
              <a:buNone/>
              <a:tabLst>
                <a:tab algn="l" pos="0"/>
              </a:tabLst>
            </a:pPr>
            <a:r>
              <a:rPr b="1" i="1" lang="en-US" sz="2000" spc="-1" strike="noStrike">
                <a:solidFill>
                  <a:schemeClr val="dk1"/>
                </a:solidFill>
                <a:latin typeface="Times New Roman"/>
              </a:rPr>
              <a:t>G</a:t>
            </a:r>
            <a:r>
              <a:rPr b="1" i="1" lang="en-US" sz="2000" spc="-1" strike="noStrike" baseline="-25000">
                <a:solidFill>
                  <a:schemeClr val="dk1"/>
                </a:solidFill>
                <a:latin typeface="Times New Roman"/>
              </a:rPr>
              <a:t>s</a:t>
            </a:r>
            <a:r>
              <a:rPr b="0" lang="en-US" sz="2000" spc="-1" strike="noStrike">
                <a:solidFill>
                  <a:schemeClr val="dk1"/>
                </a:solidFill>
                <a:latin typeface="Calibri"/>
              </a:rPr>
              <a:t>: connected component of </a:t>
            </a:r>
            <a:r>
              <a:rPr b="1" i="1" lang="en-US" sz="2000" spc="-1" strike="noStrike">
                <a:solidFill>
                  <a:schemeClr val="dk1"/>
                </a:solidFill>
                <a:latin typeface="Times New Roman"/>
              </a:rPr>
              <a:t>s</a:t>
            </a:r>
            <a:endParaRPr b="0" lang="en-US" sz="2000" spc="-1" strike="noStrike">
              <a:solidFill>
                <a:srgbClr val="000000"/>
              </a:solidFill>
              <a:latin typeface="Arial"/>
            </a:endParaRPr>
          </a:p>
          <a:p>
            <a:pPr marL="228600" indent="-228600" defTabSz="914400">
              <a:lnSpc>
                <a:spcPct val="90000"/>
              </a:lnSpc>
              <a:spcBef>
                <a:spcPts val="360"/>
              </a:spcBef>
              <a:buNone/>
              <a:tabLst>
                <a:tab algn="l" pos="0"/>
              </a:tabLst>
            </a:pPr>
            <a:r>
              <a:rPr b="0" lang="en-US" sz="2400" spc="-1" strike="noStrike">
                <a:solidFill>
                  <a:schemeClr val="dk2"/>
                </a:solidFill>
                <a:latin typeface="Calibri"/>
              </a:rPr>
              <a:t>Property 1</a:t>
            </a:r>
            <a:endParaRPr b="0" lang="en-US" sz="2400" spc="-1" strike="noStrike">
              <a:solidFill>
                <a:srgbClr val="000000"/>
              </a:solidFill>
              <a:latin typeface="Arial"/>
            </a:endParaRPr>
          </a:p>
          <a:p>
            <a:pPr marL="228600" indent="-228600" defTabSz="914400">
              <a:lnSpc>
                <a:spcPct val="90000"/>
              </a:lnSpc>
              <a:spcBef>
                <a:spcPts val="300"/>
              </a:spcBef>
              <a:buNone/>
              <a:tabLst>
                <a:tab algn="l" pos="0"/>
              </a:tabLst>
            </a:pPr>
            <a:r>
              <a:rPr b="0" lang="en-US" sz="2000" spc="-1" strike="noStrike">
                <a:solidFill>
                  <a:schemeClr val="dk1"/>
                </a:solidFill>
                <a:latin typeface="Calibri"/>
              </a:rPr>
              <a:t>	</a:t>
            </a:r>
            <a:r>
              <a:rPr b="1" i="1" lang="en-US" sz="2000" spc="-1" strike="noStrike">
                <a:solidFill>
                  <a:schemeClr val="dk1"/>
                </a:solidFill>
                <a:latin typeface="Times New Roman"/>
              </a:rPr>
              <a:t>BFS</a:t>
            </a:r>
            <a:r>
              <a:rPr b="0" lang="en-US" sz="2000" spc="-1" strike="noStrike">
                <a:solidFill>
                  <a:schemeClr val="dk1"/>
                </a:solidFill>
                <a:latin typeface="Times New Roman"/>
              </a:rPr>
              <a:t>(</a:t>
            </a:r>
            <a:r>
              <a:rPr b="1" i="1" lang="en-US" sz="2000" spc="-1" strike="noStrike">
                <a:solidFill>
                  <a:schemeClr val="dk1"/>
                </a:solidFill>
                <a:latin typeface="Times New Roman"/>
              </a:rPr>
              <a:t>G, s</a:t>
            </a:r>
            <a:r>
              <a:rPr b="0" lang="en-US" sz="2000" spc="-1" strike="noStrike">
                <a:solidFill>
                  <a:schemeClr val="dk1"/>
                </a:solidFill>
                <a:latin typeface="Times New Roman"/>
              </a:rPr>
              <a:t>) </a:t>
            </a:r>
            <a:r>
              <a:rPr b="0" lang="en-US" sz="2000" spc="-1" strike="noStrike">
                <a:solidFill>
                  <a:schemeClr val="dk1"/>
                </a:solidFill>
                <a:latin typeface="Calibri"/>
              </a:rPr>
              <a:t>visits all the vertices and edges of </a:t>
            </a:r>
            <a:r>
              <a:rPr b="1" i="1" lang="en-US" sz="2000" spc="-1" strike="noStrike">
                <a:solidFill>
                  <a:schemeClr val="dk1"/>
                </a:solidFill>
                <a:latin typeface="Times New Roman"/>
              </a:rPr>
              <a:t>G</a:t>
            </a:r>
            <a:r>
              <a:rPr b="1" i="1" lang="en-US" sz="2000" spc="-1" strike="noStrike" baseline="-25000">
                <a:solidFill>
                  <a:schemeClr val="dk1"/>
                </a:solidFill>
                <a:latin typeface="Times New Roman"/>
              </a:rPr>
              <a:t>s</a:t>
            </a:r>
            <a:r>
              <a:rPr b="0" lang="en-US" sz="2000" spc="-1" strike="noStrike">
                <a:solidFill>
                  <a:schemeClr val="dk1"/>
                </a:solidFill>
                <a:latin typeface="Calibri"/>
              </a:rPr>
              <a:t> </a:t>
            </a:r>
            <a:endParaRPr b="0" lang="en-US" sz="2000" spc="-1" strike="noStrike">
              <a:solidFill>
                <a:srgbClr val="000000"/>
              </a:solidFill>
              <a:latin typeface="Arial"/>
            </a:endParaRPr>
          </a:p>
          <a:p>
            <a:pPr marL="228600" indent="-228600" defTabSz="914400">
              <a:lnSpc>
                <a:spcPct val="90000"/>
              </a:lnSpc>
              <a:spcBef>
                <a:spcPts val="360"/>
              </a:spcBef>
              <a:buNone/>
              <a:tabLst>
                <a:tab algn="l" pos="0"/>
              </a:tabLst>
            </a:pPr>
            <a:r>
              <a:rPr b="0" lang="en-US" sz="2400" spc="-1" strike="noStrike">
                <a:solidFill>
                  <a:schemeClr val="dk2"/>
                </a:solidFill>
                <a:latin typeface="Calibri"/>
              </a:rPr>
              <a:t>Property 2</a:t>
            </a:r>
            <a:endParaRPr b="0" lang="en-US" sz="2400" spc="-1" strike="noStrike">
              <a:solidFill>
                <a:srgbClr val="000000"/>
              </a:solidFill>
              <a:latin typeface="Arial"/>
            </a:endParaRPr>
          </a:p>
          <a:p>
            <a:pPr marL="228600" indent="-228600" defTabSz="914400">
              <a:lnSpc>
                <a:spcPct val="90000"/>
              </a:lnSpc>
              <a:spcBef>
                <a:spcPts val="300"/>
              </a:spcBef>
              <a:buNone/>
              <a:tabLst>
                <a:tab algn="l" pos="0"/>
              </a:tabLst>
            </a:pPr>
            <a:r>
              <a:rPr b="0" lang="en-US" sz="2000" spc="-1" strike="noStrike">
                <a:solidFill>
                  <a:schemeClr val="dk1"/>
                </a:solidFill>
                <a:latin typeface="Calibri"/>
              </a:rPr>
              <a:t>	</a:t>
            </a:r>
            <a:r>
              <a:rPr b="0" lang="en-US" sz="2000" spc="-1" strike="noStrike">
                <a:solidFill>
                  <a:schemeClr val="dk1"/>
                </a:solidFill>
                <a:latin typeface="Calibri"/>
              </a:rPr>
              <a:t>The discovery edges labeled by </a:t>
            </a:r>
            <a:r>
              <a:rPr b="1" i="1" lang="en-US" sz="2000" spc="-1" strike="noStrike">
                <a:solidFill>
                  <a:schemeClr val="dk1"/>
                </a:solidFill>
                <a:latin typeface="Times New Roman"/>
              </a:rPr>
              <a:t>BFS</a:t>
            </a:r>
            <a:r>
              <a:rPr b="0" lang="en-US" sz="2000" spc="-1" strike="noStrike">
                <a:solidFill>
                  <a:schemeClr val="dk1"/>
                </a:solidFill>
                <a:latin typeface="Times New Roman"/>
              </a:rPr>
              <a:t>(</a:t>
            </a:r>
            <a:r>
              <a:rPr b="1" i="1" lang="en-US" sz="2000" spc="-1" strike="noStrike">
                <a:solidFill>
                  <a:schemeClr val="dk1"/>
                </a:solidFill>
                <a:latin typeface="Times New Roman"/>
              </a:rPr>
              <a:t>G, s</a:t>
            </a:r>
            <a:r>
              <a:rPr b="0" lang="en-US" sz="2000" spc="-1" strike="noStrike">
                <a:solidFill>
                  <a:schemeClr val="dk1"/>
                </a:solidFill>
                <a:latin typeface="Times New Roman"/>
              </a:rPr>
              <a:t>) </a:t>
            </a:r>
            <a:r>
              <a:rPr b="0" lang="en-US" sz="2000" spc="-1" strike="noStrike">
                <a:solidFill>
                  <a:schemeClr val="dk1"/>
                </a:solidFill>
                <a:latin typeface="Calibri"/>
              </a:rPr>
              <a:t>form a spanning tree </a:t>
            </a:r>
            <a:r>
              <a:rPr b="1" i="1" lang="en-US" sz="2000" spc="-1" strike="noStrike">
                <a:solidFill>
                  <a:schemeClr val="dk1"/>
                </a:solidFill>
                <a:latin typeface="Times New Roman"/>
              </a:rPr>
              <a:t>T</a:t>
            </a:r>
            <a:r>
              <a:rPr b="1" i="1" lang="en-US" sz="2000" spc="-1" strike="noStrike" baseline="-25000">
                <a:solidFill>
                  <a:schemeClr val="dk1"/>
                </a:solidFill>
                <a:latin typeface="Times New Roman"/>
              </a:rPr>
              <a:t>s</a:t>
            </a:r>
            <a:r>
              <a:rPr b="0" lang="en-US" sz="2000" spc="-1" strike="noStrike">
                <a:solidFill>
                  <a:schemeClr val="dk1"/>
                </a:solidFill>
                <a:latin typeface="Calibri"/>
              </a:rPr>
              <a:t> of </a:t>
            </a:r>
            <a:r>
              <a:rPr b="1" i="1" lang="en-US" sz="2000" spc="-1" strike="noStrike">
                <a:solidFill>
                  <a:schemeClr val="dk1"/>
                </a:solidFill>
                <a:latin typeface="Times New Roman"/>
              </a:rPr>
              <a:t>G</a:t>
            </a:r>
            <a:r>
              <a:rPr b="1" i="1" lang="en-US" sz="2000" spc="-1" strike="noStrike" baseline="-25000">
                <a:solidFill>
                  <a:schemeClr val="dk1"/>
                </a:solidFill>
                <a:latin typeface="Times New Roman"/>
              </a:rPr>
              <a:t>s</a:t>
            </a:r>
            <a:endParaRPr b="0" lang="en-US" sz="2000" spc="-1" strike="noStrike">
              <a:solidFill>
                <a:srgbClr val="000000"/>
              </a:solidFill>
              <a:latin typeface="Arial"/>
            </a:endParaRPr>
          </a:p>
          <a:p>
            <a:pPr marL="228600" indent="-228600" defTabSz="914400">
              <a:lnSpc>
                <a:spcPct val="90000"/>
              </a:lnSpc>
              <a:spcBef>
                <a:spcPts val="360"/>
              </a:spcBef>
              <a:buNone/>
              <a:tabLst>
                <a:tab algn="l" pos="0"/>
              </a:tabLst>
            </a:pPr>
            <a:r>
              <a:rPr b="0" lang="en-US" sz="2400" spc="-1" strike="noStrike">
                <a:solidFill>
                  <a:schemeClr val="dk2"/>
                </a:solidFill>
                <a:latin typeface="Calibri"/>
              </a:rPr>
              <a:t>Property 3</a:t>
            </a:r>
            <a:endParaRPr b="0" lang="en-US" sz="2400" spc="-1" strike="noStrike">
              <a:solidFill>
                <a:srgbClr val="000000"/>
              </a:solidFill>
              <a:latin typeface="Arial"/>
            </a:endParaRPr>
          </a:p>
          <a:p>
            <a:pPr marL="228600" indent="-228600" defTabSz="914400">
              <a:lnSpc>
                <a:spcPct val="90000"/>
              </a:lnSpc>
              <a:spcBef>
                <a:spcPts val="300"/>
              </a:spcBef>
              <a:buNone/>
              <a:tabLst>
                <a:tab algn="l" pos="0"/>
              </a:tabLst>
            </a:pPr>
            <a:r>
              <a:rPr b="0" lang="en-US" sz="2000" spc="-1" strike="noStrike">
                <a:solidFill>
                  <a:schemeClr val="dk1"/>
                </a:solidFill>
                <a:latin typeface="Calibri"/>
              </a:rPr>
              <a:t>	</a:t>
            </a:r>
            <a:r>
              <a:rPr b="0" lang="en-US" sz="2000" spc="-1" strike="noStrike">
                <a:solidFill>
                  <a:schemeClr val="dk1"/>
                </a:solidFill>
                <a:latin typeface="Calibri"/>
              </a:rPr>
              <a:t>For each vertex </a:t>
            </a:r>
            <a:r>
              <a:rPr b="1" i="1" lang="en-US" sz="2000" spc="-1" strike="noStrike">
                <a:solidFill>
                  <a:schemeClr val="dk1"/>
                </a:solidFill>
                <a:latin typeface="Times New Roman"/>
              </a:rPr>
              <a:t>v</a:t>
            </a:r>
            <a:r>
              <a:rPr b="0" lang="en-US" sz="2000" spc="-1" strike="noStrike">
                <a:solidFill>
                  <a:schemeClr val="dk1"/>
                </a:solidFill>
                <a:latin typeface="Calibri"/>
              </a:rPr>
              <a:t> in </a:t>
            </a:r>
            <a:r>
              <a:rPr b="1" i="1" lang="en-US" sz="2000" spc="-1" strike="noStrike">
                <a:solidFill>
                  <a:schemeClr val="dk1"/>
                </a:solidFill>
                <a:latin typeface="Times New Roman"/>
              </a:rPr>
              <a:t>L</a:t>
            </a:r>
            <a:r>
              <a:rPr b="1" i="1" lang="en-US" sz="2000" spc="-1" strike="noStrike" baseline="-25000">
                <a:solidFill>
                  <a:schemeClr val="dk1"/>
                </a:solidFill>
                <a:latin typeface="Times New Roman"/>
              </a:rPr>
              <a:t>i</a:t>
            </a:r>
            <a:endParaRPr b="0" lang="en-US" sz="2000" spc="-1" strike="noStrike">
              <a:solidFill>
                <a:srgbClr val="000000"/>
              </a:solidFill>
              <a:latin typeface="Arial"/>
            </a:endParaRPr>
          </a:p>
          <a:p>
            <a:pPr lvl="1" marL="685800" indent="-228600" defTabSz="914400">
              <a:lnSpc>
                <a:spcPct val="90000"/>
              </a:lnSpc>
              <a:spcBef>
                <a:spcPts val="269"/>
              </a:spcBef>
              <a:buClr>
                <a:srgbClr val="000000"/>
              </a:buClr>
              <a:buFont typeface="Arial"/>
              <a:buChar char="•"/>
              <a:tabLst>
                <a:tab algn="l" pos="0"/>
              </a:tabLst>
            </a:pPr>
            <a:r>
              <a:rPr b="0" lang="en-US" sz="1800" spc="-1" strike="noStrike">
                <a:solidFill>
                  <a:schemeClr val="dk1"/>
                </a:solidFill>
                <a:latin typeface="Calibri"/>
              </a:rPr>
              <a:t>The path of  </a:t>
            </a:r>
            <a:r>
              <a:rPr b="1" i="1" lang="en-US" sz="1800" spc="-1" strike="noStrike">
                <a:solidFill>
                  <a:schemeClr val="dk1"/>
                </a:solidFill>
                <a:latin typeface="Times New Roman"/>
              </a:rPr>
              <a:t>T</a:t>
            </a:r>
            <a:r>
              <a:rPr b="1" i="1" lang="en-US" sz="1800" spc="-1" strike="noStrike" baseline="-25000">
                <a:solidFill>
                  <a:schemeClr val="dk1"/>
                </a:solidFill>
                <a:latin typeface="Times New Roman"/>
              </a:rPr>
              <a:t>s</a:t>
            </a:r>
            <a:r>
              <a:rPr b="0" lang="en-US" sz="1800" spc="-1" strike="noStrike">
                <a:solidFill>
                  <a:schemeClr val="dk1"/>
                </a:solidFill>
                <a:latin typeface="Calibri"/>
              </a:rPr>
              <a:t> from </a:t>
            </a:r>
            <a:r>
              <a:rPr b="1" i="1" lang="en-US" sz="1800" spc="-1" strike="noStrike">
                <a:solidFill>
                  <a:schemeClr val="dk1"/>
                </a:solidFill>
                <a:latin typeface="Times New Roman"/>
              </a:rPr>
              <a:t>s </a:t>
            </a:r>
            <a:r>
              <a:rPr b="0" lang="en-US" sz="1800" spc="-1" strike="noStrike">
                <a:solidFill>
                  <a:schemeClr val="dk1"/>
                </a:solidFill>
                <a:latin typeface="Calibri"/>
              </a:rPr>
              <a:t>to </a:t>
            </a:r>
            <a:r>
              <a:rPr b="1" i="1" lang="en-US" sz="1800" spc="-1" strike="noStrike">
                <a:solidFill>
                  <a:schemeClr val="dk1"/>
                </a:solidFill>
                <a:latin typeface="Times New Roman"/>
              </a:rPr>
              <a:t>v </a:t>
            </a:r>
            <a:r>
              <a:rPr b="0" lang="en-US" sz="1800" spc="-1" strike="noStrike">
                <a:solidFill>
                  <a:schemeClr val="dk1"/>
                </a:solidFill>
                <a:latin typeface="Calibri"/>
              </a:rPr>
              <a:t>has </a:t>
            </a:r>
            <a:r>
              <a:rPr b="1" i="1" lang="en-US" sz="1800" spc="-1" strike="noStrike">
                <a:solidFill>
                  <a:schemeClr val="dk1"/>
                </a:solidFill>
                <a:latin typeface="Times New Roman"/>
              </a:rPr>
              <a:t>i</a:t>
            </a:r>
            <a:r>
              <a:rPr b="0" lang="en-US" sz="1800" spc="-1" strike="noStrike">
                <a:solidFill>
                  <a:schemeClr val="dk1"/>
                </a:solidFill>
                <a:latin typeface="Calibri"/>
              </a:rPr>
              <a:t> edges </a:t>
            </a:r>
            <a:endParaRPr b="0" lang="en-US" sz="1800" spc="-1" strike="noStrike">
              <a:solidFill>
                <a:srgbClr val="000000"/>
              </a:solidFill>
              <a:latin typeface="Arial"/>
            </a:endParaRPr>
          </a:p>
          <a:p>
            <a:pPr lvl="1" marL="685800" indent="-228600" defTabSz="914400">
              <a:lnSpc>
                <a:spcPct val="90000"/>
              </a:lnSpc>
              <a:spcBef>
                <a:spcPts val="269"/>
              </a:spcBef>
              <a:buClr>
                <a:srgbClr val="000000"/>
              </a:buClr>
              <a:buFont typeface="Arial"/>
              <a:buChar char="•"/>
              <a:tabLst>
                <a:tab algn="l" pos="0"/>
              </a:tabLst>
            </a:pPr>
            <a:r>
              <a:rPr b="0" lang="en-US" sz="1800" spc="-1" strike="noStrike">
                <a:solidFill>
                  <a:schemeClr val="dk1"/>
                </a:solidFill>
                <a:latin typeface="Calibri"/>
              </a:rPr>
              <a:t>Every path from </a:t>
            </a:r>
            <a:r>
              <a:rPr b="1" i="1" lang="en-US" sz="1800" spc="-1" strike="noStrike">
                <a:solidFill>
                  <a:schemeClr val="dk1"/>
                </a:solidFill>
                <a:latin typeface="Times New Roman"/>
              </a:rPr>
              <a:t>s </a:t>
            </a:r>
            <a:r>
              <a:rPr b="0" lang="en-US" sz="1800" spc="-1" strike="noStrike">
                <a:solidFill>
                  <a:schemeClr val="dk1"/>
                </a:solidFill>
                <a:latin typeface="Calibri"/>
              </a:rPr>
              <a:t>to </a:t>
            </a:r>
            <a:r>
              <a:rPr b="1" i="1" lang="en-US" sz="1800" spc="-1" strike="noStrike">
                <a:solidFill>
                  <a:schemeClr val="dk1"/>
                </a:solidFill>
                <a:latin typeface="Times New Roman"/>
              </a:rPr>
              <a:t>v </a:t>
            </a:r>
            <a:r>
              <a:rPr b="0" lang="en-US" sz="1800" spc="-1" strike="noStrike">
                <a:solidFill>
                  <a:schemeClr val="dk1"/>
                </a:solidFill>
                <a:latin typeface="Calibri"/>
              </a:rPr>
              <a:t>in </a:t>
            </a:r>
            <a:r>
              <a:rPr b="1" i="1" lang="en-US" sz="1800" spc="-1" strike="noStrike">
                <a:solidFill>
                  <a:schemeClr val="dk1"/>
                </a:solidFill>
                <a:latin typeface="Times New Roman"/>
              </a:rPr>
              <a:t>G</a:t>
            </a:r>
            <a:r>
              <a:rPr b="1" i="1" lang="en-US" sz="1800" spc="-1" strike="noStrike" baseline="-25000">
                <a:solidFill>
                  <a:schemeClr val="dk1"/>
                </a:solidFill>
                <a:latin typeface="Times New Roman"/>
              </a:rPr>
              <a:t>s</a:t>
            </a:r>
            <a:r>
              <a:rPr b="1" i="1" lang="en-US" sz="1800" spc="-1" strike="noStrike">
                <a:solidFill>
                  <a:schemeClr val="dk1"/>
                </a:solidFill>
                <a:latin typeface="Times New Roman"/>
              </a:rPr>
              <a:t> </a:t>
            </a:r>
            <a:r>
              <a:rPr b="0" lang="en-US" sz="1800" spc="-1" strike="noStrike">
                <a:solidFill>
                  <a:schemeClr val="dk1"/>
                </a:solidFill>
                <a:latin typeface="Calibri"/>
              </a:rPr>
              <a:t>has at least </a:t>
            </a:r>
            <a:r>
              <a:rPr b="1" i="1" lang="en-US" sz="1800" spc="-1" strike="noStrike">
                <a:solidFill>
                  <a:schemeClr val="dk1"/>
                </a:solidFill>
                <a:latin typeface="Times New Roman"/>
              </a:rPr>
              <a:t>i</a:t>
            </a:r>
            <a:r>
              <a:rPr b="0" lang="en-US" sz="1800" spc="-1" strike="noStrike">
                <a:solidFill>
                  <a:schemeClr val="dk1"/>
                </a:solidFill>
                <a:latin typeface="Calibri"/>
              </a:rPr>
              <a:t> edges</a:t>
            </a:r>
            <a:endParaRPr b="0" lang="en-US" sz="1800" spc="-1" strike="noStrike">
              <a:solidFill>
                <a:srgbClr val="000000"/>
              </a:solidFill>
              <a:latin typeface="Arial"/>
            </a:endParaRPr>
          </a:p>
        </p:txBody>
      </p:sp>
      <p:sp>
        <p:nvSpPr>
          <p:cNvPr id="838" name="PlaceHolder 3"/>
          <p:cNvSpPr>
            <a:spLocks noGrp="1"/>
          </p:cNvSpPr>
          <p:nvPr>
            <p:ph type="sldNum" idx="69"/>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DDF9E780-04CA-425B-A5A3-8DC11A57EECC}" type="slidenum">
              <a:rPr b="0" lang="en-US" sz="1400" spc="-1" strike="noStrike">
                <a:solidFill>
                  <a:schemeClr val="dk1">
                    <a:tint val="75000"/>
                  </a:schemeClr>
                </a:solidFill>
                <a:latin typeface="Tahoma"/>
                <a:ea typeface="MS PGothic"/>
              </a:rPr>
              <a:t>43</a:t>
            </a:fld>
            <a:endParaRPr b="0" lang="en-US" sz="1400" spc="-1" strike="noStrike">
              <a:solidFill>
                <a:srgbClr val="000000"/>
              </a:solidFill>
              <a:latin typeface="Times New Roman"/>
            </a:endParaRPr>
          </a:p>
        </p:txBody>
      </p:sp>
      <p:sp>
        <p:nvSpPr>
          <p:cNvPr id="839" name="AutoShape 18"/>
          <p:cNvSpPr/>
          <p:nvPr/>
        </p:nvSpPr>
        <p:spPr>
          <a:xfrm>
            <a:off x="8800920" y="5259960"/>
            <a:ext cx="204804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840" name="AutoShape 19"/>
          <p:cNvSpPr/>
          <p:nvPr/>
        </p:nvSpPr>
        <p:spPr>
          <a:xfrm>
            <a:off x="8205840" y="4531320"/>
            <a:ext cx="314640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841" name="AutoShape 20"/>
          <p:cNvSpPr/>
          <p:nvPr/>
        </p:nvSpPr>
        <p:spPr>
          <a:xfrm>
            <a:off x="8810640" y="379944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842" name="Oval 21"/>
          <p:cNvSpPr/>
          <p:nvPr/>
        </p:nvSpPr>
        <p:spPr>
          <a:xfrm>
            <a:off x="9648720" y="45932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843" name="Oval 22"/>
          <p:cNvSpPr/>
          <p:nvPr/>
        </p:nvSpPr>
        <p:spPr>
          <a:xfrm>
            <a:off x="8427960" y="45932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844" name="Oval 23"/>
          <p:cNvSpPr/>
          <p:nvPr/>
        </p:nvSpPr>
        <p:spPr>
          <a:xfrm>
            <a:off x="9056520" y="38613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845" name="Oval 24"/>
          <p:cNvSpPr/>
          <p:nvPr/>
        </p:nvSpPr>
        <p:spPr>
          <a:xfrm>
            <a:off x="9037800" y="53251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846" name="AutoShape 25"/>
          <p:cNvCxnSpPr>
            <a:stCxn id="844" idx="3"/>
            <a:endCxn id="843" idx="7"/>
          </p:cNvCxnSpPr>
          <p:nvPr/>
        </p:nvCxnSpPr>
        <p:spPr>
          <a:xfrm flipH="1">
            <a:off x="8740440" y="4173840"/>
            <a:ext cx="370080" cy="473400"/>
          </a:xfrm>
          <a:prstGeom prst="straightConnector1">
            <a:avLst/>
          </a:prstGeom>
          <a:ln w="38100">
            <a:solidFill>
              <a:srgbClr val="44546a"/>
            </a:solidFill>
            <a:round/>
            <a:tailEnd len="med" type="triangle" w="med"/>
          </a:ln>
        </p:spPr>
      </p:cxnSp>
      <p:cxnSp>
        <p:nvCxnSpPr>
          <p:cNvPr id="847" name="AutoShape 26"/>
          <p:cNvCxnSpPr>
            <a:stCxn id="845" idx="1"/>
            <a:endCxn id="843" idx="5"/>
          </p:cNvCxnSpPr>
          <p:nvPr/>
        </p:nvCxnSpPr>
        <p:spPr>
          <a:xfrm flipH="1" flipV="1">
            <a:off x="8740440" y="4905720"/>
            <a:ext cx="351360" cy="473400"/>
          </a:xfrm>
          <a:prstGeom prst="straightConnector1">
            <a:avLst/>
          </a:prstGeom>
          <a:ln w="38100">
            <a:solidFill>
              <a:srgbClr val="44546a"/>
            </a:solidFill>
            <a:round/>
            <a:headEnd len="med" type="triangle" w="med"/>
          </a:ln>
        </p:spPr>
      </p:cxnSp>
      <p:cxnSp>
        <p:nvCxnSpPr>
          <p:cNvPr id="848" name="AutoShape 27"/>
          <p:cNvCxnSpPr>
            <a:stCxn id="845" idx="7"/>
            <a:endCxn id="842" idx="3"/>
          </p:cNvCxnSpPr>
          <p:nvPr/>
        </p:nvCxnSpPr>
        <p:spPr>
          <a:xfrm flipV="1">
            <a:off x="9350280" y="4905720"/>
            <a:ext cx="352440" cy="473400"/>
          </a:xfrm>
          <a:prstGeom prst="straightConnector1">
            <a:avLst/>
          </a:prstGeom>
          <a:ln w="38100">
            <a:solidFill>
              <a:srgbClr val="ed7d31"/>
            </a:solidFill>
            <a:prstDash val="dash"/>
            <a:round/>
            <a:headEnd len="med" type="triangle" w="med"/>
          </a:ln>
        </p:spPr>
      </p:cxnSp>
      <p:cxnSp>
        <p:nvCxnSpPr>
          <p:cNvPr id="849" name="AutoShape 28"/>
          <p:cNvCxnSpPr>
            <a:stCxn id="844" idx="5"/>
            <a:endCxn id="842" idx="1"/>
          </p:cNvCxnSpPr>
          <p:nvPr/>
        </p:nvCxnSpPr>
        <p:spPr>
          <a:xfrm>
            <a:off x="9369000" y="4173840"/>
            <a:ext cx="333720" cy="473400"/>
          </a:xfrm>
          <a:prstGeom prst="straightConnector1">
            <a:avLst/>
          </a:prstGeom>
          <a:ln w="38100">
            <a:solidFill>
              <a:srgbClr val="44546a"/>
            </a:solidFill>
            <a:round/>
            <a:tailEnd len="med" type="triangle" w="med"/>
          </a:ln>
        </p:spPr>
      </p:cxnSp>
      <p:cxnSp>
        <p:nvCxnSpPr>
          <p:cNvPr id="850" name="AutoShape 29"/>
          <p:cNvCxnSpPr>
            <a:stCxn id="843" idx="6"/>
            <a:endCxn id="842" idx="2"/>
          </p:cNvCxnSpPr>
          <p:nvPr/>
        </p:nvCxnSpPr>
        <p:spPr>
          <a:xfrm>
            <a:off x="8793720" y="4776120"/>
            <a:ext cx="855720" cy="720"/>
          </a:xfrm>
          <a:prstGeom prst="straightConnector1">
            <a:avLst/>
          </a:prstGeom>
          <a:ln w="38100">
            <a:solidFill>
              <a:srgbClr val="ed7d31"/>
            </a:solidFill>
            <a:prstDash val="dash"/>
            <a:round/>
            <a:tailEnd len="med" type="triangle" w="med"/>
          </a:ln>
        </p:spPr>
      </p:cxnSp>
      <p:sp>
        <p:nvSpPr>
          <p:cNvPr id="851" name="Oval 30"/>
          <p:cNvSpPr/>
          <p:nvPr/>
        </p:nvSpPr>
        <p:spPr>
          <a:xfrm>
            <a:off x="10871280" y="45932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852" name="AutoShape 31"/>
          <p:cNvCxnSpPr>
            <a:stCxn id="853" idx="7"/>
            <a:endCxn id="851" idx="3"/>
          </p:cNvCxnSpPr>
          <p:nvPr/>
        </p:nvCxnSpPr>
        <p:spPr>
          <a:xfrm flipV="1">
            <a:off x="10572480" y="4905720"/>
            <a:ext cx="352800" cy="473400"/>
          </a:xfrm>
          <a:prstGeom prst="straightConnector1">
            <a:avLst/>
          </a:prstGeom>
          <a:ln w="38100">
            <a:solidFill>
              <a:srgbClr val="ed7d31"/>
            </a:solidFill>
            <a:prstDash val="dash"/>
            <a:round/>
            <a:headEnd len="med" type="triangle" w="med"/>
          </a:ln>
        </p:spPr>
      </p:cxnSp>
      <p:cxnSp>
        <p:nvCxnSpPr>
          <p:cNvPr id="854" name="AutoShape 32"/>
          <p:cNvCxnSpPr>
            <a:stCxn id="851" idx="1"/>
            <a:endCxn id="844" idx="6"/>
          </p:cNvCxnSpPr>
          <p:nvPr/>
        </p:nvCxnSpPr>
        <p:spPr>
          <a:xfrm flipH="1" flipV="1">
            <a:off x="9422280" y="4044240"/>
            <a:ext cx="1503000" cy="603000"/>
          </a:xfrm>
          <a:prstGeom prst="straightConnector1">
            <a:avLst/>
          </a:prstGeom>
          <a:ln w="38100">
            <a:solidFill>
              <a:srgbClr val="44546a"/>
            </a:solidFill>
            <a:round/>
            <a:headEnd len="med" type="triangle" w="med"/>
          </a:ln>
        </p:spPr>
      </p:cxnSp>
      <p:sp>
        <p:nvSpPr>
          <p:cNvPr id="855" name="Text Box 33"/>
          <p:cNvSpPr/>
          <p:nvPr/>
        </p:nvSpPr>
        <p:spPr>
          <a:xfrm>
            <a:off x="8313840" y="361836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0</a:t>
            </a:r>
            <a:endParaRPr b="0" lang="en-US" sz="2000" spc="-1" strike="noStrike">
              <a:solidFill>
                <a:srgbClr val="000000"/>
              </a:solidFill>
              <a:latin typeface="Arial"/>
            </a:endParaRPr>
          </a:p>
        </p:txBody>
      </p:sp>
      <p:sp>
        <p:nvSpPr>
          <p:cNvPr id="856" name="Text Box 34"/>
          <p:cNvSpPr/>
          <p:nvPr/>
        </p:nvSpPr>
        <p:spPr>
          <a:xfrm>
            <a:off x="7704000" y="434232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1</a:t>
            </a:r>
            <a:endParaRPr b="0" lang="en-US" sz="2000" spc="-1" strike="noStrike">
              <a:solidFill>
                <a:srgbClr val="000000"/>
              </a:solidFill>
              <a:latin typeface="Arial"/>
            </a:endParaRPr>
          </a:p>
        </p:txBody>
      </p:sp>
      <p:cxnSp>
        <p:nvCxnSpPr>
          <p:cNvPr id="857" name="AutoShape 35"/>
          <p:cNvCxnSpPr>
            <a:stCxn id="842" idx="6"/>
            <a:endCxn id="851" idx="2"/>
          </p:cNvCxnSpPr>
          <p:nvPr/>
        </p:nvCxnSpPr>
        <p:spPr>
          <a:xfrm>
            <a:off x="10014480" y="4776120"/>
            <a:ext cx="857520" cy="720"/>
          </a:xfrm>
          <a:prstGeom prst="straightConnector1">
            <a:avLst/>
          </a:prstGeom>
          <a:ln w="38100">
            <a:solidFill>
              <a:srgbClr val="ed7d31"/>
            </a:solidFill>
            <a:prstDash val="dash"/>
            <a:round/>
            <a:tailEnd len="med" type="triangle" w="med"/>
          </a:ln>
        </p:spPr>
      </p:cxnSp>
      <p:sp>
        <p:nvSpPr>
          <p:cNvPr id="853" name="Oval 36"/>
          <p:cNvSpPr/>
          <p:nvPr/>
        </p:nvSpPr>
        <p:spPr>
          <a:xfrm>
            <a:off x="10260000" y="53251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858" name="AutoShape 37"/>
          <p:cNvCxnSpPr>
            <a:stCxn id="842" idx="5"/>
            <a:endCxn id="853" idx="1"/>
          </p:cNvCxnSpPr>
          <p:nvPr/>
        </p:nvCxnSpPr>
        <p:spPr>
          <a:xfrm>
            <a:off x="9961200" y="4905720"/>
            <a:ext cx="352800" cy="473400"/>
          </a:xfrm>
          <a:prstGeom prst="straightConnector1">
            <a:avLst/>
          </a:prstGeom>
          <a:ln w="38100">
            <a:solidFill>
              <a:srgbClr val="44546a"/>
            </a:solidFill>
            <a:round/>
            <a:tailEnd len="med" type="triangle" w="med"/>
          </a:ln>
        </p:spPr>
      </p:cxnSp>
      <p:sp>
        <p:nvSpPr>
          <p:cNvPr id="859" name="Text Box 38"/>
          <p:cNvSpPr/>
          <p:nvPr/>
        </p:nvSpPr>
        <p:spPr>
          <a:xfrm>
            <a:off x="8294760" y="505656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2</a:t>
            </a:r>
            <a:endParaRPr b="0" lang="en-US" sz="2000" spc="-1" strike="noStrike">
              <a:solidFill>
                <a:srgbClr val="000000"/>
              </a:solidFill>
              <a:latin typeface="Arial"/>
            </a:endParaRPr>
          </a:p>
        </p:txBody>
      </p:sp>
      <p:sp>
        <p:nvSpPr>
          <p:cNvPr id="860" name="Oval 40"/>
          <p:cNvSpPr/>
          <p:nvPr/>
        </p:nvSpPr>
        <p:spPr>
          <a:xfrm>
            <a:off x="9626760" y="198324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861" name="Oval 41"/>
          <p:cNvSpPr/>
          <p:nvPr/>
        </p:nvSpPr>
        <p:spPr>
          <a:xfrm>
            <a:off x="8405640" y="198324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862" name="Oval 42"/>
          <p:cNvSpPr/>
          <p:nvPr/>
        </p:nvSpPr>
        <p:spPr>
          <a:xfrm>
            <a:off x="9034560" y="12513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863" name="Oval 43"/>
          <p:cNvSpPr/>
          <p:nvPr/>
        </p:nvSpPr>
        <p:spPr>
          <a:xfrm>
            <a:off x="9015480" y="27151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864" name="AutoShape 44"/>
          <p:cNvCxnSpPr>
            <a:stCxn id="862" idx="3"/>
            <a:endCxn id="861" idx="7"/>
          </p:cNvCxnSpPr>
          <p:nvPr/>
        </p:nvCxnSpPr>
        <p:spPr>
          <a:xfrm flipH="1">
            <a:off x="8718120" y="1563840"/>
            <a:ext cx="370440" cy="473400"/>
          </a:xfrm>
          <a:prstGeom prst="straightConnector1">
            <a:avLst/>
          </a:prstGeom>
          <a:ln w="19050">
            <a:solidFill>
              <a:srgbClr val="000000"/>
            </a:solidFill>
            <a:round/>
          </a:ln>
        </p:spPr>
      </p:cxnSp>
      <p:cxnSp>
        <p:nvCxnSpPr>
          <p:cNvPr id="865" name="AutoShape 45"/>
          <p:cNvCxnSpPr>
            <a:stCxn id="863" idx="1"/>
            <a:endCxn id="861" idx="5"/>
          </p:cNvCxnSpPr>
          <p:nvPr/>
        </p:nvCxnSpPr>
        <p:spPr>
          <a:xfrm flipH="1" flipV="1">
            <a:off x="8718120" y="2295720"/>
            <a:ext cx="351360" cy="473400"/>
          </a:xfrm>
          <a:prstGeom prst="straightConnector1">
            <a:avLst/>
          </a:prstGeom>
          <a:ln w="19050">
            <a:solidFill>
              <a:srgbClr val="000000"/>
            </a:solidFill>
            <a:round/>
          </a:ln>
        </p:spPr>
      </p:cxnSp>
      <p:cxnSp>
        <p:nvCxnSpPr>
          <p:cNvPr id="866" name="AutoShape 46"/>
          <p:cNvCxnSpPr>
            <a:stCxn id="863" idx="7"/>
            <a:endCxn id="860" idx="3"/>
          </p:cNvCxnSpPr>
          <p:nvPr/>
        </p:nvCxnSpPr>
        <p:spPr>
          <a:xfrm flipV="1">
            <a:off x="9327960" y="2295720"/>
            <a:ext cx="352800" cy="473400"/>
          </a:xfrm>
          <a:prstGeom prst="straightConnector1">
            <a:avLst/>
          </a:prstGeom>
          <a:ln w="19050">
            <a:solidFill>
              <a:srgbClr val="000000"/>
            </a:solidFill>
            <a:round/>
          </a:ln>
        </p:spPr>
      </p:cxnSp>
      <p:cxnSp>
        <p:nvCxnSpPr>
          <p:cNvPr id="867" name="AutoShape 47"/>
          <p:cNvCxnSpPr>
            <a:stCxn id="862" idx="5"/>
            <a:endCxn id="860" idx="1"/>
          </p:cNvCxnSpPr>
          <p:nvPr/>
        </p:nvCxnSpPr>
        <p:spPr>
          <a:xfrm>
            <a:off x="9347040" y="1563840"/>
            <a:ext cx="333720" cy="473400"/>
          </a:xfrm>
          <a:prstGeom prst="straightConnector1">
            <a:avLst/>
          </a:prstGeom>
          <a:ln w="19050">
            <a:solidFill>
              <a:srgbClr val="000000"/>
            </a:solidFill>
            <a:round/>
          </a:ln>
        </p:spPr>
      </p:cxnSp>
      <p:cxnSp>
        <p:nvCxnSpPr>
          <p:cNvPr id="868" name="AutoShape 48"/>
          <p:cNvCxnSpPr>
            <a:stCxn id="861" idx="6"/>
            <a:endCxn id="860" idx="2"/>
          </p:cNvCxnSpPr>
          <p:nvPr/>
        </p:nvCxnSpPr>
        <p:spPr>
          <a:xfrm>
            <a:off x="8771400" y="2166120"/>
            <a:ext cx="856080" cy="720"/>
          </a:xfrm>
          <a:prstGeom prst="straightConnector1">
            <a:avLst/>
          </a:prstGeom>
          <a:ln w="19050">
            <a:solidFill>
              <a:srgbClr val="000000"/>
            </a:solidFill>
            <a:round/>
          </a:ln>
        </p:spPr>
      </p:cxnSp>
      <p:sp>
        <p:nvSpPr>
          <p:cNvPr id="869" name="Oval 49"/>
          <p:cNvSpPr/>
          <p:nvPr/>
        </p:nvSpPr>
        <p:spPr>
          <a:xfrm>
            <a:off x="10848960" y="198324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870" name="AutoShape 50"/>
          <p:cNvCxnSpPr>
            <a:stCxn id="871" idx="7"/>
            <a:endCxn id="869" idx="3"/>
          </p:cNvCxnSpPr>
          <p:nvPr/>
        </p:nvCxnSpPr>
        <p:spPr>
          <a:xfrm flipV="1">
            <a:off x="10550160" y="2295720"/>
            <a:ext cx="352800" cy="473400"/>
          </a:xfrm>
          <a:prstGeom prst="straightConnector1">
            <a:avLst/>
          </a:prstGeom>
          <a:ln w="19050">
            <a:solidFill>
              <a:srgbClr val="000000"/>
            </a:solidFill>
            <a:round/>
          </a:ln>
        </p:spPr>
      </p:cxnSp>
      <p:cxnSp>
        <p:nvCxnSpPr>
          <p:cNvPr id="872" name="AutoShape 51"/>
          <p:cNvCxnSpPr>
            <a:stCxn id="869" idx="1"/>
            <a:endCxn id="862" idx="6"/>
          </p:cNvCxnSpPr>
          <p:nvPr/>
        </p:nvCxnSpPr>
        <p:spPr>
          <a:xfrm flipH="1" flipV="1">
            <a:off x="9400320" y="1434240"/>
            <a:ext cx="1502640" cy="603000"/>
          </a:xfrm>
          <a:prstGeom prst="straightConnector1">
            <a:avLst/>
          </a:prstGeom>
          <a:ln w="19050">
            <a:solidFill>
              <a:srgbClr val="000000"/>
            </a:solidFill>
            <a:round/>
          </a:ln>
        </p:spPr>
      </p:cxnSp>
      <p:cxnSp>
        <p:nvCxnSpPr>
          <p:cNvPr id="873" name="AutoShape 52"/>
          <p:cNvCxnSpPr>
            <a:stCxn id="860" idx="6"/>
            <a:endCxn id="869" idx="2"/>
          </p:cNvCxnSpPr>
          <p:nvPr/>
        </p:nvCxnSpPr>
        <p:spPr>
          <a:xfrm>
            <a:off x="9992520" y="2166120"/>
            <a:ext cx="857160" cy="720"/>
          </a:xfrm>
          <a:prstGeom prst="straightConnector1">
            <a:avLst/>
          </a:prstGeom>
          <a:ln w="19050">
            <a:solidFill>
              <a:srgbClr val="000000"/>
            </a:solidFill>
            <a:round/>
          </a:ln>
        </p:spPr>
      </p:cxnSp>
      <p:sp>
        <p:nvSpPr>
          <p:cNvPr id="871" name="Oval 53"/>
          <p:cNvSpPr/>
          <p:nvPr/>
        </p:nvSpPr>
        <p:spPr>
          <a:xfrm>
            <a:off x="10237680" y="27151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874" name="AutoShape 54"/>
          <p:cNvCxnSpPr>
            <a:stCxn id="860" idx="5"/>
            <a:endCxn id="871" idx="1"/>
          </p:cNvCxnSpPr>
          <p:nvPr/>
        </p:nvCxnSpPr>
        <p:spPr>
          <a:xfrm>
            <a:off x="9939240" y="2295720"/>
            <a:ext cx="352440" cy="473400"/>
          </a:xfrm>
          <a:prstGeom prst="straightConnector1">
            <a:avLst/>
          </a:prstGeom>
          <a:ln w="19050">
            <a:solidFill>
              <a:srgbClr val="000000"/>
            </a:solidFill>
            <a:round/>
          </a:ln>
        </p:spPr>
      </p:cxn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5"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Analysis</a:t>
            </a:r>
            <a:endParaRPr b="0" lang="en-US" sz="4400" spc="-1" strike="noStrike">
              <a:solidFill>
                <a:srgbClr val="000000"/>
              </a:solidFill>
              <a:latin typeface="Arial"/>
            </a:endParaRPr>
          </a:p>
        </p:txBody>
      </p:sp>
      <p:sp>
        <p:nvSpPr>
          <p:cNvPr id="876" name="PlaceHolder 2"/>
          <p:cNvSpPr>
            <a:spLocks noGrp="1"/>
          </p:cNvSpPr>
          <p:nvPr>
            <p:ph/>
          </p:nvPr>
        </p:nvSpPr>
        <p:spPr>
          <a:xfrm>
            <a:off x="838080" y="1107000"/>
            <a:ext cx="10514160" cy="506844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Setting/getting a vertex/edge label takes </a:t>
            </a:r>
            <a:r>
              <a:rPr b="1" i="1" lang="en-US" sz="2400" spc="-1" strike="noStrike">
                <a:solidFill>
                  <a:schemeClr val="dk1"/>
                </a:solidFill>
                <a:latin typeface="Times New Roman"/>
              </a:rPr>
              <a:t>O</a:t>
            </a:r>
            <a:r>
              <a:rPr b="0" lang="en-US" sz="2400" spc="-1" strike="noStrike">
                <a:solidFill>
                  <a:schemeClr val="dk1"/>
                </a:solidFill>
                <a:latin typeface="Times New Roman"/>
              </a:rPr>
              <a:t>(1)</a:t>
            </a:r>
            <a:r>
              <a:rPr b="0" lang="en-US" sz="2400" spc="-1" strike="noStrike">
                <a:solidFill>
                  <a:schemeClr val="dk1"/>
                </a:solidFill>
                <a:latin typeface="Calibri"/>
              </a:rPr>
              <a:t> time</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Each vertex is labeled twice </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once as UNEXPLORED</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once as </a:t>
            </a:r>
            <a:r>
              <a:rPr b="0" lang="en-US" sz="2000" spc="-1" strike="noStrike">
                <a:solidFill>
                  <a:schemeClr val="dk2"/>
                </a:solidFill>
                <a:latin typeface="Calibri"/>
              </a:rPr>
              <a:t>VISITED</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Each edge is labeled twice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once as UNEXPLORED</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once as </a:t>
            </a:r>
            <a:r>
              <a:rPr b="0" lang="en-US" sz="2000" spc="-1" strike="noStrike">
                <a:solidFill>
                  <a:schemeClr val="dk2"/>
                </a:solidFill>
                <a:latin typeface="Calibri"/>
              </a:rPr>
              <a:t>DISCOVERY</a:t>
            </a:r>
            <a:r>
              <a:rPr b="0" lang="en-US" sz="2000" spc="-1" strike="noStrike">
                <a:solidFill>
                  <a:schemeClr val="dk1"/>
                </a:solidFill>
                <a:latin typeface="Calibri"/>
              </a:rPr>
              <a:t> or </a:t>
            </a:r>
            <a:r>
              <a:rPr b="0" lang="en-US" sz="2000" spc="-1" strike="noStrike">
                <a:solidFill>
                  <a:schemeClr val="accent2"/>
                </a:solidFill>
                <a:latin typeface="Calibri"/>
              </a:rPr>
              <a:t>CROSS</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Each vertex is inserted once into a sequence </a:t>
            </a:r>
            <a:r>
              <a:rPr b="1" i="1" lang="en-US" sz="2400" spc="-1" strike="noStrike">
                <a:solidFill>
                  <a:schemeClr val="dk1"/>
                </a:solidFill>
                <a:latin typeface="Times New Roman"/>
              </a:rPr>
              <a:t>L</a:t>
            </a:r>
            <a:r>
              <a:rPr b="1" i="1" lang="en-US" sz="2400" spc="-1" strike="noStrike" baseline="-25000">
                <a:solidFill>
                  <a:schemeClr val="dk1"/>
                </a:solidFill>
                <a:latin typeface="Times New Roman"/>
              </a:rPr>
              <a:t>i</a:t>
            </a:r>
            <a:r>
              <a:rPr b="0" lang="en-US" sz="2400" spc="-1" strike="noStrike">
                <a:solidFill>
                  <a:schemeClr val="dk1"/>
                </a:solidFill>
                <a:latin typeface="Calibri"/>
              </a:rPr>
              <a:t> </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Method incidentEdges is called once for each vertex</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BFS runs in </a:t>
            </a:r>
            <a:r>
              <a:rPr b="1" i="1" lang="en-US" sz="2400" spc="-1" strike="noStrike">
                <a:solidFill>
                  <a:schemeClr val="dk1"/>
                </a:solidFill>
                <a:latin typeface="Times New Roman"/>
              </a:rPr>
              <a:t>O</a:t>
            </a:r>
            <a:r>
              <a:rPr b="0" lang="en-US" sz="2400" spc="-1" strike="noStrike">
                <a:solidFill>
                  <a:schemeClr val="dk1"/>
                </a:solidFill>
                <a:latin typeface="Times New Roman"/>
              </a:rPr>
              <a:t>(</a:t>
            </a:r>
            <a:r>
              <a:rPr b="1" i="1" lang="en-US" sz="2400" spc="-1" strike="noStrike">
                <a:solidFill>
                  <a:schemeClr val="dk1"/>
                </a:solidFill>
                <a:latin typeface="Times New Roman"/>
              </a:rPr>
              <a:t>n </a:t>
            </a:r>
            <a:r>
              <a:rPr b="0" lang="en-US" sz="2400" spc="-1" strike="noStrike">
                <a:solidFill>
                  <a:schemeClr val="dk1"/>
                </a:solidFill>
                <a:latin typeface="Symbol"/>
              </a:rPr>
              <a:t>+</a:t>
            </a:r>
            <a:r>
              <a:rPr b="1" i="1" lang="en-US" sz="2400" spc="-1" strike="noStrike">
                <a:solidFill>
                  <a:schemeClr val="dk1"/>
                </a:solidFill>
                <a:latin typeface="Times New Roman"/>
              </a:rPr>
              <a:t> m</a:t>
            </a:r>
            <a:r>
              <a:rPr b="0" lang="en-US" sz="2400" spc="-1" strike="noStrike">
                <a:solidFill>
                  <a:schemeClr val="dk1"/>
                </a:solidFill>
                <a:latin typeface="Times New Roman"/>
              </a:rPr>
              <a:t>)</a:t>
            </a:r>
            <a:r>
              <a:rPr b="0" lang="en-US" sz="2400" spc="-1" strike="noStrike">
                <a:solidFill>
                  <a:schemeClr val="dk1"/>
                </a:solidFill>
                <a:latin typeface="Calibri"/>
              </a:rPr>
              <a:t> time provided the graph is represented by the adjacency list structure</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000" spc="-1" strike="noStrike">
                <a:solidFill>
                  <a:schemeClr val="dk1"/>
                </a:solidFill>
                <a:latin typeface="Calibri"/>
              </a:rPr>
              <a:t>Recall that </a:t>
            </a:r>
            <a:r>
              <a:rPr b="1" lang="en-US" sz="2800" spc="-1" strike="noStrike">
                <a:solidFill>
                  <a:schemeClr val="dk1"/>
                </a:solidFill>
                <a:latin typeface="Symbol"/>
              </a:rPr>
              <a:t>S</a:t>
            </a:r>
            <a:r>
              <a:rPr b="1" i="1" lang="en-US" sz="2000" spc="-1" strike="noStrike" baseline="-25000">
                <a:solidFill>
                  <a:schemeClr val="dk1"/>
                </a:solidFill>
                <a:latin typeface="Times New Roman"/>
              </a:rPr>
              <a:t>v </a:t>
            </a:r>
            <a:r>
              <a:rPr b="0" lang="en-US" sz="2000" spc="-1" strike="noStrike">
                <a:solidFill>
                  <a:schemeClr val="dk1"/>
                </a:solidFill>
                <a:latin typeface="Times New Roman"/>
              </a:rPr>
              <a:t>deg(</a:t>
            </a:r>
            <a:r>
              <a:rPr b="1" i="1" lang="en-US" sz="2000" spc="-1" strike="noStrike">
                <a:solidFill>
                  <a:schemeClr val="dk1"/>
                </a:solidFill>
                <a:latin typeface="Times New Roman"/>
              </a:rPr>
              <a:t>v</a:t>
            </a:r>
            <a:r>
              <a:rPr b="0" lang="en-US" sz="2000" spc="-1" strike="noStrike">
                <a:solidFill>
                  <a:schemeClr val="dk1"/>
                </a:solidFill>
                <a:latin typeface="Times New Roman"/>
              </a:rPr>
              <a:t>)</a:t>
            </a:r>
            <a:r>
              <a:rPr b="1" i="1" lang="en-US" sz="2000" spc="-1" strike="noStrike">
                <a:solidFill>
                  <a:schemeClr val="dk1"/>
                </a:solidFill>
                <a:latin typeface="Times New Roman"/>
              </a:rPr>
              <a:t> </a:t>
            </a:r>
            <a:r>
              <a:rPr b="0" lang="en-US" sz="2000" spc="-1" strike="noStrike">
                <a:solidFill>
                  <a:schemeClr val="dk1"/>
                </a:solidFill>
                <a:latin typeface="Symbol"/>
              </a:rPr>
              <a:t>= </a:t>
            </a:r>
            <a:r>
              <a:rPr b="0" lang="en-US" sz="2000" spc="-1" strike="noStrike">
                <a:solidFill>
                  <a:schemeClr val="dk1"/>
                </a:solidFill>
                <a:latin typeface="Times New Roman"/>
              </a:rPr>
              <a:t>2</a:t>
            </a:r>
            <a:r>
              <a:rPr b="1" i="1" lang="en-US" sz="2000" spc="-1" strike="noStrike">
                <a:solidFill>
                  <a:schemeClr val="dk1"/>
                </a:solidFill>
                <a:latin typeface="Times New Roman"/>
              </a:rPr>
              <a:t>m</a:t>
            </a:r>
            <a:endParaRPr b="0" lang="en-US" sz="2000" spc="-1" strike="noStrike">
              <a:solidFill>
                <a:srgbClr val="000000"/>
              </a:solidFill>
              <a:latin typeface="Arial"/>
            </a:endParaRPr>
          </a:p>
        </p:txBody>
      </p:sp>
      <p:sp>
        <p:nvSpPr>
          <p:cNvPr id="877" name="PlaceHolder 3"/>
          <p:cNvSpPr>
            <a:spLocks noGrp="1"/>
          </p:cNvSpPr>
          <p:nvPr>
            <p:ph type="sldNum" idx="70"/>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56AA3F69-6C0C-4F98-A6FC-1D94593CAB5A}"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8"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Applications</a:t>
            </a:r>
            <a:endParaRPr b="0" lang="en-US" sz="4400" spc="-1" strike="noStrike">
              <a:solidFill>
                <a:srgbClr val="000000"/>
              </a:solidFill>
              <a:latin typeface="Arial"/>
            </a:endParaRPr>
          </a:p>
        </p:txBody>
      </p:sp>
      <p:sp>
        <p:nvSpPr>
          <p:cNvPr id="879"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Using the </a:t>
            </a:r>
            <a:r>
              <a:rPr b="0" lang="en-US" sz="2800" spc="-1" strike="noStrike">
                <a:solidFill>
                  <a:schemeClr val="dk2"/>
                </a:solidFill>
                <a:latin typeface="Calibri"/>
              </a:rPr>
              <a:t>template method pattern</a:t>
            </a:r>
            <a:r>
              <a:rPr b="0" lang="en-US" sz="2800" spc="-1" strike="noStrike">
                <a:solidFill>
                  <a:schemeClr val="dk1"/>
                </a:solidFill>
                <a:latin typeface="Calibri"/>
              </a:rPr>
              <a:t>, we can specialize the BFS traversal of a graph </a:t>
            </a:r>
            <a:r>
              <a:rPr b="1" i="1" lang="en-US" sz="2800" spc="-1" strike="noStrike">
                <a:solidFill>
                  <a:schemeClr val="dk1"/>
                </a:solidFill>
                <a:latin typeface="Times New Roman"/>
              </a:rPr>
              <a:t>G</a:t>
            </a:r>
            <a:r>
              <a:rPr b="1" i="1" lang="en-US" sz="2800" spc="-1" strike="noStrike">
                <a:solidFill>
                  <a:schemeClr val="dk1"/>
                </a:solidFill>
                <a:latin typeface="Calibri"/>
              </a:rPr>
              <a:t> </a:t>
            </a:r>
            <a:r>
              <a:rPr b="0" lang="en-US" sz="2800" spc="-1" strike="noStrike">
                <a:solidFill>
                  <a:schemeClr val="dk1"/>
                </a:solidFill>
                <a:latin typeface="Calibri"/>
              </a:rPr>
              <a:t>to solve the following problems in </a:t>
            </a:r>
            <a:r>
              <a:rPr b="1" i="1" lang="en-US" sz="2800" spc="-1" strike="noStrike">
                <a:solidFill>
                  <a:schemeClr val="dk1"/>
                </a:solidFill>
                <a:latin typeface="Times New Roman"/>
              </a:rPr>
              <a:t>O</a:t>
            </a:r>
            <a:r>
              <a:rPr b="0" lang="en-US" sz="2800" spc="-1" strike="noStrike">
                <a:solidFill>
                  <a:schemeClr val="dk1"/>
                </a:solidFill>
                <a:latin typeface="Times New Roman"/>
              </a:rPr>
              <a:t>(</a:t>
            </a:r>
            <a:r>
              <a:rPr b="1" i="1" lang="en-US" sz="2800" spc="-1" strike="noStrike">
                <a:solidFill>
                  <a:schemeClr val="dk1"/>
                </a:solidFill>
                <a:latin typeface="Times New Roman"/>
              </a:rPr>
              <a:t>n </a:t>
            </a:r>
            <a:r>
              <a:rPr b="0" lang="en-US" sz="2800" spc="-1" strike="noStrike">
                <a:solidFill>
                  <a:schemeClr val="dk1"/>
                </a:solidFill>
                <a:latin typeface="Symbol"/>
              </a:rPr>
              <a:t>+</a:t>
            </a:r>
            <a:r>
              <a:rPr b="1" i="1" lang="en-US" sz="2800" spc="-1" strike="noStrike">
                <a:solidFill>
                  <a:schemeClr val="dk1"/>
                </a:solidFill>
                <a:latin typeface="Times New Roman"/>
              </a:rPr>
              <a:t> m</a:t>
            </a:r>
            <a:r>
              <a:rPr b="0" lang="en-US" sz="2800" spc="-1" strike="noStrike">
                <a:solidFill>
                  <a:schemeClr val="dk1"/>
                </a:solidFill>
                <a:latin typeface="Times New Roman"/>
              </a:rPr>
              <a:t>)</a:t>
            </a:r>
            <a:r>
              <a:rPr b="0" lang="en-US" sz="2800" spc="-1" strike="noStrike">
                <a:solidFill>
                  <a:schemeClr val="dk1"/>
                </a:solidFill>
                <a:latin typeface="Calibri"/>
              </a:rPr>
              <a:t> time</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Compute the connected components of </a:t>
            </a:r>
            <a:r>
              <a:rPr b="1" i="1" lang="en-US" sz="2400" spc="-1" strike="noStrike">
                <a:solidFill>
                  <a:schemeClr val="dk1"/>
                </a:solidFill>
                <a:latin typeface="Times New Roman"/>
              </a:rPr>
              <a:t>G</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Compute a spanning forest of </a:t>
            </a:r>
            <a:r>
              <a:rPr b="1" i="1" lang="en-US" sz="2400" spc="-1" strike="noStrike">
                <a:solidFill>
                  <a:schemeClr val="dk1"/>
                </a:solidFill>
                <a:latin typeface="Times New Roman"/>
              </a:rPr>
              <a:t>G</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Find a simple cycle in </a:t>
            </a:r>
            <a:r>
              <a:rPr b="1" i="1" lang="en-US" sz="2400" spc="-1" strike="noStrike">
                <a:solidFill>
                  <a:schemeClr val="dk1"/>
                </a:solidFill>
                <a:latin typeface="Times New Roman"/>
              </a:rPr>
              <a:t>G</a:t>
            </a:r>
            <a:r>
              <a:rPr b="0" lang="en-US" sz="2400" spc="-1" strike="noStrike">
                <a:solidFill>
                  <a:schemeClr val="dk1"/>
                </a:solidFill>
                <a:latin typeface="Calibri"/>
              </a:rPr>
              <a:t>, or report that </a:t>
            </a:r>
            <a:r>
              <a:rPr b="1" i="1" lang="en-US" sz="2400" spc="-1" strike="noStrike">
                <a:solidFill>
                  <a:schemeClr val="dk1"/>
                </a:solidFill>
                <a:latin typeface="Times New Roman"/>
              </a:rPr>
              <a:t>G</a:t>
            </a:r>
            <a:r>
              <a:rPr b="0" lang="en-US" sz="2400" spc="-1" strike="noStrike">
                <a:solidFill>
                  <a:schemeClr val="dk1"/>
                </a:solidFill>
                <a:latin typeface="Calibri"/>
              </a:rPr>
              <a:t> is a forest</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Given two vertices of </a:t>
            </a:r>
            <a:r>
              <a:rPr b="1" i="1" lang="en-US" sz="2400" spc="-1" strike="noStrike">
                <a:solidFill>
                  <a:schemeClr val="dk1"/>
                </a:solidFill>
                <a:latin typeface="Times New Roman"/>
              </a:rPr>
              <a:t>G</a:t>
            </a:r>
            <a:r>
              <a:rPr b="0" lang="en-US" sz="2400" spc="-1" strike="noStrike">
                <a:solidFill>
                  <a:schemeClr val="dk1"/>
                </a:solidFill>
                <a:latin typeface="Calibri"/>
              </a:rPr>
              <a:t>, find a path in </a:t>
            </a:r>
            <a:r>
              <a:rPr b="1" i="1" lang="en-US" sz="2400" spc="-1" strike="noStrike">
                <a:solidFill>
                  <a:schemeClr val="dk1"/>
                </a:solidFill>
                <a:latin typeface="Times New Roman"/>
              </a:rPr>
              <a:t>G</a:t>
            </a:r>
            <a:r>
              <a:rPr b="0" lang="en-US" sz="2400" spc="-1" strike="noStrike">
                <a:solidFill>
                  <a:schemeClr val="dk1"/>
                </a:solidFill>
                <a:latin typeface="Calibri"/>
              </a:rPr>
              <a:t> between them with the minimum number of edges, or report that no such path exists</a:t>
            </a:r>
            <a:endParaRPr b="0" lang="en-US" sz="2400" spc="-1" strike="noStrike">
              <a:solidFill>
                <a:srgbClr val="000000"/>
              </a:solidFill>
              <a:latin typeface="Arial"/>
            </a:endParaRPr>
          </a:p>
        </p:txBody>
      </p:sp>
      <p:sp>
        <p:nvSpPr>
          <p:cNvPr id="880" name="PlaceHolder 3"/>
          <p:cNvSpPr>
            <a:spLocks noGrp="1"/>
          </p:cNvSpPr>
          <p:nvPr>
            <p:ph type="sldNum" idx="71"/>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D09D9DD0-68F7-4E3B-9397-982FBB88F99F}"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1"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DFS vs BFS</a:t>
            </a:r>
            <a:endParaRPr b="0" lang="en-US" sz="4400" spc="-1" strike="noStrike">
              <a:solidFill>
                <a:srgbClr val="000000"/>
              </a:solidFill>
              <a:latin typeface="Arial"/>
            </a:endParaRPr>
          </a:p>
        </p:txBody>
      </p:sp>
      <p:graphicFrame>
        <p:nvGraphicFramePr>
          <p:cNvPr id="882" name="Table 3"/>
          <p:cNvGraphicFramePr/>
          <p:nvPr/>
        </p:nvGraphicFramePr>
        <p:xfrm>
          <a:off x="838080" y="1014480"/>
          <a:ext cx="10514880" cy="4977360"/>
        </p:xfrm>
        <a:graphic>
          <a:graphicData uri="http://schemas.openxmlformats.org/drawingml/2006/table">
            <a:tbl>
              <a:tblPr/>
              <a:tblGrid>
                <a:gridCol w="1661400"/>
                <a:gridCol w="4503600"/>
                <a:gridCol w="4350240"/>
              </a:tblGrid>
              <a:tr h="432720">
                <a:tc>
                  <a:txBody>
                    <a:bodyPr lIns="37800" rIns="37800" anchor="b">
                      <a:noAutofit/>
                    </a:bodyPr>
                    <a:p>
                      <a:pPr defTabSz="914400">
                        <a:lnSpc>
                          <a:spcPct val="107000"/>
                        </a:lnSpc>
                        <a:spcAft>
                          <a:spcPts val="799"/>
                        </a:spcAft>
                      </a:pPr>
                      <a:r>
                        <a:rPr b="1" lang="en-US" sz="1600" spc="-1" strike="noStrike">
                          <a:solidFill>
                            <a:schemeClr val="lt1"/>
                          </a:solidFill>
                          <a:latin typeface="Calibri"/>
                        </a:rPr>
                        <a:t> </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lIns="94680" rIns="94680" anchor="ctr">
                      <a:noAutofit/>
                    </a:bodyPr>
                    <a:p>
                      <a:pPr algn="ctr" defTabSz="914400">
                        <a:lnSpc>
                          <a:spcPct val="107000"/>
                        </a:lnSpc>
                        <a:spcAft>
                          <a:spcPts val="799"/>
                        </a:spcAft>
                      </a:pPr>
                      <a:r>
                        <a:rPr b="1" lang="en-US" sz="1600" spc="-1" strike="noStrike">
                          <a:solidFill>
                            <a:schemeClr val="lt1"/>
                          </a:solidFill>
                          <a:latin typeface="Calibri"/>
                        </a:rPr>
                        <a:t>Depth First Search (DFS)</a:t>
                      </a:r>
                      <a:endParaRPr b="0" lang="en-US" sz="1600" spc="-1" strike="noStrike">
                        <a:solidFill>
                          <a:srgbClr val="ffffff"/>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ctr">
                      <a:noAutofit/>
                    </a:bodyPr>
                    <a:p>
                      <a:pPr algn="ctr" defTabSz="914400">
                        <a:lnSpc>
                          <a:spcPct val="107000"/>
                        </a:lnSpc>
                        <a:spcAft>
                          <a:spcPts val="799"/>
                        </a:spcAft>
                      </a:pPr>
                      <a:r>
                        <a:rPr b="1" lang="en-US" sz="1600" spc="-1" strike="noStrike">
                          <a:solidFill>
                            <a:schemeClr val="lt1"/>
                          </a:solidFill>
                          <a:latin typeface="Calibri"/>
                        </a:rPr>
                        <a:t>Breadth First Search (BFS)</a:t>
                      </a:r>
                      <a:endParaRPr b="0" lang="en-US" sz="16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432720">
                <a:tc>
                  <a:txBody>
                    <a:bodyPr lIns="37800" rIns="37800" anchor="b">
                      <a:noAutofit/>
                    </a:bodyPr>
                    <a:p>
                      <a:pPr defTabSz="914400">
                        <a:lnSpc>
                          <a:spcPct val="107000"/>
                        </a:lnSpc>
                        <a:spcAft>
                          <a:spcPts val="799"/>
                        </a:spcAft>
                      </a:pPr>
                      <a:r>
                        <a:rPr b="1" lang="en-US" sz="1600" spc="-1" strike="noStrike">
                          <a:solidFill>
                            <a:schemeClr val="lt1"/>
                          </a:solidFill>
                          <a:latin typeface="Calibri"/>
                        </a:rPr>
                        <a:t>Data Structure</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94680" rIns="94680" anchor="ctr">
                      <a:noAutofit/>
                    </a:bodyPr>
                    <a:p>
                      <a:pPr defTabSz="914400">
                        <a:lnSpc>
                          <a:spcPct val="107000"/>
                        </a:lnSpc>
                        <a:spcAft>
                          <a:spcPts val="799"/>
                        </a:spcAft>
                      </a:pPr>
                      <a:r>
                        <a:rPr b="0" lang="en-US" sz="1600" spc="-1" strike="noStrike">
                          <a:solidFill>
                            <a:schemeClr val="dk1"/>
                          </a:solidFill>
                          <a:latin typeface="Calibri"/>
                        </a:rPr>
                        <a:t>DFS uses Stack data structure.</a:t>
                      </a:r>
                      <a:endParaRPr b="0" lang="en-US" sz="1600" spc="-1" strike="noStrike">
                        <a:solidFill>
                          <a:srgbClr val="000000"/>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7000"/>
                        </a:lnSpc>
                        <a:spcAft>
                          <a:spcPts val="799"/>
                        </a:spcAft>
                      </a:pPr>
                      <a:r>
                        <a:rPr b="0" lang="en-US" sz="1600" spc="-1" strike="noStrike">
                          <a:solidFill>
                            <a:schemeClr val="dk1"/>
                          </a:solidFill>
                          <a:latin typeface="Calibri"/>
                        </a:rPr>
                        <a:t>BFS uses Queue data structure</a:t>
                      </a:r>
                      <a:endParaRPr b="0" lang="en-US" sz="16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1303560">
                <a:tc>
                  <a:txBody>
                    <a:bodyPr lIns="37800" rIns="37800" anchor="b">
                      <a:noAutofit/>
                    </a:bodyPr>
                    <a:p>
                      <a:pPr defTabSz="914400">
                        <a:lnSpc>
                          <a:spcPct val="107000"/>
                        </a:lnSpc>
                        <a:spcAft>
                          <a:spcPts val="799"/>
                        </a:spcAft>
                      </a:pPr>
                      <a:r>
                        <a:rPr b="1" lang="en-US" sz="1600" spc="-1" strike="noStrike">
                          <a:solidFill>
                            <a:schemeClr val="lt1"/>
                          </a:solidFill>
                          <a:latin typeface="Calibri"/>
                        </a:rPr>
                        <a:t>Definition</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94680" rIns="94680" anchor="ctr">
                      <a:noAutofit/>
                    </a:bodyPr>
                    <a:p>
                      <a:pPr defTabSz="914400">
                        <a:lnSpc>
                          <a:spcPct val="107000"/>
                        </a:lnSpc>
                        <a:spcAft>
                          <a:spcPts val="799"/>
                        </a:spcAft>
                      </a:pPr>
                      <a:r>
                        <a:rPr b="0" lang="en-US" sz="1600" spc="-1" strike="noStrike">
                          <a:solidFill>
                            <a:schemeClr val="dk1"/>
                          </a:solidFill>
                          <a:latin typeface="Calibri"/>
                        </a:rPr>
                        <a:t>DFS traversal approach in which the traverse begins at the root node and proceeds through the nodes as far as possible until we reach the node with no unvisited nearby nodes.</a:t>
                      </a:r>
                      <a:endParaRPr b="0" lang="en-US" sz="1600" spc="-1" strike="noStrike">
                        <a:solidFill>
                          <a:srgbClr val="000000"/>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7000"/>
                        </a:lnSpc>
                        <a:spcAft>
                          <a:spcPts val="799"/>
                        </a:spcAft>
                      </a:pPr>
                      <a:r>
                        <a:rPr b="0" lang="en-US" sz="1600" spc="-1" strike="noStrike">
                          <a:solidFill>
                            <a:schemeClr val="dk1"/>
                          </a:solidFill>
                          <a:latin typeface="Calibri"/>
                        </a:rPr>
                        <a:t>BFS is a traversal approach in which we first walk through all nodes on the same level before moving on to the next level.  </a:t>
                      </a:r>
                      <a:endParaRPr b="0" lang="en-US" sz="16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606960">
                <a:tc>
                  <a:txBody>
                    <a:bodyPr lIns="37800" rIns="37800" anchor="b">
                      <a:noAutofit/>
                    </a:bodyPr>
                    <a:p>
                      <a:pPr defTabSz="914400">
                        <a:lnSpc>
                          <a:spcPct val="107000"/>
                        </a:lnSpc>
                        <a:spcAft>
                          <a:spcPts val="799"/>
                        </a:spcAft>
                      </a:pPr>
                      <a:r>
                        <a:rPr b="1" lang="en-US" sz="1600" spc="-1" strike="noStrike">
                          <a:solidFill>
                            <a:schemeClr val="lt1"/>
                          </a:solidFill>
                          <a:latin typeface="Calibri"/>
                        </a:rPr>
                        <a:t>Conceptual Difference</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94680" rIns="94680" anchor="ctr">
                      <a:noAutofit/>
                    </a:bodyPr>
                    <a:p>
                      <a:pPr defTabSz="914400">
                        <a:lnSpc>
                          <a:spcPct val="107000"/>
                        </a:lnSpc>
                        <a:spcAft>
                          <a:spcPts val="799"/>
                        </a:spcAft>
                      </a:pPr>
                      <a:r>
                        <a:rPr b="0" lang="en-US" sz="1600" spc="-1" strike="noStrike">
                          <a:solidFill>
                            <a:schemeClr val="dk1"/>
                          </a:solidFill>
                          <a:latin typeface="Calibri"/>
                        </a:rPr>
                        <a:t>DFS builds the tree sub-tree by sub-tree.</a:t>
                      </a:r>
                      <a:endParaRPr b="0" lang="en-US" sz="1600" spc="-1" strike="noStrike">
                        <a:solidFill>
                          <a:srgbClr val="000000"/>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7000"/>
                        </a:lnSpc>
                        <a:spcAft>
                          <a:spcPts val="799"/>
                        </a:spcAft>
                      </a:pPr>
                      <a:r>
                        <a:rPr b="0" lang="en-US" sz="1600" spc="-1" strike="noStrike">
                          <a:solidFill>
                            <a:schemeClr val="dk1"/>
                          </a:solidFill>
                          <a:latin typeface="Calibri"/>
                        </a:rPr>
                        <a:t>BFS builds the tree level by level.</a:t>
                      </a:r>
                      <a:endParaRPr b="0" lang="en-US" sz="16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606960">
                <a:tc>
                  <a:txBody>
                    <a:bodyPr lIns="37800" rIns="37800" anchor="b">
                      <a:noAutofit/>
                    </a:bodyPr>
                    <a:p>
                      <a:pPr defTabSz="914400">
                        <a:lnSpc>
                          <a:spcPct val="107000"/>
                        </a:lnSpc>
                        <a:spcAft>
                          <a:spcPts val="799"/>
                        </a:spcAft>
                      </a:pPr>
                      <a:r>
                        <a:rPr b="1" lang="en-US" sz="1600" spc="-1" strike="noStrike">
                          <a:solidFill>
                            <a:schemeClr val="lt1"/>
                          </a:solidFill>
                          <a:latin typeface="Calibri"/>
                        </a:rPr>
                        <a:t>Approach used</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94680" rIns="94680" anchor="ctr">
                      <a:noAutofit/>
                    </a:bodyPr>
                    <a:p>
                      <a:pPr defTabSz="914400">
                        <a:lnSpc>
                          <a:spcPct val="107000"/>
                        </a:lnSpc>
                        <a:spcAft>
                          <a:spcPts val="799"/>
                        </a:spcAft>
                      </a:pPr>
                      <a:r>
                        <a:rPr b="0" lang="en-US" sz="1600" spc="-1" strike="noStrike">
                          <a:solidFill>
                            <a:schemeClr val="dk1"/>
                          </a:solidFill>
                          <a:latin typeface="Calibri"/>
                        </a:rPr>
                        <a:t>It works on the concept of</a:t>
                      </a:r>
                      <a:r>
                        <a:rPr b="0" lang="en-US" sz="1600" spc="-1" strike="noStrike" u="sng">
                          <a:solidFill>
                            <a:schemeClr val="dk1"/>
                          </a:solidFill>
                          <a:uFillTx/>
                          <a:latin typeface="Calibri"/>
                          <a:hlinkClick r:id="rId1"/>
                        </a:rPr>
                        <a:t> LIFO</a:t>
                      </a:r>
                      <a:r>
                        <a:rPr b="0" lang="en-US" sz="1600" spc="-1" strike="noStrike">
                          <a:solidFill>
                            <a:schemeClr val="dk1"/>
                          </a:solidFill>
                          <a:latin typeface="Calibri"/>
                        </a:rPr>
                        <a:t> (Last In First Out).</a:t>
                      </a:r>
                      <a:endParaRPr b="0" lang="en-US" sz="1600" spc="-1" strike="noStrike">
                        <a:solidFill>
                          <a:srgbClr val="000000"/>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7000"/>
                        </a:lnSpc>
                        <a:spcAft>
                          <a:spcPts val="799"/>
                        </a:spcAft>
                      </a:pPr>
                      <a:r>
                        <a:rPr b="0" lang="en-US" sz="1600" spc="-1" strike="noStrike">
                          <a:solidFill>
                            <a:schemeClr val="dk1"/>
                          </a:solidFill>
                          <a:latin typeface="Calibri"/>
                        </a:rPr>
                        <a:t>It works on the concept of </a:t>
                      </a:r>
                      <a:r>
                        <a:rPr b="0" lang="en-US" sz="1600" spc="-1" strike="noStrike" u="sng">
                          <a:solidFill>
                            <a:schemeClr val="dk1"/>
                          </a:solidFill>
                          <a:uFillTx/>
                          <a:latin typeface="Calibri"/>
                          <a:hlinkClick r:id="rId2"/>
                        </a:rPr>
                        <a:t>FIFO</a:t>
                      </a:r>
                      <a:r>
                        <a:rPr b="0" lang="en-US" sz="1600" spc="-1" strike="noStrike">
                          <a:solidFill>
                            <a:schemeClr val="dk1"/>
                          </a:solidFill>
                          <a:latin typeface="Calibri"/>
                        </a:rPr>
                        <a:t> (First In First Out). </a:t>
                      </a:r>
                      <a:endParaRPr b="0" lang="en-US" sz="16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606960">
                <a:tc>
                  <a:txBody>
                    <a:bodyPr lIns="37800" rIns="37800" anchor="b">
                      <a:noAutofit/>
                    </a:bodyPr>
                    <a:p>
                      <a:pPr defTabSz="914400">
                        <a:lnSpc>
                          <a:spcPct val="107000"/>
                        </a:lnSpc>
                        <a:spcAft>
                          <a:spcPts val="799"/>
                        </a:spcAft>
                      </a:pPr>
                      <a:r>
                        <a:rPr b="1" lang="en-US" sz="1600" spc="-1" strike="noStrike">
                          <a:solidFill>
                            <a:schemeClr val="lt1"/>
                          </a:solidFill>
                          <a:latin typeface="Calibri"/>
                        </a:rPr>
                        <a:t>Suitable for</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94680" rIns="94680" anchor="ctr">
                      <a:noAutofit/>
                    </a:bodyPr>
                    <a:p>
                      <a:pPr defTabSz="914400">
                        <a:lnSpc>
                          <a:spcPct val="107000"/>
                        </a:lnSpc>
                        <a:spcAft>
                          <a:spcPts val="799"/>
                        </a:spcAft>
                      </a:pPr>
                      <a:r>
                        <a:rPr b="0" lang="en-US" sz="1600" spc="-1" strike="noStrike">
                          <a:solidFill>
                            <a:schemeClr val="dk1"/>
                          </a:solidFill>
                          <a:latin typeface="Calibri"/>
                        </a:rPr>
                        <a:t>DFS is more suitable when there are solutions away from source.</a:t>
                      </a:r>
                      <a:endParaRPr b="0" lang="en-US" sz="1600" spc="-1" strike="noStrike">
                        <a:solidFill>
                          <a:srgbClr val="000000"/>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ctr">
                      <a:noAutofit/>
                    </a:bodyPr>
                    <a:p>
                      <a:pPr defTabSz="914400">
                        <a:lnSpc>
                          <a:spcPct val="107000"/>
                        </a:lnSpc>
                        <a:spcAft>
                          <a:spcPts val="799"/>
                        </a:spcAft>
                      </a:pPr>
                      <a:r>
                        <a:rPr b="0" lang="en-US" sz="1600" spc="-1" strike="noStrike">
                          <a:solidFill>
                            <a:schemeClr val="dk1"/>
                          </a:solidFill>
                          <a:latin typeface="Calibri"/>
                        </a:rPr>
                        <a:t>BFS is more suitable for searching vertices closer to the given source.</a:t>
                      </a:r>
                      <a:endParaRPr b="0" lang="en-US" sz="16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55080">
                <a:tc>
                  <a:txBody>
                    <a:bodyPr lIns="37800" rIns="37800" anchor="b">
                      <a:noAutofit/>
                    </a:bodyPr>
                    <a:p>
                      <a:pPr defTabSz="914400">
                        <a:lnSpc>
                          <a:spcPct val="107000"/>
                        </a:lnSpc>
                        <a:spcAft>
                          <a:spcPts val="799"/>
                        </a:spcAft>
                      </a:pPr>
                      <a:r>
                        <a:rPr b="1" lang="en-US" sz="1600" spc="-1" strike="noStrike">
                          <a:solidFill>
                            <a:schemeClr val="lt1"/>
                          </a:solidFill>
                          <a:latin typeface="Calibri"/>
                        </a:rPr>
                        <a:t>Applications</a:t>
                      </a:r>
                      <a:endParaRPr b="0" lang="en-US" sz="1600" spc="-1" strike="noStrike">
                        <a:solidFill>
                          <a:srgbClr val="ffffff"/>
                        </a:solidFill>
                        <a:latin typeface="Arial"/>
                      </a:endParaRPr>
                    </a:p>
                  </a:txBody>
                  <a:tcPr anchor="b" marL="37800" marR="378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lIns="94680" rIns="94680" anchor="ctr">
                      <a:noAutofit/>
                    </a:bodyPr>
                    <a:p>
                      <a:pPr defTabSz="914400">
                        <a:lnSpc>
                          <a:spcPct val="107000"/>
                        </a:lnSpc>
                        <a:spcAft>
                          <a:spcPts val="799"/>
                        </a:spcAft>
                      </a:pPr>
                      <a:r>
                        <a:rPr b="0" lang="en-US" sz="1600" spc="-1" strike="noStrike">
                          <a:solidFill>
                            <a:schemeClr val="dk1"/>
                          </a:solidFill>
                          <a:latin typeface="Calibri"/>
                        </a:rPr>
                        <a:t>DFS is used in various applications such as acyclic graphs and finding strongly connected components etc.</a:t>
                      </a:r>
                      <a:endParaRPr b="0" lang="en-US" sz="1600" spc="-1" strike="noStrike">
                        <a:solidFill>
                          <a:srgbClr val="000000"/>
                        </a:solidFill>
                        <a:latin typeface="Arial"/>
                      </a:endParaRPr>
                    </a:p>
                  </a:txBody>
                  <a:tcPr anchor="ctr" marL="94680" marR="946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ctr">
                      <a:noAutofit/>
                    </a:bodyPr>
                    <a:p>
                      <a:pPr defTabSz="914400">
                        <a:lnSpc>
                          <a:spcPct val="107000"/>
                        </a:lnSpc>
                        <a:spcAft>
                          <a:spcPts val="799"/>
                        </a:spcAft>
                      </a:pPr>
                      <a:r>
                        <a:rPr b="0" lang="en-US" sz="1600" spc="-1" strike="noStrike">
                          <a:solidFill>
                            <a:schemeClr val="dk1"/>
                          </a:solidFill>
                          <a:latin typeface="Calibri"/>
                        </a:rPr>
                        <a:t>BFS is used in various applications such as bipartite graphs, shortest paths, etc.</a:t>
                      </a:r>
                      <a:endParaRPr b="0" lang="en-US" sz="16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3"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DFS vs. BFS</a:t>
            </a:r>
            <a:endParaRPr b="0" lang="en-US" sz="4400" spc="-1" strike="noStrike">
              <a:solidFill>
                <a:srgbClr val="000000"/>
              </a:solidFill>
              <a:latin typeface="Arial"/>
            </a:endParaRPr>
          </a:p>
        </p:txBody>
      </p:sp>
      <p:sp>
        <p:nvSpPr>
          <p:cNvPr id="884" name="PlaceHolder 2"/>
          <p:cNvSpPr>
            <a:spLocks noGrp="1"/>
          </p:cNvSpPr>
          <p:nvPr>
            <p:ph type="sldNum" idx="72"/>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B20C9518-1F5D-4418-A789-7780EF4F2E64}"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grpSp>
        <p:nvGrpSpPr>
          <p:cNvPr id="885" name="Group 41"/>
          <p:cNvGrpSpPr/>
          <p:nvPr/>
        </p:nvGrpSpPr>
        <p:grpSpPr>
          <a:xfrm>
            <a:off x="6232680" y="3841920"/>
            <a:ext cx="3647880" cy="2128680"/>
            <a:chOff x="6232680" y="3841920"/>
            <a:chExt cx="3647880" cy="2128680"/>
          </a:xfrm>
        </p:grpSpPr>
        <p:sp>
          <p:nvSpPr>
            <p:cNvPr id="886" name="AutoShape 4"/>
            <p:cNvSpPr/>
            <p:nvPr/>
          </p:nvSpPr>
          <p:spPr>
            <a:xfrm>
              <a:off x="7329600" y="5483160"/>
              <a:ext cx="204804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887" name="AutoShape 5"/>
            <p:cNvSpPr/>
            <p:nvPr/>
          </p:nvSpPr>
          <p:spPr>
            <a:xfrm>
              <a:off x="6734160" y="4754520"/>
              <a:ext cx="314640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888" name="AutoShape 6"/>
            <p:cNvSpPr/>
            <p:nvPr/>
          </p:nvSpPr>
          <p:spPr>
            <a:xfrm>
              <a:off x="7338960" y="402264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889" name="Oval 7"/>
            <p:cNvSpPr/>
            <p:nvPr/>
          </p:nvSpPr>
          <p:spPr>
            <a:xfrm>
              <a:off x="8177040" y="48164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890" name="Oval 8"/>
            <p:cNvSpPr/>
            <p:nvPr/>
          </p:nvSpPr>
          <p:spPr>
            <a:xfrm>
              <a:off x="6956280" y="48164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891" name="Oval 9"/>
            <p:cNvSpPr/>
            <p:nvPr/>
          </p:nvSpPr>
          <p:spPr>
            <a:xfrm>
              <a:off x="7585200" y="40845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892" name="Oval 10"/>
            <p:cNvSpPr/>
            <p:nvPr/>
          </p:nvSpPr>
          <p:spPr>
            <a:xfrm>
              <a:off x="7566120" y="55483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893" name="AutoShape 11"/>
            <p:cNvCxnSpPr>
              <a:stCxn id="891" idx="3"/>
              <a:endCxn id="890" idx="7"/>
            </p:cNvCxnSpPr>
            <p:nvPr/>
          </p:nvCxnSpPr>
          <p:spPr>
            <a:xfrm flipH="1">
              <a:off x="7268760" y="4397040"/>
              <a:ext cx="370440" cy="473400"/>
            </a:xfrm>
            <a:prstGeom prst="straightConnector1">
              <a:avLst/>
            </a:prstGeom>
            <a:ln w="38100">
              <a:solidFill>
                <a:srgbClr val="44546a"/>
              </a:solidFill>
              <a:round/>
              <a:tailEnd len="med" type="triangle" w="med"/>
            </a:ln>
          </p:spPr>
        </p:cxnSp>
        <p:cxnSp>
          <p:nvCxnSpPr>
            <p:cNvPr id="894" name="AutoShape 12"/>
            <p:cNvCxnSpPr>
              <a:stCxn id="892" idx="1"/>
              <a:endCxn id="890" idx="5"/>
            </p:cNvCxnSpPr>
            <p:nvPr/>
          </p:nvCxnSpPr>
          <p:spPr>
            <a:xfrm flipH="1" flipV="1">
              <a:off x="7268760" y="5128920"/>
              <a:ext cx="351360" cy="473400"/>
            </a:xfrm>
            <a:prstGeom prst="straightConnector1">
              <a:avLst/>
            </a:prstGeom>
            <a:ln w="38100">
              <a:solidFill>
                <a:srgbClr val="44546a"/>
              </a:solidFill>
              <a:round/>
              <a:headEnd len="med" type="triangle" w="med"/>
            </a:ln>
          </p:spPr>
        </p:cxnSp>
        <p:cxnSp>
          <p:nvCxnSpPr>
            <p:cNvPr id="895" name="AutoShape 13"/>
            <p:cNvCxnSpPr>
              <a:stCxn id="892" idx="7"/>
              <a:endCxn id="889" idx="3"/>
            </p:cNvCxnSpPr>
            <p:nvPr/>
          </p:nvCxnSpPr>
          <p:spPr>
            <a:xfrm flipV="1">
              <a:off x="7878600" y="5128920"/>
              <a:ext cx="352440" cy="473400"/>
            </a:xfrm>
            <a:prstGeom prst="straightConnector1">
              <a:avLst/>
            </a:prstGeom>
            <a:ln w="38100">
              <a:solidFill>
                <a:srgbClr val="ed7d31"/>
              </a:solidFill>
              <a:prstDash val="dash"/>
              <a:round/>
              <a:headEnd len="med" type="triangle" w="med"/>
            </a:ln>
          </p:spPr>
        </p:cxnSp>
        <p:cxnSp>
          <p:nvCxnSpPr>
            <p:cNvPr id="896" name="AutoShape 14"/>
            <p:cNvCxnSpPr>
              <a:stCxn id="891" idx="5"/>
              <a:endCxn id="889" idx="1"/>
            </p:cNvCxnSpPr>
            <p:nvPr/>
          </p:nvCxnSpPr>
          <p:spPr>
            <a:xfrm>
              <a:off x="7897680" y="4397040"/>
              <a:ext cx="333360" cy="473400"/>
            </a:xfrm>
            <a:prstGeom prst="straightConnector1">
              <a:avLst/>
            </a:prstGeom>
            <a:ln w="38100">
              <a:solidFill>
                <a:srgbClr val="44546a"/>
              </a:solidFill>
              <a:round/>
              <a:tailEnd len="med" type="triangle" w="med"/>
            </a:ln>
          </p:spPr>
        </p:cxnSp>
        <p:cxnSp>
          <p:nvCxnSpPr>
            <p:cNvPr id="897" name="AutoShape 15"/>
            <p:cNvCxnSpPr>
              <a:stCxn id="890" idx="6"/>
              <a:endCxn id="889" idx="2"/>
            </p:cNvCxnSpPr>
            <p:nvPr/>
          </p:nvCxnSpPr>
          <p:spPr>
            <a:xfrm>
              <a:off x="7322040" y="4999320"/>
              <a:ext cx="855720" cy="720"/>
            </a:xfrm>
            <a:prstGeom prst="straightConnector1">
              <a:avLst/>
            </a:prstGeom>
            <a:ln w="38100">
              <a:solidFill>
                <a:srgbClr val="ed7d31"/>
              </a:solidFill>
              <a:prstDash val="dash"/>
              <a:round/>
              <a:tailEnd len="med" type="triangle" w="med"/>
            </a:ln>
          </p:spPr>
        </p:cxnSp>
        <p:sp>
          <p:nvSpPr>
            <p:cNvPr id="898" name="Oval 16"/>
            <p:cNvSpPr/>
            <p:nvPr/>
          </p:nvSpPr>
          <p:spPr>
            <a:xfrm>
              <a:off x="9399600" y="481644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899" name="AutoShape 17"/>
            <p:cNvCxnSpPr>
              <a:stCxn id="900" idx="7"/>
              <a:endCxn id="898" idx="3"/>
            </p:cNvCxnSpPr>
            <p:nvPr/>
          </p:nvCxnSpPr>
          <p:spPr>
            <a:xfrm flipV="1">
              <a:off x="9100800" y="5128920"/>
              <a:ext cx="352800" cy="473400"/>
            </a:xfrm>
            <a:prstGeom prst="straightConnector1">
              <a:avLst/>
            </a:prstGeom>
            <a:ln w="38100">
              <a:solidFill>
                <a:srgbClr val="ed7d31"/>
              </a:solidFill>
              <a:prstDash val="dash"/>
              <a:round/>
              <a:headEnd len="med" type="triangle" w="med"/>
            </a:ln>
          </p:spPr>
        </p:cxnSp>
        <p:cxnSp>
          <p:nvCxnSpPr>
            <p:cNvPr id="901" name="AutoShape 18"/>
            <p:cNvCxnSpPr>
              <a:stCxn id="898" idx="1"/>
              <a:endCxn id="891" idx="6"/>
            </p:cNvCxnSpPr>
            <p:nvPr/>
          </p:nvCxnSpPr>
          <p:spPr>
            <a:xfrm flipH="1" flipV="1">
              <a:off x="7950960" y="4267440"/>
              <a:ext cx="1502640" cy="603000"/>
            </a:xfrm>
            <a:prstGeom prst="straightConnector1">
              <a:avLst/>
            </a:prstGeom>
            <a:ln w="38100">
              <a:solidFill>
                <a:srgbClr val="44546a"/>
              </a:solidFill>
              <a:round/>
              <a:headEnd len="med" type="triangle" w="med"/>
            </a:ln>
          </p:spPr>
        </p:cxnSp>
        <p:sp>
          <p:nvSpPr>
            <p:cNvPr id="902" name="Text Box 19"/>
            <p:cNvSpPr/>
            <p:nvPr/>
          </p:nvSpPr>
          <p:spPr>
            <a:xfrm>
              <a:off x="6842160" y="384192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0</a:t>
              </a:r>
              <a:endParaRPr b="0" lang="en-US" sz="2000" spc="-1" strike="noStrike">
                <a:solidFill>
                  <a:srgbClr val="000000"/>
                </a:solidFill>
                <a:latin typeface="Arial"/>
              </a:endParaRPr>
            </a:p>
          </p:txBody>
        </p:sp>
        <p:sp>
          <p:nvSpPr>
            <p:cNvPr id="903" name="Text Box 20"/>
            <p:cNvSpPr/>
            <p:nvPr/>
          </p:nvSpPr>
          <p:spPr>
            <a:xfrm>
              <a:off x="6232680" y="456552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1</a:t>
              </a:r>
              <a:endParaRPr b="0" lang="en-US" sz="2000" spc="-1" strike="noStrike">
                <a:solidFill>
                  <a:srgbClr val="000000"/>
                </a:solidFill>
                <a:latin typeface="Arial"/>
              </a:endParaRPr>
            </a:p>
          </p:txBody>
        </p:sp>
        <p:cxnSp>
          <p:nvCxnSpPr>
            <p:cNvPr id="904" name="AutoShape 21"/>
            <p:cNvCxnSpPr>
              <a:stCxn id="889" idx="6"/>
              <a:endCxn id="898" idx="2"/>
            </p:cNvCxnSpPr>
            <p:nvPr/>
          </p:nvCxnSpPr>
          <p:spPr>
            <a:xfrm>
              <a:off x="8542800" y="4999320"/>
              <a:ext cx="857520" cy="720"/>
            </a:xfrm>
            <a:prstGeom prst="straightConnector1">
              <a:avLst/>
            </a:prstGeom>
            <a:ln w="38100">
              <a:solidFill>
                <a:srgbClr val="ed7d31"/>
              </a:solidFill>
              <a:prstDash val="dash"/>
              <a:round/>
              <a:tailEnd len="med" type="triangle" w="med"/>
            </a:ln>
          </p:spPr>
        </p:cxnSp>
        <p:sp>
          <p:nvSpPr>
            <p:cNvPr id="900" name="Oval 22"/>
            <p:cNvSpPr/>
            <p:nvPr/>
          </p:nvSpPr>
          <p:spPr>
            <a:xfrm>
              <a:off x="8788320" y="55483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905" name="AutoShape 23"/>
            <p:cNvCxnSpPr>
              <a:stCxn id="889" idx="5"/>
              <a:endCxn id="900" idx="1"/>
            </p:cNvCxnSpPr>
            <p:nvPr/>
          </p:nvCxnSpPr>
          <p:spPr>
            <a:xfrm>
              <a:off x="8489520" y="5128920"/>
              <a:ext cx="352800" cy="473400"/>
            </a:xfrm>
            <a:prstGeom prst="straightConnector1">
              <a:avLst/>
            </a:prstGeom>
            <a:ln w="38100">
              <a:solidFill>
                <a:srgbClr val="44546a"/>
              </a:solidFill>
              <a:round/>
              <a:tailEnd len="med" type="triangle" w="med"/>
            </a:ln>
          </p:spPr>
        </p:cxnSp>
        <p:sp>
          <p:nvSpPr>
            <p:cNvPr id="906" name="Text Box 24"/>
            <p:cNvSpPr/>
            <p:nvPr/>
          </p:nvSpPr>
          <p:spPr>
            <a:xfrm>
              <a:off x="6823080" y="528012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2</a:t>
              </a:r>
              <a:endParaRPr b="0" lang="en-US" sz="2000" spc="-1" strike="noStrike">
                <a:solidFill>
                  <a:srgbClr val="000000"/>
                </a:solidFill>
                <a:latin typeface="Arial"/>
              </a:endParaRPr>
            </a:p>
          </p:txBody>
        </p:sp>
      </p:grpSp>
      <p:sp>
        <p:nvSpPr>
          <p:cNvPr id="907" name="Oval 25"/>
          <p:cNvSpPr/>
          <p:nvPr/>
        </p:nvSpPr>
        <p:spPr>
          <a:xfrm>
            <a:off x="3963960" y="48150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908" name="Oval 26"/>
          <p:cNvSpPr/>
          <p:nvPr/>
        </p:nvSpPr>
        <p:spPr>
          <a:xfrm>
            <a:off x="2743200" y="48150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909" name="Oval 27"/>
          <p:cNvSpPr/>
          <p:nvPr/>
        </p:nvSpPr>
        <p:spPr>
          <a:xfrm>
            <a:off x="3371760" y="408312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910" name="Oval 28"/>
          <p:cNvSpPr/>
          <p:nvPr/>
        </p:nvSpPr>
        <p:spPr>
          <a:xfrm>
            <a:off x="3352680" y="55468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911" name="AutoShape 29"/>
          <p:cNvCxnSpPr>
            <a:stCxn id="909" idx="3"/>
            <a:endCxn id="908" idx="7"/>
          </p:cNvCxnSpPr>
          <p:nvPr/>
        </p:nvCxnSpPr>
        <p:spPr>
          <a:xfrm flipH="1">
            <a:off x="3055680" y="4395600"/>
            <a:ext cx="370080" cy="473400"/>
          </a:xfrm>
          <a:prstGeom prst="straightConnector1">
            <a:avLst/>
          </a:prstGeom>
          <a:ln w="38100">
            <a:solidFill>
              <a:srgbClr val="44546a"/>
            </a:solidFill>
            <a:round/>
            <a:tailEnd len="med" type="triangle" w="med"/>
          </a:ln>
        </p:spPr>
      </p:cxnSp>
      <p:cxnSp>
        <p:nvCxnSpPr>
          <p:cNvPr id="912" name="AutoShape 30"/>
          <p:cNvCxnSpPr>
            <a:stCxn id="910" idx="1"/>
            <a:endCxn id="908" idx="5"/>
          </p:cNvCxnSpPr>
          <p:nvPr/>
        </p:nvCxnSpPr>
        <p:spPr>
          <a:xfrm flipH="1" flipV="1">
            <a:off x="3055680" y="5127480"/>
            <a:ext cx="351000" cy="473400"/>
          </a:xfrm>
          <a:prstGeom prst="straightConnector1">
            <a:avLst/>
          </a:prstGeom>
          <a:ln w="38100">
            <a:solidFill>
              <a:srgbClr val="ed7d31"/>
            </a:solidFill>
            <a:prstDash val="dash"/>
            <a:round/>
            <a:tailEnd len="med" type="triangle" w="med"/>
          </a:ln>
        </p:spPr>
      </p:cxnSp>
      <p:cxnSp>
        <p:nvCxnSpPr>
          <p:cNvPr id="913" name="AutoShape 31"/>
          <p:cNvCxnSpPr>
            <a:stCxn id="910" idx="7"/>
            <a:endCxn id="907" idx="3"/>
          </p:cNvCxnSpPr>
          <p:nvPr/>
        </p:nvCxnSpPr>
        <p:spPr>
          <a:xfrm flipV="1">
            <a:off x="3665160" y="5127480"/>
            <a:ext cx="352800" cy="473400"/>
          </a:xfrm>
          <a:prstGeom prst="straightConnector1">
            <a:avLst/>
          </a:prstGeom>
          <a:ln w="38100">
            <a:solidFill>
              <a:srgbClr val="44546a"/>
            </a:solidFill>
            <a:round/>
            <a:headEnd len="med" type="triangle" w="med"/>
          </a:ln>
        </p:spPr>
      </p:cxnSp>
      <p:cxnSp>
        <p:nvCxnSpPr>
          <p:cNvPr id="914" name="AutoShape 32"/>
          <p:cNvCxnSpPr>
            <a:stCxn id="909" idx="5"/>
            <a:endCxn id="907" idx="1"/>
          </p:cNvCxnSpPr>
          <p:nvPr/>
        </p:nvCxnSpPr>
        <p:spPr>
          <a:xfrm>
            <a:off x="3684240" y="4395600"/>
            <a:ext cx="333720" cy="473400"/>
          </a:xfrm>
          <a:prstGeom prst="straightConnector1">
            <a:avLst/>
          </a:prstGeom>
          <a:ln w="38100">
            <a:solidFill>
              <a:srgbClr val="ed7d31"/>
            </a:solidFill>
            <a:prstDash val="dash"/>
            <a:round/>
            <a:headEnd len="med" type="triangle" w="med"/>
          </a:ln>
        </p:spPr>
      </p:cxnSp>
      <p:cxnSp>
        <p:nvCxnSpPr>
          <p:cNvPr id="915" name="AutoShape 33"/>
          <p:cNvCxnSpPr>
            <a:stCxn id="908" idx="6"/>
            <a:endCxn id="907" idx="2"/>
          </p:cNvCxnSpPr>
          <p:nvPr/>
        </p:nvCxnSpPr>
        <p:spPr>
          <a:xfrm>
            <a:off x="3108960" y="4997880"/>
            <a:ext cx="855720" cy="720"/>
          </a:xfrm>
          <a:prstGeom prst="straightConnector1">
            <a:avLst/>
          </a:prstGeom>
          <a:ln w="38100">
            <a:solidFill>
              <a:srgbClr val="44546a"/>
            </a:solidFill>
            <a:round/>
            <a:tailEnd len="med" type="triangle" w="med"/>
          </a:ln>
        </p:spPr>
      </p:cxnSp>
      <p:sp>
        <p:nvSpPr>
          <p:cNvPr id="916" name="Oval 34"/>
          <p:cNvSpPr/>
          <p:nvPr/>
        </p:nvSpPr>
        <p:spPr>
          <a:xfrm>
            <a:off x="5186520" y="48150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917" name="AutoShape 35"/>
          <p:cNvCxnSpPr>
            <a:stCxn id="918" idx="7"/>
            <a:endCxn id="916" idx="3"/>
          </p:cNvCxnSpPr>
          <p:nvPr/>
        </p:nvCxnSpPr>
        <p:spPr>
          <a:xfrm flipV="1">
            <a:off x="4887720" y="5127480"/>
            <a:ext cx="352800" cy="473400"/>
          </a:xfrm>
          <a:prstGeom prst="straightConnector1">
            <a:avLst/>
          </a:prstGeom>
          <a:ln w="38100">
            <a:solidFill>
              <a:srgbClr val="44546a"/>
            </a:solidFill>
            <a:round/>
            <a:headEnd len="med" type="triangle" w="med"/>
          </a:ln>
        </p:spPr>
      </p:cxnSp>
      <p:cxnSp>
        <p:nvCxnSpPr>
          <p:cNvPr id="919" name="AutoShape 36"/>
          <p:cNvCxnSpPr>
            <a:stCxn id="916" idx="1"/>
            <a:endCxn id="909" idx="6"/>
          </p:cNvCxnSpPr>
          <p:nvPr/>
        </p:nvCxnSpPr>
        <p:spPr>
          <a:xfrm flipH="1" flipV="1">
            <a:off x="3737520" y="4266000"/>
            <a:ext cx="1503000" cy="603000"/>
          </a:xfrm>
          <a:prstGeom prst="straightConnector1">
            <a:avLst/>
          </a:prstGeom>
          <a:ln w="38100">
            <a:solidFill>
              <a:srgbClr val="ed7d31"/>
            </a:solidFill>
            <a:prstDash val="dash"/>
            <a:round/>
            <a:tailEnd len="med" type="triangle" w="med"/>
          </a:ln>
        </p:spPr>
      </p:cxnSp>
      <p:cxnSp>
        <p:nvCxnSpPr>
          <p:cNvPr id="920" name="AutoShape 37"/>
          <p:cNvCxnSpPr>
            <a:stCxn id="907" idx="6"/>
            <a:endCxn id="916" idx="2"/>
          </p:cNvCxnSpPr>
          <p:nvPr/>
        </p:nvCxnSpPr>
        <p:spPr>
          <a:xfrm>
            <a:off x="4329720" y="4997880"/>
            <a:ext cx="857520" cy="720"/>
          </a:xfrm>
          <a:prstGeom prst="straightConnector1">
            <a:avLst/>
          </a:prstGeom>
          <a:ln w="38100">
            <a:solidFill>
              <a:srgbClr val="44546a"/>
            </a:solidFill>
            <a:round/>
            <a:tailEnd len="med" type="triangle" w="med"/>
          </a:ln>
        </p:spPr>
      </p:cxnSp>
      <p:sp>
        <p:nvSpPr>
          <p:cNvPr id="918" name="Oval 38"/>
          <p:cNvSpPr/>
          <p:nvPr/>
        </p:nvSpPr>
        <p:spPr>
          <a:xfrm>
            <a:off x="4575240" y="55468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921" name="AutoShape 39"/>
          <p:cNvCxnSpPr>
            <a:stCxn id="907" idx="5"/>
            <a:endCxn id="918" idx="1"/>
          </p:cNvCxnSpPr>
          <p:nvPr/>
        </p:nvCxnSpPr>
        <p:spPr>
          <a:xfrm>
            <a:off x="4276440" y="5127480"/>
            <a:ext cx="352800" cy="473400"/>
          </a:xfrm>
          <a:prstGeom prst="straightConnector1">
            <a:avLst/>
          </a:prstGeom>
          <a:ln w="38100">
            <a:solidFill>
              <a:srgbClr val="ed7d31"/>
            </a:solidFill>
            <a:prstDash val="dash"/>
            <a:round/>
            <a:headEnd len="med" type="triangle" w="med"/>
          </a:ln>
        </p:spPr>
      </p:cxnSp>
      <p:sp>
        <p:nvSpPr>
          <p:cNvPr id="922" name="Text Box 43"/>
          <p:cNvSpPr/>
          <p:nvPr/>
        </p:nvSpPr>
        <p:spPr>
          <a:xfrm>
            <a:off x="3352680" y="5972040"/>
            <a:ext cx="1589400" cy="45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2400" spc="-1" strike="noStrike">
                <a:solidFill>
                  <a:schemeClr val="dk1"/>
                </a:solidFill>
                <a:latin typeface="Tahoma"/>
                <a:ea typeface="MS PGothic"/>
              </a:rPr>
              <a:t>DFS</a:t>
            </a:r>
            <a:endParaRPr b="0" lang="en-US" sz="2400" spc="-1" strike="noStrike">
              <a:solidFill>
                <a:srgbClr val="000000"/>
              </a:solidFill>
              <a:latin typeface="Arial"/>
            </a:endParaRPr>
          </a:p>
        </p:txBody>
      </p:sp>
      <p:sp>
        <p:nvSpPr>
          <p:cNvPr id="923" name="Text Box 44"/>
          <p:cNvSpPr/>
          <p:nvPr/>
        </p:nvSpPr>
        <p:spPr>
          <a:xfrm>
            <a:off x="7262640" y="5972040"/>
            <a:ext cx="1589400" cy="45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2400" spc="-1" strike="noStrike">
                <a:solidFill>
                  <a:schemeClr val="dk1"/>
                </a:solidFill>
                <a:latin typeface="Tahoma"/>
                <a:ea typeface="MS PGothic"/>
              </a:rPr>
              <a:t>BFS</a:t>
            </a:r>
            <a:endParaRPr b="0" lang="en-US" sz="2400" spc="-1" strike="noStrike">
              <a:solidFill>
                <a:srgbClr val="000000"/>
              </a:solidFill>
              <a:latin typeface="Arial"/>
            </a:endParaRPr>
          </a:p>
        </p:txBody>
      </p:sp>
      <p:graphicFrame>
        <p:nvGraphicFramePr>
          <p:cNvPr id="924" name="Group 86"/>
          <p:cNvGraphicFramePr/>
          <p:nvPr/>
        </p:nvGraphicFramePr>
        <p:xfrm>
          <a:off x="3352680" y="1671480"/>
          <a:ext cx="5202720" cy="2140200"/>
        </p:xfrm>
        <a:graphic>
          <a:graphicData uri="http://schemas.openxmlformats.org/drawingml/2006/table">
            <a:tbl>
              <a:tblPr/>
              <a:tblGrid>
                <a:gridCol w="3489120"/>
                <a:gridCol w="874440"/>
                <a:gridCol w="839520"/>
              </a:tblGrid>
              <a:tr h="479520">
                <a:tc>
                  <a:txBody>
                    <a:bodyPr anchor="ctr">
                      <a:noAutofit/>
                    </a:bodyPr>
                    <a:p>
                      <a:pPr defTabSz="914400">
                        <a:lnSpc>
                          <a:spcPct val="100000"/>
                        </a:lnSpc>
                        <a:spcBef>
                          <a:spcPts val="479"/>
                        </a:spcBef>
                        <a:tabLst>
                          <a:tab algn="l" pos="0"/>
                        </a:tabLst>
                      </a:pPr>
                      <a:r>
                        <a:rPr b="0" lang="en-US" sz="2400" spc="-1" strike="noStrike">
                          <a:solidFill>
                            <a:schemeClr val="dk2"/>
                          </a:solidFill>
                          <a:latin typeface="Tahoma"/>
                        </a:rPr>
                        <a:t>Applications</a:t>
                      </a:r>
                      <a:endParaRPr b="0" lang="en-US" sz="2400" spc="-1" strike="noStrike">
                        <a:solidFill>
                          <a:srgbClr val="000000"/>
                        </a:solidFill>
                        <a:latin typeface="Arial"/>
                      </a:endParaRPr>
                    </a:p>
                  </a:txBody>
                  <a:tcPr anchor="ctr" marL="91440" marR="91440">
                    <a:lnL w="2808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noFill/>
                  </a:tcPr>
                </a:tc>
                <a:tc>
                  <a:txBody>
                    <a:bodyPr anchor="ctr">
                      <a:noAutofit/>
                    </a:bodyPr>
                    <a:p>
                      <a:pPr algn="ctr" defTabSz="914400">
                        <a:lnSpc>
                          <a:spcPct val="100000"/>
                        </a:lnSpc>
                        <a:spcBef>
                          <a:spcPts val="479"/>
                        </a:spcBef>
                        <a:tabLst>
                          <a:tab algn="l" pos="0"/>
                        </a:tabLst>
                      </a:pPr>
                      <a:r>
                        <a:rPr b="0" lang="en-US" sz="2400" spc="-1" strike="noStrike">
                          <a:solidFill>
                            <a:schemeClr val="dk2"/>
                          </a:solidFill>
                          <a:latin typeface="Tahoma"/>
                        </a:rPr>
                        <a:t>DFS</a:t>
                      </a:r>
                      <a:endParaRPr b="0" lang="en-US" sz="24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noFill/>
                  </a:tcPr>
                </a:tc>
                <a:tc>
                  <a:txBody>
                    <a:bodyPr anchor="ctr">
                      <a:noAutofit/>
                    </a:bodyPr>
                    <a:p>
                      <a:pPr algn="ctr" defTabSz="914400">
                        <a:lnSpc>
                          <a:spcPct val="100000"/>
                        </a:lnSpc>
                        <a:spcBef>
                          <a:spcPts val="479"/>
                        </a:spcBef>
                        <a:tabLst>
                          <a:tab algn="l" pos="0"/>
                        </a:tabLst>
                      </a:pPr>
                      <a:r>
                        <a:rPr b="0" lang="en-US" sz="2400" spc="-1" strike="noStrike">
                          <a:solidFill>
                            <a:schemeClr val="dk2"/>
                          </a:solidFill>
                          <a:latin typeface="Tahoma"/>
                        </a:rPr>
                        <a:t>BFS</a:t>
                      </a:r>
                      <a:endParaRPr b="0" lang="en-US" sz="2400" spc="-1" strike="noStrike">
                        <a:solidFill>
                          <a:srgbClr val="000000"/>
                        </a:solidFill>
                        <a:latin typeface="Arial"/>
                      </a:endParaRPr>
                    </a:p>
                  </a:txBody>
                  <a:tcPr anchor="ctr" marL="91440" marR="91440">
                    <a:lnL w="12240">
                      <a:solidFill>
                        <a:srgbClr val="000000"/>
                      </a:solidFill>
                      <a:prstDash val="solid"/>
                    </a:lnL>
                    <a:lnR w="28080">
                      <a:solidFill>
                        <a:srgbClr val="000000"/>
                      </a:solidFill>
                      <a:prstDash val="solid"/>
                    </a:lnR>
                    <a:lnT w="28080">
                      <a:solidFill>
                        <a:srgbClr val="000000"/>
                      </a:solidFill>
                      <a:prstDash val="solid"/>
                    </a:lnT>
                    <a:lnB w="12240">
                      <a:solidFill>
                        <a:srgbClr val="000000"/>
                      </a:solidFill>
                      <a:prstDash val="solid"/>
                    </a:lnB>
                    <a:noFill/>
                  </a:tcPr>
                </a:tc>
              </a:tr>
              <a:tr h="700920">
                <a:tc>
                  <a:txBody>
                    <a:bodyPr anchor="ctr">
                      <a:noAutofit/>
                    </a:bodyPr>
                    <a:p>
                      <a:pPr defTabSz="914400">
                        <a:lnSpc>
                          <a:spcPct val="100000"/>
                        </a:lnSpc>
                        <a:spcBef>
                          <a:spcPts val="400"/>
                        </a:spcBef>
                        <a:tabLst>
                          <a:tab algn="l" pos="0"/>
                        </a:tabLst>
                      </a:pPr>
                      <a:r>
                        <a:rPr b="0" lang="en-US" sz="2000" spc="-1" strike="noStrike">
                          <a:solidFill>
                            <a:schemeClr val="dk1"/>
                          </a:solidFill>
                          <a:latin typeface="Tahoma"/>
                        </a:rPr>
                        <a:t>Spanning forest, connected components, paths, cycles</a:t>
                      </a:r>
                      <a:endParaRPr b="0" lang="en-US" sz="2000" spc="-1" strike="noStrike">
                        <a:solidFill>
                          <a:srgbClr val="000000"/>
                        </a:solidFill>
                        <a:latin typeface="Arial"/>
                      </a:endParaRPr>
                    </a:p>
                  </a:txBody>
                  <a:tcPr anchor="ctr" marL="91440" marR="9144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defTabSz="914400">
                        <a:lnSpc>
                          <a:spcPct val="100000"/>
                        </a:lnSpc>
                        <a:spcBef>
                          <a:spcPts val="360"/>
                        </a:spcBef>
                        <a:tabLst>
                          <a:tab algn="l" pos="0"/>
                        </a:tabLst>
                      </a:pPr>
                      <a:r>
                        <a:rPr b="1" lang="en-US" sz="1800" spc="-1" strike="noStrike">
                          <a:solidFill>
                            <a:schemeClr val="dk1"/>
                          </a:solidFill>
                          <a:latin typeface="Symbol"/>
                        </a:rPr>
                        <a:t></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defTabSz="914400">
                        <a:lnSpc>
                          <a:spcPct val="100000"/>
                        </a:lnSpc>
                        <a:spcBef>
                          <a:spcPts val="360"/>
                        </a:spcBef>
                        <a:tabLst>
                          <a:tab algn="l" pos="0"/>
                        </a:tabLst>
                      </a:pPr>
                      <a:r>
                        <a:rPr b="1" lang="en-US" sz="1800" spc="-1" strike="noStrike">
                          <a:solidFill>
                            <a:schemeClr val="dk1"/>
                          </a:solidFill>
                          <a:latin typeface="Symbol"/>
                        </a:rPr>
                        <a:t></a:t>
                      </a:r>
                      <a:endParaRPr b="0" lang="en-US" sz="1800" spc="-1" strike="noStrike">
                        <a:solidFill>
                          <a:srgbClr val="000000"/>
                        </a:solidFill>
                        <a:latin typeface="Arial"/>
                      </a:endParaRPr>
                    </a:p>
                  </a:txBody>
                  <a:tcPr anchor="ctr" marL="91440" marR="9144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479520">
                <a:tc>
                  <a:txBody>
                    <a:bodyPr anchor="ctr">
                      <a:noAutofit/>
                    </a:bodyPr>
                    <a:p>
                      <a:pPr defTabSz="914400">
                        <a:lnSpc>
                          <a:spcPct val="100000"/>
                        </a:lnSpc>
                        <a:spcBef>
                          <a:spcPts val="400"/>
                        </a:spcBef>
                        <a:tabLst>
                          <a:tab algn="l" pos="0"/>
                        </a:tabLst>
                      </a:pPr>
                      <a:r>
                        <a:rPr b="0" lang="en-US" sz="2000" spc="-1" strike="noStrike">
                          <a:solidFill>
                            <a:schemeClr val="dk1"/>
                          </a:solidFill>
                          <a:latin typeface="Tahoma"/>
                        </a:rPr>
                        <a:t>Shortest paths</a:t>
                      </a:r>
                      <a:endParaRPr b="0" lang="en-US" sz="2000" spc="-1" strike="noStrike">
                        <a:solidFill>
                          <a:srgbClr val="000000"/>
                        </a:solidFill>
                        <a:latin typeface="Arial"/>
                      </a:endParaRPr>
                    </a:p>
                  </a:txBody>
                  <a:tcPr anchor="ctr" marL="91440" marR="9144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endParaRPr b="1" lang="en-US" sz="1800" spc="-1" strike="noStrike">
                        <a:solidFill>
                          <a:schemeClr val="dk1"/>
                        </a:solidFill>
                        <a:latin typeface="Tahoma"/>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defTabSz="914400">
                        <a:lnSpc>
                          <a:spcPct val="100000"/>
                        </a:lnSpc>
                        <a:spcBef>
                          <a:spcPts val="360"/>
                        </a:spcBef>
                        <a:tabLst>
                          <a:tab algn="l" pos="0"/>
                        </a:tabLst>
                      </a:pPr>
                      <a:r>
                        <a:rPr b="1" lang="en-US" sz="1800" spc="-1" strike="noStrike">
                          <a:solidFill>
                            <a:schemeClr val="dk1"/>
                          </a:solidFill>
                          <a:latin typeface="Symbol"/>
                        </a:rPr>
                        <a:t></a:t>
                      </a:r>
                      <a:endParaRPr b="0" lang="en-US" sz="1800" spc="-1" strike="noStrike">
                        <a:solidFill>
                          <a:srgbClr val="000000"/>
                        </a:solidFill>
                        <a:latin typeface="Arial"/>
                      </a:endParaRPr>
                    </a:p>
                  </a:txBody>
                  <a:tcPr anchor="ctr" marL="91440" marR="9144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479520">
                <a:tc>
                  <a:txBody>
                    <a:bodyPr anchor="ctr">
                      <a:noAutofit/>
                    </a:bodyPr>
                    <a:p>
                      <a:pPr defTabSz="914400">
                        <a:lnSpc>
                          <a:spcPct val="100000"/>
                        </a:lnSpc>
                        <a:spcBef>
                          <a:spcPts val="400"/>
                        </a:spcBef>
                        <a:tabLst>
                          <a:tab algn="l" pos="0"/>
                        </a:tabLst>
                      </a:pPr>
                      <a:r>
                        <a:rPr b="0" lang="en-US" sz="2000" spc="-1" strike="noStrike">
                          <a:solidFill>
                            <a:schemeClr val="dk1"/>
                          </a:solidFill>
                          <a:latin typeface="Tahoma"/>
                        </a:rPr>
                        <a:t>Biconnected components</a:t>
                      </a:r>
                      <a:endParaRPr b="0" lang="en-US" sz="2000" spc="-1" strike="noStrike">
                        <a:solidFill>
                          <a:srgbClr val="000000"/>
                        </a:solidFill>
                        <a:latin typeface="Arial"/>
                      </a:endParaRPr>
                    </a:p>
                  </a:txBody>
                  <a:tcPr anchor="ctr" marL="91440" marR="91440">
                    <a:lnL w="2808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anchor="ctr">
                      <a:noAutofit/>
                    </a:bodyPr>
                    <a:p>
                      <a:pPr algn="ctr" defTabSz="914400">
                        <a:lnSpc>
                          <a:spcPct val="100000"/>
                        </a:lnSpc>
                        <a:spcBef>
                          <a:spcPts val="360"/>
                        </a:spcBef>
                        <a:tabLst>
                          <a:tab algn="l" pos="0"/>
                        </a:tabLst>
                      </a:pPr>
                      <a:r>
                        <a:rPr b="1" lang="en-US" sz="1800" spc="-1" strike="noStrike">
                          <a:solidFill>
                            <a:schemeClr val="dk1"/>
                          </a:solidFill>
                          <a:latin typeface="Symbol"/>
                        </a:rPr>
                        <a:t></a:t>
                      </a:r>
                      <a:endParaRPr b="0" lang="en-US" sz="1800" spc="-1" strike="noStrike">
                        <a:solidFill>
                          <a:srgbClr val="000000"/>
                        </a:solidFill>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anchor="ctr">
                      <a:noAutofit/>
                    </a:bodyPr>
                    <a:p>
                      <a:endParaRPr b="1" lang="en-US" sz="1800" spc="-1" strike="noStrike">
                        <a:solidFill>
                          <a:schemeClr val="dk1"/>
                        </a:solidFill>
                        <a:latin typeface="Tahoma"/>
                      </a:endParaRPr>
                    </a:p>
                  </a:txBody>
                  <a:tcPr anchor="ctr" marL="91440" marR="91440">
                    <a:lnL w="12240">
                      <a:solidFill>
                        <a:srgbClr val="000000"/>
                      </a:solidFill>
                      <a:prstDash val="solid"/>
                    </a:lnL>
                    <a:lnR w="28080">
                      <a:solidFill>
                        <a:srgbClr val="000000"/>
                      </a:solidFill>
                      <a:prstDash val="solid"/>
                    </a:lnR>
                    <a:lnT w="12240">
                      <a:solidFill>
                        <a:srgbClr val="000000"/>
                      </a:solidFill>
                      <a:prstDash val="solid"/>
                    </a:lnT>
                    <a:lnB w="2808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5"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DFS vs. BFS (cont.)</a:t>
            </a:r>
            <a:endParaRPr b="0" lang="en-US" sz="4400" spc="-1" strike="noStrike">
              <a:solidFill>
                <a:srgbClr val="000000"/>
              </a:solidFill>
              <a:latin typeface="Arial"/>
            </a:endParaRPr>
          </a:p>
        </p:txBody>
      </p:sp>
      <p:sp>
        <p:nvSpPr>
          <p:cNvPr id="926"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None/>
              <a:tabLst>
                <a:tab algn="l" pos="0"/>
              </a:tabLst>
            </a:pPr>
            <a:r>
              <a:rPr b="0" lang="en-US" sz="2400" spc="-1" strike="noStrike">
                <a:solidFill>
                  <a:schemeClr val="accent2"/>
                </a:solidFill>
                <a:latin typeface="Calibri"/>
              </a:rPr>
              <a:t>Back edge</a:t>
            </a:r>
            <a:r>
              <a:rPr b="0" lang="en-US" sz="2400" spc="-1" strike="noStrike">
                <a:solidFill>
                  <a:schemeClr val="dk1"/>
                </a:solidFill>
                <a:latin typeface="Calibri"/>
              </a:rPr>
              <a:t> </a:t>
            </a:r>
            <a:r>
              <a:rPr b="0" lang="en-US" sz="2400" spc="-1" strike="noStrike">
                <a:solidFill>
                  <a:schemeClr val="dk1"/>
                </a:solidFill>
                <a:latin typeface="Times New Roman"/>
              </a:rPr>
              <a:t>(</a:t>
            </a:r>
            <a:r>
              <a:rPr b="1" i="1" lang="en-US" sz="2400" spc="-1" strike="noStrike">
                <a:solidFill>
                  <a:schemeClr val="dk1"/>
                </a:solidFill>
                <a:latin typeface="Times New Roman"/>
              </a:rPr>
              <a:t>v,w</a:t>
            </a:r>
            <a:r>
              <a:rPr b="0" lang="en-US" sz="2400" spc="-1" strike="noStrike">
                <a:solidFill>
                  <a:schemeClr val="dk1"/>
                </a:solidFill>
                <a:latin typeface="Times New Roman"/>
              </a:rPr>
              <a:t>)</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1" i="1" lang="en-US" sz="2000" spc="-1" strike="noStrike">
                <a:solidFill>
                  <a:schemeClr val="dk1"/>
                </a:solidFill>
                <a:latin typeface="Times New Roman"/>
              </a:rPr>
              <a:t>w </a:t>
            </a:r>
            <a:r>
              <a:rPr b="0" lang="en-US" sz="2000" spc="-1" strike="noStrike">
                <a:solidFill>
                  <a:schemeClr val="dk1"/>
                </a:solidFill>
                <a:latin typeface="Calibri"/>
              </a:rPr>
              <a:t>is an ancestor of </a:t>
            </a:r>
            <a:r>
              <a:rPr b="1" i="1" lang="en-US" sz="2000" spc="-1" strike="noStrike">
                <a:solidFill>
                  <a:schemeClr val="dk1"/>
                </a:solidFill>
                <a:latin typeface="Times New Roman"/>
              </a:rPr>
              <a:t>v</a:t>
            </a:r>
            <a:r>
              <a:rPr b="0" lang="en-US" sz="2000" spc="-1" strike="noStrike">
                <a:solidFill>
                  <a:schemeClr val="dk1"/>
                </a:solidFill>
                <a:latin typeface="Calibri"/>
              </a:rPr>
              <a:t> in the tree of discovery edges</a:t>
            </a:r>
            <a:endParaRPr b="0" lang="en-US" sz="2000" spc="-1" strike="noStrike">
              <a:solidFill>
                <a:srgbClr val="000000"/>
              </a:solidFill>
              <a:latin typeface="Arial"/>
            </a:endParaRPr>
          </a:p>
        </p:txBody>
      </p:sp>
      <p:sp>
        <p:nvSpPr>
          <p:cNvPr id="927" name="PlaceHolder 3"/>
          <p:cNvSpPr>
            <a:spLocks noGrp="1"/>
          </p:cNvSpPr>
          <p:nvPr>
            <p:ph type="sldNum" idx="73"/>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545518E8-19BF-474C-8C8D-C3C61DEE32FC}"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928" name="PlaceHolder 4"/>
          <p:cNvSpPr>
            <a:spLocks noGrp="1"/>
          </p:cNvSpPr>
          <p:nvPr>
            <p:ph/>
          </p:nvPr>
        </p:nvSpPr>
        <p:spPr>
          <a:xfrm>
            <a:off x="7678080" y="1073880"/>
            <a:ext cx="3808440" cy="1932120"/>
          </a:xfrm>
          <a:prstGeom prst="rect">
            <a:avLst/>
          </a:prstGeom>
          <a:noFill/>
          <a:ln w="0">
            <a:noFill/>
          </a:ln>
        </p:spPr>
        <p:txBody>
          <a:bodyPr lIns="91440" rIns="91440" tIns="45720" bIns="45720" anchor="t">
            <a:noAutofit/>
          </a:bodyPr>
          <a:p>
            <a:pPr marL="228600" indent="-228600" defTabSz="914400">
              <a:lnSpc>
                <a:spcPct val="90000"/>
              </a:lnSpc>
              <a:spcBef>
                <a:spcPts val="1001"/>
              </a:spcBef>
              <a:buNone/>
              <a:tabLst>
                <a:tab algn="l" pos="0"/>
              </a:tabLst>
            </a:pPr>
            <a:r>
              <a:rPr b="0" lang="en-US" sz="2400" spc="-1" strike="noStrike">
                <a:solidFill>
                  <a:schemeClr val="accent2"/>
                </a:solidFill>
                <a:latin typeface="Calibri"/>
              </a:rPr>
              <a:t>Cross edge</a:t>
            </a:r>
            <a:r>
              <a:rPr b="0" lang="en-US" sz="2400" spc="-1" strike="noStrike">
                <a:solidFill>
                  <a:schemeClr val="dk1"/>
                </a:solidFill>
                <a:latin typeface="Calibri"/>
              </a:rPr>
              <a:t> </a:t>
            </a:r>
            <a:r>
              <a:rPr b="0" lang="en-US" sz="2400" spc="-1" strike="noStrike">
                <a:solidFill>
                  <a:schemeClr val="dk1"/>
                </a:solidFill>
                <a:latin typeface="Times New Roman"/>
              </a:rPr>
              <a:t>(</a:t>
            </a:r>
            <a:r>
              <a:rPr b="1" i="1" lang="en-US" sz="2400" spc="-1" strike="noStrike">
                <a:solidFill>
                  <a:schemeClr val="dk1"/>
                </a:solidFill>
                <a:latin typeface="Times New Roman"/>
              </a:rPr>
              <a:t>v,w</a:t>
            </a:r>
            <a:r>
              <a:rPr b="0" lang="en-US" sz="2400" spc="-1" strike="noStrike">
                <a:solidFill>
                  <a:schemeClr val="dk1"/>
                </a:solidFill>
                <a:latin typeface="Times New Roman"/>
              </a:rPr>
              <a:t>)</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1" i="1" lang="en-US" sz="2000" spc="-1" strike="noStrike">
                <a:solidFill>
                  <a:schemeClr val="dk1"/>
                </a:solidFill>
                <a:latin typeface="Times New Roman"/>
              </a:rPr>
              <a:t>w</a:t>
            </a:r>
            <a:r>
              <a:rPr b="0" lang="en-US" sz="2000" spc="-1" strike="noStrike">
                <a:solidFill>
                  <a:schemeClr val="dk1"/>
                </a:solidFill>
                <a:latin typeface="Calibri"/>
              </a:rPr>
              <a:t> is in the same level as </a:t>
            </a:r>
            <a:r>
              <a:rPr b="1" i="1" lang="en-US" sz="2000" spc="-1" strike="noStrike">
                <a:solidFill>
                  <a:schemeClr val="dk1"/>
                </a:solidFill>
                <a:latin typeface="Times New Roman"/>
              </a:rPr>
              <a:t>v</a:t>
            </a:r>
            <a:r>
              <a:rPr b="0" lang="en-US" sz="2000" spc="-1" strike="noStrike">
                <a:solidFill>
                  <a:schemeClr val="dk1"/>
                </a:solidFill>
                <a:latin typeface="Calibri"/>
              </a:rPr>
              <a:t> or in the next level</a:t>
            </a:r>
            <a:endParaRPr b="0" lang="en-US" sz="2000" spc="-1" strike="noStrike">
              <a:solidFill>
                <a:srgbClr val="000000"/>
              </a:solidFill>
              <a:latin typeface="Arial"/>
            </a:endParaRPr>
          </a:p>
          <a:p>
            <a:pPr indent="0" defTabSz="914400">
              <a:lnSpc>
                <a:spcPct val="90000"/>
              </a:lnSpc>
              <a:spcBef>
                <a:spcPts val="499"/>
              </a:spcBef>
              <a:buNone/>
              <a:tabLst>
                <a:tab algn="l" pos="0"/>
              </a:tabLst>
            </a:pPr>
            <a:endParaRPr b="0" lang="en-US" sz="2000" spc="-1" strike="noStrike">
              <a:solidFill>
                <a:srgbClr val="000000"/>
              </a:solidFill>
              <a:latin typeface="Arial"/>
            </a:endParaRPr>
          </a:p>
        </p:txBody>
      </p:sp>
      <p:grpSp>
        <p:nvGrpSpPr>
          <p:cNvPr id="929" name="Group 5"/>
          <p:cNvGrpSpPr/>
          <p:nvPr/>
        </p:nvGrpSpPr>
        <p:grpSpPr>
          <a:xfrm>
            <a:off x="6232680" y="3657600"/>
            <a:ext cx="3647880" cy="2129040"/>
            <a:chOff x="6232680" y="3657600"/>
            <a:chExt cx="3647880" cy="2129040"/>
          </a:xfrm>
        </p:grpSpPr>
        <p:sp>
          <p:nvSpPr>
            <p:cNvPr id="930" name="AutoShape 6"/>
            <p:cNvSpPr/>
            <p:nvPr/>
          </p:nvSpPr>
          <p:spPr>
            <a:xfrm>
              <a:off x="7329600" y="5299200"/>
              <a:ext cx="204804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931" name="AutoShape 7"/>
            <p:cNvSpPr/>
            <p:nvPr/>
          </p:nvSpPr>
          <p:spPr>
            <a:xfrm>
              <a:off x="6734160" y="4570560"/>
              <a:ext cx="314640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932" name="AutoShape 8"/>
            <p:cNvSpPr/>
            <p:nvPr/>
          </p:nvSpPr>
          <p:spPr>
            <a:xfrm>
              <a:off x="7338960" y="3838680"/>
              <a:ext cx="825480" cy="487440"/>
            </a:xfrm>
            <a:prstGeom prst="roundRect">
              <a:avLst>
                <a:gd name="adj" fmla="val 16667"/>
              </a:avLst>
            </a:pr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933" name="Oval 9"/>
            <p:cNvSpPr/>
            <p:nvPr/>
          </p:nvSpPr>
          <p:spPr>
            <a:xfrm>
              <a:off x="8177040" y="46324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934" name="Oval 10"/>
            <p:cNvSpPr/>
            <p:nvPr/>
          </p:nvSpPr>
          <p:spPr>
            <a:xfrm>
              <a:off x="6956280" y="46324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935" name="Oval 11"/>
            <p:cNvSpPr/>
            <p:nvPr/>
          </p:nvSpPr>
          <p:spPr>
            <a:xfrm>
              <a:off x="7585200" y="39006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936" name="Oval 12"/>
            <p:cNvSpPr/>
            <p:nvPr/>
          </p:nvSpPr>
          <p:spPr>
            <a:xfrm>
              <a:off x="7566120" y="53640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937" name="AutoShape 13"/>
            <p:cNvCxnSpPr>
              <a:stCxn id="935" idx="3"/>
              <a:endCxn id="934" idx="7"/>
            </p:cNvCxnSpPr>
            <p:nvPr/>
          </p:nvCxnSpPr>
          <p:spPr>
            <a:xfrm flipH="1">
              <a:off x="7268760" y="4213080"/>
              <a:ext cx="370440" cy="473400"/>
            </a:xfrm>
            <a:prstGeom prst="straightConnector1">
              <a:avLst/>
            </a:prstGeom>
            <a:ln w="38100">
              <a:solidFill>
                <a:srgbClr val="44546a"/>
              </a:solidFill>
              <a:round/>
              <a:tailEnd len="med" type="triangle" w="med"/>
            </a:ln>
          </p:spPr>
        </p:cxnSp>
        <p:cxnSp>
          <p:nvCxnSpPr>
            <p:cNvPr id="938" name="AutoShape 14"/>
            <p:cNvCxnSpPr>
              <a:stCxn id="936" idx="1"/>
              <a:endCxn id="934" idx="5"/>
            </p:cNvCxnSpPr>
            <p:nvPr/>
          </p:nvCxnSpPr>
          <p:spPr>
            <a:xfrm flipH="1" flipV="1">
              <a:off x="7268760" y="4944960"/>
              <a:ext cx="351360" cy="473040"/>
            </a:xfrm>
            <a:prstGeom prst="straightConnector1">
              <a:avLst/>
            </a:prstGeom>
            <a:ln w="38100">
              <a:solidFill>
                <a:srgbClr val="44546a"/>
              </a:solidFill>
              <a:round/>
              <a:headEnd len="med" type="triangle" w="med"/>
            </a:ln>
          </p:spPr>
        </p:cxnSp>
        <p:cxnSp>
          <p:nvCxnSpPr>
            <p:cNvPr id="939" name="AutoShape 15"/>
            <p:cNvCxnSpPr>
              <a:stCxn id="936" idx="7"/>
              <a:endCxn id="933" idx="3"/>
            </p:cNvCxnSpPr>
            <p:nvPr/>
          </p:nvCxnSpPr>
          <p:spPr>
            <a:xfrm flipV="1">
              <a:off x="7878600" y="4944960"/>
              <a:ext cx="352440" cy="473040"/>
            </a:xfrm>
            <a:prstGeom prst="straightConnector1">
              <a:avLst/>
            </a:prstGeom>
            <a:ln w="38100">
              <a:solidFill>
                <a:srgbClr val="ed7d31"/>
              </a:solidFill>
              <a:prstDash val="dash"/>
              <a:round/>
              <a:headEnd len="med" type="triangle" w="med"/>
            </a:ln>
          </p:spPr>
        </p:cxnSp>
        <p:cxnSp>
          <p:nvCxnSpPr>
            <p:cNvPr id="940" name="AutoShape 16"/>
            <p:cNvCxnSpPr>
              <a:stCxn id="935" idx="5"/>
              <a:endCxn id="933" idx="1"/>
            </p:cNvCxnSpPr>
            <p:nvPr/>
          </p:nvCxnSpPr>
          <p:spPr>
            <a:xfrm>
              <a:off x="7897680" y="4213080"/>
              <a:ext cx="333360" cy="473400"/>
            </a:xfrm>
            <a:prstGeom prst="straightConnector1">
              <a:avLst/>
            </a:prstGeom>
            <a:ln w="38100">
              <a:solidFill>
                <a:srgbClr val="44546a"/>
              </a:solidFill>
              <a:round/>
              <a:tailEnd len="med" type="triangle" w="med"/>
            </a:ln>
          </p:spPr>
        </p:cxnSp>
        <p:cxnSp>
          <p:nvCxnSpPr>
            <p:cNvPr id="941" name="AutoShape 17"/>
            <p:cNvCxnSpPr>
              <a:stCxn id="934" idx="6"/>
              <a:endCxn id="933" idx="2"/>
            </p:cNvCxnSpPr>
            <p:nvPr/>
          </p:nvCxnSpPr>
          <p:spPr>
            <a:xfrm>
              <a:off x="7322040" y="4815360"/>
              <a:ext cx="855720" cy="720"/>
            </a:xfrm>
            <a:prstGeom prst="straightConnector1">
              <a:avLst/>
            </a:prstGeom>
            <a:ln w="38100">
              <a:solidFill>
                <a:srgbClr val="ed7d31"/>
              </a:solidFill>
              <a:prstDash val="dash"/>
              <a:round/>
              <a:tailEnd len="med" type="triangle" w="med"/>
            </a:ln>
          </p:spPr>
        </p:cxnSp>
        <p:sp>
          <p:nvSpPr>
            <p:cNvPr id="942" name="Oval 18"/>
            <p:cNvSpPr/>
            <p:nvPr/>
          </p:nvSpPr>
          <p:spPr>
            <a:xfrm>
              <a:off x="9399600" y="46324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943" name="AutoShape 19"/>
            <p:cNvCxnSpPr>
              <a:stCxn id="944" idx="7"/>
              <a:endCxn id="942" idx="3"/>
            </p:cNvCxnSpPr>
            <p:nvPr/>
          </p:nvCxnSpPr>
          <p:spPr>
            <a:xfrm flipV="1">
              <a:off x="9100800" y="4944960"/>
              <a:ext cx="352800" cy="473040"/>
            </a:xfrm>
            <a:prstGeom prst="straightConnector1">
              <a:avLst/>
            </a:prstGeom>
            <a:ln w="38100">
              <a:solidFill>
                <a:srgbClr val="ed7d31"/>
              </a:solidFill>
              <a:prstDash val="dash"/>
              <a:round/>
              <a:headEnd len="med" type="triangle" w="med"/>
            </a:ln>
          </p:spPr>
        </p:cxnSp>
        <p:cxnSp>
          <p:nvCxnSpPr>
            <p:cNvPr id="945" name="AutoShape 20"/>
            <p:cNvCxnSpPr>
              <a:stCxn id="942" idx="1"/>
              <a:endCxn id="935" idx="6"/>
            </p:cNvCxnSpPr>
            <p:nvPr/>
          </p:nvCxnSpPr>
          <p:spPr>
            <a:xfrm flipH="1" flipV="1">
              <a:off x="7950960" y="4083480"/>
              <a:ext cx="1502640" cy="603000"/>
            </a:xfrm>
            <a:prstGeom prst="straightConnector1">
              <a:avLst/>
            </a:prstGeom>
            <a:ln w="38100">
              <a:solidFill>
                <a:srgbClr val="44546a"/>
              </a:solidFill>
              <a:round/>
              <a:headEnd len="med" type="triangle" w="med"/>
            </a:ln>
          </p:spPr>
        </p:cxnSp>
        <p:sp>
          <p:nvSpPr>
            <p:cNvPr id="946" name="Text Box 21"/>
            <p:cNvSpPr/>
            <p:nvPr/>
          </p:nvSpPr>
          <p:spPr>
            <a:xfrm>
              <a:off x="6842160" y="365760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0</a:t>
              </a:r>
              <a:endParaRPr b="0" lang="en-US" sz="2000" spc="-1" strike="noStrike">
                <a:solidFill>
                  <a:srgbClr val="000000"/>
                </a:solidFill>
                <a:latin typeface="Arial"/>
              </a:endParaRPr>
            </a:p>
          </p:txBody>
        </p:sp>
        <p:sp>
          <p:nvSpPr>
            <p:cNvPr id="947" name="Text Box 22"/>
            <p:cNvSpPr/>
            <p:nvPr/>
          </p:nvSpPr>
          <p:spPr>
            <a:xfrm>
              <a:off x="6232680" y="438156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1</a:t>
              </a:r>
              <a:endParaRPr b="0" lang="en-US" sz="2000" spc="-1" strike="noStrike">
                <a:solidFill>
                  <a:srgbClr val="000000"/>
                </a:solidFill>
                <a:latin typeface="Arial"/>
              </a:endParaRPr>
            </a:p>
          </p:txBody>
        </p:sp>
        <p:cxnSp>
          <p:nvCxnSpPr>
            <p:cNvPr id="948" name="AutoShape 23"/>
            <p:cNvCxnSpPr>
              <a:stCxn id="933" idx="6"/>
              <a:endCxn id="942" idx="2"/>
            </p:cNvCxnSpPr>
            <p:nvPr/>
          </p:nvCxnSpPr>
          <p:spPr>
            <a:xfrm>
              <a:off x="8542800" y="4815360"/>
              <a:ext cx="857520" cy="720"/>
            </a:xfrm>
            <a:prstGeom prst="straightConnector1">
              <a:avLst/>
            </a:prstGeom>
            <a:ln w="38100">
              <a:solidFill>
                <a:srgbClr val="ed7d31"/>
              </a:solidFill>
              <a:prstDash val="dash"/>
              <a:round/>
              <a:tailEnd len="med" type="triangle" w="med"/>
            </a:ln>
          </p:spPr>
        </p:cxnSp>
        <p:sp>
          <p:nvSpPr>
            <p:cNvPr id="944" name="Oval 24"/>
            <p:cNvSpPr/>
            <p:nvPr/>
          </p:nvSpPr>
          <p:spPr>
            <a:xfrm>
              <a:off x="8788320" y="53640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949" name="AutoShape 25"/>
            <p:cNvCxnSpPr>
              <a:stCxn id="933" idx="5"/>
              <a:endCxn id="944" idx="1"/>
            </p:cNvCxnSpPr>
            <p:nvPr/>
          </p:nvCxnSpPr>
          <p:spPr>
            <a:xfrm>
              <a:off x="8489520" y="4944960"/>
              <a:ext cx="352800" cy="473040"/>
            </a:xfrm>
            <a:prstGeom prst="straightConnector1">
              <a:avLst/>
            </a:prstGeom>
            <a:ln w="38100">
              <a:solidFill>
                <a:srgbClr val="44546a"/>
              </a:solidFill>
              <a:round/>
              <a:tailEnd len="med" type="triangle" w="med"/>
            </a:ln>
          </p:spPr>
        </p:cxnSp>
        <p:sp>
          <p:nvSpPr>
            <p:cNvPr id="950" name="Text Box 26"/>
            <p:cNvSpPr/>
            <p:nvPr/>
          </p:nvSpPr>
          <p:spPr>
            <a:xfrm>
              <a:off x="6823080" y="5095800"/>
              <a:ext cx="465120" cy="4363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i="1" lang="en-US" sz="2000" spc="-1" strike="noStrike">
                  <a:solidFill>
                    <a:schemeClr val="dk2"/>
                  </a:solidFill>
                  <a:latin typeface="Times New Roman"/>
                  <a:ea typeface="MS PGothic"/>
                </a:rPr>
                <a:t>L</a:t>
              </a:r>
              <a:r>
                <a:rPr b="0" lang="en-US" sz="2000" spc="-1" strike="noStrike" baseline="-25000">
                  <a:solidFill>
                    <a:schemeClr val="dk2"/>
                  </a:solidFill>
                  <a:latin typeface="Times New Roman"/>
                  <a:ea typeface="MS PGothic"/>
                </a:rPr>
                <a:t>2</a:t>
              </a:r>
              <a:endParaRPr b="0" lang="en-US" sz="2000" spc="-1" strike="noStrike">
                <a:solidFill>
                  <a:srgbClr val="000000"/>
                </a:solidFill>
                <a:latin typeface="Arial"/>
              </a:endParaRPr>
            </a:p>
          </p:txBody>
        </p:sp>
      </p:grpSp>
      <p:sp>
        <p:nvSpPr>
          <p:cNvPr id="951" name="Oval 28"/>
          <p:cNvSpPr/>
          <p:nvPr/>
        </p:nvSpPr>
        <p:spPr>
          <a:xfrm>
            <a:off x="3963960" y="46306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952" name="Oval 29"/>
          <p:cNvSpPr/>
          <p:nvPr/>
        </p:nvSpPr>
        <p:spPr>
          <a:xfrm>
            <a:off x="2743200" y="46306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953" name="Oval 30"/>
          <p:cNvSpPr/>
          <p:nvPr/>
        </p:nvSpPr>
        <p:spPr>
          <a:xfrm>
            <a:off x="3371760" y="389880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A</a:t>
            </a:r>
            <a:endParaRPr b="0" lang="en-US" sz="1800" spc="-1" strike="noStrike">
              <a:solidFill>
                <a:srgbClr val="ffffff"/>
              </a:solidFill>
              <a:latin typeface="Arial"/>
            </a:endParaRPr>
          </a:p>
        </p:txBody>
      </p:sp>
      <p:sp>
        <p:nvSpPr>
          <p:cNvPr id="954" name="Oval 31"/>
          <p:cNvSpPr/>
          <p:nvPr/>
        </p:nvSpPr>
        <p:spPr>
          <a:xfrm>
            <a:off x="3352680" y="53625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955" name="AutoShape 32"/>
          <p:cNvCxnSpPr>
            <a:stCxn id="953" idx="3"/>
            <a:endCxn id="952" idx="7"/>
          </p:cNvCxnSpPr>
          <p:nvPr/>
        </p:nvCxnSpPr>
        <p:spPr>
          <a:xfrm flipH="1">
            <a:off x="3055680" y="4211280"/>
            <a:ext cx="370080" cy="473400"/>
          </a:xfrm>
          <a:prstGeom prst="straightConnector1">
            <a:avLst/>
          </a:prstGeom>
          <a:ln w="38100">
            <a:solidFill>
              <a:srgbClr val="44546a"/>
            </a:solidFill>
            <a:round/>
            <a:tailEnd len="med" type="triangle" w="med"/>
          </a:ln>
        </p:spPr>
      </p:cxnSp>
      <p:cxnSp>
        <p:nvCxnSpPr>
          <p:cNvPr id="956" name="AutoShape 33"/>
          <p:cNvCxnSpPr>
            <a:stCxn id="954" idx="1"/>
            <a:endCxn id="952" idx="5"/>
          </p:cNvCxnSpPr>
          <p:nvPr/>
        </p:nvCxnSpPr>
        <p:spPr>
          <a:xfrm flipH="1" flipV="1">
            <a:off x="3055680" y="4943160"/>
            <a:ext cx="351000" cy="473400"/>
          </a:xfrm>
          <a:prstGeom prst="straightConnector1">
            <a:avLst/>
          </a:prstGeom>
          <a:ln w="38100">
            <a:solidFill>
              <a:srgbClr val="ed7d31"/>
            </a:solidFill>
            <a:prstDash val="dash"/>
            <a:round/>
            <a:tailEnd len="med" type="triangle" w="med"/>
          </a:ln>
        </p:spPr>
      </p:cxnSp>
      <p:cxnSp>
        <p:nvCxnSpPr>
          <p:cNvPr id="957" name="AutoShape 34"/>
          <p:cNvCxnSpPr>
            <a:stCxn id="954" idx="7"/>
            <a:endCxn id="951" idx="3"/>
          </p:cNvCxnSpPr>
          <p:nvPr/>
        </p:nvCxnSpPr>
        <p:spPr>
          <a:xfrm flipV="1">
            <a:off x="3665160" y="4943160"/>
            <a:ext cx="352800" cy="473400"/>
          </a:xfrm>
          <a:prstGeom prst="straightConnector1">
            <a:avLst/>
          </a:prstGeom>
          <a:ln w="38100">
            <a:solidFill>
              <a:srgbClr val="44546a"/>
            </a:solidFill>
            <a:round/>
            <a:headEnd len="med" type="triangle" w="med"/>
          </a:ln>
        </p:spPr>
      </p:cxnSp>
      <p:cxnSp>
        <p:nvCxnSpPr>
          <p:cNvPr id="958" name="AutoShape 35"/>
          <p:cNvCxnSpPr>
            <a:stCxn id="953" idx="5"/>
            <a:endCxn id="951" idx="1"/>
          </p:cNvCxnSpPr>
          <p:nvPr/>
        </p:nvCxnSpPr>
        <p:spPr>
          <a:xfrm>
            <a:off x="3684240" y="4211280"/>
            <a:ext cx="333720" cy="473400"/>
          </a:xfrm>
          <a:prstGeom prst="straightConnector1">
            <a:avLst/>
          </a:prstGeom>
          <a:ln w="38100">
            <a:solidFill>
              <a:srgbClr val="ed7d31"/>
            </a:solidFill>
            <a:prstDash val="dash"/>
            <a:round/>
            <a:headEnd len="med" type="triangle" w="med"/>
          </a:ln>
        </p:spPr>
      </p:cxnSp>
      <p:cxnSp>
        <p:nvCxnSpPr>
          <p:cNvPr id="959" name="AutoShape 36"/>
          <p:cNvCxnSpPr>
            <a:stCxn id="952" idx="6"/>
            <a:endCxn id="951" idx="2"/>
          </p:cNvCxnSpPr>
          <p:nvPr/>
        </p:nvCxnSpPr>
        <p:spPr>
          <a:xfrm>
            <a:off x="3108960" y="4813560"/>
            <a:ext cx="855720" cy="720"/>
          </a:xfrm>
          <a:prstGeom prst="straightConnector1">
            <a:avLst/>
          </a:prstGeom>
          <a:ln w="38100">
            <a:solidFill>
              <a:srgbClr val="44546a"/>
            </a:solidFill>
            <a:round/>
            <a:tailEnd len="med" type="triangle" w="med"/>
          </a:ln>
        </p:spPr>
      </p:cxnSp>
      <p:sp>
        <p:nvSpPr>
          <p:cNvPr id="960" name="Oval 37"/>
          <p:cNvSpPr/>
          <p:nvPr/>
        </p:nvSpPr>
        <p:spPr>
          <a:xfrm>
            <a:off x="5186520" y="463068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961" name="AutoShape 38"/>
          <p:cNvCxnSpPr>
            <a:stCxn id="962" idx="7"/>
            <a:endCxn id="960" idx="3"/>
          </p:cNvCxnSpPr>
          <p:nvPr/>
        </p:nvCxnSpPr>
        <p:spPr>
          <a:xfrm flipV="1">
            <a:off x="4887720" y="4943160"/>
            <a:ext cx="352800" cy="473400"/>
          </a:xfrm>
          <a:prstGeom prst="straightConnector1">
            <a:avLst/>
          </a:prstGeom>
          <a:ln w="38100">
            <a:solidFill>
              <a:srgbClr val="44546a"/>
            </a:solidFill>
            <a:round/>
            <a:headEnd len="med" type="triangle" w="med"/>
          </a:ln>
        </p:spPr>
      </p:cxnSp>
      <p:cxnSp>
        <p:nvCxnSpPr>
          <p:cNvPr id="963" name="AutoShape 39"/>
          <p:cNvCxnSpPr>
            <a:stCxn id="960" idx="1"/>
            <a:endCxn id="953" idx="6"/>
          </p:cNvCxnSpPr>
          <p:nvPr/>
        </p:nvCxnSpPr>
        <p:spPr>
          <a:xfrm flipH="1" flipV="1">
            <a:off x="3737520" y="4081680"/>
            <a:ext cx="1503000" cy="603000"/>
          </a:xfrm>
          <a:prstGeom prst="straightConnector1">
            <a:avLst/>
          </a:prstGeom>
          <a:ln w="38100">
            <a:solidFill>
              <a:srgbClr val="ed7d31"/>
            </a:solidFill>
            <a:prstDash val="dash"/>
            <a:round/>
            <a:tailEnd len="med" type="triangle" w="med"/>
          </a:ln>
        </p:spPr>
      </p:cxnSp>
      <p:cxnSp>
        <p:nvCxnSpPr>
          <p:cNvPr id="964" name="AutoShape 40"/>
          <p:cNvCxnSpPr>
            <a:stCxn id="951" idx="6"/>
            <a:endCxn id="960" idx="2"/>
          </p:cNvCxnSpPr>
          <p:nvPr/>
        </p:nvCxnSpPr>
        <p:spPr>
          <a:xfrm>
            <a:off x="4329720" y="4813560"/>
            <a:ext cx="857520" cy="720"/>
          </a:xfrm>
          <a:prstGeom prst="straightConnector1">
            <a:avLst/>
          </a:prstGeom>
          <a:ln w="38100">
            <a:solidFill>
              <a:srgbClr val="44546a"/>
            </a:solidFill>
            <a:round/>
            <a:tailEnd len="med" type="triangle" w="med"/>
          </a:ln>
        </p:spPr>
      </p:cxnSp>
      <p:sp>
        <p:nvSpPr>
          <p:cNvPr id="962" name="Oval 41"/>
          <p:cNvSpPr/>
          <p:nvPr/>
        </p:nvSpPr>
        <p:spPr>
          <a:xfrm>
            <a:off x="4575240" y="5362560"/>
            <a:ext cx="365400" cy="36540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965" name="AutoShape 42"/>
          <p:cNvCxnSpPr>
            <a:stCxn id="951" idx="5"/>
            <a:endCxn id="962" idx="1"/>
          </p:cNvCxnSpPr>
          <p:nvPr/>
        </p:nvCxnSpPr>
        <p:spPr>
          <a:xfrm>
            <a:off x="4276440" y="4943160"/>
            <a:ext cx="352800" cy="473400"/>
          </a:xfrm>
          <a:prstGeom prst="straightConnector1">
            <a:avLst/>
          </a:prstGeom>
          <a:ln w="38100">
            <a:solidFill>
              <a:srgbClr val="ed7d31"/>
            </a:solidFill>
            <a:prstDash val="dash"/>
            <a:round/>
            <a:headEnd len="med" type="triangle" w="med"/>
          </a:ln>
        </p:spPr>
      </p:cxnSp>
      <p:sp>
        <p:nvSpPr>
          <p:cNvPr id="966" name="Text Box 43"/>
          <p:cNvSpPr/>
          <p:nvPr/>
        </p:nvSpPr>
        <p:spPr>
          <a:xfrm>
            <a:off x="3352680" y="5788080"/>
            <a:ext cx="1589400" cy="45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2400" spc="-1" strike="noStrike">
                <a:solidFill>
                  <a:schemeClr val="dk1"/>
                </a:solidFill>
                <a:latin typeface="Tahoma"/>
                <a:ea typeface="MS PGothic"/>
              </a:rPr>
              <a:t>DFS</a:t>
            </a:r>
            <a:endParaRPr b="0" lang="en-US" sz="2400" spc="-1" strike="noStrike">
              <a:solidFill>
                <a:srgbClr val="000000"/>
              </a:solidFill>
              <a:latin typeface="Arial"/>
            </a:endParaRPr>
          </a:p>
        </p:txBody>
      </p:sp>
      <p:sp>
        <p:nvSpPr>
          <p:cNvPr id="967" name="Text Box 44"/>
          <p:cNvSpPr/>
          <p:nvPr/>
        </p:nvSpPr>
        <p:spPr>
          <a:xfrm>
            <a:off x="7262640" y="5788080"/>
            <a:ext cx="1589400" cy="4554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2400" spc="-1" strike="noStrike">
                <a:solidFill>
                  <a:schemeClr val="dk1"/>
                </a:solidFill>
                <a:latin typeface="Tahoma"/>
                <a:ea typeface="MS PGothic"/>
              </a:rPr>
              <a:t>BFS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8"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Directed Graphs</a:t>
            </a:r>
            <a:endParaRPr b="0" lang="en-US" sz="4400" spc="-1" strike="noStrike">
              <a:solidFill>
                <a:srgbClr val="000000"/>
              </a:solidFill>
              <a:latin typeface="Arial"/>
            </a:endParaRPr>
          </a:p>
        </p:txBody>
      </p:sp>
      <p:sp>
        <p:nvSpPr>
          <p:cNvPr id="969"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 </a:t>
            </a:r>
            <a:r>
              <a:rPr b="0" lang="en-US" sz="2800" spc="-1" strike="noStrike">
                <a:solidFill>
                  <a:schemeClr val="dk2"/>
                </a:solidFill>
                <a:latin typeface="Calibri"/>
              </a:rPr>
              <a:t>directed graph</a:t>
            </a:r>
            <a:r>
              <a:rPr b="0" lang="en-US" sz="2800" spc="-1" strike="noStrike">
                <a:solidFill>
                  <a:schemeClr val="dk1"/>
                </a:solidFill>
                <a:latin typeface="Calibri"/>
              </a:rPr>
              <a:t> is a graph whose edges are all directed</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Applications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one-way streets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flights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task scheduling</a:t>
            </a:r>
            <a:endParaRPr b="0" lang="en-US" sz="2400" spc="-1" strike="noStrike">
              <a:solidFill>
                <a:srgbClr val="000000"/>
              </a:solidFill>
              <a:latin typeface="Arial"/>
            </a:endParaRPr>
          </a:p>
        </p:txBody>
      </p:sp>
      <p:sp>
        <p:nvSpPr>
          <p:cNvPr id="970" name="PlaceHolder 3"/>
          <p:cNvSpPr>
            <a:spLocks noGrp="1"/>
          </p:cNvSpPr>
          <p:nvPr>
            <p:ph type="sldNum" idx="74"/>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E7CBB180-A561-4900-9E93-2BADD9B531DC}"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grpSp>
        <p:nvGrpSpPr>
          <p:cNvPr id="971" name="Group 17"/>
          <p:cNvGrpSpPr/>
          <p:nvPr/>
        </p:nvGrpSpPr>
        <p:grpSpPr>
          <a:xfrm>
            <a:off x="7238880" y="2095560"/>
            <a:ext cx="2827440" cy="3351240"/>
            <a:chOff x="7238880" y="2095560"/>
            <a:chExt cx="2827440" cy="3351240"/>
          </a:xfrm>
        </p:grpSpPr>
        <p:sp>
          <p:nvSpPr>
            <p:cNvPr id="972" name="Oval 4"/>
            <p:cNvSpPr/>
            <p:nvPr/>
          </p:nvSpPr>
          <p:spPr>
            <a:xfrm>
              <a:off x="7934400" y="499104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A</a:t>
              </a:r>
              <a:endParaRPr b="0" lang="en-US" sz="2400" spc="-1" strike="noStrike">
                <a:solidFill>
                  <a:srgbClr val="ffffff"/>
                </a:solidFill>
                <a:latin typeface="Arial"/>
              </a:endParaRPr>
            </a:p>
          </p:txBody>
        </p:sp>
        <p:sp>
          <p:nvSpPr>
            <p:cNvPr id="973" name="Oval 5"/>
            <p:cNvSpPr/>
            <p:nvPr/>
          </p:nvSpPr>
          <p:spPr>
            <a:xfrm>
              <a:off x="7238880" y="361944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C</a:t>
              </a:r>
              <a:endParaRPr b="0" lang="en-US" sz="2400" spc="-1" strike="noStrike">
                <a:solidFill>
                  <a:srgbClr val="ffffff"/>
                </a:solidFill>
                <a:latin typeface="Arial"/>
              </a:endParaRPr>
            </a:p>
          </p:txBody>
        </p:sp>
        <p:sp>
          <p:nvSpPr>
            <p:cNvPr id="974" name="Oval 6"/>
            <p:cNvSpPr/>
            <p:nvPr/>
          </p:nvSpPr>
          <p:spPr>
            <a:xfrm>
              <a:off x="7629480" y="209556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E</a:t>
              </a:r>
              <a:endParaRPr b="0" lang="en-US" sz="2400" spc="-1" strike="noStrike">
                <a:solidFill>
                  <a:srgbClr val="ffffff"/>
                </a:solidFill>
                <a:latin typeface="Arial"/>
              </a:endParaRPr>
            </a:p>
          </p:txBody>
        </p:sp>
        <p:sp>
          <p:nvSpPr>
            <p:cNvPr id="975" name="Oval 7"/>
            <p:cNvSpPr/>
            <p:nvPr/>
          </p:nvSpPr>
          <p:spPr>
            <a:xfrm>
              <a:off x="9610560" y="424800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B</a:t>
              </a:r>
              <a:endParaRPr b="0" lang="en-US" sz="2400" spc="-1" strike="noStrike">
                <a:solidFill>
                  <a:srgbClr val="ffffff"/>
                </a:solidFill>
                <a:latin typeface="Arial"/>
              </a:endParaRPr>
            </a:p>
          </p:txBody>
        </p:sp>
        <p:sp>
          <p:nvSpPr>
            <p:cNvPr id="976" name="Oval 8"/>
            <p:cNvSpPr/>
            <p:nvPr/>
          </p:nvSpPr>
          <p:spPr>
            <a:xfrm>
              <a:off x="9153360" y="2857680"/>
              <a:ext cx="45576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D</a:t>
              </a:r>
              <a:endParaRPr b="0" lang="en-US" sz="2400" spc="-1" strike="noStrike">
                <a:solidFill>
                  <a:srgbClr val="ffffff"/>
                </a:solidFill>
                <a:latin typeface="Arial"/>
              </a:endParaRPr>
            </a:p>
          </p:txBody>
        </p:sp>
        <p:cxnSp>
          <p:nvCxnSpPr>
            <p:cNvPr id="977" name="AutoShape 9"/>
            <p:cNvCxnSpPr>
              <a:stCxn id="972" idx="1"/>
              <a:endCxn id="973" idx="4"/>
            </p:cNvCxnSpPr>
            <p:nvPr/>
          </p:nvCxnSpPr>
          <p:spPr>
            <a:xfrm flipH="1" flipV="1">
              <a:off x="7467120" y="4075560"/>
              <a:ext cx="534600" cy="982800"/>
            </a:xfrm>
            <a:prstGeom prst="straightConnector1">
              <a:avLst/>
            </a:prstGeom>
            <a:ln w="19050">
              <a:solidFill>
                <a:srgbClr val="000000"/>
              </a:solidFill>
              <a:round/>
              <a:tailEnd len="lg" type="triangle" w="med"/>
            </a:ln>
          </p:spPr>
        </p:cxnSp>
        <p:cxnSp>
          <p:nvCxnSpPr>
            <p:cNvPr id="978" name="AutoShape 10"/>
            <p:cNvCxnSpPr>
              <a:stCxn id="972" idx="7"/>
              <a:endCxn id="975" idx="3"/>
            </p:cNvCxnSpPr>
            <p:nvPr/>
          </p:nvCxnSpPr>
          <p:spPr>
            <a:xfrm flipV="1">
              <a:off x="8323920" y="4637520"/>
              <a:ext cx="1353960" cy="420840"/>
            </a:xfrm>
            <a:prstGeom prst="straightConnector1">
              <a:avLst/>
            </a:prstGeom>
            <a:ln w="19050">
              <a:solidFill>
                <a:srgbClr val="000000"/>
              </a:solidFill>
              <a:round/>
              <a:tailEnd len="lg" type="triangle" w="med"/>
            </a:ln>
          </p:spPr>
        </p:cxnSp>
        <p:cxnSp>
          <p:nvCxnSpPr>
            <p:cNvPr id="979" name="AutoShape 11"/>
            <p:cNvCxnSpPr>
              <a:stCxn id="973" idx="0"/>
              <a:endCxn id="974" idx="3"/>
            </p:cNvCxnSpPr>
            <p:nvPr/>
          </p:nvCxnSpPr>
          <p:spPr>
            <a:xfrm flipV="1">
              <a:off x="7467120" y="2485080"/>
              <a:ext cx="229680" cy="1135080"/>
            </a:xfrm>
            <a:prstGeom prst="straightConnector1">
              <a:avLst/>
            </a:prstGeom>
            <a:ln w="19050">
              <a:solidFill>
                <a:srgbClr val="000000"/>
              </a:solidFill>
              <a:round/>
              <a:tailEnd len="lg" type="triangle" w="med"/>
            </a:ln>
          </p:spPr>
        </p:cxnSp>
        <p:cxnSp>
          <p:nvCxnSpPr>
            <p:cNvPr id="980" name="AutoShape 12"/>
            <p:cNvCxnSpPr>
              <a:stCxn id="976" idx="1"/>
              <a:endCxn id="974" idx="6"/>
            </p:cNvCxnSpPr>
            <p:nvPr/>
          </p:nvCxnSpPr>
          <p:spPr>
            <a:xfrm flipH="1" flipV="1">
              <a:off x="8085600" y="2323800"/>
              <a:ext cx="1135080" cy="601200"/>
            </a:xfrm>
            <a:prstGeom prst="straightConnector1">
              <a:avLst/>
            </a:prstGeom>
            <a:ln w="19050">
              <a:solidFill>
                <a:srgbClr val="000000"/>
              </a:solidFill>
              <a:round/>
              <a:tailEnd len="lg" type="triangle" w="med"/>
            </a:ln>
          </p:spPr>
        </p:cxnSp>
        <p:cxnSp>
          <p:nvCxnSpPr>
            <p:cNvPr id="981" name="AutoShape 13"/>
            <p:cNvCxnSpPr>
              <a:stCxn id="975" idx="0"/>
              <a:endCxn id="976" idx="4"/>
            </p:cNvCxnSpPr>
            <p:nvPr/>
          </p:nvCxnSpPr>
          <p:spPr>
            <a:xfrm flipH="1" flipV="1">
              <a:off x="9381600" y="3313800"/>
              <a:ext cx="457920" cy="934920"/>
            </a:xfrm>
            <a:prstGeom prst="straightConnector1">
              <a:avLst/>
            </a:prstGeom>
            <a:ln w="19050">
              <a:solidFill>
                <a:srgbClr val="000000"/>
              </a:solidFill>
              <a:round/>
              <a:tailEnd len="lg" type="triangle" w="med"/>
            </a:ln>
          </p:spPr>
        </p:cxnSp>
        <p:cxnSp>
          <p:nvCxnSpPr>
            <p:cNvPr id="982" name="AutoShape 14"/>
            <p:cNvCxnSpPr>
              <a:stCxn id="972" idx="0"/>
              <a:endCxn id="976" idx="3"/>
            </p:cNvCxnSpPr>
            <p:nvPr/>
          </p:nvCxnSpPr>
          <p:spPr>
            <a:xfrm flipV="1">
              <a:off x="8162640" y="3247200"/>
              <a:ext cx="1058040" cy="1744560"/>
            </a:xfrm>
            <a:prstGeom prst="straightConnector1">
              <a:avLst/>
            </a:prstGeom>
            <a:ln w="19050">
              <a:solidFill>
                <a:srgbClr val="000000"/>
              </a:solidFill>
              <a:round/>
              <a:tailEnd len="lg" type="triangle" w="med"/>
            </a:ln>
          </p:spPr>
        </p:cxnSp>
        <p:cxnSp>
          <p:nvCxnSpPr>
            <p:cNvPr id="983" name="AutoShape 15"/>
            <p:cNvCxnSpPr>
              <a:stCxn id="973" idx="7"/>
              <a:endCxn id="976" idx="2"/>
            </p:cNvCxnSpPr>
            <p:nvPr/>
          </p:nvCxnSpPr>
          <p:spPr>
            <a:xfrm flipV="1">
              <a:off x="7628400" y="3085920"/>
              <a:ext cx="1525680" cy="600840"/>
            </a:xfrm>
            <a:prstGeom prst="straightConnector1">
              <a:avLst/>
            </a:prstGeom>
            <a:ln w="19050">
              <a:solidFill>
                <a:srgbClr val="000000"/>
              </a:solidFill>
              <a:round/>
              <a:tailEnd len="lg" type="triangle" w="med"/>
            </a:ln>
          </p:spPr>
        </p:cxnSp>
        <p:cxnSp>
          <p:nvCxnSpPr>
            <p:cNvPr id="984" name="AutoShape 16"/>
            <p:cNvCxnSpPr>
              <a:stCxn id="972" idx="2"/>
              <a:endCxn id="974" idx="2"/>
            </p:cNvCxnSpPr>
            <p:nvPr/>
          </p:nvCxnSpPr>
          <p:spPr>
            <a:xfrm rot="10800000">
              <a:off x="7629120" y="2323440"/>
              <a:ext cx="305640" cy="2896200"/>
            </a:xfrm>
            <a:prstGeom prst="curvedConnector2">
              <a:avLst/>
            </a:prstGeom>
            <a:ln w="19050">
              <a:solidFill>
                <a:srgbClr val="000000"/>
              </a:solidFill>
              <a:round/>
              <a:headEnd len="lg" type="triangle" w="med"/>
            </a:ln>
          </p:spPr>
        </p:cxnSp>
      </p:gr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5"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Directed Graph Properties</a:t>
            </a:r>
            <a:endParaRPr b="0" lang="en-US" sz="4400" spc="-1" strike="noStrike">
              <a:solidFill>
                <a:srgbClr val="000000"/>
              </a:solidFill>
              <a:latin typeface="Arial"/>
            </a:endParaRPr>
          </a:p>
        </p:txBody>
      </p:sp>
      <p:sp>
        <p:nvSpPr>
          <p:cNvPr id="986"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 graph G=(V,E) such that</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ea typeface="ＭＳ Ｐゴシック"/>
              </a:rPr>
              <a:t>Each edge goes in </a:t>
            </a:r>
            <a:r>
              <a:rPr b="0" lang="en-US" sz="2400" spc="-1" strike="noStrike">
                <a:solidFill>
                  <a:schemeClr val="dk2"/>
                </a:solidFill>
                <a:latin typeface="Calibri"/>
                <a:ea typeface="ＭＳ Ｐゴシック"/>
              </a:rPr>
              <a:t>one direction</a:t>
            </a:r>
            <a:r>
              <a:rPr b="0" lang="en-US" sz="2400" spc="-1" strike="noStrike">
                <a:solidFill>
                  <a:schemeClr val="dk1"/>
                </a:solidFill>
                <a:latin typeface="Calibri"/>
                <a:ea typeface="ＭＳ Ｐゴシック"/>
              </a:rPr>
              <a:t>:</a:t>
            </a:r>
            <a:endParaRPr b="0" lang="en-US" sz="2400" spc="-1" strike="noStrike">
              <a:solidFill>
                <a:srgbClr val="000000"/>
              </a:solidFill>
              <a:latin typeface="Arial"/>
            </a:endParaRPr>
          </a:p>
          <a:p>
            <a:pPr lvl="1" marL="685800" indent="-228600" defTabSz="914400">
              <a:lnSpc>
                <a:spcPct val="90000"/>
              </a:lnSpc>
              <a:spcBef>
                <a:spcPts val="499"/>
              </a:spcBef>
              <a:buClr>
                <a:srgbClr val="767171"/>
              </a:buClr>
              <a:buFont typeface="Arial"/>
              <a:buChar char="•"/>
            </a:pPr>
            <a:r>
              <a:rPr b="0" lang="en-US" sz="2400" spc="-1" strike="noStrike">
                <a:solidFill>
                  <a:schemeClr val="lt2">
                    <a:lumMod val="50000"/>
                  </a:schemeClr>
                </a:solidFill>
                <a:latin typeface="Calibri"/>
                <a:ea typeface="ＭＳ Ｐゴシック"/>
              </a:rPr>
              <a:t>Edge (a,b) goes from a to b, but not b to a</a:t>
            </a:r>
            <a:endParaRPr b="0" lang="en-US" sz="24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ea typeface="ＭＳ Ｐゴシック"/>
              </a:rPr>
              <a:t>If G is simple, </a:t>
            </a:r>
            <a:r>
              <a:rPr b="1" i="1" lang="en-US" sz="2800" spc="-1" strike="noStrike">
                <a:solidFill>
                  <a:schemeClr val="dk2"/>
                </a:solidFill>
                <a:latin typeface="Times New Roman"/>
                <a:ea typeface="ＭＳ Ｐゴシック"/>
              </a:rPr>
              <a:t>m</a:t>
            </a:r>
            <a:r>
              <a:rPr b="0" lang="en-US" sz="2800" spc="-1" strike="noStrike">
                <a:solidFill>
                  <a:schemeClr val="dk2"/>
                </a:solidFill>
                <a:latin typeface="Calibri"/>
                <a:ea typeface="ＭＳ Ｐゴシック"/>
              </a:rPr>
              <a:t> </a:t>
            </a:r>
            <a:r>
              <a:rPr b="0" lang="en-US" sz="2800" spc="-1" strike="noStrike" u="sng">
                <a:solidFill>
                  <a:schemeClr val="dk2"/>
                </a:solidFill>
                <a:uFillTx/>
                <a:latin typeface="Symbol"/>
                <a:ea typeface="ＭＳ Ｐゴシック"/>
              </a:rPr>
              <a:t>&lt;</a:t>
            </a:r>
            <a:r>
              <a:rPr b="0" lang="en-US" sz="2800" spc="-1" strike="noStrike">
                <a:solidFill>
                  <a:schemeClr val="dk2"/>
                </a:solidFill>
                <a:latin typeface="Calibri"/>
                <a:ea typeface="ＭＳ Ｐゴシック"/>
              </a:rPr>
              <a:t> </a:t>
            </a:r>
            <a:r>
              <a:rPr b="1" i="1" lang="en-US" sz="2800" spc="-1" strike="noStrike">
                <a:solidFill>
                  <a:schemeClr val="dk2"/>
                </a:solidFill>
                <a:latin typeface="Times New Roman"/>
                <a:ea typeface="ＭＳ Ｐゴシック"/>
              </a:rPr>
              <a:t>n</a:t>
            </a:r>
            <a:r>
              <a:rPr b="0" lang="en-US" sz="2800" spc="-1" strike="noStrike">
                <a:solidFill>
                  <a:schemeClr val="dk2"/>
                </a:solidFill>
                <a:latin typeface="Symbol"/>
                <a:ea typeface="ＭＳ Ｐゴシック"/>
              </a:rPr>
              <a:t></a:t>
            </a:r>
            <a:r>
              <a:rPr b="0" lang="en-US" sz="2800" spc="-1" strike="noStrike">
                <a:solidFill>
                  <a:schemeClr val="dk2"/>
                </a:solidFill>
                <a:latin typeface="Times New Roman"/>
                <a:ea typeface="ＭＳ Ｐゴシック"/>
              </a:rPr>
              <a:t>(</a:t>
            </a:r>
            <a:r>
              <a:rPr b="1" i="1" lang="en-US" sz="2800" spc="-1" strike="noStrike">
                <a:solidFill>
                  <a:schemeClr val="dk2"/>
                </a:solidFill>
                <a:latin typeface="Times New Roman"/>
                <a:ea typeface="ＭＳ Ｐゴシック"/>
              </a:rPr>
              <a:t>n </a:t>
            </a:r>
            <a:r>
              <a:rPr b="0" lang="en-US" sz="2800" spc="-1" strike="noStrike">
                <a:solidFill>
                  <a:schemeClr val="dk2"/>
                </a:solidFill>
                <a:latin typeface="Symbol"/>
                <a:ea typeface="ＭＳ Ｐゴシック"/>
              </a:rPr>
              <a:t>-</a:t>
            </a:r>
            <a:r>
              <a:rPr b="0" lang="en-US" sz="2800" spc="-1" strike="noStrike">
                <a:solidFill>
                  <a:schemeClr val="dk2"/>
                </a:solidFill>
                <a:latin typeface="Calibri"/>
                <a:ea typeface="ＭＳ Ｐゴシック"/>
              </a:rPr>
              <a:t> </a:t>
            </a:r>
            <a:r>
              <a:rPr b="0" lang="en-US" sz="2800" spc="-1" strike="noStrike">
                <a:solidFill>
                  <a:schemeClr val="dk2"/>
                </a:solidFill>
                <a:latin typeface="Times New Roman"/>
                <a:ea typeface="ＭＳ Ｐゴシック"/>
              </a:rPr>
              <a:t>1)</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ea typeface="ＭＳ Ｐゴシック"/>
              </a:rPr>
              <a:t>If we keep in-edges and out-edges in separate adjacency lists, we can perform listing of incoming edges and outgoing edges in time proportional to their size</a:t>
            </a:r>
            <a:endParaRPr b="0" lang="en-US" sz="2800" spc="-1" strike="noStrike">
              <a:solidFill>
                <a:srgbClr val="000000"/>
              </a:solidFill>
              <a:latin typeface="Arial"/>
            </a:endParaRPr>
          </a:p>
        </p:txBody>
      </p:sp>
      <p:sp>
        <p:nvSpPr>
          <p:cNvPr id="987" name="PlaceHolder 3"/>
          <p:cNvSpPr>
            <a:spLocks noGrp="1"/>
          </p:cNvSpPr>
          <p:nvPr>
            <p:ph type="sldNum" idx="75"/>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50412FB2-76CA-47EF-9FDF-AC09673DA33C}"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grpSp>
        <p:nvGrpSpPr>
          <p:cNvPr id="988" name="Group 71"/>
          <p:cNvGrpSpPr/>
          <p:nvPr/>
        </p:nvGrpSpPr>
        <p:grpSpPr>
          <a:xfrm>
            <a:off x="7924680" y="297000"/>
            <a:ext cx="2232360" cy="2825640"/>
            <a:chOff x="7924680" y="297000"/>
            <a:chExt cx="2232360" cy="2825640"/>
          </a:xfrm>
        </p:grpSpPr>
        <p:sp>
          <p:nvSpPr>
            <p:cNvPr id="989" name="Oval 72"/>
            <p:cNvSpPr/>
            <p:nvPr/>
          </p:nvSpPr>
          <p:spPr>
            <a:xfrm>
              <a:off x="8473680" y="2738520"/>
              <a:ext cx="359640" cy="38412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A</a:t>
              </a:r>
              <a:endParaRPr b="0" lang="en-US" sz="2400" spc="-1" strike="noStrike">
                <a:solidFill>
                  <a:srgbClr val="ffffff"/>
                </a:solidFill>
                <a:latin typeface="Arial"/>
              </a:endParaRPr>
            </a:p>
          </p:txBody>
        </p:sp>
        <p:sp>
          <p:nvSpPr>
            <p:cNvPr id="990" name="Oval 73"/>
            <p:cNvSpPr/>
            <p:nvPr/>
          </p:nvSpPr>
          <p:spPr>
            <a:xfrm>
              <a:off x="7924680" y="1581840"/>
              <a:ext cx="359640" cy="38412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C</a:t>
              </a:r>
              <a:endParaRPr b="0" lang="en-US" sz="2400" spc="-1" strike="noStrike">
                <a:solidFill>
                  <a:srgbClr val="ffffff"/>
                </a:solidFill>
                <a:latin typeface="Arial"/>
              </a:endParaRPr>
            </a:p>
          </p:txBody>
        </p:sp>
        <p:sp>
          <p:nvSpPr>
            <p:cNvPr id="991" name="Oval 74"/>
            <p:cNvSpPr/>
            <p:nvPr/>
          </p:nvSpPr>
          <p:spPr>
            <a:xfrm>
              <a:off x="8233200" y="297000"/>
              <a:ext cx="359640" cy="38412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E</a:t>
              </a:r>
              <a:endParaRPr b="0" lang="en-US" sz="2400" spc="-1" strike="noStrike">
                <a:solidFill>
                  <a:srgbClr val="ffffff"/>
                </a:solidFill>
                <a:latin typeface="Arial"/>
              </a:endParaRPr>
            </a:p>
          </p:txBody>
        </p:sp>
        <p:sp>
          <p:nvSpPr>
            <p:cNvPr id="992" name="Oval 75"/>
            <p:cNvSpPr/>
            <p:nvPr/>
          </p:nvSpPr>
          <p:spPr>
            <a:xfrm>
              <a:off x="9797400" y="2112120"/>
              <a:ext cx="359640" cy="38412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B</a:t>
              </a:r>
              <a:endParaRPr b="0" lang="en-US" sz="2400" spc="-1" strike="noStrike">
                <a:solidFill>
                  <a:srgbClr val="ffffff"/>
                </a:solidFill>
                <a:latin typeface="Arial"/>
              </a:endParaRPr>
            </a:p>
          </p:txBody>
        </p:sp>
        <p:sp>
          <p:nvSpPr>
            <p:cNvPr id="993" name="Oval 76"/>
            <p:cNvSpPr/>
            <p:nvPr/>
          </p:nvSpPr>
          <p:spPr>
            <a:xfrm>
              <a:off x="9436320" y="939600"/>
              <a:ext cx="359640" cy="38412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D</a:t>
              </a:r>
              <a:endParaRPr b="0" lang="en-US" sz="2400" spc="-1" strike="noStrike">
                <a:solidFill>
                  <a:srgbClr val="ffffff"/>
                </a:solidFill>
                <a:latin typeface="Arial"/>
              </a:endParaRPr>
            </a:p>
          </p:txBody>
        </p:sp>
        <p:cxnSp>
          <p:nvCxnSpPr>
            <p:cNvPr id="994" name="AutoShape 77"/>
            <p:cNvCxnSpPr>
              <a:stCxn id="989" idx="1"/>
              <a:endCxn id="990" idx="4"/>
            </p:cNvCxnSpPr>
            <p:nvPr/>
          </p:nvCxnSpPr>
          <p:spPr>
            <a:xfrm flipH="1" flipV="1">
              <a:off x="8104680" y="1942200"/>
              <a:ext cx="422280" cy="853200"/>
            </a:xfrm>
            <a:prstGeom prst="straightConnector1">
              <a:avLst/>
            </a:prstGeom>
            <a:ln w="19050">
              <a:solidFill>
                <a:srgbClr val="000000"/>
              </a:solidFill>
              <a:round/>
              <a:tailEnd len="lg" type="triangle" w="med"/>
            </a:ln>
          </p:spPr>
        </p:cxnSp>
        <p:cxnSp>
          <p:nvCxnSpPr>
            <p:cNvPr id="995" name="AutoShape 78"/>
            <p:cNvCxnSpPr>
              <a:stCxn id="989" idx="7"/>
              <a:endCxn id="992" idx="3"/>
            </p:cNvCxnSpPr>
            <p:nvPr/>
          </p:nvCxnSpPr>
          <p:spPr>
            <a:xfrm flipV="1">
              <a:off x="8781120" y="2440440"/>
              <a:ext cx="1069560" cy="354960"/>
            </a:xfrm>
            <a:prstGeom prst="straightConnector1">
              <a:avLst/>
            </a:prstGeom>
            <a:ln w="19050">
              <a:solidFill>
                <a:srgbClr val="000000"/>
              </a:solidFill>
              <a:round/>
              <a:tailEnd len="lg" type="triangle" w="med"/>
            </a:ln>
          </p:spPr>
        </p:cxnSp>
        <p:cxnSp>
          <p:nvCxnSpPr>
            <p:cNvPr id="996" name="AutoShape 79"/>
            <p:cNvCxnSpPr>
              <a:stCxn id="990" idx="0"/>
              <a:endCxn id="991" idx="3"/>
            </p:cNvCxnSpPr>
            <p:nvPr/>
          </p:nvCxnSpPr>
          <p:spPr>
            <a:xfrm flipV="1">
              <a:off x="8104680" y="625320"/>
              <a:ext cx="181800" cy="957240"/>
            </a:xfrm>
            <a:prstGeom prst="straightConnector1">
              <a:avLst/>
            </a:prstGeom>
            <a:ln w="19050">
              <a:solidFill>
                <a:srgbClr val="000000"/>
              </a:solidFill>
              <a:round/>
              <a:tailEnd len="lg" type="triangle" w="med"/>
            </a:ln>
          </p:spPr>
        </p:cxnSp>
        <p:cxnSp>
          <p:nvCxnSpPr>
            <p:cNvPr id="997" name="AutoShape 80"/>
            <p:cNvCxnSpPr>
              <a:stCxn id="993" idx="1"/>
              <a:endCxn id="991" idx="6"/>
            </p:cNvCxnSpPr>
            <p:nvPr/>
          </p:nvCxnSpPr>
          <p:spPr>
            <a:xfrm flipH="1" flipV="1">
              <a:off x="8593200" y="489240"/>
              <a:ext cx="896400" cy="507240"/>
            </a:xfrm>
            <a:prstGeom prst="straightConnector1">
              <a:avLst/>
            </a:prstGeom>
            <a:ln w="19050">
              <a:solidFill>
                <a:srgbClr val="000000"/>
              </a:solidFill>
              <a:round/>
              <a:tailEnd len="lg" type="triangle" w="med"/>
            </a:ln>
          </p:spPr>
        </p:cxnSp>
        <p:cxnSp>
          <p:nvCxnSpPr>
            <p:cNvPr id="998" name="AutoShape 81"/>
            <p:cNvCxnSpPr>
              <a:stCxn id="992" idx="0"/>
              <a:endCxn id="993" idx="4"/>
            </p:cNvCxnSpPr>
            <p:nvPr/>
          </p:nvCxnSpPr>
          <p:spPr>
            <a:xfrm flipH="1" flipV="1">
              <a:off x="9616320" y="1299960"/>
              <a:ext cx="361800" cy="812880"/>
            </a:xfrm>
            <a:prstGeom prst="straightConnector1">
              <a:avLst/>
            </a:prstGeom>
            <a:ln w="19050">
              <a:solidFill>
                <a:srgbClr val="000000"/>
              </a:solidFill>
              <a:round/>
              <a:tailEnd len="lg" type="triangle" w="med"/>
            </a:ln>
          </p:spPr>
        </p:cxnSp>
        <p:cxnSp>
          <p:nvCxnSpPr>
            <p:cNvPr id="999" name="AutoShape 82"/>
            <p:cNvCxnSpPr>
              <a:stCxn id="989" idx="0"/>
              <a:endCxn id="993" idx="3"/>
            </p:cNvCxnSpPr>
            <p:nvPr/>
          </p:nvCxnSpPr>
          <p:spPr>
            <a:xfrm flipV="1">
              <a:off x="8653680" y="1267920"/>
              <a:ext cx="835920" cy="1471320"/>
            </a:xfrm>
            <a:prstGeom prst="straightConnector1">
              <a:avLst/>
            </a:prstGeom>
            <a:ln w="19050">
              <a:solidFill>
                <a:srgbClr val="000000"/>
              </a:solidFill>
              <a:round/>
              <a:tailEnd len="lg" type="triangle" w="med"/>
            </a:ln>
          </p:spPr>
        </p:cxnSp>
        <p:cxnSp>
          <p:nvCxnSpPr>
            <p:cNvPr id="1000" name="AutoShape 83"/>
            <p:cNvCxnSpPr>
              <a:stCxn id="990" idx="7"/>
              <a:endCxn id="993" idx="2"/>
            </p:cNvCxnSpPr>
            <p:nvPr/>
          </p:nvCxnSpPr>
          <p:spPr>
            <a:xfrm flipV="1">
              <a:off x="8232120" y="1131840"/>
              <a:ext cx="1204920" cy="506880"/>
            </a:xfrm>
            <a:prstGeom prst="straightConnector1">
              <a:avLst/>
            </a:prstGeom>
            <a:ln w="19050">
              <a:solidFill>
                <a:srgbClr val="000000"/>
              </a:solidFill>
              <a:round/>
              <a:tailEnd len="lg" type="triangle" w="med"/>
            </a:ln>
          </p:spPr>
        </p:cxnSp>
        <p:cxnSp>
          <p:nvCxnSpPr>
            <p:cNvPr id="1001" name="AutoShape 84"/>
            <p:cNvCxnSpPr>
              <a:stCxn id="989" idx="2"/>
              <a:endCxn id="991" idx="2"/>
            </p:cNvCxnSpPr>
            <p:nvPr/>
          </p:nvCxnSpPr>
          <p:spPr>
            <a:xfrm rot="10800000">
              <a:off x="8232840" y="488880"/>
              <a:ext cx="241200" cy="2442240"/>
            </a:xfrm>
            <a:prstGeom prst="curvedConnector2">
              <a:avLst/>
            </a:prstGeom>
            <a:ln w="19050">
              <a:solidFill>
                <a:srgbClr val="000000"/>
              </a:solidFill>
              <a:round/>
              <a:headEnd len="lg" type="triangle" w="med"/>
            </a:ln>
          </p:spPr>
        </p:cxnSp>
      </p:gr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2"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Directed Graph Application</a:t>
            </a:r>
            <a:endParaRPr b="0" lang="en-US" sz="4400" spc="-1" strike="noStrike">
              <a:solidFill>
                <a:srgbClr val="000000"/>
              </a:solidFill>
              <a:latin typeface="Arial"/>
            </a:endParaRPr>
          </a:p>
        </p:txBody>
      </p:sp>
      <p:sp>
        <p:nvSpPr>
          <p:cNvPr id="1003"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44546a"/>
              </a:buClr>
              <a:buFont typeface="Arial"/>
              <a:buChar char="•"/>
            </a:pPr>
            <a:r>
              <a:rPr b="0" lang="en-US" sz="2800" spc="-1" strike="noStrike">
                <a:solidFill>
                  <a:schemeClr val="dk2"/>
                </a:solidFill>
                <a:latin typeface="Calibri"/>
              </a:rPr>
              <a:t>Scheduling</a:t>
            </a:r>
            <a:r>
              <a:rPr b="0" lang="en-US" sz="2800" spc="-1" strike="noStrike">
                <a:solidFill>
                  <a:schemeClr val="dk1"/>
                </a:solidFill>
                <a:latin typeface="Calibri"/>
              </a:rPr>
              <a:t>: edge (a,b) means task a must be completed before b can be started</a:t>
            </a:r>
            <a:endParaRPr b="0" lang="en-US" sz="2800" spc="-1" strike="noStrike">
              <a:solidFill>
                <a:srgbClr val="000000"/>
              </a:solidFill>
              <a:latin typeface="Arial"/>
            </a:endParaRPr>
          </a:p>
        </p:txBody>
      </p:sp>
      <p:sp>
        <p:nvSpPr>
          <p:cNvPr id="1004" name="PlaceHolder 3"/>
          <p:cNvSpPr>
            <a:spLocks noGrp="1"/>
          </p:cNvSpPr>
          <p:nvPr>
            <p:ph type="sldNum" idx="76"/>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F44E51DC-21F8-4E3A-AD0B-5916F96F2080}"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1005" name="Oval 153"/>
          <p:cNvSpPr/>
          <p:nvPr/>
        </p:nvSpPr>
        <p:spPr>
          <a:xfrm>
            <a:off x="8305920" y="5302080"/>
            <a:ext cx="1675080" cy="102096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600" spc="-1" strike="noStrike">
                <a:solidFill>
                  <a:schemeClr val="dk1"/>
                </a:solidFill>
                <a:latin typeface="Tahoma"/>
                <a:ea typeface="MS PGothic"/>
              </a:rPr>
              <a:t>The good life</a:t>
            </a:r>
            <a:endParaRPr b="0" lang="en-US" sz="1600" spc="-1" strike="noStrike">
              <a:solidFill>
                <a:srgbClr val="ffffff"/>
              </a:solidFill>
              <a:latin typeface="Arial"/>
            </a:endParaRPr>
          </a:p>
        </p:txBody>
      </p:sp>
      <p:sp>
        <p:nvSpPr>
          <p:cNvPr id="1006" name="Oval 155"/>
          <p:cNvSpPr/>
          <p:nvPr/>
        </p:nvSpPr>
        <p:spPr>
          <a:xfrm>
            <a:off x="4510080" y="4724280"/>
            <a:ext cx="1065240" cy="4906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600" spc="-1" strike="noStrike">
                <a:solidFill>
                  <a:schemeClr val="dk1"/>
                </a:solidFill>
                <a:latin typeface="Tahoma"/>
                <a:ea typeface="MS PGothic"/>
              </a:rPr>
              <a:t>ics141</a:t>
            </a:r>
            <a:endParaRPr b="0" lang="en-US" sz="1600" spc="-1" strike="noStrike">
              <a:solidFill>
                <a:srgbClr val="ffffff"/>
              </a:solidFill>
              <a:latin typeface="Arial"/>
            </a:endParaRPr>
          </a:p>
        </p:txBody>
      </p:sp>
      <p:sp>
        <p:nvSpPr>
          <p:cNvPr id="1007" name="Oval 156"/>
          <p:cNvSpPr/>
          <p:nvPr/>
        </p:nvSpPr>
        <p:spPr>
          <a:xfrm>
            <a:off x="3051000" y="4710240"/>
            <a:ext cx="1065240" cy="4906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600" spc="-1" strike="noStrike">
                <a:solidFill>
                  <a:schemeClr val="dk1"/>
                </a:solidFill>
                <a:latin typeface="Tahoma"/>
                <a:ea typeface="MS PGothic"/>
              </a:rPr>
              <a:t>ics131</a:t>
            </a:r>
            <a:endParaRPr b="0" lang="en-US" sz="1600" spc="-1" strike="noStrike">
              <a:solidFill>
                <a:srgbClr val="ffffff"/>
              </a:solidFill>
              <a:latin typeface="Arial"/>
            </a:endParaRPr>
          </a:p>
        </p:txBody>
      </p:sp>
      <p:sp>
        <p:nvSpPr>
          <p:cNvPr id="1008" name="Oval 157"/>
          <p:cNvSpPr/>
          <p:nvPr/>
        </p:nvSpPr>
        <p:spPr>
          <a:xfrm>
            <a:off x="5929200" y="4724280"/>
            <a:ext cx="1065240" cy="4906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600" spc="-1" strike="noStrike">
                <a:solidFill>
                  <a:schemeClr val="dk1"/>
                </a:solidFill>
                <a:latin typeface="Tahoma"/>
                <a:ea typeface="MS PGothic"/>
              </a:rPr>
              <a:t>ics121</a:t>
            </a:r>
            <a:endParaRPr b="0" lang="en-US" sz="1600" spc="-1" strike="noStrike">
              <a:solidFill>
                <a:srgbClr val="ffffff"/>
              </a:solidFill>
              <a:latin typeface="Arial"/>
            </a:endParaRPr>
          </a:p>
        </p:txBody>
      </p:sp>
      <p:sp>
        <p:nvSpPr>
          <p:cNvPr id="1009" name="Oval 158"/>
          <p:cNvSpPr/>
          <p:nvPr/>
        </p:nvSpPr>
        <p:spPr>
          <a:xfrm>
            <a:off x="4481640" y="3751200"/>
            <a:ext cx="1065240" cy="4906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600" spc="-1" strike="noStrike">
                <a:solidFill>
                  <a:schemeClr val="dk1"/>
                </a:solidFill>
                <a:latin typeface="Tahoma"/>
                <a:ea typeface="MS PGothic"/>
              </a:rPr>
              <a:t>ics53</a:t>
            </a:r>
            <a:endParaRPr b="0" lang="en-US" sz="1600" spc="-1" strike="noStrike">
              <a:solidFill>
                <a:srgbClr val="ffffff"/>
              </a:solidFill>
              <a:latin typeface="Arial"/>
            </a:endParaRPr>
          </a:p>
        </p:txBody>
      </p:sp>
      <p:sp>
        <p:nvSpPr>
          <p:cNvPr id="1010" name="Oval 159"/>
          <p:cNvSpPr/>
          <p:nvPr/>
        </p:nvSpPr>
        <p:spPr>
          <a:xfrm>
            <a:off x="5929200" y="3808440"/>
            <a:ext cx="1065240" cy="4906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600" spc="-1" strike="noStrike">
                <a:solidFill>
                  <a:schemeClr val="dk1"/>
                </a:solidFill>
                <a:latin typeface="Tahoma"/>
                <a:ea typeface="MS PGothic"/>
              </a:rPr>
              <a:t>ics52</a:t>
            </a:r>
            <a:endParaRPr b="0" lang="en-US" sz="1600" spc="-1" strike="noStrike">
              <a:solidFill>
                <a:srgbClr val="ffffff"/>
              </a:solidFill>
              <a:latin typeface="Arial"/>
            </a:endParaRPr>
          </a:p>
        </p:txBody>
      </p:sp>
      <p:sp>
        <p:nvSpPr>
          <p:cNvPr id="1011" name="Oval 160"/>
          <p:cNvSpPr/>
          <p:nvPr/>
        </p:nvSpPr>
        <p:spPr>
          <a:xfrm>
            <a:off x="3051000" y="3751200"/>
            <a:ext cx="1065240" cy="4906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600" spc="-1" strike="noStrike">
                <a:solidFill>
                  <a:schemeClr val="dk1"/>
                </a:solidFill>
                <a:latin typeface="Tahoma"/>
                <a:ea typeface="MS PGothic"/>
              </a:rPr>
              <a:t>ics51</a:t>
            </a:r>
            <a:endParaRPr b="0" lang="en-US" sz="1600" spc="-1" strike="noStrike">
              <a:solidFill>
                <a:srgbClr val="ffffff"/>
              </a:solidFill>
              <a:latin typeface="Arial"/>
            </a:endParaRPr>
          </a:p>
        </p:txBody>
      </p:sp>
      <p:sp>
        <p:nvSpPr>
          <p:cNvPr id="1012" name="Oval 161"/>
          <p:cNvSpPr/>
          <p:nvPr/>
        </p:nvSpPr>
        <p:spPr>
          <a:xfrm>
            <a:off x="5943600" y="2708280"/>
            <a:ext cx="1065240" cy="4906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600" spc="-1" strike="noStrike">
                <a:solidFill>
                  <a:schemeClr val="dk1"/>
                </a:solidFill>
                <a:latin typeface="Tahoma"/>
                <a:ea typeface="MS PGothic"/>
              </a:rPr>
              <a:t>ics23</a:t>
            </a:r>
            <a:endParaRPr b="0" lang="en-US" sz="1600" spc="-1" strike="noStrike">
              <a:solidFill>
                <a:srgbClr val="ffffff"/>
              </a:solidFill>
              <a:latin typeface="Arial"/>
            </a:endParaRPr>
          </a:p>
        </p:txBody>
      </p:sp>
      <p:sp>
        <p:nvSpPr>
          <p:cNvPr id="1013" name="Oval 162"/>
          <p:cNvSpPr/>
          <p:nvPr/>
        </p:nvSpPr>
        <p:spPr>
          <a:xfrm>
            <a:off x="4495680" y="2708280"/>
            <a:ext cx="1065240" cy="4906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600" spc="-1" strike="noStrike">
                <a:solidFill>
                  <a:schemeClr val="dk1"/>
                </a:solidFill>
                <a:latin typeface="Tahoma"/>
                <a:ea typeface="MS PGothic"/>
              </a:rPr>
              <a:t>ics22</a:t>
            </a:r>
            <a:endParaRPr b="0" lang="en-US" sz="1600" spc="-1" strike="noStrike">
              <a:solidFill>
                <a:srgbClr val="ffffff"/>
              </a:solidFill>
              <a:latin typeface="Arial"/>
            </a:endParaRPr>
          </a:p>
        </p:txBody>
      </p:sp>
      <p:sp>
        <p:nvSpPr>
          <p:cNvPr id="1014" name="Oval 163"/>
          <p:cNvSpPr/>
          <p:nvPr/>
        </p:nvSpPr>
        <p:spPr>
          <a:xfrm>
            <a:off x="3051000" y="2708280"/>
            <a:ext cx="1065240" cy="4906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600" spc="-1" strike="noStrike">
                <a:solidFill>
                  <a:schemeClr val="dk1"/>
                </a:solidFill>
                <a:latin typeface="Tahoma"/>
                <a:ea typeface="MS PGothic"/>
              </a:rPr>
              <a:t>ics21</a:t>
            </a:r>
            <a:endParaRPr b="0" lang="en-US" sz="1600" spc="-1" strike="noStrike">
              <a:solidFill>
                <a:srgbClr val="ffffff"/>
              </a:solidFill>
              <a:latin typeface="Arial"/>
            </a:endParaRPr>
          </a:p>
        </p:txBody>
      </p:sp>
      <p:cxnSp>
        <p:nvCxnSpPr>
          <p:cNvPr id="1015" name="AutoShape 164"/>
          <p:cNvCxnSpPr>
            <a:stCxn id="1014" idx="6"/>
            <a:endCxn id="1013" idx="2"/>
          </p:cNvCxnSpPr>
          <p:nvPr/>
        </p:nvCxnSpPr>
        <p:spPr>
          <a:xfrm>
            <a:off x="4116600" y="2953800"/>
            <a:ext cx="379800" cy="720"/>
          </a:xfrm>
          <a:prstGeom prst="straightConnector1">
            <a:avLst/>
          </a:prstGeom>
          <a:ln w="28575">
            <a:solidFill>
              <a:srgbClr val="000000"/>
            </a:solidFill>
            <a:round/>
            <a:tailEnd len="med" type="triangle" w="med"/>
          </a:ln>
        </p:spPr>
      </p:cxnSp>
      <p:cxnSp>
        <p:nvCxnSpPr>
          <p:cNvPr id="1016" name="AutoShape 165"/>
          <p:cNvCxnSpPr>
            <a:stCxn id="1013" idx="6"/>
            <a:endCxn id="1012" idx="2"/>
          </p:cNvCxnSpPr>
          <p:nvPr/>
        </p:nvCxnSpPr>
        <p:spPr>
          <a:xfrm>
            <a:off x="5561280" y="2953800"/>
            <a:ext cx="383040" cy="720"/>
          </a:xfrm>
          <a:prstGeom prst="straightConnector1">
            <a:avLst/>
          </a:prstGeom>
          <a:ln w="28575">
            <a:solidFill>
              <a:srgbClr val="000000"/>
            </a:solidFill>
            <a:round/>
            <a:tailEnd len="med" type="triangle" w="med"/>
          </a:ln>
        </p:spPr>
      </p:cxnSp>
      <p:cxnSp>
        <p:nvCxnSpPr>
          <p:cNvPr id="1017" name="AutoShape 166"/>
          <p:cNvCxnSpPr>
            <a:stCxn id="1014" idx="4"/>
            <a:endCxn id="1011" idx="0"/>
          </p:cNvCxnSpPr>
          <p:nvPr/>
        </p:nvCxnSpPr>
        <p:spPr>
          <a:xfrm>
            <a:off x="3583800" y="3199320"/>
            <a:ext cx="720" cy="552600"/>
          </a:xfrm>
          <a:prstGeom prst="straightConnector1">
            <a:avLst/>
          </a:prstGeom>
          <a:ln w="28575">
            <a:solidFill>
              <a:srgbClr val="000000"/>
            </a:solidFill>
            <a:round/>
            <a:tailEnd len="med" type="triangle" w="med"/>
          </a:ln>
        </p:spPr>
      </p:cxnSp>
      <p:cxnSp>
        <p:nvCxnSpPr>
          <p:cNvPr id="1018" name="AutoShape 167"/>
          <p:cNvCxnSpPr>
            <a:stCxn id="1012" idx="4"/>
            <a:endCxn id="1010" idx="0"/>
          </p:cNvCxnSpPr>
          <p:nvPr/>
        </p:nvCxnSpPr>
        <p:spPr>
          <a:xfrm flipH="1">
            <a:off x="6462000" y="3199320"/>
            <a:ext cx="15120" cy="609840"/>
          </a:xfrm>
          <a:prstGeom prst="straightConnector1">
            <a:avLst/>
          </a:prstGeom>
          <a:ln w="28575">
            <a:solidFill>
              <a:srgbClr val="000000"/>
            </a:solidFill>
            <a:round/>
            <a:tailEnd len="med" type="triangle" w="med"/>
          </a:ln>
        </p:spPr>
      </p:cxnSp>
      <p:cxnSp>
        <p:nvCxnSpPr>
          <p:cNvPr id="1019" name="AutoShape 168"/>
          <p:cNvCxnSpPr>
            <a:stCxn id="1011" idx="6"/>
            <a:endCxn id="1009" idx="2"/>
          </p:cNvCxnSpPr>
          <p:nvPr/>
        </p:nvCxnSpPr>
        <p:spPr>
          <a:xfrm>
            <a:off x="4116600" y="3996720"/>
            <a:ext cx="365760" cy="720"/>
          </a:xfrm>
          <a:prstGeom prst="straightConnector1">
            <a:avLst/>
          </a:prstGeom>
          <a:ln w="28575">
            <a:solidFill>
              <a:srgbClr val="000000"/>
            </a:solidFill>
            <a:round/>
            <a:tailEnd len="med" type="triangle" w="med"/>
          </a:ln>
        </p:spPr>
      </p:cxnSp>
      <p:cxnSp>
        <p:nvCxnSpPr>
          <p:cNvPr id="1020" name="AutoShape 169"/>
          <p:cNvCxnSpPr>
            <a:stCxn id="1014" idx="5"/>
            <a:endCxn id="1009" idx="1"/>
          </p:cNvCxnSpPr>
          <p:nvPr/>
        </p:nvCxnSpPr>
        <p:spPr>
          <a:xfrm>
            <a:off x="3960720" y="3127680"/>
            <a:ext cx="677520" cy="695880"/>
          </a:xfrm>
          <a:prstGeom prst="straightConnector1">
            <a:avLst/>
          </a:prstGeom>
          <a:ln w="28575">
            <a:solidFill>
              <a:srgbClr val="000000"/>
            </a:solidFill>
            <a:round/>
            <a:tailEnd len="med" type="triangle" w="med"/>
          </a:ln>
        </p:spPr>
      </p:cxnSp>
      <p:cxnSp>
        <p:nvCxnSpPr>
          <p:cNvPr id="1021" name="AutoShape 170"/>
          <p:cNvCxnSpPr>
            <a:stCxn id="1013" idx="4"/>
            <a:endCxn id="1009" idx="0"/>
          </p:cNvCxnSpPr>
          <p:nvPr/>
        </p:nvCxnSpPr>
        <p:spPr>
          <a:xfrm flipH="1">
            <a:off x="5014440" y="3199320"/>
            <a:ext cx="14760" cy="552600"/>
          </a:xfrm>
          <a:prstGeom prst="straightConnector1">
            <a:avLst/>
          </a:prstGeom>
          <a:ln w="28575">
            <a:solidFill>
              <a:srgbClr val="000000"/>
            </a:solidFill>
            <a:round/>
            <a:tailEnd len="med" type="triangle" w="med"/>
          </a:ln>
        </p:spPr>
      </p:cxnSp>
      <p:cxnSp>
        <p:nvCxnSpPr>
          <p:cNvPr id="1022" name="AutoShape 171"/>
          <p:cNvCxnSpPr>
            <a:stCxn id="1012" idx="3"/>
            <a:endCxn id="1009" idx="7"/>
          </p:cNvCxnSpPr>
          <p:nvPr/>
        </p:nvCxnSpPr>
        <p:spPr>
          <a:xfrm flipH="1">
            <a:off x="5391360" y="3127680"/>
            <a:ext cx="708840" cy="695880"/>
          </a:xfrm>
          <a:prstGeom prst="straightConnector1">
            <a:avLst/>
          </a:prstGeom>
          <a:ln w="28575">
            <a:solidFill>
              <a:srgbClr val="000000"/>
            </a:solidFill>
            <a:round/>
            <a:tailEnd len="med" type="triangle" w="med"/>
          </a:ln>
        </p:spPr>
      </p:cxnSp>
      <p:cxnSp>
        <p:nvCxnSpPr>
          <p:cNvPr id="1023" name="AutoShape 172"/>
          <p:cNvCxnSpPr>
            <a:stCxn id="1010" idx="4"/>
            <a:endCxn id="1008" idx="0"/>
          </p:cNvCxnSpPr>
          <p:nvPr/>
        </p:nvCxnSpPr>
        <p:spPr>
          <a:xfrm>
            <a:off x="6462000" y="4299480"/>
            <a:ext cx="720" cy="425520"/>
          </a:xfrm>
          <a:prstGeom prst="straightConnector1">
            <a:avLst/>
          </a:prstGeom>
          <a:ln w="28575">
            <a:solidFill>
              <a:srgbClr val="000000"/>
            </a:solidFill>
            <a:round/>
            <a:tailEnd len="med" type="triangle" w="med"/>
          </a:ln>
        </p:spPr>
      </p:cxnSp>
      <p:cxnSp>
        <p:nvCxnSpPr>
          <p:cNvPr id="1024" name="AutoShape 173"/>
          <p:cNvCxnSpPr>
            <a:stCxn id="1014" idx="2"/>
            <a:endCxn id="1007" idx="2"/>
          </p:cNvCxnSpPr>
          <p:nvPr/>
        </p:nvCxnSpPr>
        <p:spPr>
          <a:xfrm rot="10800000">
            <a:off x="3050640" y="2953440"/>
            <a:ext cx="720" cy="2002680"/>
          </a:xfrm>
          <a:prstGeom prst="curvedConnector2">
            <a:avLst/>
          </a:prstGeom>
          <a:ln w="28575">
            <a:solidFill>
              <a:srgbClr val="000000"/>
            </a:solidFill>
            <a:round/>
            <a:tailEnd len="med" type="triangle" w="med"/>
          </a:ln>
        </p:spPr>
      </p:cxnSp>
      <p:cxnSp>
        <p:nvCxnSpPr>
          <p:cNvPr id="1025" name="AutoShape 174"/>
          <p:cNvCxnSpPr>
            <a:stCxn id="1011" idx="5"/>
            <a:endCxn id="1006" idx="1"/>
          </p:cNvCxnSpPr>
          <p:nvPr/>
        </p:nvCxnSpPr>
        <p:spPr>
          <a:xfrm>
            <a:off x="3960720" y="4170600"/>
            <a:ext cx="705960" cy="626040"/>
          </a:xfrm>
          <a:prstGeom prst="straightConnector1">
            <a:avLst/>
          </a:prstGeom>
          <a:ln w="28575">
            <a:solidFill>
              <a:srgbClr val="000000"/>
            </a:solidFill>
            <a:round/>
            <a:tailEnd len="med" type="triangle" w="med"/>
          </a:ln>
        </p:spPr>
      </p:cxnSp>
      <p:sp>
        <p:nvSpPr>
          <p:cNvPr id="1026" name="Oval 175"/>
          <p:cNvSpPr/>
          <p:nvPr/>
        </p:nvSpPr>
        <p:spPr>
          <a:xfrm>
            <a:off x="8610480" y="4132440"/>
            <a:ext cx="1065240" cy="4906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600" spc="-1" strike="noStrike">
                <a:solidFill>
                  <a:schemeClr val="dk1"/>
                </a:solidFill>
                <a:latin typeface="Tahoma"/>
                <a:ea typeface="MS PGothic"/>
              </a:rPr>
              <a:t>ics161</a:t>
            </a:r>
            <a:endParaRPr b="0" lang="en-US" sz="1600" spc="-1" strike="noStrike">
              <a:solidFill>
                <a:srgbClr val="ffffff"/>
              </a:solidFill>
              <a:latin typeface="Arial"/>
            </a:endParaRPr>
          </a:p>
        </p:txBody>
      </p:sp>
      <p:sp>
        <p:nvSpPr>
          <p:cNvPr id="1027" name="Oval 176"/>
          <p:cNvSpPr/>
          <p:nvPr/>
        </p:nvSpPr>
        <p:spPr>
          <a:xfrm>
            <a:off x="4038480" y="5638680"/>
            <a:ext cx="1065240" cy="4906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600" spc="-1" strike="noStrike">
                <a:solidFill>
                  <a:schemeClr val="dk1"/>
                </a:solidFill>
                <a:latin typeface="Tahoma"/>
                <a:ea typeface="MS PGothic"/>
              </a:rPr>
              <a:t>ics151</a:t>
            </a:r>
            <a:endParaRPr b="0" lang="en-US" sz="1600" spc="-1" strike="noStrike">
              <a:solidFill>
                <a:srgbClr val="ffffff"/>
              </a:solidFill>
              <a:latin typeface="Arial"/>
            </a:endParaRPr>
          </a:p>
        </p:txBody>
      </p:sp>
      <p:cxnSp>
        <p:nvCxnSpPr>
          <p:cNvPr id="1028" name="AutoShape 177"/>
          <p:cNvCxnSpPr>
            <a:stCxn id="1011" idx="4"/>
            <a:endCxn id="1027" idx="0"/>
          </p:cNvCxnSpPr>
          <p:nvPr/>
        </p:nvCxnSpPr>
        <p:spPr>
          <a:xfrm>
            <a:off x="3583800" y="4241880"/>
            <a:ext cx="988200" cy="1397160"/>
          </a:xfrm>
          <a:prstGeom prst="curvedConnector2">
            <a:avLst/>
          </a:prstGeom>
          <a:ln w="28575">
            <a:solidFill>
              <a:srgbClr val="000000"/>
            </a:solidFill>
            <a:round/>
            <a:tailEnd len="med" type="triangle" w="med"/>
          </a:ln>
        </p:spPr>
      </p:cxnSp>
      <p:cxnSp>
        <p:nvCxnSpPr>
          <p:cNvPr id="1029" name="AutoShape 178"/>
          <p:cNvCxnSpPr>
            <a:stCxn id="1012" idx="6"/>
            <a:endCxn id="1027" idx="6"/>
          </p:cNvCxnSpPr>
          <p:nvPr/>
        </p:nvCxnSpPr>
        <p:spPr>
          <a:xfrm flipV="1" rot="10800000">
            <a:off x="5103720" y="2953440"/>
            <a:ext cx="1905840" cy="2931120"/>
          </a:xfrm>
          <a:prstGeom prst="curvedConnector2">
            <a:avLst/>
          </a:prstGeom>
          <a:ln w="28575">
            <a:solidFill>
              <a:srgbClr val="000000"/>
            </a:solidFill>
            <a:round/>
            <a:tailEnd len="med" type="triangle" w="med"/>
          </a:ln>
        </p:spPr>
      </p:cxnSp>
      <p:cxnSp>
        <p:nvCxnSpPr>
          <p:cNvPr id="1030" name="AutoShape 179"/>
          <p:cNvCxnSpPr>
            <a:stCxn id="1012" idx="6"/>
            <a:endCxn id="1026" idx="0"/>
          </p:cNvCxnSpPr>
          <p:nvPr/>
        </p:nvCxnSpPr>
        <p:spPr>
          <a:xfrm>
            <a:off x="7009200" y="2953800"/>
            <a:ext cx="2134800" cy="1179360"/>
          </a:xfrm>
          <a:prstGeom prst="curvedConnector2">
            <a:avLst/>
          </a:prstGeom>
          <a:ln w="28575">
            <a:solidFill>
              <a:srgbClr val="000000"/>
            </a:solidFill>
            <a:round/>
            <a:tailEnd len="med" type="triangle" w="med"/>
          </a:ln>
        </p:spPr>
      </p:cxnSp>
      <p:cxnSp>
        <p:nvCxnSpPr>
          <p:cNvPr id="1031" name="AutoShape 180"/>
          <p:cNvCxnSpPr>
            <a:stCxn id="1026" idx="4"/>
            <a:endCxn id="1005" idx="0"/>
          </p:cNvCxnSpPr>
          <p:nvPr/>
        </p:nvCxnSpPr>
        <p:spPr>
          <a:xfrm>
            <a:off x="9143280" y="4623480"/>
            <a:ext cx="1080" cy="679320"/>
          </a:xfrm>
          <a:prstGeom prst="straightConnector1">
            <a:avLst/>
          </a:prstGeom>
          <a:ln w="28575">
            <a:solidFill>
              <a:srgbClr val="000000"/>
            </a:solidFill>
            <a:round/>
            <a:tailEnd len="med" type="triangle" w="med"/>
          </a:ln>
        </p:spPr>
      </p:cxnSp>
      <p:sp>
        <p:nvSpPr>
          <p:cNvPr id="1032" name="Oval 181"/>
          <p:cNvSpPr/>
          <p:nvPr/>
        </p:nvSpPr>
        <p:spPr>
          <a:xfrm>
            <a:off x="7391520" y="4734000"/>
            <a:ext cx="1065240" cy="4906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600" spc="-1" strike="noStrike">
                <a:solidFill>
                  <a:schemeClr val="dk1"/>
                </a:solidFill>
                <a:latin typeface="Tahoma"/>
                <a:ea typeface="MS PGothic"/>
              </a:rPr>
              <a:t>ics171</a:t>
            </a:r>
            <a:endParaRPr b="0" lang="en-US" sz="1600" spc="-1" strike="noStrike">
              <a:solidFill>
                <a:srgbClr val="ffffff"/>
              </a:solidFill>
              <a:latin typeface="Arial"/>
            </a:endParaRPr>
          </a:p>
        </p:txBody>
      </p:sp>
      <p:cxnSp>
        <p:nvCxnSpPr>
          <p:cNvPr id="1033" name="AutoShape 182"/>
          <p:cNvCxnSpPr>
            <a:stCxn id="1010" idx="6"/>
            <a:endCxn id="1032" idx="0"/>
          </p:cNvCxnSpPr>
          <p:nvPr/>
        </p:nvCxnSpPr>
        <p:spPr>
          <a:xfrm>
            <a:off x="6994800" y="4053960"/>
            <a:ext cx="930240" cy="680760"/>
          </a:xfrm>
          <a:prstGeom prst="curvedConnector2">
            <a:avLst/>
          </a:prstGeom>
          <a:ln w="28575">
            <a:solidFill>
              <a:srgbClr val="000000"/>
            </a:solidFill>
            <a:round/>
            <a:tailEnd len="med" type="triangle" w="med"/>
          </a:ln>
        </p:spPr>
      </p:cxn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4"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Directed DFS</a:t>
            </a:r>
            <a:endParaRPr b="0" lang="en-US" sz="4400" spc="-1" strike="noStrike">
              <a:solidFill>
                <a:srgbClr val="000000"/>
              </a:solidFill>
              <a:latin typeface="Arial"/>
            </a:endParaRPr>
          </a:p>
        </p:txBody>
      </p:sp>
      <p:sp>
        <p:nvSpPr>
          <p:cNvPr id="1035" name="PlaceHolder 2"/>
          <p:cNvSpPr>
            <a:spLocks noGrp="1"/>
          </p:cNvSpPr>
          <p:nvPr>
            <p:ph/>
          </p:nvPr>
        </p:nvSpPr>
        <p:spPr>
          <a:xfrm>
            <a:off x="838080" y="1107000"/>
            <a:ext cx="6509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We can specialize the traversal algorithms (DFS and BFS) to digraphs by traversing edges only along their direction</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In the directed DFS algorithm, we have four types of edges</a:t>
            </a:r>
            <a:endParaRPr b="0" lang="en-US" sz="2000" spc="-1" strike="noStrike">
              <a:solidFill>
                <a:srgbClr val="000000"/>
              </a:solidFill>
              <a:latin typeface="Arial"/>
            </a:endParaRPr>
          </a:p>
          <a:p>
            <a:pPr lvl="1" marL="685800" indent="-228600" defTabSz="914400">
              <a:lnSpc>
                <a:spcPct val="90000"/>
              </a:lnSpc>
              <a:spcBef>
                <a:spcPts val="499"/>
              </a:spcBef>
              <a:buClr>
                <a:srgbClr val="44546a"/>
              </a:buClr>
              <a:buFont typeface="Arial"/>
              <a:buChar char="•"/>
            </a:pPr>
            <a:r>
              <a:rPr b="0" lang="en-US" sz="1800" spc="-1" strike="noStrike">
                <a:solidFill>
                  <a:schemeClr val="dk2"/>
                </a:solidFill>
                <a:latin typeface="Calibri"/>
                <a:ea typeface="ＭＳ Ｐゴシック"/>
              </a:rPr>
              <a:t>discovery edges</a:t>
            </a:r>
            <a:endParaRPr b="0" lang="en-US" sz="1800" spc="-1" strike="noStrike">
              <a:solidFill>
                <a:srgbClr val="000000"/>
              </a:solidFill>
              <a:latin typeface="Arial"/>
            </a:endParaRPr>
          </a:p>
          <a:p>
            <a:pPr lvl="1" marL="685800" indent="-228600" defTabSz="914400">
              <a:lnSpc>
                <a:spcPct val="90000"/>
              </a:lnSpc>
              <a:spcBef>
                <a:spcPts val="499"/>
              </a:spcBef>
              <a:buClr>
                <a:srgbClr val="70ad47"/>
              </a:buClr>
              <a:buFont typeface="Arial"/>
              <a:buChar char="•"/>
            </a:pPr>
            <a:r>
              <a:rPr b="0" lang="en-US" sz="1800" spc="-1" strike="noStrike">
                <a:solidFill>
                  <a:schemeClr val="accent6"/>
                </a:solidFill>
                <a:latin typeface="Calibri"/>
                <a:ea typeface="ＭＳ Ｐゴシック"/>
              </a:rPr>
              <a:t>back edges</a:t>
            </a:r>
            <a:endParaRPr b="0" lang="en-US" sz="1800" spc="-1" strike="noStrike">
              <a:solidFill>
                <a:srgbClr val="000000"/>
              </a:solidFill>
              <a:latin typeface="Arial"/>
            </a:endParaRPr>
          </a:p>
          <a:p>
            <a:pPr lvl="1" marL="685800" indent="-228600" defTabSz="914400">
              <a:lnSpc>
                <a:spcPct val="90000"/>
              </a:lnSpc>
              <a:spcBef>
                <a:spcPts val="499"/>
              </a:spcBef>
              <a:buClr>
                <a:srgbClr val="1f4e79"/>
              </a:buClr>
              <a:buFont typeface="Arial"/>
              <a:buChar char="•"/>
            </a:pPr>
            <a:r>
              <a:rPr b="0" lang="en-US" sz="1800" spc="-1" strike="noStrike">
                <a:solidFill>
                  <a:schemeClr val="accent1">
                    <a:lumMod val="50000"/>
                  </a:schemeClr>
                </a:solidFill>
                <a:latin typeface="Calibri"/>
                <a:ea typeface="ＭＳ Ｐゴシック"/>
              </a:rPr>
              <a:t>forward edges</a:t>
            </a:r>
            <a:endParaRPr b="0" lang="en-US" sz="1800" spc="-1" strike="noStrike">
              <a:solidFill>
                <a:srgbClr val="000000"/>
              </a:solidFill>
              <a:latin typeface="Arial"/>
            </a:endParaRPr>
          </a:p>
          <a:p>
            <a:pPr lvl="1" marL="685800" indent="-228600" defTabSz="914400">
              <a:lnSpc>
                <a:spcPct val="90000"/>
              </a:lnSpc>
              <a:spcBef>
                <a:spcPts val="499"/>
              </a:spcBef>
              <a:buClr>
                <a:srgbClr val="808080"/>
              </a:buClr>
              <a:buFont typeface="Arial"/>
              <a:buChar char="•"/>
            </a:pPr>
            <a:r>
              <a:rPr b="0" lang="en-US" sz="1800" spc="-1" strike="noStrike">
                <a:solidFill>
                  <a:schemeClr val="lt1">
                    <a:lumMod val="50000"/>
                  </a:schemeClr>
                </a:solidFill>
                <a:latin typeface="Calibri"/>
                <a:ea typeface="ＭＳ Ｐゴシック"/>
              </a:rPr>
              <a:t>cross edges</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ea typeface="ＭＳ Ｐゴシック"/>
              </a:rPr>
              <a:t>A directed DFS starting at a vertex </a:t>
            </a:r>
            <a:r>
              <a:rPr b="1" i="1" lang="en-US" sz="2000" spc="-1" strike="noStrike">
                <a:solidFill>
                  <a:schemeClr val="dk1"/>
                </a:solidFill>
                <a:latin typeface="Times New Roman"/>
                <a:ea typeface="ＭＳ Ｐゴシック"/>
              </a:rPr>
              <a:t>s</a:t>
            </a:r>
            <a:r>
              <a:rPr b="0" lang="en-US" sz="2000" spc="-1" strike="noStrike">
                <a:solidFill>
                  <a:schemeClr val="dk1"/>
                </a:solidFill>
                <a:latin typeface="Calibri"/>
                <a:ea typeface="ＭＳ Ｐゴシック"/>
              </a:rPr>
              <a:t> determines the vertices </a:t>
            </a:r>
            <a:r>
              <a:rPr b="0" lang="en-US" sz="2000" spc="-1" strike="noStrike">
                <a:solidFill>
                  <a:schemeClr val="dk2"/>
                </a:solidFill>
                <a:latin typeface="Calibri"/>
                <a:ea typeface="ＭＳ Ｐゴシック"/>
              </a:rPr>
              <a:t>reachable</a:t>
            </a:r>
            <a:r>
              <a:rPr b="0" lang="en-US" sz="2000" spc="-1" strike="noStrike">
                <a:solidFill>
                  <a:schemeClr val="dk1"/>
                </a:solidFill>
                <a:latin typeface="Calibri"/>
                <a:ea typeface="ＭＳ Ｐゴシック"/>
              </a:rPr>
              <a:t> from </a:t>
            </a:r>
            <a:r>
              <a:rPr b="1" i="1" lang="en-US" sz="2000" spc="-1" strike="noStrike">
                <a:solidFill>
                  <a:schemeClr val="dk1"/>
                </a:solidFill>
                <a:latin typeface="Times New Roman"/>
                <a:ea typeface="ＭＳ Ｐゴシック"/>
              </a:rPr>
              <a:t>s</a:t>
            </a:r>
            <a:endParaRPr b="0" lang="en-US" sz="2000" spc="-1" strike="noStrike">
              <a:solidFill>
                <a:srgbClr val="000000"/>
              </a:solidFill>
              <a:latin typeface="Arial"/>
            </a:endParaRPr>
          </a:p>
        </p:txBody>
      </p:sp>
      <p:sp>
        <p:nvSpPr>
          <p:cNvPr id="1036" name="PlaceHolder 3"/>
          <p:cNvSpPr>
            <a:spLocks noGrp="1"/>
          </p:cNvSpPr>
          <p:nvPr>
            <p:ph type="sldNum" idx="77"/>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A4B5CE88-61B3-404F-AC0B-23B8A077377F}"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1037" name="Oval 4"/>
          <p:cNvSpPr/>
          <p:nvPr/>
        </p:nvSpPr>
        <p:spPr>
          <a:xfrm>
            <a:off x="9417600" y="4399920"/>
            <a:ext cx="455760" cy="455760"/>
          </a:xfrm>
          <a:prstGeom prst="ellipse">
            <a:avLst/>
          </a:prstGeom>
          <a:solidFill>
            <a:schemeClr val="accent1"/>
          </a:solidFill>
          <a:ln w="19050">
            <a:solidFill>
              <a:srgbClr val="44546a"/>
            </a:solidFill>
            <a:round/>
          </a:ln>
          <a:effectLst>
            <a:outerShdw blurRad="63360" dir="5400000" dist="20160" rotWithShape="0">
              <a:srgbClr val="000000">
                <a:alpha val="38000"/>
              </a:srgbClr>
            </a:outerShdw>
          </a:effectLst>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Calibri"/>
              </a:rPr>
              <a:t>A</a:t>
            </a:r>
            <a:endParaRPr b="0" lang="en-US" sz="1800" spc="-1" strike="noStrike">
              <a:solidFill>
                <a:srgbClr val="ffffff"/>
              </a:solidFill>
              <a:latin typeface="Arial"/>
            </a:endParaRPr>
          </a:p>
        </p:txBody>
      </p:sp>
      <p:sp>
        <p:nvSpPr>
          <p:cNvPr id="1038" name="Oval 5"/>
          <p:cNvSpPr/>
          <p:nvPr/>
        </p:nvSpPr>
        <p:spPr>
          <a:xfrm>
            <a:off x="8722080" y="3028320"/>
            <a:ext cx="455760" cy="455760"/>
          </a:xfrm>
          <a:prstGeom prst="ellipse">
            <a:avLst/>
          </a:prstGeom>
          <a:solidFill>
            <a:schemeClr val="accent1"/>
          </a:solidFill>
          <a:ln w="19050">
            <a:solidFill>
              <a:srgbClr val="3c428b"/>
            </a:solidFill>
            <a:round/>
          </a:ln>
          <a:effectLst>
            <a:outerShdw blurRad="63360" dir="5400000" dist="20160" rotWithShape="0">
              <a:srgbClr val="000000">
                <a:alpha val="38000"/>
              </a:srgbClr>
            </a:outerShdw>
          </a:effectLst>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Calibri"/>
              </a:rPr>
              <a:t>C</a:t>
            </a:r>
            <a:endParaRPr b="0" lang="en-US" sz="1800" spc="-1" strike="noStrike">
              <a:solidFill>
                <a:srgbClr val="ffffff"/>
              </a:solidFill>
              <a:latin typeface="Arial"/>
            </a:endParaRPr>
          </a:p>
        </p:txBody>
      </p:sp>
      <p:sp>
        <p:nvSpPr>
          <p:cNvPr id="1039" name="Oval 6"/>
          <p:cNvSpPr/>
          <p:nvPr/>
        </p:nvSpPr>
        <p:spPr>
          <a:xfrm>
            <a:off x="9112680" y="1504440"/>
            <a:ext cx="455760" cy="455760"/>
          </a:xfrm>
          <a:prstGeom prst="ellipse">
            <a:avLst/>
          </a:prstGeom>
          <a:solidFill>
            <a:schemeClr val="accent1"/>
          </a:solidFill>
          <a:ln w="19050">
            <a:solidFill>
              <a:srgbClr val="3c428b"/>
            </a:solidFill>
            <a:round/>
          </a:ln>
          <a:effectLst>
            <a:outerShdw blurRad="63360" dir="5400000" dist="20160" rotWithShape="0">
              <a:srgbClr val="000000">
                <a:alpha val="38000"/>
              </a:srgbClr>
            </a:outerShdw>
          </a:effectLst>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Calibri"/>
              </a:rPr>
              <a:t>E</a:t>
            </a:r>
            <a:endParaRPr b="0" lang="en-US" sz="1800" spc="-1" strike="noStrike">
              <a:solidFill>
                <a:srgbClr val="ffffff"/>
              </a:solidFill>
              <a:latin typeface="Arial"/>
            </a:endParaRPr>
          </a:p>
        </p:txBody>
      </p:sp>
      <p:sp>
        <p:nvSpPr>
          <p:cNvPr id="1040" name="Oval 7"/>
          <p:cNvSpPr/>
          <p:nvPr/>
        </p:nvSpPr>
        <p:spPr>
          <a:xfrm>
            <a:off x="11093760" y="3657240"/>
            <a:ext cx="455760" cy="455760"/>
          </a:xfrm>
          <a:prstGeom prst="ellipse">
            <a:avLst/>
          </a:prstGeom>
          <a:solidFill>
            <a:schemeClr val="accent1"/>
          </a:solidFill>
          <a:ln w="19050">
            <a:solidFill>
              <a:srgbClr val="3c428b"/>
            </a:solidFill>
            <a:round/>
          </a:ln>
          <a:effectLst>
            <a:outerShdw blurRad="63360" dir="5400000" dist="20160" rotWithShape="0">
              <a:srgbClr val="000000">
                <a:alpha val="38000"/>
              </a:srgbClr>
            </a:outerShdw>
          </a:effectLst>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Calibri"/>
              </a:rPr>
              <a:t>B</a:t>
            </a:r>
            <a:endParaRPr b="0" lang="en-US" sz="1800" spc="-1" strike="noStrike">
              <a:solidFill>
                <a:srgbClr val="ffffff"/>
              </a:solidFill>
              <a:latin typeface="Arial"/>
            </a:endParaRPr>
          </a:p>
        </p:txBody>
      </p:sp>
      <p:sp>
        <p:nvSpPr>
          <p:cNvPr id="1041" name="Oval 8"/>
          <p:cNvSpPr/>
          <p:nvPr/>
        </p:nvSpPr>
        <p:spPr>
          <a:xfrm>
            <a:off x="10636560" y="2266560"/>
            <a:ext cx="455760" cy="455760"/>
          </a:xfrm>
          <a:prstGeom prst="ellipse">
            <a:avLst/>
          </a:prstGeom>
          <a:solidFill>
            <a:schemeClr val="accent1"/>
          </a:solidFill>
          <a:ln w="19050">
            <a:solidFill>
              <a:srgbClr val="3c428b"/>
            </a:solidFill>
            <a:round/>
          </a:ln>
          <a:effectLst>
            <a:outerShdw blurRad="63360" dir="5400000" dist="20160" rotWithShape="0">
              <a:srgbClr val="000000">
                <a:alpha val="38000"/>
              </a:srgbClr>
            </a:outerShdw>
          </a:effectLst>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Calibri"/>
              </a:rPr>
              <a:t>D</a:t>
            </a:r>
            <a:endParaRPr b="0" lang="en-US" sz="1800" spc="-1" strike="noStrike">
              <a:solidFill>
                <a:srgbClr val="ffffff"/>
              </a:solidFill>
              <a:latin typeface="Arial"/>
            </a:endParaRPr>
          </a:p>
        </p:txBody>
      </p:sp>
      <p:cxnSp>
        <p:nvCxnSpPr>
          <p:cNvPr id="1042" name="AutoShape 9"/>
          <p:cNvCxnSpPr>
            <a:stCxn id="1037" idx="1"/>
            <a:endCxn id="1038" idx="4"/>
          </p:cNvCxnSpPr>
          <p:nvPr/>
        </p:nvCxnSpPr>
        <p:spPr>
          <a:xfrm flipH="1" flipV="1">
            <a:off x="8950320" y="3484440"/>
            <a:ext cx="534600" cy="982800"/>
          </a:xfrm>
          <a:prstGeom prst="straightConnector1">
            <a:avLst/>
          </a:prstGeom>
          <a:ln w="38100">
            <a:solidFill>
              <a:srgbClr val="44546a"/>
            </a:solidFill>
            <a:round/>
            <a:tailEnd len="med" type="triangle" w="med"/>
          </a:ln>
        </p:spPr>
      </p:cxnSp>
      <p:cxnSp>
        <p:nvCxnSpPr>
          <p:cNvPr id="1043" name="AutoShape 10"/>
          <p:cNvCxnSpPr>
            <a:stCxn id="1037" idx="6"/>
            <a:endCxn id="1040" idx="3"/>
          </p:cNvCxnSpPr>
          <p:nvPr/>
        </p:nvCxnSpPr>
        <p:spPr>
          <a:xfrm flipV="1">
            <a:off x="9873720" y="4046760"/>
            <a:ext cx="1287360" cy="582120"/>
          </a:xfrm>
          <a:prstGeom prst="straightConnector1">
            <a:avLst/>
          </a:prstGeom>
          <a:ln w="38100">
            <a:solidFill>
              <a:srgbClr val="44546a"/>
            </a:solidFill>
            <a:round/>
            <a:tailEnd len="med" type="triangle" w="med"/>
          </a:ln>
        </p:spPr>
      </p:cxnSp>
      <p:cxnSp>
        <p:nvCxnSpPr>
          <p:cNvPr id="1044" name="AutoShape 11"/>
          <p:cNvCxnSpPr>
            <a:stCxn id="1038" idx="0"/>
            <a:endCxn id="1039" idx="4"/>
          </p:cNvCxnSpPr>
          <p:nvPr/>
        </p:nvCxnSpPr>
        <p:spPr>
          <a:xfrm flipV="1">
            <a:off x="8950320" y="1960560"/>
            <a:ext cx="391320" cy="1068480"/>
          </a:xfrm>
          <a:prstGeom prst="straightConnector1">
            <a:avLst/>
          </a:prstGeom>
          <a:ln w="38100">
            <a:solidFill>
              <a:srgbClr val="44546a"/>
            </a:solidFill>
            <a:round/>
            <a:tailEnd len="med" type="triangle" w="med"/>
          </a:ln>
        </p:spPr>
      </p:cxnSp>
      <p:cxnSp>
        <p:nvCxnSpPr>
          <p:cNvPr id="1045" name="AutoShape 12"/>
          <p:cNvCxnSpPr>
            <a:stCxn id="1041" idx="1"/>
            <a:endCxn id="1039" idx="6"/>
          </p:cNvCxnSpPr>
          <p:nvPr/>
        </p:nvCxnSpPr>
        <p:spPr>
          <a:xfrm flipH="1" flipV="1">
            <a:off x="9568800" y="1732680"/>
            <a:ext cx="1135080" cy="601200"/>
          </a:xfrm>
          <a:prstGeom prst="straightConnector1">
            <a:avLst/>
          </a:prstGeom>
          <a:ln cap="rnd" w="38100">
            <a:solidFill>
              <a:srgbClr val="808080"/>
            </a:solidFill>
            <a:prstDash val="sysDot"/>
            <a:round/>
            <a:tailEnd len="lg" type="triangle" w="med"/>
          </a:ln>
        </p:spPr>
      </p:cxnSp>
      <p:cxnSp>
        <p:nvCxnSpPr>
          <p:cNvPr id="1046" name="AutoShape 13"/>
          <p:cNvCxnSpPr>
            <a:endCxn id="1041" idx="5"/>
          </p:cNvCxnSpPr>
          <p:nvPr/>
        </p:nvCxnSpPr>
        <p:spPr>
          <a:xfrm flipH="1" flipV="1">
            <a:off x="11026080" y="2656080"/>
            <a:ext cx="297720" cy="992880"/>
          </a:xfrm>
          <a:prstGeom prst="straightConnector1">
            <a:avLst/>
          </a:prstGeom>
          <a:ln cap="rnd" w="38100">
            <a:solidFill>
              <a:srgbClr val="808080"/>
            </a:solidFill>
            <a:prstDash val="sysDot"/>
            <a:round/>
            <a:tailEnd len="lg" type="triangle" w="med"/>
          </a:ln>
        </p:spPr>
      </p:cxnSp>
      <p:cxnSp>
        <p:nvCxnSpPr>
          <p:cNvPr id="1047" name="AutoShape 14"/>
          <p:cNvCxnSpPr>
            <a:stCxn id="1037" idx="7"/>
            <a:endCxn id="1041" idx="3"/>
          </p:cNvCxnSpPr>
          <p:nvPr/>
        </p:nvCxnSpPr>
        <p:spPr>
          <a:xfrm flipV="1">
            <a:off x="9807120" y="2656080"/>
            <a:ext cx="896760" cy="1811160"/>
          </a:xfrm>
          <a:prstGeom prst="straightConnector1">
            <a:avLst/>
          </a:prstGeom>
          <a:ln w="38100">
            <a:solidFill>
              <a:srgbClr val="203864"/>
            </a:solidFill>
            <a:prstDash val="dashDot"/>
            <a:round/>
            <a:tailEnd len="lg" type="triangle" w="med"/>
          </a:ln>
        </p:spPr>
      </p:cxnSp>
      <p:cxnSp>
        <p:nvCxnSpPr>
          <p:cNvPr id="1048" name="AutoShape 15"/>
          <p:cNvCxnSpPr>
            <a:stCxn id="1038" idx="7"/>
            <a:endCxn id="1041" idx="2"/>
          </p:cNvCxnSpPr>
          <p:nvPr/>
        </p:nvCxnSpPr>
        <p:spPr>
          <a:xfrm flipV="1">
            <a:off x="9111600" y="2494800"/>
            <a:ext cx="1525680" cy="600840"/>
          </a:xfrm>
          <a:prstGeom prst="straightConnector1">
            <a:avLst/>
          </a:prstGeom>
          <a:ln w="38100">
            <a:solidFill>
              <a:srgbClr val="44546a"/>
            </a:solidFill>
            <a:round/>
            <a:tailEnd len="med" type="triangle" w="med"/>
          </a:ln>
        </p:spPr>
      </p:cxnSp>
      <p:cxnSp>
        <p:nvCxnSpPr>
          <p:cNvPr id="1049" name="AutoShape 16"/>
          <p:cNvCxnSpPr>
            <a:stCxn id="1037" idx="2"/>
            <a:endCxn id="1039" idx="2"/>
          </p:cNvCxnSpPr>
          <p:nvPr/>
        </p:nvCxnSpPr>
        <p:spPr>
          <a:xfrm rot="10800000">
            <a:off x="9112320" y="1732320"/>
            <a:ext cx="305640" cy="2896200"/>
          </a:xfrm>
          <a:prstGeom prst="curvedConnector2">
            <a:avLst/>
          </a:prstGeom>
          <a:ln w="38100">
            <a:solidFill>
              <a:srgbClr val="ed7d31"/>
            </a:solidFill>
            <a:prstDash val="dash"/>
            <a:round/>
            <a:headEnd len="med" type="triangle" w="med"/>
          </a:ln>
        </p:spPr>
      </p:cxn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0"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Reachability</a:t>
            </a:r>
            <a:endParaRPr b="0" lang="en-US" sz="4400" spc="-1" strike="noStrike">
              <a:solidFill>
                <a:srgbClr val="000000"/>
              </a:solidFill>
              <a:latin typeface="Arial"/>
            </a:endParaRPr>
          </a:p>
        </p:txBody>
      </p:sp>
      <p:sp>
        <p:nvSpPr>
          <p:cNvPr id="1051"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DFS </a:t>
            </a:r>
            <a:r>
              <a:rPr b="0" lang="en-US" sz="2800" spc="-1" strike="noStrike">
                <a:solidFill>
                  <a:schemeClr val="dk2"/>
                </a:solidFill>
                <a:latin typeface="Calibri"/>
              </a:rPr>
              <a:t>tree</a:t>
            </a:r>
            <a:r>
              <a:rPr b="0" lang="en-US" sz="2800" spc="-1" strike="noStrike">
                <a:solidFill>
                  <a:schemeClr val="dk1"/>
                </a:solidFill>
                <a:latin typeface="Calibri"/>
              </a:rPr>
              <a:t> rooted at v: vertices reachable from v via directed paths</a:t>
            </a:r>
            <a:endParaRPr b="0" lang="en-US" sz="2800" spc="-1" strike="noStrike">
              <a:solidFill>
                <a:srgbClr val="000000"/>
              </a:solidFill>
              <a:latin typeface="Arial"/>
            </a:endParaRPr>
          </a:p>
        </p:txBody>
      </p:sp>
      <p:sp>
        <p:nvSpPr>
          <p:cNvPr id="1052" name="PlaceHolder 3"/>
          <p:cNvSpPr>
            <a:spLocks noGrp="1"/>
          </p:cNvSpPr>
          <p:nvPr>
            <p:ph type="sldNum" idx="78"/>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82C5121A-1A0F-47C4-9B47-0980F93527B5}"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1053" name="Oval 167"/>
          <p:cNvSpPr/>
          <p:nvPr/>
        </p:nvSpPr>
        <p:spPr>
          <a:xfrm>
            <a:off x="1738440" y="4656240"/>
            <a:ext cx="358920" cy="3844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A</a:t>
            </a:r>
            <a:endParaRPr b="0" lang="en-US" sz="2400" spc="-1" strike="noStrike">
              <a:solidFill>
                <a:srgbClr val="ffffff"/>
              </a:solidFill>
              <a:latin typeface="Arial"/>
            </a:endParaRPr>
          </a:p>
        </p:txBody>
      </p:sp>
      <p:sp>
        <p:nvSpPr>
          <p:cNvPr id="1054" name="Oval 168"/>
          <p:cNvSpPr/>
          <p:nvPr/>
        </p:nvSpPr>
        <p:spPr>
          <a:xfrm>
            <a:off x="2708280" y="3894120"/>
            <a:ext cx="358920" cy="3826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C</a:t>
            </a:r>
            <a:endParaRPr b="0" lang="en-US" sz="2400" spc="-1" strike="noStrike">
              <a:solidFill>
                <a:srgbClr val="ffffff"/>
              </a:solidFill>
              <a:latin typeface="Arial"/>
            </a:endParaRPr>
          </a:p>
        </p:txBody>
      </p:sp>
      <p:sp>
        <p:nvSpPr>
          <p:cNvPr id="1055" name="Oval 169"/>
          <p:cNvSpPr/>
          <p:nvPr/>
        </p:nvSpPr>
        <p:spPr>
          <a:xfrm>
            <a:off x="1736640" y="3056040"/>
            <a:ext cx="360360" cy="3844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E</a:t>
            </a:r>
            <a:endParaRPr b="0" lang="en-US" sz="2400" spc="-1" strike="noStrike">
              <a:solidFill>
                <a:srgbClr val="ffffff"/>
              </a:solidFill>
              <a:latin typeface="Arial"/>
            </a:endParaRPr>
          </a:p>
        </p:txBody>
      </p:sp>
      <p:sp>
        <p:nvSpPr>
          <p:cNvPr id="1056" name="Oval 170"/>
          <p:cNvSpPr/>
          <p:nvPr/>
        </p:nvSpPr>
        <p:spPr>
          <a:xfrm>
            <a:off x="3699000" y="4656240"/>
            <a:ext cx="358920" cy="3844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B</a:t>
            </a:r>
            <a:endParaRPr b="0" lang="en-US" sz="2400" spc="-1" strike="noStrike">
              <a:solidFill>
                <a:srgbClr val="ffffff"/>
              </a:solidFill>
              <a:latin typeface="Arial"/>
            </a:endParaRPr>
          </a:p>
        </p:txBody>
      </p:sp>
      <p:sp>
        <p:nvSpPr>
          <p:cNvPr id="1057" name="Oval 171"/>
          <p:cNvSpPr/>
          <p:nvPr/>
        </p:nvSpPr>
        <p:spPr>
          <a:xfrm>
            <a:off x="3699000" y="3056040"/>
            <a:ext cx="360360" cy="3844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D</a:t>
            </a:r>
            <a:endParaRPr b="0" lang="en-US" sz="2400" spc="-1" strike="noStrike">
              <a:solidFill>
                <a:srgbClr val="ffffff"/>
              </a:solidFill>
              <a:latin typeface="Arial"/>
            </a:endParaRPr>
          </a:p>
        </p:txBody>
      </p:sp>
      <p:cxnSp>
        <p:nvCxnSpPr>
          <p:cNvPr id="1058" name="AutoShape 172"/>
          <p:cNvCxnSpPr>
            <a:stCxn id="1059" idx="1"/>
            <a:endCxn id="1057" idx="5"/>
          </p:cNvCxnSpPr>
          <p:nvPr/>
        </p:nvCxnSpPr>
        <p:spPr>
          <a:xfrm flipH="1" flipV="1">
            <a:off x="4007160" y="3384720"/>
            <a:ext cx="983160" cy="615600"/>
          </a:xfrm>
          <a:prstGeom prst="straightConnector1">
            <a:avLst/>
          </a:prstGeom>
          <a:ln w="28575">
            <a:solidFill>
              <a:srgbClr val="000000"/>
            </a:solidFill>
            <a:round/>
            <a:tailEnd len="lg" type="triangle" w="med"/>
          </a:ln>
        </p:spPr>
      </p:cxnSp>
      <p:cxnSp>
        <p:nvCxnSpPr>
          <p:cNvPr id="1060" name="AutoShape 173"/>
          <p:cNvCxnSpPr>
            <a:stCxn id="1053" idx="6"/>
            <a:endCxn id="1056" idx="2"/>
          </p:cNvCxnSpPr>
          <p:nvPr/>
        </p:nvCxnSpPr>
        <p:spPr>
          <a:xfrm>
            <a:off x="2097720" y="4848840"/>
            <a:ext cx="1602000" cy="720"/>
          </a:xfrm>
          <a:prstGeom prst="straightConnector1">
            <a:avLst/>
          </a:prstGeom>
          <a:ln w="28575">
            <a:solidFill>
              <a:srgbClr val="000000"/>
            </a:solidFill>
            <a:round/>
            <a:headEnd len="med" type="triangle" w="med"/>
          </a:ln>
        </p:spPr>
      </p:cxnSp>
      <p:cxnSp>
        <p:nvCxnSpPr>
          <p:cNvPr id="1061" name="AutoShape 174"/>
          <p:cNvCxnSpPr>
            <a:stCxn id="1054" idx="1"/>
            <a:endCxn id="1055" idx="5"/>
          </p:cNvCxnSpPr>
          <p:nvPr/>
        </p:nvCxnSpPr>
        <p:spPr>
          <a:xfrm flipH="1" flipV="1">
            <a:off x="2044800" y="3384720"/>
            <a:ext cx="716760" cy="565920"/>
          </a:xfrm>
          <a:prstGeom prst="straightConnector1">
            <a:avLst/>
          </a:prstGeom>
          <a:ln w="28575">
            <a:solidFill>
              <a:srgbClr val="000000"/>
            </a:solidFill>
            <a:round/>
            <a:tailEnd len="lg" type="triangle" w="med"/>
          </a:ln>
        </p:spPr>
      </p:cxnSp>
      <p:cxnSp>
        <p:nvCxnSpPr>
          <p:cNvPr id="1062" name="AutoShape 175"/>
          <p:cNvCxnSpPr>
            <a:stCxn id="1057" idx="2"/>
            <a:endCxn id="1055" idx="6"/>
          </p:cNvCxnSpPr>
          <p:nvPr/>
        </p:nvCxnSpPr>
        <p:spPr>
          <a:xfrm flipH="1">
            <a:off x="2097360" y="3248640"/>
            <a:ext cx="1602360" cy="720"/>
          </a:xfrm>
          <a:prstGeom prst="straightConnector1">
            <a:avLst/>
          </a:prstGeom>
          <a:ln w="28575">
            <a:solidFill>
              <a:srgbClr val="000000"/>
            </a:solidFill>
            <a:round/>
            <a:headEnd len="med" type="triangle" w="med"/>
          </a:ln>
        </p:spPr>
      </p:cxnSp>
      <p:cxnSp>
        <p:nvCxnSpPr>
          <p:cNvPr id="1063" name="AutoShape 176"/>
          <p:cNvCxnSpPr>
            <a:stCxn id="1056" idx="0"/>
            <a:endCxn id="1057" idx="4"/>
          </p:cNvCxnSpPr>
          <p:nvPr/>
        </p:nvCxnSpPr>
        <p:spPr>
          <a:xfrm flipV="1">
            <a:off x="3878640" y="3417120"/>
            <a:ext cx="1440" cy="1239840"/>
          </a:xfrm>
          <a:prstGeom prst="straightConnector1">
            <a:avLst/>
          </a:prstGeom>
          <a:ln w="28575">
            <a:solidFill>
              <a:srgbClr val="000000"/>
            </a:solidFill>
            <a:round/>
            <a:tailEnd len="lg" type="triangle" w="med"/>
          </a:ln>
        </p:spPr>
      </p:cxnSp>
      <p:cxnSp>
        <p:nvCxnSpPr>
          <p:cNvPr id="1064" name="AutoShape 177"/>
          <p:cNvCxnSpPr>
            <a:stCxn id="1053" idx="7"/>
            <a:endCxn id="1054" idx="3"/>
          </p:cNvCxnSpPr>
          <p:nvPr/>
        </p:nvCxnSpPr>
        <p:spPr>
          <a:xfrm flipV="1">
            <a:off x="2045160" y="4221360"/>
            <a:ext cx="716400" cy="491760"/>
          </a:xfrm>
          <a:prstGeom prst="straightConnector1">
            <a:avLst/>
          </a:prstGeom>
          <a:ln w="28575">
            <a:solidFill>
              <a:srgbClr val="000000"/>
            </a:solidFill>
            <a:round/>
            <a:tailEnd len="lg" type="triangle" w="med"/>
          </a:ln>
        </p:spPr>
      </p:cxnSp>
      <p:cxnSp>
        <p:nvCxnSpPr>
          <p:cNvPr id="1065" name="AutoShape 178"/>
          <p:cNvCxnSpPr>
            <a:stCxn id="1054" idx="7"/>
            <a:endCxn id="1057" idx="3"/>
          </p:cNvCxnSpPr>
          <p:nvPr/>
        </p:nvCxnSpPr>
        <p:spPr>
          <a:xfrm flipV="1">
            <a:off x="3015000" y="3384720"/>
            <a:ext cx="737280" cy="565920"/>
          </a:xfrm>
          <a:prstGeom prst="straightConnector1">
            <a:avLst/>
          </a:prstGeom>
          <a:ln w="28575">
            <a:solidFill>
              <a:srgbClr val="000000"/>
            </a:solidFill>
            <a:round/>
            <a:headEnd len="med" type="triangle" w="med"/>
          </a:ln>
        </p:spPr>
      </p:cxnSp>
      <p:sp>
        <p:nvSpPr>
          <p:cNvPr id="1059" name="Oval 180"/>
          <p:cNvSpPr/>
          <p:nvPr/>
        </p:nvSpPr>
        <p:spPr>
          <a:xfrm>
            <a:off x="4937040" y="3943440"/>
            <a:ext cx="360360" cy="3844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F</a:t>
            </a:r>
            <a:endParaRPr b="0" lang="en-US" sz="2400" spc="-1" strike="noStrike">
              <a:solidFill>
                <a:srgbClr val="ffffff"/>
              </a:solidFill>
              <a:latin typeface="Arial"/>
            </a:endParaRPr>
          </a:p>
        </p:txBody>
      </p:sp>
      <p:cxnSp>
        <p:nvCxnSpPr>
          <p:cNvPr id="1066" name="AutoShape 181"/>
          <p:cNvCxnSpPr>
            <a:stCxn id="1055" idx="4"/>
            <a:endCxn id="1053" idx="0"/>
          </p:cNvCxnSpPr>
          <p:nvPr/>
        </p:nvCxnSpPr>
        <p:spPr>
          <a:xfrm>
            <a:off x="1917000" y="3417120"/>
            <a:ext cx="1800" cy="1239840"/>
          </a:xfrm>
          <a:prstGeom prst="straightConnector1">
            <a:avLst/>
          </a:prstGeom>
          <a:ln w="28575">
            <a:solidFill>
              <a:srgbClr val="000000"/>
            </a:solidFill>
            <a:round/>
            <a:tailEnd len="med" type="triangle" w="med"/>
          </a:ln>
        </p:spPr>
      </p:cxnSp>
      <p:cxnSp>
        <p:nvCxnSpPr>
          <p:cNvPr id="1067" name="AutoShape 182"/>
          <p:cNvCxnSpPr>
            <a:stCxn id="1056" idx="7"/>
            <a:endCxn id="1059" idx="3"/>
          </p:cNvCxnSpPr>
          <p:nvPr/>
        </p:nvCxnSpPr>
        <p:spPr>
          <a:xfrm flipV="1">
            <a:off x="4005720" y="4272120"/>
            <a:ext cx="984600" cy="441000"/>
          </a:xfrm>
          <a:prstGeom prst="straightConnector1">
            <a:avLst/>
          </a:prstGeom>
          <a:ln w="28575">
            <a:solidFill>
              <a:srgbClr val="000000"/>
            </a:solidFill>
            <a:round/>
            <a:tailEnd len="med" type="triangle" w="med"/>
          </a:ln>
        </p:spPr>
      </p:cxnSp>
      <p:cxnSp>
        <p:nvCxnSpPr>
          <p:cNvPr id="1068" name="AutoShape 184"/>
          <p:cNvCxnSpPr>
            <a:stCxn id="1056" idx="1"/>
            <a:endCxn id="1054" idx="5"/>
          </p:cNvCxnSpPr>
          <p:nvPr/>
        </p:nvCxnSpPr>
        <p:spPr>
          <a:xfrm flipH="1" flipV="1">
            <a:off x="3015000" y="4221360"/>
            <a:ext cx="737280" cy="491760"/>
          </a:xfrm>
          <a:prstGeom prst="straightConnector1">
            <a:avLst/>
          </a:prstGeom>
          <a:ln w="28575">
            <a:solidFill>
              <a:srgbClr val="000000"/>
            </a:solidFill>
            <a:round/>
            <a:tailEnd len="med" type="triangle" w="med"/>
          </a:ln>
        </p:spPr>
      </p:cxnSp>
      <p:sp>
        <p:nvSpPr>
          <p:cNvPr id="1069" name="Oval 205"/>
          <p:cNvSpPr/>
          <p:nvPr/>
        </p:nvSpPr>
        <p:spPr>
          <a:xfrm>
            <a:off x="6824880" y="3229920"/>
            <a:ext cx="295560" cy="31752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A</a:t>
            </a:r>
            <a:endParaRPr b="0" lang="en-US" sz="2000" spc="-1" strike="noStrike">
              <a:solidFill>
                <a:srgbClr val="ffffff"/>
              </a:solidFill>
              <a:latin typeface="Arial"/>
            </a:endParaRPr>
          </a:p>
        </p:txBody>
      </p:sp>
      <p:sp>
        <p:nvSpPr>
          <p:cNvPr id="1070" name="Oval 206"/>
          <p:cNvSpPr/>
          <p:nvPr/>
        </p:nvSpPr>
        <p:spPr>
          <a:xfrm>
            <a:off x="7624800" y="2599920"/>
            <a:ext cx="295560" cy="3160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C</a:t>
            </a:r>
            <a:endParaRPr b="0" lang="en-US" sz="2000" spc="-1" strike="noStrike">
              <a:solidFill>
                <a:srgbClr val="ffffff"/>
              </a:solidFill>
              <a:latin typeface="Arial"/>
            </a:endParaRPr>
          </a:p>
        </p:txBody>
      </p:sp>
      <p:sp>
        <p:nvSpPr>
          <p:cNvPr id="1071" name="Oval 207"/>
          <p:cNvSpPr/>
          <p:nvPr/>
        </p:nvSpPr>
        <p:spPr>
          <a:xfrm>
            <a:off x="6823080" y="1906200"/>
            <a:ext cx="297000" cy="31752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E</a:t>
            </a:r>
            <a:endParaRPr b="0" lang="en-US" sz="2000" spc="-1" strike="noStrike">
              <a:solidFill>
                <a:srgbClr val="ffffff"/>
              </a:solidFill>
              <a:latin typeface="Arial"/>
            </a:endParaRPr>
          </a:p>
        </p:txBody>
      </p:sp>
      <p:sp>
        <p:nvSpPr>
          <p:cNvPr id="1072" name="Oval 209"/>
          <p:cNvSpPr/>
          <p:nvPr/>
        </p:nvSpPr>
        <p:spPr>
          <a:xfrm>
            <a:off x="8440920" y="1906200"/>
            <a:ext cx="297000" cy="31752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D</a:t>
            </a:r>
            <a:endParaRPr b="0" lang="en-US" sz="2000" spc="-1" strike="noStrike">
              <a:solidFill>
                <a:srgbClr val="ffffff"/>
              </a:solidFill>
              <a:latin typeface="Arial"/>
            </a:endParaRPr>
          </a:p>
        </p:txBody>
      </p:sp>
      <p:cxnSp>
        <p:nvCxnSpPr>
          <p:cNvPr id="1073" name="AutoShape 212"/>
          <p:cNvCxnSpPr>
            <a:stCxn id="1070" idx="1"/>
            <a:endCxn id="1071" idx="5"/>
          </p:cNvCxnSpPr>
          <p:nvPr/>
        </p:nvCxnSpPr>
        <p:spPr>
          <a:xfrm flipH="1" flipV="1">
            <a:off x="7076880" y="2177640"/>
            <a:ext cx="591840" cy="469080"/>
          </a:xfrm>
          <a:prstGeom prst="straightConnector1">
            <a:avLst/>
          </a:prstGeom>
          <a:ln w="28575">
            <a:solidFill>
              <a:srgbClr val="000000"/>
            </a:solidFill>
            <a:round/>
            <a:tailEnd len="lg" type="triangle" w="med"/>
          </a:ln>
        </p:spPr>
      </p:cxnSp>
      <p:cxnSp>
        <p:nvCxnSpPr>
          <p:cNvPr id="1074" name="AutoShape 213"/>
          <p:cNvCxnSpPr>
            <a:stCxn id="1072" idx="2"/>
            <a:endCxn id="1071" idx="6"/>
          </p:cNvCxnSpPr>
          <p:nvPr/>
        </p:nvCxnSpPr>
        <p:spPr>
          <a:xfrm flipH="1">
            <a:off x="7120440" y="2065320"/>
            <a:ext cx="1321200" cy="720"/>
          </a:xfrm>
          <a:prstGeom prst="straightConnector1">
            <a:avLst/>
          </a:prstGeom>
          <a:ln w="28575">
            <a:solidFill>
              <a:srgbClr val="000000"/>
            </a:solidFill>
            <a:round/>
            <a:headEnd len="med" type="triangle" w="med"/>
          </a:ln>
        </p:spPr>
      </p:cxnSp>
      <p:cxnSp>
        <p:nvCxnSpPr>
          <p:cNvPr id="1075" name="AutoShape 218"/>
          <p:cNvCxnSpPr>
            <a:stCxn id="1071" idx="4"/>
            <a:endCxn id="1069" idx="0"/>
          </p:cNvCxnSpPr>
          <p:nvPr/>
        </p:nvCxnSpPr>
        <p:spPr>
          <a:xfrm>
            <a:off x="6971760" y="2203920"/>
            <a:ext cx="1800" cy="1026720"/>
          </a:xfrm>
          <a:prstGeom prst="straightConnector1">
            <a:avLst/>
          </a:prstGeom>
          <a:ln w="28575">
            <a:solidFill>
              <a:srgbClr val="000000"/>
            </a:solidFill>
            <a:round/>
            <a:tailEnd len="med" type="triangle" w="med"/>
          </a:ln>
        </p:spPr>
      </p:cxnSp>
      <p:sp>
        <p:nvSpPr>
          <p:cNvPr id="1076" name="Oval 240"/>
          <p:cNvSpPr/>
          <p:nvPr/>
        </p:nvSpPr>
        <p:spPr>
          <a:xfrm>
            <a:off x="6894360" y="6081840"/>
            <a:ext cx="295560" cy="31752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A</a:t>
            </a:r>
            <a:endParaRPr b="0" lang="en-US" sz="2000" spc="-1" strike="noStrike">
              <a:solidFill>
                <a:srgbClr val="ffffff"/>
              </a:solidFill>
              <a:latin typeface="Arial"/>
            </a:endParaRPr>
          </a:p>
        </p:txBody>
      </p:sp>
      <p:sp>
        <p:nvSpPr>
          <p:cNvPr id="1077" name="Oval 241"/>
          <p:cNvSpPr/>
          <p:nvPr/>
        </p:nvSpPr>
        <p:spPr>
          <a:xfrm>
            <a:off x="7694640" y="5451480"/>
            <a:ext cx="295560" cy="31608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C</a:t>
            </a:r>
            <a:endParaRPr b="0" lang="en-US" sz="2000" spc="-1" strike="noStrike">
              <a:solidFill>
                <a:srgbClr val="ffffff"/>
              </a:solidFill>
              <a:latin typeface="Arial"/>
            </a:endParaRPr>
          </a:p>
        </p:txBody>
      </p:sp>
      <p:sp>
        <p:nvSpPr>
          <p:cNvPr id="1078" name="Oval 242"/>
          <p:cNvSpPr/>
          <p:nvPr/>
        </p:nvSpPr>
        <p:spPr>
          <a:xfrm>
            <a:off x="6892920" y="4757760"/>
            <a:ext cx="297000" cy="31752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E</a:t>
            </a:r>
            <a:endParaRPr b="0" lang="en-US" sz="2000" spc="-1" strike="noStrike">
              <a:solidFill>
                <a:srgbClr val="ffffff"/>
              </a:solidFill>
              <a:latin typeface="Arial"/>
            </a:endParaRPr>
          </a:p>
        </p:txBody>
      </p:sp>
      <p:sp>
        <p:nvSpPr>
          <p:cNvPr id="1079" name="Oval 243"/>
          <p:cNvSpPr/>
          <p:nvPr/>
        </p:nvSpPr>
        <p:spPr>
          <a:xfrm>
            <a:off x="8510760" y="6081840"/>
            <a:ext cx="295560" cy="31752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B</a:t>
            </a:r>
            <a:endParaRPr b="0" lang="en-US" sz="2000" spc="-1" strike="noStrike">
              <a:solidFill>
                <a:srgbClr val="ffffff"/>
              </a:solidFill>
              <a:latin typeface="Arial"/>
            </a:endParaRPr>
          </a:p>
        </p:txBody>
      </p:sp>
      <p:sp>
        <p:nvSpPr>
          <p:cNvPr id="1080" name="Oval 244"/>
          <p:cNvSpPr/>
          <p:nvPr/>
        </p:nvSpPr>
        <p:spPr>
          <a:xfrm>
            <a:off x="8510760" y="4757760"/>
            <a:ext cx="297000" cy="31752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D</a:t>
            </a:r>
            <a:endParaRPr b="0" lang="en-US" sz="2000" spc="-1" strike="noStrike">
              <a:solidFill>
                <a:srgbClr val="ffffff"/>
              </a:solidFill>
              <a:latin typeface="Arial"/>
            </a:endParaRPr>
          </a:p>
        </p:txBody>
      </p:sp>
      <p:cxnSp>
        <p:nvCxnSpPr>
          <p:cNvPr id="1081" name="AutoShape 246"/>
          <p:cNvCxnSpPr>
            <a:stCxn id="1076" idx="6"/>
            <a:endCxn id="1079" idx="2"/>
          </p:cNvCxnSpPr>
          <p:nvPr/>
        </p:nvCxnSpPr>
        <p:spPr>
          <a:xfrm>
            <a:off x="7190280" y="6240960"/>
            <a:ext cx="1321200" cy="720"/>
          </a:xfrm>
          <a:prstGeom prst="straightConnector1">
            <a:avLst/>
          </a:prstGeom>
          <a:ln w="28575">
            <a:solidFill>
              <a:srgbClr val="000000"/>
            </a:solidFill>
            <a:round/>
            <a:headEnd len="med" type="triangle" w="med"/>
          </a:ln>
        </p:spPr>
      </p:cxnSp>
      <p:cxnSp>
        <p:nvCxnSpPr>
          <p:cNvPr id="1082" name="AutoShape 247"/>
          <p:cNvCxnSpPr>
            <a:stCxn id="1077" idx="1"/>
            <a:endCxn id="1078" idx="5"/>
          </p:cNvCxnSpPr>
          <p:nvPr/>
        </p:nvCxnSpPr>
        <p:spPr>
          <a:xfrm flipH="1" flipV="1">
            <a:off x="7146720" y="5029200"/>
            <a:ext cx="591840" cy="469080"/>
          </a:xfrm>
          <a:prstGeom prst="straightConnector1">
            <a:avLst/>
          </a:prstGeom>
          <a:ln w="28575">
            <a:solidFill>
              <a:srgbClr val="000000"/>
            </a:solidFill>
            <a:round/>
            <a:tailEnd len="lg" type="triangle" w="med"/>
          </a:ln>
        </p:spPr>
      </p:cxnSp>
      <p:cxnSp>
        <p:nvCxnSpPr>
          <p:cNvPr id="1083" name="AutoShape 249"/>
          <p:cNvCxnSpPr>
            <a:stCxn id="1079" idx="0"/>
            <a:endCxn id="1080" idx="4"/>
          </p:cNvCxnSpPr>
          <p:nvPr/>
        </p:nvCxnSpPr>
        <p:spPr>
          <a:xfrm flipV="1">
            <a:off x="8658720" y="5055480"/>
            <a:ext cx="1440" cy="1027080"/>
          </a:xfrm>
          <a:prstGeom prst="straightConnector1">
            <a:avLst/>
          </a:prstGeom>
          <a:ln w="28575">
            <a:solidFill>
              <a:srgbClr val="000000"/>
            </a:solidFill>
            <a:round/>
            <a:tailEnd len="lg" type="triangle" w="med"/>
          </a:ln>
        </p:spPr>
      </p:cxnSp>
      <p:sp>
        <p:nvSpPr>
          <p:cNvPr id="1084" name="Oval 252"/>
          <p:cNvSpPr/>
          <p:nvPr/>
        </p:nvSpPr>
        <p:spPr>
          <a:xfrm>
            <a:off x="9531360" y="5491080"/>
            <a:ext cx="297000" cy="319320"/>
          </a:xfrm>
          <a:prstGeom prst="ellipse">
            <a:avLst/>
          </a:prstGeom>
          <a:solidFill>
            <a:schemeClr val="accent1"/>
          </a:solidFill>
          <a:ln w="28575">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000" spc="-1" strike="noStrike">
                <a:solidFill>
                  <a:schemeClr val="dk1"/>
                </a:solidFill>
                <a:latin typeface="Tahoma"/>
                <a:ea typeface="MS PGothic"/>
              </a:rPr>
              <a:t>F</a:t>
            </a:r>
            <a:endParaRPr b="0" lang="en-US" sz="2000" spc="-1" strike="noStrike">
              <a:solidFill>
                <a:srgbClr val="ffffff"/>
              </a:solidFill>
              <a:latin typeface="Arial"/>
            </a:endParaRPr>
          </a:p>
        </p:txBody>
      </p:sp>
      <p:cxnSp>
        <p:nvCxnSpPr>
          <p:cNvPr id="1085" name="AutoShape 254"/>
          <p:cNvCxnSpPr>
            <a:stCxn id="1079" idx="7"/>
            <a:endCxn id="1084" idx="3"/>
          </p:cNvCxnSpPr>
          <p:nvPr/>
        </p:nvCxnSpPr>
        <p:spPr>
          <a:xfrm flipV="1">
            <a:off x="8763480" y="5763960"/>
            <a:ext cx="812160" cy="365040"/>
          </a:xfrm>
          <a:prstGeom prst="straightConnector1">
            <a:avLst/>
          </a:prstGeom>
          <a:ln w="28575">
            <a:solidFill>
              <a:srgbClr val="000000"/>
            </a:solidFill>
            <a:round/>
            <a:tailEnd len="med" type="triangle" w="med"/>
          </a:ln>
        </p:spPr>
      </p:cxnSp>
      <p:cxnSp>
        <p:nvCxnSpPr>
          <p:cNvPr id="1086" name="AutoShape 255"/>
          <p:cNvCxnSpPr>
            <a:stCxn id="1079" idx="1"/>
            <a:endCxn id="1077" idx="5"/>
          </p:cNvCxnSpPr>
          <p:nvPr/>
        </p:nvCxnSpPr>
        <p:spPr>
          <a:xfrm flipH="1" flipV="1">
            <a:off x="7947360" y="5721840"/>
            <a:ext cx="607320" cy="407160"/>
          </a:xfrm>
          <a:prstGeom prst="straightConnector1">
            <a:avLst/>
          </a:prstGeom>
          <a:ln w="28575">
            <a:solidFill>
              <a:srgbClr val="000000"/>
            </a:solidFill>
            <a:round/>
            <a:tailEnd len="med" type="triangle" w="med"/>
          </a:ln>
        </p:spPr>
      </p:cxn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Weighted Graphs</a:t>
            </a:r>
            <a:endParaRPr b="0" lang="en-US" sz="4400" spc="-1" strike="noStrike">
              <a:solidFill>
                <a:srgbClr val="000000"/>
              </a:solidFill>
              <a:latin typeface="Arial"/>
            </a:endParaRPr>
          </a:p>
        </p:txBody>
      </p:sp>
      <p:sp>
        <p:nvSpPr>
          <p:cNvPr id="1088"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In a weighted graph, each edge has an associated numerical value, called the weight of the edge</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Edge weights may represent, distances, costs, etc.</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Example:</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In a  flight route graph, the weight of an edge represents the distance in miles between the endpoint airports</a:t>
            </a:r>
            <a:endParaRPr b="0" lang="en-US" sz="1800" spc="-1" strike="noStrike">
              <a:solidFill>
                <a:srgbClr val="000000"/>
              </a:solidFill>
              <a:latin typeface="Arial"/>
            </a:endParaRPr>
          </a:p>
        </p:txBody>
      </p:sp>
      <p:sp>
        <p:nvSpPr>
          <p:cNvPr id="1089" name="PlaceHolder 3"/>
          <p:cNvSpPr>
            <a:spLocks noGrp="1"/>
          </p:cNvSpPr>
          <p:nvPr>
            <p:ph type="sldNum" idx="79"/>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F1F8061B-F213-4D65-9398-2E1ED374AC25}"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1090" name="Oval 4"/>
          <p:cNvSpPr/>
          <p:nvPr/>
        </p:nvSpPr>
        <p:spPr>
          <a:xfrm>
            <a:off x="6346800" y="346068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ORD</a:t>
            </a:r>
            <a:endParaRPr b="0" lang="en-US" sz="2400" spc="-1" strike="noStrike">
              <a:solidFill>
                <a:srgbClr val="ffffff"/>
              </a:solidFill>
              <a:latin typeface="Arial"/>
            </a:endParaRPr>
          </a:p>
        </p:txBody>
      </p:sp>
      <p:sp>
        <p:nvSpPr>
          <p:cNvPr id="1091" name="Oval 5"/>
          <p:cNvSpPr/>
          <p:nvPr/>
        </p:nvSpPr>
        <p:spPr>
          <a:xfrm>
            <a:off x="8861400" y="330480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PVD</a:t>
            </a:r>
            <a:endParaRPr b="0" lang="en-US" sz="2400" spc="-1" strike="noStrike">
              <a:solidFill>
                <a:srgbClr val="ffffff"/>
              </a:solidFill>
              <a:latin typeface="Arial"/>
            </a:endParaRPr>
          </a:p>
        </p:txBody>
      </p:sp>
      <p:sp>
        <p:nvSpPr>
          <p:cNvPr id="1092" name="Oval 6"/>
          <p:cNvSpPr/>
          <p:nvPr/>
        </p:nvSpPr>
        <p:spPr>
          <a:xfrm>
            <a:off x="8610840" y="521316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MIA</a:t>
            </a:r>
            <a:endParaRPr b="0" lang="en-US" sz="2400" spc="-1" strike="noStrike">
              <a:solidFill>
                <a:srgbClr val="ffffff"/>
              </a:solidFill>
              <a:latin typeface="Arial"/>
            </a:endParaRPr>
          </a:p>
        </p:txBody>
      </p:sp>
      <p:sp>
        <p:nvSpPr>
          <p:cNvPr id="1093" name="Oval 7"/>
          <p:cNvSpPr/>
          <p:nvPr/>
        </p:nvSpPr>
        <p:spPr>
          <a:xfrm>
            <a:off x="6058080" y="497484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DFW</a:t>
            </a:r>
            <a:endParaRPr b="0" lang="en-US" sz="2400" spc="-1" strike="noStrike">
              <a:solidFill>
                <a:srgbClr val="ffffff"/>
              </a:solidFill>
              <a:latin typeface="Arial"/>
            </a:endParaRPr>
          </a:p>
        </p:txBody>
      </p:sp>
      <p:sp>
        <p:nvSpPr>
          <p:cNvPr id="1094" name="Oval 8"/>
          <p:cNvSpPr/>
          <p:nvPr/>
        </p:nvSpPr>
        <p:spPr>
          <a:xfrm>
            <a:off x="4137120" y="368928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SFO</a:t>
            </a:r>
            <a:endParaRPr b="0" lang="en-US" sz="2400" spc="-1" strike="noStrike">
              <a:solidFill>
                <a:srgbClr val="ffffff"/>
              </a:solidFill>
              <a:latin typeface="Arial"/>
            </a:endParaRPr>
          </a:p>
        </p:txBody>
      </p:sp>
      <p:sp>
        <p:nvSpPr>
          <p:cNvPr id="1095" name="Oval 9"/>
          <p:cNvSpPr/>
          <p:nvPr/>
        </p:nvSpPr>
        <p:spPr>
          <a:xfrm>
            <a:off x="4289400" y="483228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LAX</a:t>
            </a:r>
            <a:endParaRPr b="0" lang="en-US" sz="2400" spc="-1" strike="noStrike">
              <a:solidFill>
                <a:srgbClr val="ffffff"/>
              </a:solidFill>
              <a:latin typeface="Arial"/>
            </a:endParaRPr>
          </a:p>
        </p:txBody>
      </p:sp>
      <p:sp>
        <p:nvSpPr>
          <p:cNvPr id="1096" name="Oval 10"/>
          <p:cNvSpPr/>
          <p:nvPr/>
        </p:nvSpPr>
        <p:spPr>
          <a:xfrm>
            <a:off x="7925040" y="407016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LGA</a:t>
            </a:r>
            <a:endParaRPr b="0" lang="en-US" sz="2400" spc="-1" strike="noStrike">
              <a:solidFill>
                <a:srgbClr val="ffffff"/>
              </a:solidFill>
              <a:latin typeface="Arial"/>
            </a:endParaRPr>
          </a:p>
        </p:txBody>
      </p:sp>
      <p:sp>
        <p:nvSpPr>
          <p:cNvPr id="1097" name="Oval 11"/>
          <p:cNvSpPr/>
          <p:nvPr/>
        </p:nvSpPr>
        <p:spPr>
          <a:xfrm>
            <a:off x="2308320" y="460368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HNL</a:t>
            </a:r>
            <a:endParaRPr b="0" lang="en-US" sz="2400" spc="-1" strike="noStrike">
              <a:solidFill>
                <a:srgbClr val="ffffff"/>
              </a:solidFill>
              <a:latin typeface="Arial"/>
            </a:endParaRPr>
          </a:p>
        </p:txBody>
      </p:sp>
      <p:cxnSp>
        <p:nvCxnSpPr>
          <p:cNvPr id="1098" name="AutoShape 12"/>
          <p:cNvCxnSpPr>
            <a:stCxn id="1094" idx="6"/>
            <a:endCxn id="1090" idx="2"/>
          </p:cNvCxnSpPr>
          <p:nvPr/>
        </p:nvCxnSpPr>
        <p:spPr>
          <a:xfrm flipV="1">
            <a:off x="5072760" y="3688920"/>
            <a:ext cx="1274760" cy="229320"/>
          </a:xfrm>
          <a:prstGeom prst="straightConnector1">
            <a:avLst/>
          </a:prstGeom>
          <a:ln w="19050">
            <a:solidFill>
              <a:srgbClr val="000000"/>
            </a:solidFill>
            <a:round/>
          </a:ln>
        </p:spPr>
      </p:cxnSp>
      <p:cxnSp>
        <p:nvCxnSpPr>
          <p:cNvPr id="1099" name="AutoShape 13"/>
          <p:cNvCxnSpPr>
            <a:stCxn id="1093" idx="0"/>
            <a:endCxn id="1090" idx="4"/>
          </p:cNvCxnSpPr>
          <p:nvPr/>
        </p:nvCxnSpPr>
        <p:spPr>
          <a:xfrm flipV="1">
            <a:off x="6526080" y="3916800"/>
            <a:ext cx="289440" cy="1058760"/>
          </a:xfrm>
          <a:prstGeom prst="straightConnector1">
            <a:avLst/>
          </a:prstGeom>
          <a:ln w="19050">
            <a:solidFill>
              <a:srgbClr val="000000"/>
            </a:solidFill>
            <a:round/>
          </a:ln>
        </p:spPr>
      </p:cxnSp>
      <p:cxnSp>
        <p:nvCxnSpPr>
          <p:cNvPr id="1100" name="AutoShape 14"/>
          <p:cNvCxnSpPr>
            <a:stCxn id="1093" idx="7"/>
            <a:endCxn id="1096" idx="3"/>
          </p:cNvCxnSpPr>
          <p:nvPr/>
        </p:nvCxnSpPr>
        <p:spPr>
          <a:xfrm flipV="1">
            <a:off x="6856920" y="4459680"/>
            <a:ext cx="1205640" cy="582480"/>
          </a:xfrm>
          <a:prstGeom prst="straightConnector1">
            <a:avLst/>
          </a:prstGeom>
          <a:ln w="19050">
            <a:solidFill>
              <a:srgbClr val="000000"/>
            </a:solidFill>
            <a:round/>
          </a:ln>
        </p:spPr>
      </p:cxnSp>
      <p:cxnSp>
        <p:nvCxnSpPr>
          <p:cNvPr id="1101" name="AutoShape 15"/>
          <p:cNvCxnSpPr>
            <a:stCxn id="1096" idx="0"/>
            <a:endCxn id="1091" idx="3"/>
          </p:cNvCxnSpPr>
          <p:nvPr/>
        </p:nvCxnSpPr>
        <p:spPr>
          <a:xfrm flipV="1">
            <a:off x="8393040" y="3694320"/>
            <a:ext cx="605880" cy="376560"/>
          </a:xfrm>
          <a:prstGeom prst="straightConnector1">
            <a:avLst/>
          </a:prstGeom>
          <a:ln w="19050">
            <a:solidFill>
              <a:srgbClr val="000000"/>
            </a:solidFill>
            <a:round/>
          </a:ln>
        </p:spPr>
      </p:cxnSp>
      <p:cxnSp>
        <p:nvCxnSpPr>
          <p:cNvPr id="1102" name="AutoShape 16"/>
          <p:cNvCxnSpPr>
            <a:stCxn id="1090" idx="6"/>
            <a:endCxn id="1091" idx="2"/>
          </p:cNvCxnSpPr>
          <p:nvPr/>
        </p:nvCxnSpPr>
        <p:spPr>
          <a:xfrm flipV="1">
            <a:off x="7282440" y="3533040"/>
            <a:ext cx="1579680" cy="156600"/>
          </a:xfrm>
          <a:prstGeom prst="straightConnector1">
            <a:avLst/>
          </a:prstGeom>
          <a:ln w="19050">
            <a:solidFill>
              <a:srgbClr val="000000"/>
            </a:solidFill>
            <a:round/>
          </a:ln>
        </p:spPr>
      </p:cxnSp>
      <p:cxnSp>
        <p:nvCxnSpPr>
          <p:cNvPr id="1103" name="AutoShape 17"/>
          <p:cNvCxnSpPr>
            <a:stCxn id="1097" idx="6"/>
            <a:endCxn id="1095" idx="2"/>
          </p:cNvCxnSpPr>
          <p:nvPr/>
        </p:nvCxnSpPr>
        <p:spPr>
          <a:xfrm>
            <a:off x="3243960" y="4831920"/>
            <a:ext cx="1046160" cy="229320"/>
          </a:xfrm>
          <a:prstGeom prst="straightConnector1">
            <a:avLst/>
          </a:prstGeom>
          <a:ln w="19050">
            <a:solidFill>
              <a:srgbClr val="000000"/>
            </a:solidFill>
            <a:round/>
          </a:ln>
        </p:spPr>
      </p:cxnSp>
      <p:cxnSp>
        <p:nvCxnSpPr>
          <p:cNvPr id="1104" name="AutoShape 18"/>
          <p:cNvCxnSpPr>
            <a:stCxn id="1094" idx="4"/>
            <a:endCxn id="1095" idx="0"/>
          </p:cNvCxnSpPr>
          <p:nvPr/>
        </p:nvCxnSpPr>
        <p:spPr>
          <a:xfrm>
            <a:off x="4605120" y="4145400"/>
            <a:ext cx="153000" cy="687600"/>
          </a:xfrm>
          <a:prstGeom prst="straightConnector1">
            <a:avLst/>
          </a:prstGeom>
          <a:ln w="19050">
            <a:solidFill>
              <a:srgbClr val="000000"/>
            </a:solidFill>
            <a:round/>
          </a:ln>
        </p:spPr>
      </p:cxnSp>
      <p:cxnSp>
        <p:nvCxnSpPr>
          <p:cNvPr id="1105" name="AutoShape 19"/>
          <p:cNvCxnSpPr>
            <a:stCxn id="1096" idx="4"/>
            <a:endCxn id="1092" idx="0"/>
          </p:cNvCxnSpPr>
          <p:nvPr/>
        </p:nvCxnSpPr>
        <p:spPr>
          <a:xfrm>
            <a:off x="8393040" y="4526280"/>
            <a:ext cx="686520" cy="687600"/>
          </a:xfrm>
          <a:prstGeom prst="straightConnector1">
            <a:avLst/>
          </a:prstGeom>
          <a:ln w="19050">
            <a:solidFill>
              <a:srgbClr val="000000"/>
            </a:solidFill>
            <a:round/>
          </a:ln>
        </p:spPr>
      </p:cxnSp>
      <p:cxnSp>
        <p:nvCxnSpPr>
          <p:cNvPr id="1106" name="AutoShape 20"/>
          <p:cNvCxnSpPr>
            <a:endCxn id="1093" idx="6"/>
          </p:cNvCxnSpPr>
          <p:nvPr/>
        </p:nvCxnSpPr>
        <p:spPr>
          <a:xfrm flipH="1" flipV="1">
            <a:off x="6993720" y="5203080"/>
            <a:ext cx="1608840" cy="239760"/>
          </a:xfrm>
          <a:prstGeom prst="straightConnector1">
            <a:avLst/>
          </a:prstGeom>
          <a:ln w="19050">
            <a:solidFill>
              <a:srgbClr val="000000"/>
            </a:solidFill>
            <a:round/>
          </a:ln>
        </p:spPr>
      </p:cxnSp>
      <p:cxnSp>
        <p:nvCxnSpPr>
          <p:cNvPr id="1107" name="AutoShape 21"/>
          <p:cNvCxnSpPr>
            <a:stCxn id="1095" idx="6"/>
            <a:endCxn id="1093" idx="2"/>
          </p:cNvCxnSpPr>
          <p:nvPr/>
        </p:nvCxnSpPr>
        <p:spPr>
          <a:xfrm>
            <a:off x="5225040" y="5060520"/>
            <a:ext cx="833760" cy="143280"/>
          </a:xfrm>
          <a:prstGeom prst="straightConnector1">
            <a:avLst/>
          </a:prstGeom>
          <a:ln w="19050">
            <a:solidFill>
              <a:srgbClr val="000000"/>
            </a:solidFill>
            <a:round/>
          </a:ln>
        </p:spPr>
      </p:cxnSp>
      <p:cxnSp>
        <p:nvCxnSpPr>
          <p:cNvPr id="1108" name="AutoShape 22"/>
          <p:cNvCxnSpPr>
            <a:stCxn id="1095" idx="7"/>
            <a:endCxn id="1090" idx="3"/>
          </p:cNvCxnSpPr>
          <p:nvPr/>
        </p:nvCxnSpPr>
        <p:spPr>
          <a:xfrm flipV="1">
            <a:off x="5088240" y="3850200"/>
            <a:ext cx="1396080" cy="1049400"/>
          </a:xfrm>
          <a:prstGeom prst="straightConnector1">
            <a:avLst/>
          </a:prstGeom>
          <a:ln w="19050">
            <a:solidFill>
              <a:srgbClr val="000000"/>
            </a:solidFill>
            <a:round/>
          </a:ln>
        </p:spPr>
      </p:cxnSp>
      <p:sp>
        <p:nvSpPr>
          <p:cNvPr id="1109" name="Text Box 23"/>
          <p:cNvSpPr/>
          <p:nvPr/>
        </p:nvSpPr>
        <p:spPr>
          <a:xfrm rot="21252600">
            <a:off x="7617960" y="3284280"/>
            <a:ext cx="61560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849</a:t>
            </a:r>
            <a:endParaRPr b="0" lang="en-US" sz="2000" spc="-1" strike="noStrike">
              <a:solidFill>
                <a:srgbClr val="000000"/>
              </a:solidFill>
              <a:latin typeface="Arial"/>
            </a:endParaRPr>
          </a:p>
        </p:txBody>
      </p:sp>
      <p:sp>
        <p:nvSpPr>
          <p:cNvPr id="1110" name="Text Box 24"/>
          <p:cNvSpPr/>
          <p:nvPr/>
        </p:nvSpPr>
        <p:spPr>
          <a:xfrm rot="16938000">
            <a:off x="6296760" y="4017960"/>
            <a:ext cx="6159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802</a:t>
            </a:r>
            <a:endParaRPr b="0" lang="en-US" sz="2000" spc="-1" strike="noStrike">
              <a:solidFill>
                <a:srgbClr val="000000"/>
              </a:solidFill>
              <a:latin typeface="Arial"/>
            </a:endParaRPr>
          </a:p>
        </p:txBody>
      </p:sp>
      <p:sp>
        <p:nvSpPr>
          <p:cNvPr id="1111" name="Text Box 25"/>
          <p:cNvSpPr/>
          <p:nvPr/>
        </p:nvSpPr>
        <p:spPr>
          <a:xfrm rot="20055000">
            <a:off x="6968880" y="4433760"/>
            <a:ext cx="7617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1387</a:t>
            </a:r>
            <a:endParaRPr b="0" lang="en-US" sz="2000" spc="-1" strike="noStrike">
              <a:solidFill>
                <a:srgbClr val="000000"/>
              </a:solidFill>
              <a:latin typeface="Arial"/>
            </a:endParaRPr>
          </a:p>
        </p:txBody>
      </p:sp>
      <p:sp>
        <p:nvSpPr>
          <p:cNvPr id="1112" name="Text Box 26"/>
          <p:cNvSpPr/>
          <p:nvPr/>
        </p:nvSpPr>
        <p:spPr>
          <a:xfrm rot="19463400">
            <a:off x="5154840" y="4196880"/>
            <a:ext cx="761760" cy="3949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1743</a:t>
            </a:r>
            <a:endParaRPr b="0" lang="en-US" sz="2000" spc="-1" strike="noStrike">
              <a:solidFill>
                <a:srgbClr val="000000"/>
              </a:solidFill>
              <a:latin typeface="Arial"/>
            </a:endParaRPr>
          </a:p>
        </p:txBody>
      </p:sp>
      <p:sp>
        <p:nvSpPr>
          <p:cNvPr id="1113" name="Text Box 27"/>
          <p:cNvSpPr/>
          <p:nvPr/>
        </p:nvSpPr>
        <p:spPr>
          <a:xfrm rot="20910600">
            <a:off x="5266080" y="3459960"/>
            <a:ext cx="7617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1843</a:t>
            </a:r>
            <a:endParaRPr b="0" lang="en-US" sz="2000" spc="-1" strike="noStrike">
              <a:solidFill>
                <a:srgbClr val="000000"/>
              </a:solidFill>
              <a:latin typeface="Arial"/>
            </a:endParaRPr>
          </a:p>
        </p:txBody>
      </p:sp>
      <p:sp>
        <p:nvSpPr>
          <p:cNvPr id="1114" name="Text Box 28"/>
          <p:cNvSpPr/>
          <p:nvPr/>
        </p:nvSpPr>
        <p:spPr>
          <a:xfrm rot="2626200">
            <a:off x="8565840" y="4663080"/>
            <a:ext cx="761760" cy="3942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1099</a:t>
            </a:r>
            <a:endParaRPr b="0" lang="en-US" sz="2000" spc="-1" strike="noStrike">
              <a:solidFill>
                <a:srgbClr val="000000"/>
              </a:solidFill>
              <a:latin typeface="Arial"/>
            </a:endParaRPr>
          </a:p>
        </p:txBody>
      </p:sp>
      <p:sp>
        <p:nvSpPr>
          <p:cNvPr id="1115" name="Text Box 29"/>
          <p:cNvSpPr/>
          <p:nvPr/>
        </p:nvSpPr>
        <p:spPr>
          <a:xfrm rot="565800">
            <a:off x="7507800" y="4967640"/>
            <a:ext cx="7617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1120</a:t>
            </a:r>
            <a:endParaRPr b="0" lang="en-US" sz="2000" spc="-1" strike="noStrike">
              <a:solidFill>
                <a:srgbClr val="000000"/>
              </a:solidFill>
              <a:latin typeface="Arial"/>
            </a:endParaRPr>
          </a:p>
        </p:txBody>
      </p:sp>
      <p:sp>
        <p:nvSpPr>
          <p:cNvPr id="1116" name="Text Box 30"/>
          <p:cNvSpPr/>
          <p:nvPr/>
        </p:nvSpPr>
        <p:spPr>
          <a:xfrm rot="696000">
            <a:off x="5308920" y="4786920"/>
            <a:ext cx="7617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1233</a:t>
            </a:r>
            <a:endParaRPr b="0" lang="en-US" sz="2000" spc="-1" strike="noStrike">
              <a:solidFill>
                <a:srgbClr val="000000"/>
              </a:solidFill>
              <a:latin typeface="Arial"/>
            </a:endParaRPr>
          </a:p>
        </p:txBody>
      </p:sp>
      <p:sp>
        <p:nvSpPr>
          <p:cNvPr id="1117" name="Text Box 31"/>
          <p:cNvSpPr/>
          <p:nvPr/>
        </p:nvSpPr>
        <p:spPr>
          <a:xfrm rot="4665000">
            <a:off x="4533840" y="4326120"/>
            <a:ext cx="6159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337</a:t>
            </a:r>
            <a:endParaRPr b="0" lang="en-US" sz="2000" spc="-1" strike="noStrike">
              <a:solidFill>
                <a:srgbClr val="000000"/>
              </a:solidFill>
              <a:latin typeface="Arial"/>
            </a:endParaRPr>
          </a:p>
        </p:txBody>
      </p:sp>
      <p:sp>
        <p:nvSpPr>
          <p:cNvPr id="1118" name="Text Box 32"/>
          <p:cNvSpPr/>
          <p:nvPr/>
        </p:nvSpPr>
        <p:spPr>
          <a:xfrm rot="832800">
            <a:off x="3459960" y="4602240"/>
            <a:ext cx="7617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2555</a:t>
            </a:r>
            <a:endParaRPr b="0" lang="en-US" sz="2000" spc="-1" strike="noStrike">
              <a:solidFill>
                <a:srgbClr val="000000"/>
              </a:solidFill>
              <a:latin typeface="Arial"/>
            </a:endParaRPr>
          </a:p>
        </p:txBody>
      </p:sp>
      <p:sp>
        <p:nvSpPr>
          <p:cNvPr id="1119" name="Text Box 33"/>
          <p:cNvSpPr/>
          <p:nvPr/>
        </p:nvSpPr>
        <p:spPr>
          <a:xfrm rot="19708200">
            <a:off x="8319240" y="3585960"/>
            <a:ext cx="615600" cy="3949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142</a:t>
            </a:r>
            <a:endParaRPr b="0" lang="en-US" sz="2000" spc="-1" strike="noStrike">
              <a:solidFill>
                <a:srgbClr val="000000"/>
              </a:solidFill>
              <a:latin typeface="Arial"/>
            </a:endParaRPr>
          </a:p>
        </p:txBody>
      </p:sp>
      <p:cxnSp>
        <p:nvCxnSpPr>
          <p:cNvPr id="1120" name="AutoShape 34"/>
          <p:cNvCxnSpPr>
            <a:stCxn id="1091" idx="4"/>
            <a:endCxn id="1092" idx="7"/>
          </p:cNvCxnSpPr>
          <p:nvPr/>
        </p:nvCxnSpPr>
        <p:spPr>
          <a:xfrm>
            <a:off x="9329400" y="3760920"/>
            <a:ext cx="81000" cy="1519560"/>
          </a:xfrm>
          <a:prstGeom prst="straightConnector1">
            <a:avLst/>
          </a:prstGeom>
          <a:ln w="19050">
            <a:solidFill>
              <a:srgbClr val="000000"/>
            </a:solidFill>
            <a:round/>
          </a:ln>
        </p:spPr>
      </p:cxnSp>
      <p:sp>
        <p:nvSpPr>
          <p:cNvPr id="1121" name="Text Box 35"/>
          <p:cNvSpPr/>
          <p:nvPr/>
        </p:nvSpPr>
        <p:spPr>
          <a:xfrm rot="5208000">
            <a:off x="9197640" y="4174200"/>
            <a:ext cx="76212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1205</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2"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Shortest Paths</a:t>
            </a:r>
            <a:endParaRPr b="0" lang="en-US" sz="4400" spc="-1" strike="noStrike">
              <a:solidFill>
                <a:srgbClr val="000000"/>
              </a:solidFill>
              <a:latin typeface="Arial"/>
            </a:endParaRPr>
          </a:p>
        </p:txBody>
      </p:sp>
      <p:sp>
        <p:nvSpPr>
          <p:cNvPr id="1123"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Given a weighted graph and two vertices </a:t>
            </a:r>
            <a:r>
              <a:rPr b="1" i="1" lang="en-US" sz="2000" spc="-1" strike="noStrike">
                <a:solidFill>
                  <a:schemeClr val="dk1"/>
                </a:solidFill>
                <a:latin typeface="Times New Roman"/>
              </a:rPr>
              <a:t>u</a:t>
            </a:r>
            <a:r>
              <a:rPr b="0" lang="en-US" sz="2000" spc="-1" strike="noStrike">
                <a:solidFill>
                  <a:schemeClr val="dk1"/>
                </a:solidFill>
                <a:latin typeface="Calibri"/>
              </a:rPr>
              <a:t> and </a:t>
            </a:r>
            <a:r>
              <a:rPr b="1" i="1" lang="en-US" sz="2000" spc="-1" strike="noStrike">
                <a:solidFill>
                  <a:schemeClr val="dk1"/>
                </a:solidFill>
                <a:latin typeface="Times New Roman"/>
              </a:rPr>
              <a:t>v</a:t>
            </a:r>
            <a:r>
              <a:rPr b="0" lang="en-US" sz="2000" spc="-1" strike="noStrike">
                <a:solidFill>
                  <a:schemeClr val="dk1"/>
                </a:solidFill>
                <a:latin typeface="Calibri"/>
              </a:rPr>
              <a:t>, we want to find a path of minimum total weight between </a:t>
            </a:r>
            <a:r>
              <a:rPr b="1" i="1" lang="en-US" sz="2000" spc="-1" strike="noStrike">
                <a:solidFill>
                  <a:schemeClr val="dk1"/>
                </a:solidFill>
                <a:latin typeface="Times New Roman"/>
              </a:rPr>
              <a:t>u</a:t>
            </a:r>
            <a:r>
              <a:rPr b="0" lang="en-US" sz="2000" spc="-1" strike="noStrike">
                <a:solidFill>
                  <a:schemeClr val="dk1"/>
                </a:solidFill>
                <a:latin typeface="Calibri"/>
              </a:rPr>
              <a:t> and </a:t>
            </a:r>
            <a:r>
              <a:rPr b="1" i="1" lang="en-US" sz="2000" spc="-1" strike="noStrike">
                <a:solidFill>
                  <a:schemeClr val="dk1"/>
                </a:solidFill>
                <a:latin typeface="Times New Roman"/>
              </a:rPr>
              <a:t>v.</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Length of a path is the sum of the weights of its edges.</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Example:</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Shortest path between Providence and Honolulu</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Applications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Internet packet routing </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Flight reservations</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Driving directions</a:t>
            </a:r>
            <a:endParaRPr b="0" lang="en-US" sz="1800" spc="-1" strike="noStrike">
              <a:solidFill>
                <a:srgbClr val="000000"/>
              </a:solidFill>
              <a:latin typeface="Arial"/>
            </a:endParaRPr>
          </a:p>
        </p:txBody>
      </p:sp>
      <p:sp>
        <p:nvSpPr>
          <p:cNvPr id="1124" name="PlaceHolder 3"/>
          <p:cNvSpPr>
            <a:spLocks noGrp="1"/>
          </p:cNvSpPr>
          <p:nvPr>
            <p:ph type="sldNum" idx="80"/>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723BF326-8B2E-437F-B1A0-9AE2B8470E32}"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grpSp>
        <p:nvGrpSpPr>
          <p:cNvPr id="1125" name="Group 33"/>
          <p:cNvGrpSpPr/>
          <p:nvPr/>
        </p:nvGrpSpPr>
        <p:grpSpPr>
          <a:xfrm>
            <a:off x="3863880" y="3335040"/>
            <a:ext cx="7489080" cy="2414520"/>
            <a:chOff x="3863880" y="3335040"/>
            <a:chExt cx="7489080" cy="2414520"/>
          </a:xfrm>
        </p:grpSpPr>
        <p:sp>
          <p:nvSpPr>
            <p:cNvPr id="1126" name="Oval 4"/>
            <p:cNvSpPr/>
            <p:nvPr/>
          </p:nvSpPr>
          <p:spPr>
            <a:xfrm>
              <a:off x="7902720" y="3541320"/>
              <a:ext cx="935280" cy="45576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ORD</a:t>
              </a:r>
              <a:endParaRPr b="0" lang="en-US" sz="2400" spc="-1" strike="noStrike">
                <a:solidFill>
                  <a:srgbClr val="ffffff"/>
                </a:solidFill>
                <a:latin typeface="Arial"/>
              </a:endParaRPr>
            </a:p>
          </p:txBody>
        </p:sp>
        <p:sp>
          <p:nvSpPr>
            <p:cNvPr id="1127" name="Oval 5"/>
            <p:cNvSpPr/>
            <p:nvPr/>
          </p:nvSpPr>
          <p:spPr>
            <a:xfrm>
              <a:off x="10417320" y="3385440"/>
              <a:ext cx="935280" cy="45576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PVD</a:t>
              </a:r>
              <a:endParaRPr b="0" lang="en-US" sz="2400" spc="-1" strike="noStrike">
                <a:solidFill>
                  <a:srgbClr val="ffffff"/>
                </a:solidFill>
                <a:latin typeface="Arial"/>
              </a:endParaRPr>
            </a:p>
          </p:txBody>
        </p:sp>
        <p:sp>
          <p:nvSpPr>
            <p:cNvPr id="1128" name="Oval 6"/>
            <p:cNvSpPr/>
            <p:nvPr/>
          </p:nvSpPr>
          <p:spPr>
            <a:xfrm>
              <a:off x="10166400" y="529380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MIA</a:t>
              </a:r>
              <a:endParaRPr b="0" lang="en-US" sz="2400" spc="-1" strike="noStrike">
                <a:solidFill>
                  <a:srgbClr val="ffffff"/>
                </a:solidFill>
                <a:latin typeface="Arial"/>
              </a:endParaRPr>
            </a:p>
          </p:txBody>
        </p:sp>
        <p:sp>
          <p:nvSpPr>
            <p:cNvPr id="1129" name="Oval 7"/>
            <p:cNvSpPr/>
            <p:nvPr/>
          </p:nvSpPr>
          <p:spPr>
            <a:xfrm>
              <a:off x="7613640" y="505548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DFW</a:t>
              </a:r>
              <a:endParaRPr b="0" lang="en-US" sz="2400" spc="-1" strike="noStrike">
                <a:solidFill>
                  <a:srgbClr val="ffffff"/>
                </a:solidFill>
                <a:latin typeface="Arial"/>
              </a:endParaRPr>
            </a:p>
          </p:txBody>
        </p:sp>
        <p:sp>
          <p:nvSpPr>
            <p:cNvPr id="1130" name="Oval 8"/>
            <p:cNvSpPr/>
            <p:nvPr/>
          </p:nvSpPr>
          <p:spPr>
            <a:xfrm>
              <a:off x="5692680" y="376992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SFO</a:t>
              </a:r>
              <a:endParaRPr b="0" lang="en-US" sz="2400" spc="-1" strike="noStrike">
                <a:solidFill>
                  <a:srgbClr val="ffffff"/>
                </a:solidFill>
                <a:latin typeface="Arial"/>
              </a:endParaRPr>
            </a:p>
          </p:txBody>
        </p:sp>
        <p:sp>
          <p:nvSpPr>
            <p:cNvPr id="1131" name="Oval 9"/>
            <p:cNvSpPr/>
            <p:nvPr/>
          </p:nvSpPr>
          <p:spPr>
            <a:xfrm>
              <a:off x="5845320" y="4912920"/>
              <a:ext cx="935280" cy="45576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LAX</a:t>
              </a:r>
              <a:endParaRPr b="0" lang="en-US" sz="2400" spc="-1" strike="noStrike">
                <a:solidFill>
                  <a:srgbClr val="ffffff"/>
                </a:solidFill>
                <a:latin typeface="Arial"/>
              </a:endParaRPr>
            </a:p>
          </p:txBody>
        </p:sp>
        <p:sp>
          <p:nvSpPr>
            <p:cNvPr id="1132" name="Oval 10"/>
            <p:cNvSpPr/>
            <p:nvPr/>
          </p:nvSpPr>
          <p:spPr>
            <a:xfrm>
              <a:off x="9480600" y="4150800"/>
              <a:ext cx="935280" cy="45576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LGA</a:t>
              </a:r>
              <a:endParaRPr b="0" lang="en-US" sz="2400" spc="-1" strike="noStrike">
                <a:solidFill>
                  <a:srgbClr val="ffffff"/>
                </a:solidFill>
                <a:latin typeface="Arial"/>
              </a:endParaRPr>
            </a:p>
          </p:txBody>
        </p:sp>
        <p:sp>
          <p:nvSpPr>
            <p:cNvPr id="1133" name="Oval 11"/>
            <p:cNvSpPr/>
            <p:nvPr/>
          </p:nvSpPr>
          <p:spPr>
            <a:xfrm>
              <a:off x="3863880" y="4684320"/>
              <a:ext cx="935280" cy="45576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2400" spc="-1" strike="noStrike">
                  <a:solidFill>
                    <a:schemeClr val="dk1"/>
                  </a:solidFill>
                  <a:latin typeface="Tahoma"/>
                  <a:ea typeface="MS PGothic"/>
                </a:rPr>
                <a:t>HNL</a:t>
              </a:r>
              <a:endParaRPr b="0" lang="en-US" sz="2400" spc="-1" strike="noStrike">
                <a:solidFill>
                  <a:srgbClr val="ffffff"/>
                </a:solidFill>
                <a:latin typeface="Arial"/>
              </a:endParaRPr>
            </a:p>
          </p:txBody>
        </p:sp>
        <p:cxnSp>
          <p:nvCxnSpPr>
            <p:cNvPr id="1134" name="AutoShape 12"/>
            <p:cNvCxnSpPr>
              <a:stCxn id="1130" idx="6"/>
              <a:endCxn id="1126" idx="2"/>
            </p:cNvCxnSpPr>
            <p:nvPr/>
          </p:nvCxnSpPr>
          <p:spPr>
            <a:xfrm flipV="1">
              <a:off x="6628320" y="3769560"/>
              <a:ext cx="1275120" cy="229320"/>
            </a:xfrm>
            <a:prstGeom prst="straightConnector1">
              <a:avLst/>
            </a:prstGeom>
            <a:ln w="19050">
              <a:solidFill>
                <a:srgbClr val="000000"/>
              </a:solidFill>
              <a:round/>
            </a:ln>
          </p:spPr>
        </p:cxnSp>
        <p:cxnSp>
          <p:nvCxnSpPr>
            <p:cNvPr id="1135" name="AutoShape 13"/>
            <p:cNvCxnSpPr>
              <a:stCxn id="1129" idx="0"/>
              <a:endCxn id="1126" idx="4"/>
            </p:cNvCxnSpPr>
            <p:nvPr/>
          </p:nvCxnSpPr>
          <p:spPr>
            <a:xfrm flipV="1">
              <a:off x="8081640" y="3997440"/>
              <a:ext cx="289800" cy="1058760"/>
            </a:xfrm>
            <a:prstGeom prst="straightConnector1">
              <a:avLst/>
            </a:prstGeom>
            <a:ln w="19050">
              <a:solidFill>
                <a:srgbClr val="000000"/>
              </a:solidFill>
              <a:round/>
            </a:ln>
          </p:spPr>
        </p:cxnSp>
        <p:cxnSp>
          <p:nvCxnSpPr>
            <p:cNvPr id="1136" name="AutoShape 14"/>
            <p:cNvCxnSpPr>
              <a:stCxn id="1129" idx="7"/>
              <a:endCxn id="1132" idx="3"/>
            </p:cNvCxnSpPr>
            <p:nvPr/>
          </p:nvCxnSpPr>
          <p:spPr>
            <a:xfrm flipV="1">
              <a:off x="8412480" y="4540320"/>
              <a:ext cx="1205640" cy="582480"/>
            </a:xfrm>
            <a:prstGeom prst="straightConnector1">
              <a:avLst/>
            </a:prstGeom>
            <a:ln w="19050">
              <a:solidFill>
                <a:srgbClr val="000000"/>
              </a:solidFill>
              <a:round/>
            </a:ln>
          </p:spPr>
        </p:cxnSp>
        <p:cxnSp>
          <p:nvCxnSpPr>
            <p:cNvPr id="1137" name="AutoShape 15"/>
            <p:cNvCxnSpPr>
              <a:stCxn id="1132" idx="0"/>
              <a:endCxn id="1127" idx="3"/>
            </p:cNvCxnSpPr>
            <p:nvPr/>
          </p:nvCxnSpPr>
          <p:spPr>
            <a:xfrm flipV="1">
              <a:off x="9948600" y="3774960"/>
              <a:ext cx="606240" cy="376560"/>
            </a:xfrm>
            <a:prstGeom prst="straightConnector1">
              <a:avLst/>
            </a:prstGeom>
            <a:ln w="19050">
              <a:solidFill>
                <a:srgbClr val="000000"/>
              </a:solidFill>
              <a:round/>
            </a:ln>
          </p:spPr>
        </p:cxnSp>
        <p:cxnSp>
          <p:nvCxnSpPr>
            <p:cNvPr id="1138" name="AutoShape 16"/>
            <p:cNvCxnSpPr>
              <a:stCxn id="1126" idx="6"/>
              <a:endCxn id="1127" idx="2"/>
            </p:cNvCxnSpPr>
            <p:nvPr/>
          </p:nvCxnSpPr>
          <p:spPr>
            <a:xfrm flipV="1">
              <a:off x="8838360" y="3613680"/>
              <a:ext cx="1579680" cy="156600"/>
            </a:xfrm>
            <a:prstGeom prst="straightConnector1">
              <a:avLst/>
            </a:prstGeom>
            <a:ln w="38100">
              <a:solidFill>
                <a:srgbClr val="44546a"/>
              </a:solidFill>
              <a:round/>
            </a:ln>
          </p:spPr>
        </p:cxnSp>
        <p:cxnSp>
          <p:nvCxnSpPr>
            <p:cNvPr id="1139" name="AutoShape 17"/>
            <p:cNvCxnSpPr>
              <a:stCxn id="1133" idx="6"/>
              <a:endCxn id="1131" idx="2"/>
            </p:cNvCxnSpPr>
            <p:nvPr/>
          </p:nvCxnSpPr>
          <p:spPr>
            <a:xfrm>
              <a:off x="4799520" y="4912560"/>
              <a:ext cx="1046520" cy="229320"/>
            </a:xfrm>
            <a:prstGeom prst="straightConnector1">
              <a:avLst/>
            </a:prstGeom>
            <a:ln w="38100">
              <a:solidFill>
                <a:srgbClr val="44546a"/>
              </a:solidFill>
              <a:round/>
            </a:ln>
          </p:spPr>
        </p:cxnSp>
        <p:cxnSp>
          <p:nvCxnSpPr>
            <p:cNvPr id="1140" name="AutoShape 18"/>
            <p:cNvCxnSpPr>
              <a:stCxn id="1130" idx="4"/>
              <a:endCxn id="1131" idx="0"/>
            </p:cNvCxnSpPr>
            <p:nvPr/>
          </p:nvCxnSpPr>
          <p:spPr>
            <a:xfrm>
              <a:off x="6160680" y="4226040"/>
              <a:ext cx="153360" cy="687600"/>
            </a:xfrm>
            <a:prstGeom prst="straightConnector1">
              <a:avLst/>
            </a:prstGeom>
            <a:ln w="19050">
              <a:solidFill>
                <a:srgbClr val="000000"/>
              </a:solidFill>
              <a:round/>
            </a:ln>
          </p:spPr>
        </p:cxnSp>
        <p:cxnSp>
          <p:nvCxnSpPr>
            <p:cNvPr id="1141" name="AutoShape 19"/>
            <p:cNvCxnSpPr>
              <a:stCxn id="1132" idx="4"/>
              <a:endCxn id="1128" idx="0"/>
            </p:cNvCxnSpPr>
            <p:nvPr/>
          </p:nvCxnSpPr>
          <p:spPr>
            <a:xfrm>
              <a:off x="9948600" y="4606920"/>
              <a:ext cx="686520" cy="687600"/>
            </a:xfrm>
            <a:prstGeom prst="straightConnector1">
              <a:avLst/>
            </a:prstGeom>
            <a:ln w="19050">
              <a:solidFill>
                <a:srgbClr val="000000"/>
              </a:solidFill>
              <a:round/>
            </a:ln>
          </p:spPr>
        </p:cxnSp>
        <p:cxnSp>
          <p:nvCxnSpPr>
            <p:cNvPr id="1142" name="AutoShape 20"/>
            <p:cNvCxnSpPr>
              <a:endCxn id="1129" idx="6"/>
            </p:cNvCxnSpPr>
            <p:nvPr/>
          </p:nvCxnSpPr>
          <p:spPr>
            <a:xfrm flipH="1" flipV="1">
              <a:off x="8549280" y="5283720"/>
              <a:ext cx="1608840" cy="239760"/>
            </a:xfrm>
            <a:prstGeom prst="straightConnector1">
              <a:avLst/>
            </a:prstGeom>
            <a:ln w="19050">
              <a:solidFill>
                <a:srgbClr val="000000"/>
              </a:solidFill>
              <a:round/>
            </a:ln>
          </p:spPr>
        </p:cxnSp>
        <p:cxnSp>
          <p:nvCxnSpPr>
            <p:cNvPr id="1143" name="AutoShape 21"/>
            <p:cNvCxnSpPr>
              <a:stCxn id="1131" idx="6"/>
              <a:endCxn id="1129" idx="2"/>
            </p:cNvCxnSpPr>
            <p:nvPr/>
          </p:nvCxnSpPr>
          <p:spPr>
            <a:xfrm>
              <a:off x="6780960" y="5141160"/>
              <a:ext cx="833400" cy="143280"/>
            </a:xfrm>
            <a:prstGeom prst="straightConnector1">
              <a:avLst/>
            </a:prstGeom>
            <a:ln w="19050">
              <a:solidFill>
                <a:srgbClr val="000000"/>
              </a:solidFill>
              <a:round/>
            </a:ln>
          </p:spPr>
        </p:cxnSp>
        <p:cxnSp>
          <p:nvCxnSpPr>
            <p:cNvPr id="1144" name="AutoShape 22"/>
            <p:cNvCxnSpPr>
              <a:stCxn id="1131" idx="7"/>
              <a:endCxn id="1126" idx="3"/>
            </p:cNvCxnSpPr>
            <p:nvPr/>
          </p:nvCxnSpPr>
          <p:spPr>
            <a:xfrm flipV="1">
              <a:off x="6644160" y="3930840"/>
              <a:ext cx="1396080" cy="1049400"/>
            </a:xfrm>
            <a:prstGeom prst="straightConnector1">
              <a:avLst/>
            </a:prstGeom>
            <a:ln w="38100">
              <a:solidFill>
                <a:srgbClr val="44546a"/>
              </a:solidFill>
              <a:round/>
            </a:ln>
          </p:spPr>
        </p:cxnSp>
        <p:sp>
          <p:nvSpPr>
            <p:cNvPr id="1145" name="Text Box 23"/>
            <p:cNvSpPr/>
            <p:nvPr/>
          </p:nvSpPr>
          <p:spPr>
            <a:xfrm rot="21252600">
              <a:off x="9173520" y="3364920"/>
              <a:ext cx="61560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2"/>
                  </a:solidFill>
                  <a:latin typeface="Tahoma"/>
                  <a:ea typeface="MS PGothic"/>
                </a:rPr>
                <a:t>849</a:t>
              </a:r>
              <a:endParaRPr b="0" lang="en-US" sz="2000" spc="-1" strike="noStrike">
                <a:solidFill>
                  <a:srgbClr val="000000"/>
                </a:solidFill>
                <a:latin typeface="Arial"/>
              </a:endParaRPr>
            </a:p>
          </p:txBody>
        </p:sp>
        <p:sp>
          <p:nvSpPr>
            <p:cNvPr id="1146" name="Text Box 24"/>
            <p:cNvSpPr/>
            <p:nvPr/>
          </p:nvSpPr>
          <p:spPr>
            <a:xfrm rot="16938000">
              <a:off x="7852680" y="4098600"/>
              <a:ext cx="6159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802</a:t>
              </a:r>
              <a:endParaRPr b="0" lang="en-US" sz="2000" spc="-1" strike="noStrike">
                <a:solidFill>
                  <a:srgbClr val="000000"/>
                </a:solidFill>
                <a:latin typeface="Arial"/>
              </a:endParaRPr>
            </a:p>
          </p:txBody>
        </p:sp>
        <p:sp>
          <p:nvSpPr>
            <p:cNvPr id="1147" name="Text Box 25"/>
            <p:cNvSpPr/>
            <p:nvPr/>
          </p:nvSpPr>
          <p:spPr>
            <a:xfrm rot="20055000">
              <a:off x="8524800" y="4514400"/>
              <a:ext cx="7617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1387</a:t>
              </a:r>
              <a:endParaRPr b="0" lang="en-US" sz="2000" spc="-1" strike="noStrike">
                <a:solidFill>
                  <a:srgbClr val="000000"/>
                </a:solidFill>
                <a:latin typeface="Arial"/>
              </a:endParaRPr>
            </a:p>
          </p:txBody>
        </p:sp>
        <p:sp>
          <p:nvSpPr>
            <p:cNvPr id="1148" name="Text Box 26"/>
            <p:cNvSpPr/>
            <p:nvPr/>
          </p:nvSpPr>
          <p:spPr>
            <a:xfrm rot="19463400">
              <a:off x="6710400" y="4277520"/>
              <a:ext cx="761760" cy="3949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2"/>
                  </a:solidFill>
                  <a:latin typeface="Tahoma"/>
                  <a:ea typeface="MS PGothic"/>
                </a:rPr>
                <a:t>1743</a:t>
              </a:r>
              <a:endParaRPr b="0" lang="en-US" sz="2000" spc="-1" strike="noStrike">
                <a:solidFill>
                  <a:srgbClr val="000000"/>
                </a:solidFill>
                <a:latin typeface="Arial"/>
              </a:endParaRPr>
            </a:p>
          </p:txBody>
        </p:sp>
        <p:sp>
          <p:nvSpPr>
            <p:cNvPr id="1149" name="Text Box 27"/>
            <p:cNvSpPr/>
            <p:nvPr/>
          </p:nvSpPr>
          <p:spPr>
            <a:xfrm rot="20910600">
              <a:off x="6821640" y="3540600"/>
              <a:ext cx="7617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1843</a:t>
              </a:r>
              <a:endParaRPr b="0" lang="en-US" sz="2000" spc="-1" strike="noStrike">
                <a:solidFill>
                  <a:srgbClr val="000000"/>
                </a:solidFill>
                <a:latin typeface="Arial"/>
              </a:endParaRPr>
            </a:p>
          </p:txBody>
        </p:sp>
        <p:sp>
          <p:nvSpPr>
            <p:cNvPr id="1150" name="Text Box 28"/>
            <p:cNvSpPr/>
            <p:nvPr/>
          </p:nvSpPr>
          <p:spPr>
            <a:xfrm rot="2626200">
              <a:off x="10121400" y="4743720"/>
              <a:ext cx="761760" cy="3942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1099</a:t>
              </a:r>
              <a:endParaRPr b="0" lang="en-US" sz="2000" spc="-1" strike="noStrike">
                <a:solidFill>
                  <a:srgbClr val="000000"/>
                </a:solidFill>
                <a:latin typeface="Arial"/>
              </a:endParaRPr>
            </a:p>
          </p:txBody>
        </p:sp>
        <p:sp>
          <p:nvSpPr>
            <p:cNvPr id="1151" name="Text Box 29"/>
            <p:cNvSpPr/>
            <p:nvPr/>
          </p:nvSpPr>
          <p:spPr>
            <a:xfrm rot="565800">
              <a:off x="9063360" y="5048280"/>
              <a:ext cx="7617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1120</a:t>
              </a:r>
              <a:endParaRPr b="0" lang="en-US" sz="2000" spc="-1" strike="noStrike">
                <a:solidFill>
                  <a:srgbClr val="000000"/>
                </a:solidFill>
                <a:latin typeface="Arial"/>
              </a:endParaRPr>
            </a:p>
          </p:txBody>
        </p:sp>
        <p:sp>
          <p:nvSpPr>
            <p:cNvPr id="1152" name="Text Box 30"/>
            <p:cNvSpPr/>
            <p:nvPr/>
          </p:nvSpPr>
          <p:spPr>
            <a:xfrm rot="696000">
              <a:off x="6864840" y="4867560"/>
              <a:ext cx="7617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1233</a:t>
              </a:r>
              <a:endParaRPr b="0" lang="en-US" sz="2000" spc="-1" strike="noStrike">
                <a:solidFill>
                  <a:srgbClr val="000000"/>
                </a:solidFill>
                <a:latin typeface="Arial"/>
              </a:endParaRPr>
            </a:p>
          </p:txBody>
        </p:sp>
        <p:sp>
          <p:nvSpPr>
            <p:cNvPr id="1153" name="Text Box 31"/>
            <p:cNvSpPr/>
            <p:nvPr/>
          </p:nvSpPr>
          <p:spPr>
            <a:xfrm rot="4665000">
              <a:off x="6089400" y="4406760"/>
              <a:ext cx="6159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337</a:t>
              </a:r>
              <a:endParaRPr b="0" lang="en-US" sz="2000" spc="-1" strike="noStrike">
                <a:solidFill>
                  <a:srgbClr val="000000"/>
                </a:solidFill>
                <a:latin typeface="Arial"/>
              </a:endParaRPr>
            </a:p>
          </p:txBody>
        </p:sp>
        <p:sp>
          <p:nvSpPr>
            <p:cNvPr id="1154" name="Text Box 32"/>
            <p:cNvSpPr/>
            <p:nvPr/>
          </p:nvSpPr>
          <p:spPr>
            <a:xfrm rot="832800">
              <a:off x="5015520" y="4682880"/>
              <a:ext cx="76176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2"/>
                  </a:solidFill>
                  <a:latin typeface="Tahoma"/>
                  <a:ea typeface="MS PGothic"/>
                </a:rPr>
                <a:t>2555</a:t>
              </a:r>
              <a:endParaRPr b="0" lang="en-US" sz="2000" spc="-1" strike="noStrike">
                <a:solidFill>
                  <a:srgbClr val="000000"/>
                </a:solidFill>
                <a:latin typeface="Arial"/>
              </a:endParaRPr>
            </a:p>
          </p:txBody>
        </p:sp>
        <p:sp>
          <p:nvSpPr>
            <p:cNvPr id="1155" name="Text Box 33"/>
            <p:cNvSpPr/>
            <p:nvPr/>
          </p:nvSpPr>
          <p:spPr>
            <a:xfrm rot="19708200">
              <a:off x="9875160" y="3666600"/>
              <a:ext cx="615600" cy="3949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142</a:t>
              </a:r>
              <a:endParaRPr b="0" lang="en-US" sz="2000" spc="-1" strike="noStrike">
                <a:solidFill>
                  <a:srgbClr val="000000"/>
                </a:solidFill>
                <a:latin typeface="Arial"/>
              </a:endParaRPr>
            </a:p>
          </p:txBody>
        </p:sp>
        <p:cxnSp>
          <p:nvCxnSpPr>
            <p:cNvPr id="1156" name="AutoShape 34"/>
            <p:cNvCxnSpPr>
              <a:stCxn id="1127" idx="4"/>
              <a:endCxn id="1128" idx="7"/>
            </p:cNvCxnSpPr>
            <p:nvPr/>
          </p:nvCxnSpPr>
          <p:spPr>
            <a:xfrm>
              <a:off x="10885320" y="3841560"/>
              <a:ext cx="80640" cy="1519560"/>
            </a:xfrm>
            <a:prstGeom prst="straightConnector1">
              <a:avLst/>
            </a:prstGeom>
            <a:ln w="19050">
              <a:solidFill>
                <a:srgbClr val="000000"/>
              </a:solidFill>
              <a:round/>
            </a:ln>
          </p:spPr>
        </p:cxnSp>
        <p:sp>
          <p:nvSpPr>
            <p:cNvPr id="1157" name="Text Box 35"/>
            <p:cNvSpPr/>
            <p:nvPr/>
          </p:nvSpPr>
          <p:spPr>
            <a:xfrm rot="5208000">
              <a:off x="10753560" y="4254840"/>
              <a:ext cx="762120" cy="3945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2000" spc="-1" strike="noStrike">
                  <a:solidFill>
                    <a:schemeClr val="dk1"/>
                  </a:solidFill>
                  <a:latin typeface="Tahoma"/>
                  <a:ea typeface="MS PGothic"/>
                </a:rPr>
                <a:t>1205</a:t>
              </a:r>
              <a:endParaRPr b="0" lang="en-US" sz="2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8"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Shortest Path Properties</a:t>
            </a:r>
            <a:endParaRPr b="0" lang="en-US" sz="4400" spc="-1" strike="noStrike">
              <a:solidFill>
                <a:srgbClr val="000000"/>
              </a:solidFill>
              <a:latin typeface="Arial"/>
            </a:endParaRPr>
          </a:p>
        </p:txBody>
      </p:sp>
      <p:sp>
        <p:nvSpPr>
          <p:cNvPr id="1159"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None/>
              <a:tabLst>
                <a:tab algn="l" pos="0"/>
              </a:tabLst>
            </a:pPr>
            <a:r>
              <a:rPr b="0" lang="en-US" sz="2000" spc="-1" strike="noStrike">
                <a:solidFill>
                  <a:schemeClr val="dk2"/>
                </a:solidFill>
                <a:latin typeface="Calibri"/>
              </a:rPr>
              <a:t>Property 1:</a:t>
            </a:r>
            <a:endParaRPr b="0" lang="en-US" sz="2000" spc="-1" strike="noStrike">
              <a:solidFill>
                <a:srgbClr val="000000"/>
              </a:solidFill>
              <a:latin typeface="Arial"/>
            </a:endParaRPr>
          </a:p>
          <a:p>
            <a:pPr marL="228600" indent="-228600" defTabSz="914400">
              <a:lnSpc>
                <a:spcPct val="90000"/>
              </a:lnSpc>
              <a:spcBef>
                <a:spcPts val="1001"/>
              </a:spcBef>
              <a:buNone/>
              <a:tabLst>
                <a:tab algn="l" pos="0"/>
              </a:tabLst>
            </a:pPr>
            <a:r>
              <a:rPr b="0" lang="en-US" sz="1800" spc="-1" strike="noStrike">
                <a:solidFill>
                  <a:schemeClr val="dk1"/>
                </a:solidFill>
                <a:latin typeface="Calibri"/>
              </a:rPr>
              <a:t>	</a:t>
            </a:r>
            <a:r>
              <a:rPr b="0" lang="en-US" sz="1800" spc="-1" strike="noStrike">
                <a:solidFill>
                  <a:schemeClr val="dk1"/>
                </a:solidFill>
                <a:latin typeface="Calibri"/>
              </a:rPr>
              <a:t>A subpath of a shortest path is itself a shortest path</a:t>
            </a:r>
            <a:endParaRPr b="0" lang="en-US" sz="1800" spc="-1" strike="noStrike">
              <a:solidFill>
                <a:srgbClr val="000000"/>
              </a:solidFill>
              <a:latin typeface="Arial"/>
            </a:endParaRPr>
          </a:p>
          <a:p>
            <a:pPr marL="228600" indent="-228600" defTabSz="914400">
              <a:lnSpc>
                <a:spcPct val="90000"/>
              </a:lnSpc>
              <a:spcBef>
                <a:spcPts val="1001"/>
              </a:spcBef>
              <a:buNone/>
              <a:tabLst>
                <a:tab algn="l" pos="0"/>
              </a:tabLst>
            </a:pPr>
            <a:r>
              <a:rPr b="0" lang="en-US" sz="2000" spc="-1" strike="noStrike">
                <a:solidFill>
                  <a:schemeClr val="dk2"/>
                </a:solidFill>
                <a:latin typeface="Calibri"/>
              </a:rPr>
              <a:t>Property 2:</a:t>
            </a:r>
            <a:endParaRPr b="0" lang="en-US" sz="2000" spc="-1" strike="noStrike">
              <a:solidFill>
                <a:srgbClr val="000000"/>
              </a:solidFill>
              <a:latin typeface="Arial"/>
            </a:endParaRPr>
          </a:p>
          <a:p>
            <a:pPr marL="228600" indent="-228600" defTabSz="914400">
              <a:lnSpc>
                <a:spcPct val="90000"/>
              </a:lnSpc>
              <a:spcBef>
                <a:spcPts val="1001"/>
              </a:spcBef>
              <a:buNone/>
              <a:tabLst>
                <a:tab algn="l" pos="0"/>
              </a:tabLst>
            </a:pPr>
            <a:r>
              <a:rPr b="0" lang="en-US" sz="1800" spc="-1" strike="noStrike">
                <a:solidFill>
                  <a:schemeClr val="dk1"/>
                </a:solidFill>
                <a:latin typeface="Calibri"/>
              </a:rPr>
              <a:t>	</a:t>
            </a:r>
            <a:r>
              <a:rPr b="0" lang="en-US" sz="1800" spc="-1" strike="noStrike">
                <a:solidFill>
                  <a:schemeClr val="dk1"/>
                </a:solidFill>
                <a:latin typeface="Calibri"/>
              </a:rPr>
              <a:t>There is a tree of shortest paths from a start vertex to all the other vertices</a:t>
            </a:r>
            <a:endParaRPr b="0" lang="en-US" sz="1800" spc="-1" strike="noStrike">
              <a:solidFill>
                <a:srgbClr val="000000"/>
              </a:solidFill>
              <a:latin typeface="Arial"/>
            </a:endParaRPr>
          </a:p>
          <a:p>
            <a:pPr marL="228600" indent="-228600" defTabSz="914400">
              <a:lnSpc>
                <a:spcPct val="90000"/>
              </a:lnSpc>
              <a:spcBef>
                <a:spcPts val="1001"/>
              </a:spcBef>
              <a:buNone/>
              <a:tabLst>
                <a:tab algn="l" pos="0"/>
              </a:tabLst>
            </a:pPr>
            <a:r>
              <a:rPr b="0" lang="en-US" sz="2000" spc="-1" strike="noStrike">
                <a:solidFill>
                  <a:schemeClr val="dk2"/>
                </a:solidFill>
                <a:latin typeface="Calibri"/>
              </a:rPr>
              <a:t>Example:</a:t>
            </a:r>
            <a:endParaRPr b="0" lang="en-US" sz="2000" spc="-1" strike="noStrike">
              <a:solidFill>
                <a:srgbClr val="000000"/>
              </a:solidFill>
              <a:latin typeface="Arial"/>
            </a:endParaRPr>
          </a:p>
          <a:p>
            <a:pPr marL="228600" indent="-228600" defTabSz="914400">
              <a:lnSpc>
                <a:spcPct val="90000"/>
              </a:lnSpc>
              <a:spcBef>
                <a:spcPts val="1001"/>
              </a:spcBef>
              <a:buNone/>
              <a:tabLst>
                <a:tab algn="l" pos="0"/>
              </a:tabLst>
            </a:pPr>
            <a:r>
              <a:rPr b="0" lang="en-US" sz="1800" spc="-1" strike="noStrike">
                <a:solidFill>
                  <a:schemeClr val="dk1"/>
                </a:solidFill>
                <a:latin typeface="Calibri"/>
              </a:rPr>
              <a:t>	</a:t>
            </a:r>
            <a:r>
              <a:rPr b="0" lang="en-US" sz="1800" spc="-1" strike="noStrike">
                <a:solidFill>
                  <a:schemeClr val="dk1"/>
                </a:solidFill>
                <a:latin typeface="Calibri"/>
              </a:rPr>
              <a:t>Tree of shortest paths from Providence</a:t>
            </a:r>
            <a:endParaRPr b="0" lang="en-US" sz="1800" spc="-1" strike="noStrike">
              <a:solidFill>
                <a:srgbClr val="000000"/>
              </a:solidFill>
              <a:latin typeface="Arial"/>
            </a:endParaRPr>
          </a:p>
        </p:txBody>
      </p:sp>
      <p:sp>
        <p:nvSpPr>
          <p:cNvPr id="1160" name="PlaceHolder 3"/>
          <p:cNvSpPr>
            <a:spLocks noGrp="1"/>
          </p:cNvSpPr>
          <p:nvPr>
            <p:ph type="sldNum" idx="81"/>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CD977E61-7A77-4441-BD27-BE55AFE30CA6}"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grpSp>
        <p:nvGrpSpPr>
          <p:cNvPr id="1161" name="Group 1"/>
          <p:cNvGrpSpPr/>
          <p:nvPr/>
        </p:nvGrpSpPr>
        <p:grpSpPr>
          <a:xfrm>
            <a:off x="4215240" y="3495960"/>
            <a:ext cx="7488720" cy="2414520"/>
            <a:chOff x="4215240" y="3495960"/>
            <a:chExt cx="7488720" cy="2414520"/>
          </a:xfrm>
        </p:grpSpPr>
        <p:sp>
          <p:nvSpPr>
            <p:cNvPr id="1162" name="Oval 4"/>
            <p:cNvSpPr/>
            <p:nvPr/>
          </p:nvSpPr>
          <p:spPr>
            <a:xfrm>
              <a:off x="8253720" y="3702240"/>
              <a:ext cx="935280" cy="45576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ORD</a:t>
              </a:r>
              <a:endParaRPr b="0" lang="en-US" sz="2400" spc="-1" strike="noStrike">
                <a:solidFill>
                  <a:srgbClr val="ffffff"/>
                </a:solidFill>
                <a:latin typeface="Arial"/>
              </a:endParaRPr>
            </a:p>
          </p:txBody>
        </p:sp>
        <p:sp>
          <p:nvSpPr>
            <p:cNvPr id="1163" name="Oval 5"/>
            <p:cNvSpPr/>
            <p:nvPr/>
          </p:nvSpPr>
          <p:spPr>
            <a:xfrm>
              <a:off x="10768320" y="3546720"/>
              <a:ext cx="935280" cy="45576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PVD</a:t>
              </a:r>
              <a:endParaRPr b="0" lang="en-US" sz="2400" spc="-1" strike="noStrike">
                <a:solidFill>
                  <a:srgbClr val="ffffff"/>
                </a:solidFill>
                <a:latin typeface="Arial"/>
              </a:endParaRPr>
            </a:p>
          </p:txBody>
        </p:sp>
        <p:sp>
          <p:nvSpPr>
            <p:cNvPr id="1164" name="Oval 6"/>
            <p:cNvSpPr/>
            <p:nvPr/>
          </p:nvSpPr>
          <p:spPr>
            <a:xfrm>
              <a:off x="10517400" y="5454720"/>
              <a:ext cx="935280" cy="45576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MIA</a:t>
              </a:r>
              <a:endParaRPr b="0" lang="en-US" sz="2400" spc="-1" strike="noStrike">
                <a:solidFill>
                  <a:srgbClr val="ffffff"/>
                </a:solidFill>
                <a:latin typeface="Arial"/>
              </a:endParaRPr>
            </a:p>
          </p:txBody>
        </p:sp>
        <p:sp>
          <p:nvSpPr>
            <p:cNvPr id="1165" name="Oval 7"/>
            <p:cNvSpPr/>
            <p:nvPr/>
          </p:nvSpPr>
          <p:spPr>
            <a:xfrm>
              <a:off x="7965000" y="5216760"/>
              <a:ext cx="935280" cy="45576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DFW</a:t>
              </a:r>
              <a:endParaRPr b="0" lang="en-US" sz="2400" spc="-1" strike="noStrike">
                <a:solidFill>
                  <a:srgbClr val="ffffff"/>
                </a:solidFill>
                <a:latin typeface="Arial"/>
              </a:endParaRPr>
            </a:p>
          </p:txBody>
        </p:sp>
        <p:sp>
          <p:nvSpPr>
            <p:cNvPr id="1166" name="Oval 8"/>
            <p:cNvSpPr/>
            <p:nvPr/>
          </p:nvSpPr>
          <p:spPr>
            <a:xfrm>
              <a:off x="6044040" y="3930840"/>
              <a:ext cx="935280" cy="45576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SFO</a:t>
              </a:r>
              <a:endParaRPr b="0" lang="en-US" sz="2400" spc="-1" strike="noStrike">
                <a:solidFill>
                  <a:srgbClr val="ffffff"/>
                </a:solidFill>
                <a:latin typeface="Arial"/>
              </a:endParaRPr>
            </a:p>
          </p:txBody>
        </p:sp>
        <p:sp>
          <p:nvSpPr>
            <p:cNvPr id="1167" name="Oval 9"/>
            <p:cNvSpPr/>
            <p:nvPr/>
          </p:nvSpPr>
          <p:spPr>
            <a:xfrm>
              <a:off x="6196320" y="5073840"/>
              <a:ext cx="935280" cy="45576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LAX</a:t>
              </a:r>
              <a:endParaRPr b="0" lang="en-US" sz="2400" spc="-1" strike="noStrike">
                <a:solidFill>
                  <a:srgbClr val="ffffff"/>
                </a:solidFill>
                <a:latin typeface="Arial"/>
              </a:endParaRPr>
            </a:p>
          </p:txBody>
        </p:sp>
        <p:sp>
          <p:nvSpPr>
            <p:cNvPr id="1168" name="Oval 10"/>
            <p:cNvSpPr/>
            <p:nvPr/>
          </p:nvSpPr>
          <p:spPr>
            <a:xfrm>
              <a:off x="9831600" y="4311720"/>
              <a:ext cx="935280" cy="45576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LGA</a:t>
              </a:r>
              <a:endParaRPr b="0" lang="en-US" sz="2400" spc="-1" strike="noStrike">
                <a:solidFill>
                  <a:srgbClr val="ffffff"/>
                </a:solidFill>
                <a:latin typeface="Arial"/>
              </a:endParaRPr>
            </a:p>
          </p:txBody>
        </p:sp>
        <p:sp>
          <p:nvSpPr>
            <p:cNvPr id="1169" name="Oval 11"/>
            <p:cNvSpPr/>
            <p:nvPr/>
          </p:nvSpPr>
          <p:spPr>
            <a:xfrm>
              <a:off x="4215240" y="4845240"/>
              <a:ext cx="935280" cy="45576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2400" spc="-1" strike="noStrike">
                  <a:solidFill>
                    <a:schemeClr val="dk1"/>
                  </a:solidFill>
                  <a:latin typeface="Tahoma"/>
                  <a:ea typeface="MS PGothic"/>
                </a:rPr>
                <a:t>HNL</a:t>
              </a:r>
              <a:endParaRPr b="0" lang="en-US" sz="2400" spc="-1" strike="noStrike">
                <a:solidFill>
                  <a:srgbClr val="ffffff"/>
                </a:solidFill>
                <a:latin typeface="Arial"/>
              </a:endParaRPr>
            </a:p>
          </p:txBody>
        </p:sp>
        <p:cxnSp>
          <p:nvCxnSpPr>
            <p:cNvPr id="1170" name="AutoShape 12"/>
            <p:cNvCxnSpPr>
              <a:stCxn id="1166" idx="6"/>
              <a:endCxn id="1162" idx="2"/>
            </p:cNvCxnSpPr>
            <p:nvPr/>
          </p:nvCxnSpPr>
          <p:spPr>
            <a:xfrm flipV="1">
              <a:off x="6979680" y="3930480"/>
              <a:ext cx="1274760" cy="229320"/>
            </a:xfrm>
            <a:prstGeom prst="straightConnector1">
              <a:avLst/>
            </a:prstGeom>
            <a:ln w="38100">
              <a:solidFill>
                <a:srgbClr val="44546a"/>
              </a:solidFill>
              <a:round/>
            </a:ln>
          </p:spPr>
        </p:cxnSp>
        <p:cxnSp>
          <p:nvCxnSpPr>
            <p:cNvPr id="1171" name="AutoShape 13"/>
            <p:cNvCxnSpPr>
              <a:stCxn id="1165" idx="0"/>
              <a:endCxn id="1162" idx="4"/>
            </p:cNvCxnSpPr>
            <p:nvPr/>
          </p:nvCxnSpPr>
          <p:spPr>
            <a:xfrm flipV="1">
              <a:off x="8433000" y="4158360"/>
              <a:ext cx="289440" cy="1059120"/>
            </a:xfrm>
            <a:prstGeom prst="straightConnector1">
              <a:avLst/>
            </a:prstGeom>
            <a:ln w="19050">
              <a:solidFill>
                <a:srgbClr val="000000"/>
              </a:solidFill>
              <a:round/>
            </a:ln>
          </p:spPr>
        </p:cxnSp>
        <p:cxnSp>
          <p:nvCxnSpPr>
            <p:cNvPr id="1172" name="AutoShape 14"/>
            <p:cNvCxnSpPr>
              <a:stCxn id="1165" idx="7"/>
              <a:endCxn id="1168" idx="3"/>
            </p:cNvCxnSpPr>
            <p:nvPr/>
          </p:nvCxnSpPr>
          <p:spPr>
            <a:xfrm flipV="1">
              <a:off x="8763840" y="4701240"/>
              <a:ext cx="1205280" cy="582840"/>
            </a:xfrm>
            <a:prstGeom prst="straightConnector1">
              <a:avLst/>
            </a:prstGeom>
            <a:ln w="38100">
              <a:solidFill>
                <a:srgbClr val="44546a"/>
              </a:solidFill>
              <a:round/>
            </a:ln>
          </p:spPr>
        </p:cxnSp>
        <p:cxnSp>
          <p:nvCxnSpPr>
            <p:cNvPr id="1173" name="AutoShape 15"/>
            <p:cNvCxnSpPr>
              <a:stCxn id="1168" idx="0"/>
              <a:endCxn id="1163" idx="3"/>
            </p:cNvCxnSpPr>
            <p:nvPr/>
          </p:nvCxnSpPr>
          <p:spPr>
            <a:xfrm flipV="1">
              <a:off x="10299600" y="3936240"/>
              <a:ext cx="606240" cy="376200"/>
            </a:xfrm>
            <a:prstGeom prst="straightConnector1">
              <a:avLst/>
            </a:prstGeom>
            <a:ln w="38100">
              <a:solidFill>
                <a:srgbClr val="44546a"/>
              </a:solidFill>
              <a:round/>
            </a:ln>
          </p:spPr>
        </p:cxnSp>
        <p:cxnSp>
          <p:nvCxnSpPr>
            <p:cNvPr id="1174" name="AutoShape 16"/>
            <p:cNvCxnSpPr>
              <a:stCxn id="1162" idx="6"/>
              <a:endCxn id="1163" idx="2"/>
            </p:cNvCxnSpPr>
            <p:nvPr/>
          </p:nvCxnSpPr>
          <p:spPr>
            <a:xfrm flipV="1">
              <a:off x="9189360" y="3774960"/>
              <a:ext cx="1579680" cy="156240"/>
            </a:xfrm>
            <a:prstGeom prst="straightConnector1">
              <a:avLst/>
            </a:prstGeom>
            <a:ln w="38100">
              <a:solidFill>
                <a:srgbClr val="44546a"/>
              </a:solidFill>
              <a:round/>
            </a:ln>
          </p:spPr>
        </p:cxnSp>
        <p:cxnSp>
          <p:nvCxnSpPr>
            <p:cNvPr id="1175" name="AutoShape 17"/>
            <p:cNvCxnSpPr>
              <a:stCxn id="1169" idx="6"/>
              <a:endCxn id="1167" idx="2"/>
            </p:cNvCxnSpPr>
            <p:nvPr/>
          </p:nvCxnSpPr>
          <p:spPr>
            <a:xfrm>
              <a:off x="5150880" y="5073480"/>
              <a:ext cx="1046160" cy="229320"/>
            </a:xfrm>
            <a:prstGeom prst="straightConnector1">
              <a:avLst/>
            </a:prstGeom>
            <a:ln w="38100">
              <a:solidFill>
                <a:srgbClr val="44546a"/>
              </a:solidFill>
              <a:round/>
            </a:ln>
          </p:spPr>
        </p:cxnSp>
        <p:cxnSp>
          <p:nvCxnSpPr>
            <p:cNvPr id="1176" name="AutoShape 18"/>
            <p:cNvCxnSpPr>
              <a:stCxn id="1166" idx="4"/>
              <a:endCxn id="1167" idx="0"/>
            </p:cNvCxnSpPr>
            <p:nvPr/>
          </p:nvCxnSpPr>
          <p:spPr>
            <a:xfrm>
              <a:off x="6512040" y="4386960"/>
              <a:ext cx="153000" cy="687600"/>
            </a:xfrm>
            <a:prstGeom prst="straightConnector1">
              <a:avLst/>
            </a:prstGeom>
            <a:ln w="19050">
              <a:solidFill>
                <a:srgbClr val="000000"/>
              </a:solidFill>
              <a:round/>
            </a:ln>
          </p:spPr>
        </p:cxnSp>
        <p:cxnSp>
          <p:nvCxnSpPr>
            <p:cNvPr id="1177" name="AutoShape 19"/>
            <p:cNvCxnSpPr>
              <a:stCxn id="1168" idx="4"/>
              <a:endCxn id="1164" idx="0"/>
            </p:cNvCxnSpPr>
            <p:nvPr/>
          </p:nvCxnSpPr>
          <p:spPr>
            <a:xfrm>
              <a:off x="10299600" y="4767840"/>
              <a:ext cx="686520" cy="687600"/>
            </a:xfrm>
            <a:prstGeom prst="straightConnector1">
              <a:avLst/>
            </a:prstGeom>
            <a:ln w="19050">
              <a:solidFill>
                <a:srgbClr val="000000"/>
              </a:solidFill>
              <a:round/>
            </a:ln>
          </p:spPr>
        </p:cxnSp>
        <p:cxnSp>
          <p:nvCxnSpPr>
            <p:cNvPr id="1178" name="AutoShape 20"/>
            <p:cNvCxnSpPr>
              <a:endCxn id="1165" idx="6"/>
            </p:cNvCxnSpPr>
            <p:nvPr/>
          </p:nvCxnSpPr>
          <p:spPr>
            <a:xfrm flipH="1" flipV="1">
              <a:off x="8900640" y="5445000"/>
              <a:ext cx="1618200" cy="239760"/>
            </a:xfrm>
            <a:prstGeom prst="straightConnector1">
              <a:avLst/>
            </a:prstGeom>
            <a:ln w="19050">
              <a:solidFill>
                <a:srgbClr val="000000"/>
              </a:solidFill>
              <a:round/>
            </a:ln>
          </p:spPr>
        </p:cxnSp>
        <p:cxnSp>
          <p:nvCxnSpPr>
            <p:cNvPr id="1179" name="AutoShape 21"/>
            <p:cNvCxnSpPr>
              <a:stCxn id="1167" idx="6"/>
              <a:endCxn id="1165" idx="2"/>
            </p:cNvCxnSpPr>
            <p:nvPr/>
          </p:nvCxnSpPr>
          <p:spPr>
            <a:xfrm>
              <a:off x="7131960" y="5302080"/>
              <a:ext cx="833760" cy="143640"/>
            </a:xfrm>
            <a:prstGeom prst="straightConnector1">
              <a:avLst/>
            </a:prstGeom>
            <a:ln w="19050">
              <a:solidFill>
                <a:srgbClr val="000000"/>
              </a:solidFill>
              <a:round/>
            </a:ln>
          </p:spPr>
        </p:cxnSp>
        <p:cxnSp>
          <p:nvCxnSpPr>
            <p:cNvPr id="1180" name="AutoShape 22"/>
            <p:cNvCxnSpPr>
              <a:stCxn id="1167" idx="7"/>
              <a:endCxn id="1162" idx="3"/>
            </p:cNvCxnSpPr>
            <p:nvPr/>
          </p:nvCxnSpPr>
          <p:spPr>
            <a:xfrm flipV="1">
              <a:off x="6995160" y="4091760"/>
              <a:ext cx="1396080" cy="1049400"/>
            </a:xfrm>
            <a:prstGeom prst="straightConnector1">
              <a:avLst/>
            </a:prstGeom>
            <a:ln w="38100">
              <a:solidFill>
                <a:srgbClr val="44546a"/>
              </a:solidFill>
              <a:round/>
            </a:ln>
          </p:spPr>
        </p:cxnSp>
        <p:sp>
          <p:nvSpPr>
            <p:cNvPr id="1181" name="Text Box 23"/>
            <p:cNvSpPr/>
            <p:nvPr/>
          </p:nvSpPr>
          <p:spPr>
            <a:xfrm rot="21252600">
              <a:off x="9524520" y="3525840"/>
              <a:ext cx="61560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849</a:t>
              </a:r>
              <a:endParaRPr b="0" lang="en-US" sz="2000" spc="-1" strike="noStrike">
                <a:solidFill>
                  <a:srgbClr val="000000"/>
                </a:solidFill>
                <a:latin typeface="Arial"/>
              </a:endParaRPr>
            </a:p>
          </p:txBody>
        </p:sp>
        <p:sp>
          <p:nvSpPr>
            <p:cNvPr id="1182" name="Text Box 24"/>
            <p:cNvSpPr/>
            <p:nvPr/>
          </p:nvSpPr>
          <p:spPr>
            <a:xfrm rot="16938000">
              <a:off x="8203680" y="4259520"/>
              <a:ext cx="6159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802</a:t>
              </a:r>
              <a:endParaRPr b="0" lang="en-US" sz="2000" spc="-1" strike="noStrike">
                <a:solidFill>
                  <a:srgbClr val="000000"/>
                </a:solidFill>
                <a:latin typeface="Arial"/>
              </a:endParaRPr>
            </a:p>
          </p:txBody>
        </p:sp>
        <p:sp>
          <p:nvSpPr>
            <p:cNvPr id="1183" name="Text Box 25"/>
            <p:cNvSpPr/>
            <p:nvPr/>
          </p:nvSpPr>
          <p:spPr>
            <a:xfrm rot="20055000">
              <a:off x="8875800" y="4675680"/>
              <a:ext cx="7617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1387</a:t>
              </a:r>
              <a:endParaRPr b="0" lang="en-US" sz="2000" spc="-1" strike="noStrike">
                <a:solidFill>
                  <a:srgbClr val="000000"/>
                </a:solidFill>
                <a:latin typeface="Arial"/>
              </a:endParaRPr>
            </a:p>
          </p:txBody>
        </p:sp>
        <p:sp>
          <p:nvSpPr>
            <p:cNvPr id="1184" name="Text Box 26"/>
            <p:cNvSpPr/>
            <p:nvPr/>
          </p:nvSpPr>
          <p:spPr>
            <a:xfrm rot="19463400">
              <a:off x="7061400" y="4438800"/>
              <a:ext cx="761760" cy="3949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1743</a:t>
              </a:r>
              <a:endParaRPr b="0" lang="en-US" sz="2000" spc="-1" strike="noStrike">
                <a:solidFill>
                  <a:srgbClr val="000000"/>
                </a:solidFill>
                <a:latin typeface="Arial"/>
              </a:endParaRPr>
            </a:p>
          </p:txBody>
        </p:sp>
        <p:sp>
          <p:nvSpPr>
            <p:cNvPr id="1185" name="Text Box 27"/>
            <p:cNvSpPr/>
            <p:nvPr/>
          </p:nvSpPr>
          <p:spPr>
            <a:xfrm rot="20910600">
              <a:off x="7172640" y="3701880"/>
              <a:ext cx="7617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1843</a:t>
              </a:r>
              <a:endParaRPr b="0" lang="en-US" sz="2000" spc="-1" strike="noStrike">
                <a:solidFill>
                  <a:srgbClr val="000000"/>
                </a:solidFill>
                <a:latin typeface="Arial"/>
              </a:endParaRPr>
            </a:p>
          </p:txBody>
        </p:sp>
        <p:sp>
          <p:nvSpPr>
            <p:cNvPr id="1186" name="Text Box 28"/>
            <p:cNvSpPr/>
            <p:nvPr/>
          </p:nvSpPr>
          <p:spPr>
            <a:xfrm rot="2626200">
              <a:off x="10472400" y="4904640"/>
              <a:ext cx="761760" cy="3942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1099</a:t>
              </a:r>
              <a:endParaRPr b="0" lang="en-US" sz="2000" spc="-1" strike="noStrike">
                <a:solidFill>
                  <a:srgbClr val="000000"/>
                </a:solidFill>
                <a:latin typeface="Arial"/>
              </a:endParaRPr>
            </a:p>
          </p:txBody>
        </p:sp>
        <p:sp>
          <p:nvSpPr>
            <p:cNvPr id="1187" name="Text Box 29"/>
            <p:cNvSpPr/>
            <p:nvPr/>
          </p:nvSpPr>
          <p:spPr>
            <a:xfrm rot="565800">
              <a:off x="9414360" y="5209200"/>
              <a:ext cx="7617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1120</a:t>
              </a:r>
              <a:endParaRPr b="0" lang="en-US" sz="2000" spc="-1" strike="noStrike">
                <a:solidFill>
                  <a:srgbClr val="000000"/>
                </a:solidFill>
                <a:latin typeface="Arial"/>
              </a:endParaRPr>
            </a:p>
          </p:txBody>
        </p:sp>
        <p:sp>
          <p:nvSpPr>
            <p:cNvPr id="1188" name="Text Box 30"/>
            <p:cNvSpPr/>
            <p:nvPr/>
          </p:nvSpPr>
          <p:spPr>
            <a:xfrm rot="696000">
              <a:off x="7215840" y="5028480"/>
              <a:ext cx="7617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1233</a:t>
              </a:r>
              <a:endParaRPr b="0" lang="en-US" sz="2000" spc="-1" strike="noStrike">
                <a:solidFill>
                  <a:srgbClr val="000000"/>
                </a:solidFill>
                <a:latin typeface="Arial"/>
              </a:endParaRPr>
            </a:p>
          </p:txBody>
        </p:sp>
        <p:sp>
          <p:nvSpPr>
            <p:cNvPr id="1189" name="Text Box 31"/>
            <p:cNvSpPr/>
            <p:nvPr/>
          </p:nvSpPr>
          <p:spPr>
            <a:xfrm rot="4665000">
              <a:off x="6440760" y="4567680"/>
              <a:ext cx="6159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1"/>
                  </a:solidFill>
                  <a:latin typeface="Tahoma"/>
                  <a:ea typeface="MS PGothic"/>
                </a:rPr>
                <a:t>337</a:t>
              </a:r>
              <a:endParaRPr b="0" lang="en-US" sz="2000" spc="-1" strike="noStrike">
                <a:solidFill>
                  <a:srgbClr val="000000"/>
                </a:solidFill>
                <a:latin typeface="Arial"/>
              </a:endParaRPr>
            </a:p>
          </p:txBody>
        </p:sp>
        <p:sp>
          <p:nvSpPr>
            <p:cNvPr id="1190" name="Text Box 32"/>
            <p:cNvSpPr/>
            <p:nvPr/>
          </p:nvSpPr>
          <p:spPr>
            <a:xfrm rot="832800">
              <a:off x="5366880" y="4844160"/>
              <a:ext cx="7617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2555</a:t>
              </a:r>
              <a:endParaRPr b="0" lang="en-US" sz="2000" spc="-1" strike="noStrike">
                <a:solidFill>
                  <a:srgbClr val="000000"/>
                </a:solidFill>
                <a:latin typeface="Arial"/>
              </a:endParaRPr>
            </a:p>
          </p:txBody>
        </p:sp>
        <p:sp>
          <p:nvSpPr>
            <p:cNvPr id="1191" name="Text Box 33"/>
            <p:cNvSpPr/>
            <p:nvPr/>
          </p:nvSpPr>
          <p:spPr>
            <a:xfrm rot="19708200">
              <a:off x="10226160" y="3827880"/>
              <a:ext cx="615600" cy="3949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142</a:t>
              </a:r>
              <a:endParaRPr b="0" lang="en-US" sz="2000" spc="-1" strike="noStrike">
                <a:solidFill>
                  <a:srgbClr val="000000"/>
                </a:solidFill>
                <a:latin typeface="Arial"/>
              </a:endParaRPr>
            </a:p>
          </p:txBody>
        </p:sp>
        <p:cxnSp>
          <p:nvCxnSpPr>
            <p:cNvPr id="1192" name="AutoShape 34"/>
            <p:cNvCxnSpPr>
              <a:stCxn id="1163" idx="4"/>
              <a:endCxn id="1164" idx="7"/>
            </p:cNvCxnSpPr>
            <p:nvPr/>
          </p:nvCxnSpPr>
          <p:spPr>
            <a:xfrm>
              <a:off x="11236320" y="4002840"/>
              <a:ext cx="80640" cy="1519200"/>
            </a:xfrm>
            <a:prstGeom prst="straightConnector1">
              <a:avLst/>
            </a:prstGeom>
            <a:ln w="38100">
              <a:solidFill>
                <a:srgbClr val="44546a"/>
              </a:solidFill>
              <a:round/>
            </a:ln>
          </p:spPr>
        </p:cxnSp>
        <p:sp>
          <p:nvSpPr>
            <p:cNvPr id="1193" name="Text Box 35"/>
            <p:cNvSpPr/>
            <p:nvPr/>
          </p:nvSpPr>
          <p:spPr>
            <a:xfrm rot="5208000">
              <a:off x="11104560" y="4416120"/>
              <a:ext cx="76212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2000" spc="-1" strike="noStrike">
                  <a:solidFill>
                    <a:schemeClr val="dk2"/>
                  </a:solidFill>
                  <a:latin typeface="Tahoma"/>
                  <a:ea typeface="MS PGothic"/>
                </a:rPr>
                <a:t>1205</a:t>
              </a:r>
              <a:endParaRPr b="0" lang="en-US" sz="2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4"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Dijkstra’s Algorithm</a:t>
            </a:r>
            <a:endParaRPr b="0" lang="en-US" sz="4400" spc="-1" strike="noStrike">
              <a:solidFill>
                <a:srgbClr val="000000"/>
              </a:solidFill>
              <a:latin typeface="Arial"/>
            </a:endParaRPr>
          </a:p>
        </p:txBody>
      </p:sp>
      <p:sp>
        <p:nvSpPr>
          <p:cNvPr id="1195" name="PlaceHolder 2"/>
          <p:cNvSpPr>
            <a:spLocks noGrp="1"/>
          </p:cNvSpPr>
          <p:nvPr>
            <p:ph/>
          </p:nvPr>
        </p:nvSpPr>
        <p:spPr>
          <a:xfrm>
            <a:off x="838080" y="1107000"/>
            <a:ext cx="664272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The distance of a vertex </a:t>
            </a:r>
            <a:r>
              <a:rPr b="1" i="1" lang="en-US" sz="2000" spc="-1" strike="noStrike">
                <a:solidFill>
                  <a:schemeClr val="dk1"/>
                </a:solidFill>
                <a:latin typeface="Times New Roman"/>
              </a:rPr>
              <a:t>v</a:t>
            </a:r>
            <a:r>
              <a:rPr b="0" lang="en-US" sz="2000" spc="-1" strike="noStrike">
                <a:solidFill>
                  <a:schemeClr val="dk1"/>
                </a:solidFill>
                <a:latin typeface="Calibri"/>
              </a:rPr>
              <a:t> from a vertex </a:t>
            </a:r>
            <a:r>
              <a:rPr b="1" i="1" lang="en-US" sz="2000" spc="-1" strike="noStrike">
                <a:solidFill>
                  <a:schemeClr val="dk1"/>
                </a:solidFill>
                <a:latin typeface="Times New Roman"/>
              </a:rPr>
              <a:t>s</a:t>
            </a:r>
            <a:r>
              <a:rPr b="0" lang="en-US" sz="2000" spc="-1" strike="noStrike">
                <a:solidFill>
                  <a:schemeClr val="dk1"/>
                </a:solidFill>
                <a:latin typeface="Calibri"/>
              </a:rPr>
              <a:t> is the length of a shortest path between </a:t>
            </a:r>
            <a:r>
              <a:rPr b="1" i="1" lang="en-US" sz="2000" spc="-1" strike="noStrike">
                <a:solidFill>
                  <a:schemeClr val="dk1"/>
                </a:solidFill>
                <a:latin typeface="Times New Roman"/>
              </a:rPr>
              <a:t>s</a:t>
            </a:r>
            <a:r>
              <a:rPr b="0" lang="en-US" sz="2000" spc="-1" strike="noStrike">
                <a:solidFill>
                  <a:schemeClr val="dk1"/>
                </a:solidFill>
                <a:latin typeface="Calibri"/>
              </a:rPr>
              <a:t> and </a:t>
            </a:r>
            <a:r>
              <a:rPr b="1" i="1" lang="en-US" sz="2000" spc="-1" strike="noStrike">
                <a:solidFill>
                  <a:schemeClr val="dk1"/>
                </a:solidFill>
                <a:latin typeface="Times New Roman"/>
              </a:rPr>
              <a:t>v</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Dijkstra’s algorithm computes the distances of all the vertices from a given start vertex </a:t>
            </a:r>
            <a:r>
              <a:rPr b="1" i="1" lang="en-US" sz="2000" spc="-1" strike="noStrike">
                <a:solidFill>
                  <a:schemeClr val="dk1"/>
                </a:solidFill>
                <a:latin typeface="Times New Roman"/>
              </a:rPr>
              <a:t>s</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Assumptions: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the graph is connected</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the edges are undirected</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the edge weights are </a:t>
            </a:r>
            <a:r>
              <a:rPr b="0" lang="en-US" sz="1800" spc="-1" strike="noStrike">
                <a:solidFill>
                  <a:schemeClr val="dk2"/>
                </a:solidFill>
                <a:latin typeface="Calibri"/>
              </a:rPr>
              <a:t>nonnegative</a:t>
            </a:r>
            <a:endParaRPr b="0" lang="en-US" sz="1800" spc="-1" strike="noStrike">
              <a:solidFill>
                <a:srgbClr val="000000"/>
              </a:solidFill>
              <a:latin typeface="Arial"/>
            </a:endParaRPr>
          </a:p>
        </p:txBody>
      </p:sp>
      <p:sp>
        <p:nvSpPr>
          <p:cNvPr id="1196" name="PlaceHolder 3"/>
          <p:cNvSpPr>
            <a:spLocks noGrp="1"/>
          </p:cNvSpPr>
          <p:nvPr>
            <p:ph type="sldNum" idx="82"/>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627CA367-27E6-49B6-AC90-8E571B267D9A}"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1197" name="PlaceHolder 4"/>
          <p:cNvSpPr>
            <a:spLocks noGrp="1"/>
          </p:cNvSpPr>
          <p:nvPr>
            <p:ph/>
          </p:nvPr>
        </p:nvSpPr>
        <p:spPr>
          <a:xfrm>
            <a:off x="7633080" y="1188360"/>
            <a:ext cx="4189680" cy="47228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We grow a “</a:t>
            </a:r>
            <a:r>
              <a:rPr b="0" lang="en-US" sz="2000" spc="-1" strike="noStrike">
                <a:solidFill>
                  <a:schemeClr val="dk2"/>
                </a:solidFill>
                <a:latin typeface="Calibri"/>
              </a:rPr>
              <a:t>cloud</a:t>
            </a:r>
            <a:r>
              <a:rPr b="0" lang="en-US" sz="2000" spc="-1" strike="noStrike">
                <a:solidFill>
                  <a:schemeClr val="dk1"/>
                </a:solidFill>
                <a:latin typeface="Calibri"/>
              </a:rPr>
              <a:t>” of vertices, beginning with </a:t>
            </a:r>
            <a:r>
              <a:rPr b="1" i="1" lang="en-US" sz="2000" spc="-1" strike="noStrike">
                <a:solidFill>
                  <a:schemeClr val="dk1"/>
                </a:solidFill>
                <a:latin typeface="Times New Roman"/>
              </a:rPr>
              <a:t>s</a:t>
            </a:r>
            <a:r>
              <a:rPr b="0" lang="en-US" sz="2000" spc="-1" strike="noStrike">
                <a:solidFill>
                  <a:schemeClr val="dk1"/>
                </a:solidFill>
                <a:latin typeface="Calibri"/>
              </a:rPr>
              <a:t> and eventually covering all the vertices</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We store with each vertex </a:t>
            </a:r>
            <a:r>
              <a:rPr b="1" i="1" lang="en-US" sz="2000" spc="-1" strike="noStrike">
                <a:solidFill>
                  <a:schemeClr val="dk1"/>
                </a:solidFill>
                <a:latin typeface="Times New Roman"/>
              </a:rPr>
              <a:t>v</a:t>
            </a:r>
            <a:r>
              <a:rPr b="0" lang="en-US" sz="2000" spc="-1" strike="noStrike">
                <a:solidFill>
                  <a:schemeClr val="dk1"/>
                </a:solidFill>
                <a:latin typeface="Calibri"/>
              </a:rPr>
              <a:t> a </a:t>
            </a:r>
            <a:r>
              <a:rPr b="0" lang="en-US" sz="2000" spc="-1" strike="noStrike">
                <a:solidFill>
                  <a:schemeClr val="dk2"/>
                </a:solidFill>
                <a:latin typeface="Calibri"/>
              </a:rPr>
              <a:t>label</a:t>
            </a:r>
            <a:r>
              <a:rPr b="0" lang="en-US" sz="2000" spc="-1" strike="noStrike">
                <a:solidFill>
                  <a:schemeClr val="dk1"/>
                </a:solidFill>
                <a:latin typeface="Calibri"/>
              </a:rPr>
              <a:t> </a:t>
            </a:r>
            <a:r>
              <a:rPr b="1" i="1" lang="en-US" sz="2000" spc="-1" strike="noStrike">
                <a:solidFill>
                  <a:schemeClr val="dk2"/>
                </a:solidFill>
                <a:latin typeface="Times New Roman"/>
              </a:rPr>
              <a:t>d</a:t>
            </a:r>
            <a:r>
              <a:rPr b="0" lang="en-US" sz="2000" spc="-1" strike="noStrike">
                <a:solidFill>
                  <a:schemeClr val="dk2"/>
                </a:solidFill>
                <a:latin typeface="Times New Roman"/>
              </a:rPr>
              <a:t>(</a:t>
            </a:r>
            <a:r>
              <a:rPr b="1" i="1" lang="en-US" sz="2000" spc="-1" strike="noStrike">
                <a:solidFill>
                  <a:schemeClr val="dk2"/>
                </a:solidFill>
                <a:latin typeface="Times New Roman"/>
              </a:rPr>
              <a:t>v</a:t>
            </a:r>
            <a:r>
              <a:rPr b="0" lang="en-US" sz="2000" spc="-1" strike="noStrike">
                <a:solidFill>
                  <a:schemeClr val="dk2"/>
                </a:solidFill>
                <a:latin typeface="Times New Roman"/>
              </a:rPr>
              <a:t>)</a:t>
            </a:r>
            <a:r>
              <a:rPr b="0" lang="en-US" sz="2000" spc="-1" strike="noStrike">
                <a:solidFill>
                  <a:schemeClr val="dk1"/>
                </a:solidFill>
                <a:latin typeface="Calibri"/>
              </a:rPr>
              <a:t> representing the distance of </a:t>
            </a:r>
            <a:r>
              <a:rPr b="1" i="1" lang="en-US" sz="2000" spc="-1" strike="noStrike">
                <a:solidFill>
                  <a:schemeClr val="dk1"/>
                </a:solidFill>
                <a:latin typeface="Times New Roman"/>
              </a:rPr>
              <a:t>v</a:t>
            </a:r>
            <a:r>
              <a:rPr b="0" lang="en-US" sz="2000" spc="-1" strike="noStrike">
                <a:solidFill>
                  <a:schemeClr val="dk1"/>
                </a:solidFill>
                <a:latin typeface="Calibri"/>
              </a:rPr>
              <a:t> from </a:t>
            </a:r>
            <a:r>
              <a:rPr b="1" i="1" lang="en-US" sz="2000" spc="-1" strike="noStrike">
                <a:solidFill>
                  <a:schemeClr val="dk1"/>
                </a:solidFill>
                <a:latin typeface="Times New Roman"/>
              </a:rPr>
              <a:t>s</a:t>
            </a:r>
            <a:r>
              <a:rPr b="0" lang="en-US" sz="2000" spc="-1" strike="noStrike">
                <a:solidFill>
                  <a:schemeClr val="dk1"/>
                </a:solidFill>
                <a:latin typeface="Calibri"/>
              </a:rPr>
              <a:t> in the subgraph consisting of the cloud and its adjacent vertices</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At each step</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We add to the cloud the vertex </a:t>
            </a:r>
            <a:r>
              <a:rPr b="1" i="1" lang="en-US" sz="1800" spc="-1" strike="noStrike">
                <a:solidFill>
                  <a:schemeClr val="dk1"/>
                </a:solidFill>
                <a:latin typeface="Times New Roman"/>
              </a:rPr>
              <a:t>u </a:t>
            </a:r>
            <a:r>
              <a:rPr b="0" lang="en-US" sz="1800" spc="-1" strike="noStrike">
                <a:solidFill>
                  <a:schemeClr val="dk1"/>
                </a:solidFill>
                <a:latin typeface="Calibri"/>
              </a:rPr>
              <a:t>outside the cloud with the smallest distance label, </a:t>
            </a:r>
            <a:r>
              <a:rPr b="1" i="1" lang="en-US" sz="1800" spc="-1" strike="noStrike">
                <a:solidFill>
                  <a:schemeClr val="dk1"/>
                </a:solidFill>
                <a:latin typeface="Times New Roman"/>
              </a:rPr>
              <a:t>d</a:t>
            </a:r>
            <a:r>
              <a:rPr b="0" lang="en-US" sz="1800" spc="-1" strike="noStrike">
                <a:solidFill>
                  <a:schemeClr val="dk1"/>
                </a:solidFill>
                <a:latin typeface="Times New Roman"/>
              </a:rPr>
              <a:t>(</a:t>
            </a:r>
            <a:r>
              <a:rPr b="1" i="1" lang="en-US" sz="1800" spc="-1" strike="noStrike">
                <a:solidFill>
                  <a:schemeClr val="dk1"/>
                </a:solidFill>
                <a:latin typeface="Times New Roman"/>
              </a:rPr>
              <a:t>u</a:t>
            </a:r>
            <a:r>
              <a:rPr b="0" lang="en-US" sz="1800" spc="-1" strike="noStrike">
                <a:solidFill>
                  <a:schemeClr val="dk1"/>
                </a:solidFill>
                <a:latin typeface="Times New Roman"/>
              </a:rPr>
              <a:t>)</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We update the labels of the vertices adjacent to </a:t>
            </a:r>
            <a:r>
              <a:rPr b="1" i="1" lang="en-US" sz="1800" spc="-1" strike="noStrike">
                <a:solidFill>
                  <a:schemeClr val="dk1"/>
                </a:solidFill>
                <a:latin typeface="Times New Roman"/>
              </a:rPr>
              <a:t>u</a:t>
            </a:r>
            <a:r>
              <a:rPr b="0" lang="en-US" sz="1800" spc="-1" strike="noStrike">
                <a:solidFill>
                  <a:schemeClr val="dk1"/>
                </a:solidFill>
                <a:latin typeface="Calibri"/>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8"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Edge Relaxation</a:t>
            </a:r>
            <a:endParaRPr b="0" lang="en-US" sz="4400" spc="-1" strike="noStrike">
              <a:solidFill>
                <a:srgbClr val="000000"/>
              </a:solidFill>
              <a:latin typeface="Arial"/>
            </a:endParaRPr>
          </a:p>
        </p:txBody>
      </p:sp>
      <p:sp>
        <p:nvSpPr>
          <p:cNvPr id="1199" name="PlaceHolder 2"/>
          <p:cNvSpPr>
            <a:spLocks noGrp="1"/>
          </p:cNvSpPr>
          <p:nvPr>
            <p:ph/>
          </p:nvPr>
        </p:nvSpPr>
        <p:spPr>
          <a:xfrm>
            <a:off x="838080" y="1107000"/>
            <a:ext cx="585432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Consider an edge </a:t>
            </a:r>
            <a:r>
              <a:rPr b="1" i="1" lang="en-US" sz="2000" spc="-1" strike="noStrike">
                <a:solidFill>
                  <a:schemeClr val="dk1"/>
                </a:solidFill>
                <a:latin typeface="Times New Roman"/>
              </a:rPr>
              <a:t>e </a:t>
            </a:r>
            <a:r>
              <a:rPr b="1" i="1" lang="en-US" sz="2000" spc="-1" strike="noStrike">
                <a:solidFill>
                  <a:schemeClr val="dk1"/>
                </a:solidFill>
                <a:latin typeface="Symbol"/>
              </a:rPr>
              <a:t>=</a:t>
            </a:r>
            <a:r>
              <a:rPr b="1" i="1" lang="en-US" sz="2000" spc="-1" strike="noStrike">
                <a:solidFill>
                  <a:schemeClr val="dk1"/>
                </a:solidFill>
                <a:latin typeface="Times New Roman"/>
              </a:rPr>
              <a:t> </a:t>
            </a:r>
            <a:r>
              <a:rPr b="0" lang="en-US" sz="2000" spc="-1" strike="noStrike">
                <a:solidFill>
                  <a:schemeClr val="dk1"/>
                </a:solidFill>
                <a:latin typeface="Times New Roman"/>
              </a:rPr>
              <a:t>(</a:t>
            </a:r>
            <a:r>
              <a:rPr b="1" i="1" lang="en-US" sz="2000" spc="-1" strike="noStrike">
                <a:solidFill>
                  <a:schemeClr val="dk1"/>
                </a:solidFill>
                <a:latin typeface="Times New Roman"/>
              </a:rPr>
              <a:t>u,z</a:t>
            </a:r>
            <a:r>
              <a:rPr b="0" lang="en-US" sz="2000" spc="-1" strike="noStrike">
                <a:solidFill>
                  <a:schemeClr val="dk1"/>
                </a:solidFill>
                <a:latin typeface="Times New Roman"/>
              </a:rPr>
              <a:t>)</a:t>
            </a:r>
            <a:r>
              <a:rPr b="0" lang="en-US" sz="2000" spc="-1" strike="noStrike">
                <a:solidFill>
                  <a:schemeClr val="dk1"/>
                </a:solidFill>
                <a:latin typeface="Calibri"/>
              </a:rPr>
              <a:t> such that</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1" i="1" lang="en-US" sz="1800" spc="-1" strike="noStrike">
                <a:solidFill>
                  <a:schemeClr val="dk1"/>
                </a:solidFill>
                <a:latin typeface="Times New Roman"/>
              </a:rPr>
              <a:t>u</a:t>
            </a:r>
            <a:r>
              <a:rPr b="0" lang="en-US" sz="1800" spc="-1" strike="noStrike">
                <a:solidFill>
                  <a:schemeClr val="dk1"/>
                </a:solidFill>
                <a:latin typeface="Times New Roman"/>
              </a:rPr>
              <a:t> </a:t>
            </a:r>
            <a:r>
              <a:rPr b="0" lang="en-US" sz="1800" spc="-1" strike="noStrike">
                <a:solidFill>
                  <a:schemeClr val="dk1"/>
                </a:solidFill>
                <a:latin typeface="Calibri"/>
              </a:rPr>
              <a:t>is the vertex most recently added to the cloud</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1" i="1" lang="en-US" sz="1800" spc="-1" strike="noStrike">
                <a:solidFill>
                  <a:schemeClr val="dk1"/>
                </a:solidFill>
                <a:latin typeface="Times New Roman"/>
              </a:rPr>
              <a:t>z</a:t>
            </a:r>
            <a:r>
              <a:rPr b="0" lang="en-US" sz="1800" spc="-1" strike="noStrike">
                <a:solidFill>
                  <a:schemeClr val="dk1"/>
                </a:solidFill>
                <a:latin typeface="Calibri"/>
              </a:rPr>
              <a:t> is not in the cloud</a:t>
            </a:r>
            <a:endParaRPr b="0" lang="en-US" sz="1800" spc="-1" strike="noStrike">
              <a:solidFill>
                <a:srgbClr val="000000"/>
              </a:solidFill>
              <a:latin typeface="Arial"/>
            </a:endParaRPr>
          </a:p>
          <a:p>
            <a:pPr indent="0" defTabSz="914400">
              <a:lnSpc>
                <a:spcPct val="90000"/>
              </a:lnSpc>
              <a:spcBef>
                <a:spcPts val="1001"/>
              </a:spcBef>
              <a:buNone/>
              <a:tabLst>
                <a:tab algn="l" pos="0"/>
              </a:tabLst>
            </a:pP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000" spc="-1" strike="noStrike">
                <a:solidFill>
                  <a:schemeClr val="dk1"/>
                </a:solidFill>
                <a:latin typeface="Calibri"/>
              </a:rPr>
              <a:t>The relaxation of edge </a:t>
            </a:r>
            <a:r>
              <a:rPr b="1" i="1" lang="en-US" sz="2000" spc="-1" strike="noStrike">
                <a:solidFill>
                  <a:schemeClr val="dk1"/>
                </a:solidFill>
                <a:latin typeface="Times New Roman"/>
              </a:rPr>
              <a:t>e </a:t>
            </a:r>
            <a:r>
              <a:rPr b="0" lang="en-US" sz="2000" spc="-1" strike="noStrike">
                <a:solidFill>
                  <a:schemeClr val="dk1"/>
                </a:solidFill>
                <a:latin typeface="Calibri"/>
              </a:rPr>
              <a:t>updates distance </a:t>
            </a:r>
            <a:r>
              <a:rPr b="1" i="1" lang="en-US" sz="2000" spc="-1" strike="noStrike">
                <a:solidFill>
                  <a:schemeClr val="dk1"/>
                </a:solidFill>
                <a:latin typeface="Times New Roman"/>
              </a:rPr>
              <a:t>d</a:t>
            </a:r>
            <a:r>
              <a:rPr b="0" lang="en-US" sz="2000" spc="-1" strike="noStrike">
                <a:solidFill>
                  <a:schemeClr val="dk1"/>
                </a:solidFill>
                <a:latin typeface="Times New Roman"/>
              </a:rPr>
              <a:t>(</a:t>
            </a:r>
            <a:r>
              <a:rPr b="1" i="1" lang="en-US" sz="2000" spc="-1" strike="noStrike">
                <a:solidFill>
                  <a:schemeClr val="dk1"/>
                </a:solidFill>
                <a:latin typeface="Times New Roman"/>
              </a:rPr>
              <a:t>z</a:t>
            </a:r>
            <a:r>
              <a:rPr b="0" lang="en-US" sz="2000" spc="-1" strike="noStrike">
                <a:solidFill>
                  <a:schemeClr val="dk1"/>
                </a:solidFill>
                <a:latin typeface="Times New Roman"/>
              </a:rPr>
              <a:t>) </a:t>
            </a:r>
            <a:r>
              <a:rPr b="0" lang="en-US" sz="2000" spc="-1" strike="noStrike">
                <a:solidFill>
                  <a:schemeClr val="dk1"/>
                </a:solidFill>
                <a:latin typeface="Calibri"/>
              </a:rPr>
              <a:t>as follows:</a:t>
            </a:r>
            <a:endParaRPr b="0" lang="en-US" sz="2000" spc="-1" strike="noStrike">
              <a:solidFill>
                <a:srgbClr val="000000"/>
              </a:solidFill>
              <a:latin typeface="Arial"/>
            </a:endParaRPr>
          </a:p>
          <a:p>
            <a:pPr marL="228600" indent="-228600" defTabSz="914400">
              <a:lnSpc>
                <a:spcPct val="90000"/>
              </a:lnSpc>
              <a:spcBef>
                <a:spcPts val="1001"/>
              </a:spcBef>
              <a:buNone/>
              <a:tabLst>
                <a:tab algn="l" pos="0"/>
              </a:tabLst>
            </a:pPr>
            <a:r>
              <a:rPr b="1" i="1" lang="en-US" sz="2000" spc="-1" strike="noStrike">
                <a:solidFill>
                  <a:schemeClr val="dk1"/>
                </a:solidFill>
                <a:latin typeface="Times New Roman"/>
              </a:rPr>
              <a:t>	</a:t>
            </a:r>
            <a:r>
              <a:rPr b="1" i="1" lang="en-US" sz="1800" spc="-1" strike="noStrike">
                <a:solidFill>
                  <a:schemeClr val="dk1"/>
                </a:solidFill>
                <a:latin typeface="Times New Roman"/>
              </a:rPr>
              <a:t>d</a:t>
            </a:r>
            <a:r>
              <a:rPr b="0" lang="en-US" sz="1800" spc="-1" strike="noStrike">
                <a:solidFill>
                  <a:schemeClr val="dk1"/>
                </a:solidFill>
                <a:latin typeface="Times New Roman"/>
              </a:rPr>
              <a:t>(</a:t>
            </a:r>
            <a:r>
              <a:rPr b="1" i="1" lang="en-US" sz="1800" spc="-1" strike="noStrike">
                <a:solidFill>
                  <a:schemeClr val="dk1"/>
                </a:solidFill>
                <a:latin typeface="Times New Roman"/>
              </a:rPr>
              <a:t>z</a:t>
            </a:r>
            <a:r>
              <a:rPr b="0" lang="en-US" sz="1800" spc="-1" strike="noStrike">
                <a:solidFill>
                  <a:schemeClr val="dk1"/>
                </a:solidFill>
                <a:latin typeface="Times New Roman"/>
              </a:rPr>
              <a:t>)</a:t>
            </a:r>
            <a:r>
              <a:rPr b="0" lang="en-US" sz="1800" spc="-1" strike="noStrike">
                <a:solidFill>
                  <a:schemeClr val="dk1"/>
                </a:solidFill>
                <a:latin typeface="Calibri"/>
              </a:rPr>
              <a:t> </a:t>
            </a:r>
            <a:r>
              <a:rPr b="0" lang="en-US" sz="1800" spc="-1" strike="noStrike">
                <a:solidFill>
                  <a:schemeClr val="dk1"/>
                </a:solidFill>
                <a:latin typeface="Symbol"/>
              </a:rPr>
              <a:t></a:t>
            </a:r>
            <a:r>
              <a:rPr b="0" lang="en-US" sz="1800" spc="-1" strike="noStrike">
                <a:solidFill>
                  <a:schemeClr val="dk1"/>
                </a:solidFill>
                <a:latin typeface="Calibri"/>
              </a:rPr>
              <a:t> </a:t>
            </a:r>
            <a:r>
              <a:rPr b="0" lang="en-US" sz="1800" spc="-1" strike="noStrike">
                <a:solidFill>
                  <a:schemeClr val="dk1"/>
                </a:solidFill>
                <a:latin typeface="Times New Roman"/>
              </a:rPr>
              <a:t>min{</a:t>
            </a:r>
            <a:r>
              <a:rPr b="1" i="1" lang="en-US" sz="1800" spc="-1" strike="noStrike">
                <a:solidFill>
                  <a:schemeClr val="dk1"/>
                </a:solidFill>
                <a:latin typeface="Times New Roman"/>
              </a:rPr>
              <a:t>d</a:t>
            </a:r>
            <a:r>
              <a:rPr b="0" lang="en-US" sz="1800" spc="-1" strike="noStrike">
                <a:solidFill>
                  <a:schemeClr val="dk1"/>
                </a:solidFill>
                <a:latin typeface="Times New Roman"/>
              </a:rPr>
              <a:t>(</a:t>
            </a:r>
            <a:r>
              <a:rPr b="1" i="1" lang="en-US" sz="1800" spc="-1" strike="noStrike">
                <a:solidFill>
                  <a:schemeClr val="dk1"/>
                </a:solidFill>
                <a:latin typeface="Times New Roman"/>
              </a:rPr>
              <a:t>z</a:t>
            </a:r>
            <a:r>
              <a:rPr b="0" lang="en-US" sz="1800" spc="-1" strike="noStrike">
                <a:solidFill>
                  <a:schemeClr val="dk1"/>
                </a:solidFill>
                <a:latin typeface="Times New Roman"/>
              </a:rPr>
              <a:t>)</a:t>
            </a:r>
            <a:r>
              <a:rPr b="1" i="1" lang="en-US" sz="1800" spc="-1" strike="noStrike">
                <a:solidFill>
                  <a:schemeClr val="dk1"/>
                </a:solidFill>
                <a:latin typeface="Times New Roman"/>
              </a:rPr>
              <a:t>,d</a:t>
            </a:r>
            <a:r>
              <a:rPr b="0" lang="en-US" sz="1800" spc="-1" strike="noStrike">
                <a:solidFill>
                  <a:schemeClr val="dk1"/>
                </a:solidFill>
                <a:latin typeface="Times New Roman"/>
              </a:rPr>
              <a:t>(</a:t>
            </a:r>
            <a:r>
              <a:rPr b="1" i="1" lang="en-US" sz="1800" spc="-1" strike="noStrike">
                <a:solidFill>
                  <a:schemeClr val="dk1"/>
                </a:solidFill>
                <a:latin typeface="Times New Roman"/>
              </a:rPr>
              <a:t>u</a:t>
            </a:r>
            <a:r>
              <a:rPr b="0" lang="en-US" sz="1800" spc="-1" strike="noStrike">
                <a:solidFill>
                  <a:schemeClr val="dk1"/>
                </a:solidFill>
                <a:latin typeface="Times New Roman"/>
              </a:rPr>
              <a:t>) </a:t>
            </a:r>
            <a:r>
              <a:rPr b="0" lang="en-US" sz="1800" spc="-1" strike="noStrike">
                <a:solidFill>
                  <a:schemeClr val="dk1"/>
                </a:solidFill>
                <a:latin typeface="Symbol"/>
              </a:rPr>
              <a:t>+ </a:t>
            </a:r>
            <a:r>
              <a:rPr b="1" i="1" lang="en-US" sz="1800" spc="-1" strike="noStrike">
                <a:solidFill>
                  <a:schemeClr val="dk1"/>
                </a:solidFill>
                <a:latin typeface="Times New Roman"/>
              </a:rPr>
              <a:t>weight</a:t>
            </a:r>
            <a:r>
              <a:rPr b="0" lang="en-US" sz="1800" spc="-1" strike="noStrike">
                <a:solidFill>
                  <a:schemeClr val="dk1"/>
                </a:solidFill>
                <a:latin typeface="Times New Roman"/>
              </a:rPr>
              <a:t>(</a:t>
            </a:r>
            <a:r>
              <a:rPr b="1" i="1" lang="en-US" sz="1800" spc="-1" strike="noStrike">
                <a:solidFill>
                  <a:schemeClr val="dk1"/>
                </a:solidFill>
                <a:latin typeface="Times New Roman"/>
              </a:rPr>
              <a:t>e</a:t>
            </a:r>
            <a:r>
              <a:rPr b="0" lang="en-US" sz="1800" spc="-1" strike="noStrike">
                <a:solidFill>
                  <a:schemeClr val="dk1"/>
                </a:solidFill>
                <a:latin typeface="Times New Roman"/>
              </a:rPr>
              <a:t>)}</a:t>
            </a:r>
            <a:endParaRPr b="0" lang="en-US" sz="1800" spc="-1" strike="noStrike">
              <a:solidFill>
                <a:srgbClr val="000000"/>
              </a:solidFill>
              <a:latin typeface="Arial"/>
            </a:endParaRPr>
          </a:p>
        </p:txBody>
      </p:sp>
      <p:sp>
        <p:nvSpPr>
          <p:cNvPr id="1200" name="PlaceHolder 3"/>
          <p:cNvSpPr>
            <a:spLocks noGrp="1"/>
          </p:cNvSpPr>
          <p:nvPr>
            <p:ph type="sldNum" idx="83"/>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697B6E17-464A-47BA-BE42-E8943A12849C}"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1201" name="AutoShape 20"/>
          <p:cNvSpPr/>
          <p:nvPr/>
        </p:nvSpPr>
        <p:spPr>
          <a:xfrm rot="5400000">
            <a:off x="9087840" y="3213720"/>
            <a:ext cx="455760" cy="331920"/>
          </a:xfrm>
          <a:prstGeom prst="rightArrow">
            <a:avLst>
              <a:gd name="adj1" fmla="val 50000"/>
              <a:gd name="adj2" fmla="val 34286"/>
            </a:avLst>
          </a:prstGeom>
          <a:noFill/>
          <a:ln w="19050">
            <a:solidFill>
              <a:srgbClr val="000000"/>
            </a:solidFill>
            <a:miter/>
          </a:ln>
        </p:spPr>
        <p:style>
          <a:lnRef idx="0"/>
          <a:fillRef idx="0"/>
          <a:effectRef idx="0"/>
          <a:fontRef idx="minor"/>
        </p:style>
        <p:txBody>
          <a:bodyPr wrap="none" lIns="90000" rIns="90000" tIns="45000" bIns="45000" anchor="ctr">
            <a:noAutofit/>
          </a:bodyPr>
          <a:p>
            <a:pPr defTabSz="457200">
              <a:lnSpc>
                <a:spcPct val="100000"/>
              </a:lnSpc>
            </a:pPr>
            <a:endParaRPr b="0" lang="en-US" sz="2400" spc="-1" strike="noStrike">
              <a:solidFill>
                <a:schemeClr val="dk1"/>
              </a:solidFill>
              <a:latin typeface="Tahoma"/>
              <a:ea typeface="MS PGothic"/>
            </a:endParaRPr>
          </a:p>
        </p:txBody>
      </p:sp>
      <p:sp>
        <p:nvSpPr>
          <p:cNvPr id="1202" name="Rectangle 17"/>
          <p:cNvSpPr/>
          <p:nvPr/>
        </p:nvSpPr>
        <p:spPr>
          <a:xfrm>
            <a:off x="10472760" y="1527840"/>
            <a:ext cx="10929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i="1" lang="en-US" sz="2000" spc="-1" strike="noStrike">
                <a:solidFill>
                  <a:schemeClr val="dk2"/>
                </a:solidFill>
                <a:latin typeface="Times New Roman"/>
                <a:ea typeface="MS PGothic"/>
              </a:rPr>
              <a:t>d</a:t>
            </a:r>
            <a:r>
              <a:rPr b="0" lang="en-US" sz="2000" spc="-1" strike="noStrike">
                <a:solidFill>
                  <a:schemeClr val="dk2"/>
                </a:solidFill>
                <a:latin typeface="Times New Roman"/>
                <a:ea typeface="MS PGothic"/>
              </a:rPr>
              <a:t>(</a:t>
            </a:r>
            <a:r>
              <a:rPr b="1" i="1" lang="en-US" sz="2000" spc="-1" strike="noStrike">
                <a:solidFill>
                  <a:schemeClr val="dk2"/>
                </a:solidFill>
                <a:latin typeface="Times New Roman"/>
                <a:ea typeface="MS PGothic"/>
              </a:rPr>
              <a:t>z</a:t>
            </a:r>
            <a:r>
              <a:rPr b="0" lang="en-US" sz="2000" spc="-1" strike="noStrike">
                <a:solidFill>
                  <a:schemeClr val="dk2"/>
                </a:solidFill>
                <a:latin typeface="Times New Roman"/>
                <a:ea typeface="MS PGothic"/>
              </a:rPr>
              <a:t>) </a:t>
            </a:r>
            <a:r>
              <a:rPr b="0" lang="en-US" sz="2000" spc="-1" strike="noStrike">
                <a:solidFill>
                  <a:schemeClr val="dk2"/>
                </a:solidFill>
                <a:latin typeface="Symbol"/>
                <a:ea typeface="MS PGothic"/>
              </a:rPr>
              <a:t>= </a:t>
            </a:r>
            <a:r>
              <a:rPr b="0" lang="en-US" sz="2000" spc="-1" strike="noStrike">
                <a:solidFill>
                  <a:schemeClr val="dk2"/>
                </a:solidFill>
                <a:latin typeface="Times New Roman"/>
                <a:ea typeface="MS PGothic"/>
              </a:rPr>
              <a:t>75</a:t>
            </a:r>
            <a:endParaRPr b="0" lang="en-US" sz="2000" spc="-1" strike="noStrike">
              <a:solidFill>
                <a:srgbClr val="000000"/>
              </a:solidFill>
              <a:latin typeface="Arial"/>
            </a:endParaRPr>
          </a:p>
        </p:txBody>
      </p:sp>
      <p:sp>
        <p:nvSpPr>
          <p:cNvPr id="1203" name="Freeform 13"/>
          <p:cNvSpPr/>
          <p:nvPr/>
        </p:nvSpPr>
        <p:spPr>
          <a:xfrm>
            <a:off x="7062480" y="1307160"/>
            <a:ext cx="2843280" cy="1711440"/>
          </a:xfrm>
          <a:custGeom>
            <a:avLst/>
            <a:gdLst>
              <a:gd name="textAreaLeft" fmla="*/ 0 w 2843280"/>
              <a:gd name="textAreaRight" fmla="*/ 2844720 w 2843280"/>
              <a:gd name="textAreaTop" fmla="*/ 0 h 1711440"/>
              <a:gd name="textAreaBottom" fmla="*/ 1712880 h 1711440"/>
            </a:gdLst>
            <a:ahLst/>
            <a:rect l="textAreaLeft" t="textAreaTop" r="textAreaRight" b="textAreaBottom"/>
            <a:pathLst>
              <a:path w="1792" h="1079">
                <a:moveTo>
                  <a:pt x="1283" y="31"/>
                </a:moveTo>
                <a:cubicBezTo>
                  <a:pt x="1527" y="0"/>
                  <a:pt x="1686" y="67"/>
                  <a:pt x="1739" y="157"/>
                </a:cubicBezTo>
                <a:cubicBezTo>
                  <a:pt x="1792" y="247"/>
                  <a:pt x="1644" y="427"/>
                  <a:pt x="1601" y="571"/>
                </a:cubicBezTo>
                <a:cubicBezTo>
                  <a:pt x="1558" y="715"/>
                  <a:pt x="1621" y="963"/>
                  <a:pt x="1481" y="1021"/>
                </a:cubicBezTo>
                <a:cubicBezTo>
                  <a:pt x="1341" y="1079"/>
                  <a:pt x="979" y="937"/>
                  <a:pt x="761" y="919"/>
                </a:cubicBezTo>
                <a:cubicBezTo>
                  <a:pt x="543" y="901"/>
                  <a:pt x="297" y="965"/>
                  <a:pt x="173" y="916"/>
                </a:cubicBezTo>
                <a:cubicBezTo>
                  <a:pt x="49" y="867"/>
                  <a:pt x="0" y="720"/>
                  <a:pt x="17" y="625"/>
                </a:cubicBezTo>
                <a:cubicBezTo>
                  <a:pt x="34" y="530"/>
                  <a:pt x="64" y="442"/>
                  <a:pt x="275" y="343"/>
                </a:cubicBezTo>
                <a:cubicBezTo>
                  <a:pt x="486" y="244"/>
                  <a:pt x="1029" y="55"/>
                  <a:pt x="1283" y="31"/>
                </a:cubicBezTo>
                <a:close/>
              </a:path>
            </a:pathLst>
          </a:cu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1204" name="Oval 8"/>
          <p:cNvSpPr/>
          <p:nvPr/>
        </p:nvSpPr>
        <p:spPr>
          <a:xfrm>
            <a:off x="10775520" y="1908720"/>
            <a:ext cx="276480" cy="27648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0" bIns="45000" anchor="ctr">
            <a:noAutofit/>
          </a:bodyPr>
          <a:p>
            <a:pPr defTabSz="457200">
              <a:lnSpc>
                <a:spcPct val="100000"/>
              </a:lnSpc>
            </a:pPr>
            <a:endParaRPr b="1" i="1" lang="en-US" sz="1800" spc="-1" strike="noStrike">
              <a:solidFill>
                <a:schemeClr val="dk1"/>
              </a:solidFill>
              <a:latin typeface="Times New Roman"/>
              <a:ea typeface="MS PGothic"/>
            </a:endParaRPr>
          </a:p>
        </p:txBody>
      </p:sp>
      <p:cxnSp>
        <p:nvCxnSpPr>
          <p:cNvPr id="1205" name="AutoShape 9"/>
          <p:cNvCxnSpPr>
            <a:stCxn id="1206" idx="7"/>
            <a:endCxn id="1207" idx="2"/>
          </p:cNvCxnSpPr>
          <p:nvPr/>
        </p:nvCxnSpPr>
        <p:spPr>
          <a:xfrm flipV="1">
            <a:off x="7479360" y="1818720"/>
            <a:ext cx="1879200" cy="515160"/>
          </a:xfrm>
          <a:prstGeom prst="curvedConnector2">
            <a:avLst/>
          </a:prstGeom>
          <a:ln w="38100">
            <a:solidFill>
              <a:srgbClr val="44546a"/>
            </a:solidFill>
            <a:round/>
          </a:ln>
        </p:spPr>
      </p:cxnSp>
      <p:cxnSp>
        <p:nvCxnSpPr>
          <p:cNvPr id="1208" name="AutoShape 10"/>
          <p:cNvCxnSpPr>
            <a:stCxn id="1206" idx="6"/>
            <a:endCxn id="1209" idx="2"/>
          </p:cNvCxnSpPr>
          <p:nvPr/>
        </p:nvCxnSpPr>
        <p:spPr>
          <a:xfrm>
            <a:off x="7520040" y="2431440"/>
            <a:ext cx="1616400" cy="167400"/>
          </a:xfrm>
          <a:prstGeom prst="curvedConnector2">
            <a:avLst/>
          </a:prstGeom>
          <a:ln w="38100">
            <a:solidFill>
              <a:srgbClr val="44546a"/>
            </a:solidFill>
            <a:round/>
          </a:ln>
        </p:spPr>
      </p:cxnSp>
      <p:cxnSp>
        <p:nvCxnSpPr>
          <p:cNvPr id="1210" name="AutoShape 11"/>
          <p:cNvCxnSpPr>
            <a:stCxn id="1207" idx="6"/>
            <a:endCxn id="1204" idx="1"/>
          </p:cNvCxnSpPr>
          <p:nvPr/>
        </p:nvCxnSpPr>
        <p:spPr>
          <a:xfrm>
            <a:off x="9636120" y="1818720"/>
            <a:ext cx="1180440" cy="131040"/>
          </a:xfrm>
          <a:prstGeom prst="straightConnector1">
            <a:avLst/>
          </a:prstGeom>
          <a:ln w="19050">
            <a:solidFill>
              <a:srgbClr val="000000"/>
            </a:solidFill>
            <a:round/>
          </a:ln>
        </p:spPr>
      </p:cxnSp>
      <p:sp>
        <p:nvSpPr>
          <p:cNvPr id="1206" name="Oval 5"/>
          <p:cNvSpPr/>
          <p:nvPr/>
        </p:nvSpPr>
        <p:spPr>
          <a:xfrm>
            <a:off x="7241760" y="2292840"/>
            <a:ext cx="277920" cy="27648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0" bIns="45000" anchor="ctr">
            <a:noAutofit/>
          </a:bodyPr>
          <a:p>
            <a:pPr defTabSz="457200">
              <a:lnSpc>
                <a:spcPct val="100000"/>
              </a:lnSpc>
            </a:pPr>
            <a:endParaRPr b="1" i="1" lang="en-US" sz="1800" spc="-1" strike="noStrike">
              <a:solidFill>
                <a:schemeClr val="dk1"/>
              </a:solidFill>
              <a:latin typeface="Times New Roman"/>
              <a:ea typeface="MS PGothic"/>
            </a:endParaRPr>
          </a:p>
        </p:txBody>
      </p:sp>
      <p:sp>
        <p:nvSpPr>
          <p:cNvPr id="1207" name="Oval 7"/>
          <p:cNvSpPr/>
          <p:nvPr/>
        </p:nvSpPr>
        <p:spPr>
          <a:xfrm>
            <a:off x="9357840" y="1680120"/>
            <a:ext cx="277920" cy="27648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0" bIns="45000" anchor="ctr">
            <a:noAutofit/>
          </a:bodyPr>
          <a:p>
            <a:pPr defTabSz="457200">
              <a:lnSpc>
                <a:spcPct val="100000"/>
              </a:lnSpc>
            </a:pPr>
            <a:endParaRPr b="1" i="1" lang="en-US" sz="1800" spc="-1" strike="noStrike">
              <a:solidFill>
                <a:schemeClr val="dk1"/>
              </a:solidFill>
              <a:latin typeface="Times New Roman"/>
              <a:ea typeface="MS PGothic"/>
            </a:endParaRPr>
          </a:p>
        </p:txBody>
      </p:sp>
      <p:sp>
        <p:nvSpPr>
          <p:cNvPr id="1209" name="Oval 14"/>
          <p:cNvSpPr/>
          <p:nvPr/>
        </p:nvSpPr>
        <p:spPr>
          <a:xfrm>
            <a:off x="9135720" y="2459520"/>
            <a:ext cx="276480" cy="27648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0" bIns="45000" anchor="ctr">
            <a:noAutofit/>
          </a:bodyPr>
          <a:p>
            <a:pPr defTabSz="457200">
              <a:lnSpc>
                <a:spcPct val="100000"/>
              </a:lnSpc>
            </a:pPr>
            <a:r>
              <a:rPr b="1" i="1" lang="en-US" sz="1800" spc="-1" strike="noStrike">
                <a:solidFill>
                  <a:schemeClr val="dk1"/>
                </a:solidFill>
                <a:latin typeface="Times New Roman"/>
                <a:ea typeface="MS PGothic"/>
              </a:rPr>
              <a:t> </a:t>
            </a:r>
            <a:endParaRPr b="0" lang="en-US" sz="1800" spc="-1" strike="noStrike">
              <a:solidFill>
                <a:srgbClr val="ffffff"/>
              </a:solidFill>
              <a:latin typeface="Arial"/>
            </a:endParaRPr>
          </a:p>
        </p:txBody>
      </p:sp>
      <p:cxnSp>
        <p:nvCxnSpPr>
          <p:cNvPr id="1211" name="AutoShape 15"/>
          <p:cNvCxnSpPr>
            <a:stCxn id="1209" idx="6"/>
            <a:endCxn id="1204" idx="3"/>
          </p:cNvCxnSpPr>
          <p:nvPr/>
        </p:nvCxnSpPr>
        <p:spPr>
          <a:xfrm flipV="1">
            <a:off x="9412560" y="2145240"/>
            <a:ext cx="1404000" cy="453600"/>
          </a:xfrm>
          <a:prstGeom prst="straightConnector1">
            <a:avLst/>
          </a:prstGeom>
          <a:ln w="38100">
            <a:solidFill>
              <a:srgbClr val="44546a"/>
            </a:solidFill>
            <a:round/>
          </a:ln>
        </p:spPr>
      </p:cxnSp>
      <p:sp>
        <p:nvSpPr>
          <p:cNvPr id="1212" name="Rectangle 16"/>
          <p:cNvSpPr/>
          <p:nvPr/>
        </p:nvSpPr>
        <p:spPr>
          <a:xfrm>
            <a:off x="8759520" y="1370520"/>
            <a:ext cx="10378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i="1" lang="en-US" sz="1800" spc="-1" strike="noStrike">
                <a:solidFill>
                  <a:schemeClr val="dk2"/>
                </a:solidFill>
                <a:latin typeface="Times New Roman"/>
                <a:ea typeface="MS PGothic"/>
              </a:rPr>
              <a:t>d</a:t>
            </a:r>
            <a:r>
              <a:rPr b="0" lang="en-US" sz="1800" spc="-1" strike="noStrike">
                <a:solidFill>
                  <a:schemeClr val="dk2"/>
                </a:solidFill>
                <a:latin typeface="Times New Roman"/>
                <a:ea typeface="MS PGothic"/>
              </a:rPr>
              <a:t>(</a:t>
            </a:r>
            <a:r>
              <a:rPr b="1" i="1" lang="en-US" sz="1800" spc="-1" strike="noStrike">
                <a:solidFill>
                  <a:schemeClr val="dk2"/>
                </a:solidFill>
                <a:latin typeface="Times New Roman"/>
                <a:ea typeface="MS PGothic"/>
              </a:rPr>
              <a:t>u</a:t>
            </a:r>
            <a:r>
              <a:rPr b="0" lang="en-US" sz="1800" spc="-1" strike="noStrike">
                <a:solidFill>
                  <a:schemeClr val="dk2"/>
                </a:solidFill>
                <a:latin typeface="Times New Roman"/>
                <a:ea typeface="MS PGothic"/>
              </a:rPr>
              <a:t>) </a:t>
            </a:r>
            <a:r>
              <a:rPr b="0" lang="en-US" sz="1800" spc="-1" strike="noStrike">
                <a:solidFill>
                  <a:schemeClr val="dk2"/>
                </a:solidFill>
                <a:latin typeface="Symbol"/>
                <a:ea typeface="MS PGothic"/>
              </a:rPr>
              <a:t>= </a:t>
            </a:r>
            <a:r>
              <a:rPr b="0" lang="en-US" sz="1800" spc="-1" strike="noStrike">
                <a:solidFill>
                  <a:schemeClr val="dk2"/>
                </a:solidFill>
                <a:latin typeface="Times New Roman"/>
                <a:ea typeface="MS PGothic"/>
              </a:rPr>
              <a:t>50</a:t>
            </a:r>
            <a:endParaRPr b="0" lang="en-US" sz="1800" spc="-1" strike="noStrike">
              <a:solidFill>
                <a:srgbClr val="000000"/>
              </a:solidFill>
              <a:latin typeface="Arial"/>
            </a:endParaRPr>
          </a:p>
        </p:txBody>
      </p:sp>
      <p:sp>
        <p:nvSpPr>
          <p:cNvPr id="1213" name="Rectangle 18"/>
          <p:cNvSpPr/>
          <p:nvPr/>
        </p:nvSpPr>
        <p:spPr>
          <a:xfrm rot="229800">
            <a:off x="10089720" y="1545120"/>
            <a:ext cx="40860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1"/>
                </a:solidFill>
                <a:latin typeface="Times New Roman"/>
                <a:ea typeface="MS PGothic"/>
              </a:rPr>
              <a:t>10</a:t>
            </a:r>
            <a:endParaRPr b="0" lang="en-US" sz="1800" spc="-1" strike="noStrike">
              <a:solidFill>
                <a:srgbClr val="000000"/>
              </a:solidFill>
              <a:latin typeface="Arial"/>
            </a:endParaRPr>
          </a:p>
        </p:txBody>
      </p:sp>
      <p:sp>
        <p:nvSpPr>
          <p:cNvPr id="1214" name="Rectangle 21"/>
          <p:cNvSpPr/>
          <p:nvPr/>
        </p:nvSpPr>
        <p:spPr>
          <a:xfrm>
            <a:off x="10994400" y="1985040"/>
            <a:ext cx="26856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i="1" lang="en-US" sz="1800" spc="-1" strike="noStrike">
                <a:solidFill>
                  <a:schemeClr val="dk1"/>
                </a:solidFill>
                <a:latin typeface="Times New Roman"/>
                <a:ea typeface="MS PGothic"/>
              </a:rPr>
              <a:t>z</a:t>
            </a:r>
            <a:endParaRPr b="0" lang="en-US" sz="1800" spc="-1" strike="noStrike">
              <a:solidFill>
                <a:srgbClr val="000000"/>
              </a:solidFill>
              <a:latin typeface="Arial"/>
            </a:endParaRPr>
          </a:p>
        </p:txBody>
      </p:sp>
      <p:sp>
        <p:nvSpPr>
          <p:cNvPr id="1215" name="Rectangle 22"/>
          <p:cNvSpPr/>
          <p:nvPr/>
        </p:nvSpPr>
        <p:spPr>
          <a:xfrm>
            <a:off x="7244640" y="1999080"/>
            <a:ext cx="26856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i="1" lang="en-US" sz="1800" spc="-1" strike="noStrike">
                <a:solidFill>
                  <a:schemeClr val="dk2"/>
                </a:solidFill>
                <a:latin typeface="Times New Roman"/>
                <a:ea typeface="MS PGothic"/>
              </a:rPr>
              <a:t>s</a:t>
            </a:r>
            <a:endParaRPr b="0" lang="en-US" sz="1800" spc="-1" strike="noStrike">
              <a:solidFill>
                <a:srgbClr val="000000"/>
              </a:solidFill>
              <a:latin typeface="Arial"/>
            </a:endParaRPr>
          </a:p>
        </p:txBody>
      </p:sp>
      <p:sp>
        <p:nvSpPr>
          <p:cNvPr id="1216" name="Rectangle 23"/>
          <p:cNvSpPr/>
          <p:nvPr/>
        </p:nvSpPr>
        <p:spPr>
          <a:xfrm>
            <a:off x="9176760" y="1832400"/>
            <a:ext cx="30636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i="1" lang="en-US" sz="1800" spc="-1" strike="noStrike">
                <a:solidFill>
                  <a:schemeClr val="dk2"/>
                </a:solidFill>
                <a:latin typeface="Times New Roman"/>
                <a:ea typeface="MS PGothic"/>
              </a:rPr>
              <a:t>u</a:t>
            </a:r>
            <a:endParaRPr b="0" lang="en-US" sz="1800" spc="-1" strike="noStrike">
              <a:solidFill>
                <a:srgbClr val="000000"/>
              </a:solidFill>
              <a:latin typeface="Arial"/>
            </a:endParaRPr>
          </a:p>
        </p:txBody>
      </p:sp>
      <p:sp>
        <p:nvSpPr>
          <p:cNvPr id="1217" name="Rectangle 27"/>
          <p:cNvSpPr/>
          <p:nvPr/>
        </p:nvSpPr>
        <p:spPr>
          <a:xfrm>
            <a:off x="10471320" y="3997800"/>
            <a:ext cx="10929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i="1" lang="en-US" sz="2000" spc="-1" strike="noStrike">
                <a:solidFill>
                  <a:schemeClr val="dk2"/>
                </a:solidFill>
                <a:latin typeface="Times New Roman"/>
                <a:ea typeface="MS PGothic"/>
              </a:rPr>
              <a:t>d</a:t>
            </a:r>
            <a:r>
              <a:rPr b="0" lang="en-US" sz="2000" spc="-1" strike="noStrike">
                <a:solidFill>
                  <a:schemeClr val="dk2"/>
                </a:solidFill>
                <a:latin typeface="Times New Roman"/>
                <a:ea typeface="MS PGothic"/>
              </a:rPr>
              <a:t>(</a:t>
            </a:r>
            <a:r>
              <a:rPr b="1" i="1" lang="en-US" sz="2000" spc="-1" strike="noStrike">
                <a:solidFill>
                  <a:schemeClr val="dk2"/>
                </a:solidFill>
                <a:latin typeface="Times New Roman"/>
                <a:ea typeface="MS PGothic"/>
              </a:rPr>
              <a:t>z</a:t>
            </a:r>
            <a:r>
              <a:rPr b="0" lang="en-US" sz="2000" spc="-1" strike="noStrike">
                <a:solidFill>
                  <a:schemeClr val="dk2"/>
                </a:solidFill>
                <a:latin typeface="Times New Roman"/>
                <a:ea typeface="MS PGothic"/>
              </a:rPr>
              <a:t>) </a:t>
            </a:r>
            <a:r>
              <a:rPr b="0" lang="en-US" sz="2000" spc="-1" strike="noStrike">
                <a:solidFill>
                  <a:schemeClr val="dk2"/>
                </a:solidFill>
                <a:latin typeface="Symbol"/>
                <a:ea typeface="MS PGothic"/>
              </a:rPr>
              <a:t>= </a:t>
            </a:r>
            <a:r>
              <a:rPr b="0" lang="en-US" sz="2000" spc="-1" strike="noStrike">
                <a:solidFill>
                  <a:schemeClr val="dk2"/>
                </a:solidFill>
                <a:latin typeface="Times New Roman"/>
                <a:ea typeface="MS PGothic"/>
              </a:rPr>
              <a:t>60</a:t>
            </a:r>
            <a:endParaRPr b="0" lang="en-US" sz="2000" spc="-1" strike="noStrike">
              <a:solidFill>
                <a:srgbClr val="000000"/>
              </a:solidFill>
              <a:latin typeface="Arial"/>
            </a:endParaRPr>
          </a:p>
        </p:txBody>
      </p:sp>
      <p:sp>
        <p:nvSpPr>
          <p:cNvPr id="1218" name="Freeform 28"/>
          <p:cNvSpPr/>
          <p:nvPr/>
        </p:nvSpPr>
        <p:spPr>
          <a:xfrm>
            <a:off x="7060680" y="3777120"/>
            <a:ext cx="2843280" cy="1711440"/>
          </a:xfrm>
          <a:custGeom>
            <a:avLst/>
            <a:gdLst>
              <a:gd name="textAreaLeft" fmla="*/ 0 w 2843280"/>
              <a:gd name="textAreaRight" fmla="*/ 2844720 w 2843280"/>
              <a:gd name="textAreaTop" fmla="*/ 0 h 1711440"/>
              <a:gd name="textAreaBottom" fmla="*/ 1712880 h 1711440"/>
            </a:gdLst>
            <a:ahLst/>
            <a:rect l="textAreaLeft" t="textAreaTop" r="textAreaRight" b="textAreaBottom"/>
            <a:pathLst>
              <a:path w="1792" h="1079">
                <a:moveTo>
                  <a:pt x="1283" y="31"/>
                </a:moveTo>
                <a:cubicBezTo>
                  <a:pt x="1527" y="0"/>
                  <a:pt x="1686" y="67"/>
                  <a:pt x="1739" y="157"/>
                </a:cubicBezTo>
                <a:cubicBezTo>
                  <a:pt x="1792" y="247"/>
                  <a:pt x="1644" y="427"/>
                  <a:pt x="1601" y="571"/>
                </a:cubicBezTo>
                <a:cubicBezTo>
                  <a:pt x="1558" y="715"/>
                  <a:pt x="1621" y="963"/>
                  <a:pt x="1481" y="1021"/>
                </a:cubicBezTo>
                <a:cubicBezTo>
                  <a:pt x="1341" y="1079"/>
                  <a:pt x="979" y="937"/>
                  <a:pt x="761" y="919"/>
                </a:cubicBezTo>
                <a:cubicBezTo>
                  <a:pt x="543" y="901"/>
                  <a:pt x="297" y="965"/>
                  <a:pt x="173" y="916"/>
                </a:cubicBezTo>
                <a:cubicBezTo>
                  <a:pt x="49" y="867"/>
                  <a:pt x="0" y="720"/>
                  <a:pt x="17" y="625"/>
                </a:cubicBezTo>
                <a:cubicBezTo>
                  <a:pt x="34" y="530"/>
                  <a:pt x="64" y="442"/>
                  <a:pt x="275" y="343"/>
                </a:cubicBezTo>
                <a:cubicBezTo>
                  <a:pt x="486" y="244"/>
                  <a:pt x="1029" y="55"/>
                  <a:pt x="1283" y="31"/>
                </a:cubicBezTo>
                <a:close/>
              </a:path>
            </a:pathLst>
          </a:cu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1219" name="Oval 29"/>
          <p:cNvSpPr/>
          <p:nvPr/>
        </p:nvSpPr>
        <p:spPr>
          <a:xfrm>
            <a:off x="10773720" y="4379040"/>
            <a:ext cx="276480" cy="27648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0" bIns="45000" anchor="ctr">
            <a:noAutofit/>
          </a:bodyPr>
          <a:p>
            <a:pPr defTabSz="457200">
              <a:lnSpc>
                <a:spcPct val="100000"/>
              </a:lnSpc>
            </a:pPr>
            <a:endParaRPr b="1" i="1" lang="en-US" sz="1800" spc="-1" strike="noStrike">
              <a:solidFill>
                <a:schemeClr val="dk1"/>
              </a:solidFill>
              <a:latin typeface="Times New Roman"/>
              <a:ea typeface="MS PGothic"/>
            </a:endParaRPr>
          </a:p>
        </p:txBody>
      </p:sp>
      <p:cxnSp>
        <p:nvCxnSpPr>
          <p:cNvPr id="1220" name="AutoShape 30"/>
          <p:cNvCxnSpPr>
            <a:stCxn id="1221" idx="7"/>
            <a:endCxn id="1222" idx="2"/>
          </p:cNvCxnSpPr>
          <p:nvPr/>
        </p:nvCxnSpPr>
        <p:spPr>
          <a:xfrm flipV="1">
            <a:off x="7477560" y="4289040"/>
            <a:ext cx="1879560" cy="515160"/>
          </a:xfrm>
          <a:prstGeom prst="curvedConnector2">
            <a:avLst/>
          </a:prstGeom>
          <a:ln w="38100">
            <a:solidFill>
              <a:srgbClr val="44546a"/>
            </a:solidFill>
            <a:round/>
          </a:ln>
        </p:spPr>
      </p:cxnSp>
      <p:cxnSp>
        <p:nvCxnSpPr>
          <p:cNvPr id="1223" name="AutoShape 31"/>
          <p:cNvCxnSpPr>
            <a:stCxn id="1221" idx="6"/>
            <a:endCxn id="1224" idx="2"/>
          </p:cNvCxnSpPr>
          <p:nvPr/>
        </p:nvCxnSpPr>
        <p:spPr>
          <a:xfrm>
            <a:off x="7518240" y="4901760"/>
            <a:ext cx="1616400" cy="167400"/>
          </a:xfrm>
          <a:prstGeom prst="curvedConnector2">
            <a:avLst/>
          </a:prstGeom>
          <a:ln w="38100">
            <a:solidFill>
              <a:srgbClr val="44546a"/>
            </a:solidFill>
            <a:round/>
          </a:ln>
        </p:spPr>
      </p:cxnSp>
      <p:cxnSp>
        <p:nvCxnSpPr>
          <p:cNvPr id="1225" name="AutoShape 32"/>
          <p:cNvCxnSpPr>
            <a:stCxn id="1222" idx="6"/>
            <a:endCxn id="1219" idx="1"/>
          </p:cNvCxnSpPr>
          <p:nvPr/>
        </p:nvCxnSpPr>
        <p:spPr>
          <a:xfrm>
            <a:off x="9634680" y="4289040"/>
            <a:ext cx="1180080" cy="131040"/>
          </a:xfrm>
          <a:prstGeom prst="straightConnector1">
            <a:avLst/>
          </a:prstGeom>
          <a:ln w="38100">
            <a:solidFill>
              <a:srgbClr val="44546a"/>
            </a:solidFill>
            <a:round/>
          </a:ln>
        </p:spPr>
      </p:cxnSp>
      <p:sp>
        <p:nvSpPr>
          <p:cNvPr id="1221" name="Oval 33"/>
          <p:cNvSpPr/>
          <p:nvPr/>
        </p:nvSpPr>
        <p:spPr>
          <a:xfrm>
            <a:off x="7239960" y="4763160"/>
            <a:ext cx="277920" cy="27648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0" bIns="45000" anchor="ctr">
            <a:noAutofit/>
          </a:bodyPr>
          <a:p>
            <a:pPr defTabSz="457200">
              <a:lnSpc>
                <a:spcPct val="100000"/>
              </a:lnSpc>
            </a:pPr>
            <a:endParaRPr b="1" i="1" lang="en-US" sz="1800" spc="-1" strike="noStrike">
              <a:solidFill>
                <a:schemeClr val="dk1"/>
              </a:solidFill>
              <a:latin typeface="Times New Roman"/>
              <a:ea typeface="MS PGothic"/>
            </a:endParaRPr>
          </a:p>
        </p:txBody>
      </p:sp>
      <p:sp>
        <p:nvSpPr>
          <p:cNvPr id="1222" name="Oval 34"/>
          <p:cNvSpPr/>
          <p:nvPr/>
        </p:nvSpPr>
        <p:spPr>
          <a:xfrm>
            <a:off x="9356400" y="4150440"/>
            <a:ext cx="277920" cy="27648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0" bIns="45000" anchor="ctr">
            <a:noAutofit/>
          </a:bodyPr>
          <a:p>
            <a:pPr defTabSz="457200">
              <a:lnSpc>
                <a:spcPct val="100000"/>
              </a:lnSpc>
            </a:pPr>
            <a:endParaRPr b="1" i="1" lang="en-US" sz="1800" spc="-1" strike="noStrike">
              <a:solidFill>
                <a:schemeClr val="dk1"/>
              </a:solidFill>
              <a:latin typeface="Times New Roman"/>
              <a:ea typeface="MS PGothic"/>
            </a:endParaRPr>
          </a:p>
        </p:txBody>
      </p:sp>
      <p:sp>
        <p:nvSpPr>
          <p:cNvPr id="1224" name="Oval 35"/>
          <p:cNvSpPr/>
          <p:nvPr/>
        </p:nvSpPr>
        <p:spPr>
          <a:xfrm>
            <a:off x="9133920" y="4929840"/>
            <a:ext cx="276480" cy="276480"/>
          </a:xfrm>
          <a:prstGeom prst="ellipse">
            <a:avLst/>
          </a:prstGeom>
          <a:solidFill>
            <a:schemeClr val="folHlink"/>
          </a:solidFill>
          <a:ln w="38100">
            <a:solidFill>
              <a:srgbClr val="44546a"/>
            </a:solidFill>
            <a:round/>
          </a:ln>
        </p:spPr>
        <p:style>
          <a:lnRef idx="0"/>
          <a:fillRef idx="0"/>
          <a:effectRef idx="0"/>
          <a:fontRef idx="minor"/>
        </p:style>
        <p:txBody>
          <a:bodyPr wrap="none" lIns="90000" rIns="90000" tIns="0" bIns="45000" anchor="ctr">
            <a:noAutofit/>
          </a:bodyPr>
          <a:p>
            <a:pPr defTabSz="457200">
              <a:lnSpc>
                <a:spcPct val="100000"/>
              </a:lnSpc>
            </a:pPr>
            <a:r>
              <a:rPr b="1" i="1" lang="en-US" sz="1800" spc="-1" strike="noStrike">
                <a:solidFill>
                  <a:schemeClr val="dk1"/>
                </a:solidFill>
                <a:latin typeface="Times New Roman"/>
                <a:ea typeface="MS PGothic"/>
              </a:rPr>
              <a:t> </a:t>
            </a:r>
            <a:endParaRPr b="0" lang="en-US" sz="1800" spc="-1" strike="noStrike">
              <a:solidFill>
                <a:srgbClr val="ffffff"/>
              </a:solidFill>
              <a:latin typeface="Arial"/>
            </a:endParaRPr>
          </a:p>
        </p:txBody>
      </p:sp>
      <p:cxnSp>
        <p:nvCxnSpPr>
          <p:cNvPr id="1226" name="AutoShape 36"/>
          <p:cNvCxnSpPr>
            <a:stCxn id="1224" idx="6"/>
            <a:endCxn id="1219" idx="3"/>
          </p:cNvCxnSpPr>
          <p:nvPr/>
        </p:nvCxnSpPr>
        <p:spPr>
          <a:xfrm flipV="1">
            <a:off x="9410760" y="4615560"/>
            <a:ext cx="1404000" cy="453600"/>
          </a:xfrm>
          <a:prstGeom prst="straightConnector1">
            <a:avLst/>
          </a:prstGeom>
          <a:ln w="38100">
            <a:solidFill>
              <a:srgbClr val="000000"/>
            </a:solidFill>
            <a:prstDash val="dash"/>
            <a:round/>
          </a:ln>
        </p:spPr>
      </p:cxnSp>
      <p:sp>
        <p:nvSpPr>
          <p:cNvPr id="1227" name="Rectangle 37"/>
          <p:cNvSpPr/>
          <p:nvPr/>
        </p:nvSpPr>
        <p:spPr>
          <a:xfrm>
            <a:off x="8757720" y="3840840"/>
            <a:ext cx="10378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i="1" lang="en-US" sz="1800" spc="-1" strike="noStrike">
                <a:solidFill>
                  <a:schemeClr val="dk2"/>
                </a:solidFill>
                <a:latin typeface="Times New Roman"/>
                <a:ea typeface="MS PGothic"/>
              </a:rPr>
              <a:t>d</a:t>
            </a:r>
            <a:r>
              <a:rPr b="0" lang="en-US" sz="1800" spc="-1" strike="noStrike">
                <a:solidFill>
                  <a:schemeClr val="dk2"/>
                </a:solidFill>
                <a:latin typeface="Times New Roman"/>
                <a:ea typeface="MS PGothic"/>
              </a:rPr>
              <a:t>(</a:t>
            </a:r>
            <a:r>
              <a:rPr b="1" i="1" lang="en-US" sz="1800" spc="-1" strike="noStrike">
                <a:solidFill>
                  <a:schemeClr val="dk2"/>
                </a:solidFill>
                <a:latin typeface="Times New Roman"/>
                <a:ea typeface="MS PGothic"/>
              </a:rPr>
              <a:t>u</a:t>
            </a:r>
            <a:r>
              <a:rPr b="0" lang="en-US" sz="1800" spc="-1" strike="noStrike">
                <a:solidFill>
                  <a:schemeClr val="dk2"/>
                </a:solidFill>
                <a:latin typeface="Times New Roman"/>
                <a:ea typeface="MS PGothic"/>
              </a:rPr>
              <a:t>) </a:t>
            </a:r>
            <a:r>
              <a:rPr b="0" lang="en-US" sz="1800" spc="-1" strike="noStrike">
                <a:solidFill>
                  <a:schemeClr val="dk2"/>
                </a:solidFill>
                <a:latin typeface="Symbol"/>
                <a:ea typeface="MS PGothic"/>
              </a:rPr>
              <a:t>= </a:t>
            </a:r>
            <a:r>
              <a:rPr b="0" lang="en-US" sz="1800" spc="-1" strike="noStrike">
                <a:solidFill>
                  <a:schemeClr val="dk2"/>
                </a:solidFill>
                <a:latin typeface="Times New Roman"/>
                <a:ea typeface="MS PGothic"/>
              </a:rPr>
              <a:t>50</a:t>
            </a:r>
            <a:endParaRPr b="0" lang="en-US" sz="1800" spc="-1" strike="noStrike">
              <a:solidFill>
                <a:srgbClr val="000000"/>
              </a:solidFill>
              <a:latin typeface="Arial"/>
            </a:endParaRPr>
          </a:p>
        </p:txBody>
      </p:sp>
      <p:sp>
        <p:nvSpPr>
          <p:cNvPr id="1228" name="Rectangle 38"/>
          <p:cNvSpPr/>
          <p:nvPr/>
        </p:nvSpPr>
        <p:spPr>
          <a:xfrm rot="229800">
            <a:off x="10088280" y="4015440"/>
            <a:ext cx="40860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2"/>
                </a:solidFill>
                <a:latin typeface="Times New Roman"/>
                <a:ea typeface="MS PGothic"/>
              </a:rPr>
              <a:t>10</a:t>
            </a:r>
            <a:endParaRPr b="0" lang="en-US" sz="1800" spc="-1" strike="noStrike">
              <a:solidFill>
                <a:srgbClr val="000000"/>
              </a:solidFill>
              <a:latin typeface="Arial"/>
            </a:endParaRPr>
          </a:p>
        </p:txBody>
      </p:sp>
      <p:sp>
        <p:nvSpPr>
          <p:cNvPr id="1229" name="Rectangle 39"/>
          <p:cNvSpPr/>
          <p:nvPr/>
        </p:nvSpPr>
        <p:spPr>
          <a:xfrm>
            <a:off x="10992960" y="4455000"/>
            <a:ext cx="26856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i="1" lang="en-US" sz="1800" spc="-1" strike="noStrike">
                <a:solidFill>
                  <a:schemeClr val="dk1"/>
                </a:solidFill>
                <a:latin typeface="Times New Roman"/>
                <a:ea typeface="MS PGothic"/>
              </a:rPr>
              <a:t>z</a:t>
            </a:r>
            <a:endParaRPr b="0" lang="en-US" sz="1800" spc="-1" strike="noStrike">
              <a:solidFill>
                <a:srgbClr val="000000"/>
              </a:solidFill>
              <a:latin typeface="Arial"/>
            </a:endParaRPr>
          </a:p>
        </p:txBody>
      </p:sp>
      <p:sp>
        <p:nvSpPr>
          <p:cNvPr id="1230" name="Rectangle 40"/>
          <p:cNvSpPr/>
          <p:nvPr/>
        </p:nvSpPr>
        <p:spPr>
          <a:xfrm>
            <a:off x="7243200" y="4469400"/>
            <a:ext cx="26856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i="1" lang="en-US" sz="1800" spc="-1" strike="noStrike">
                <a:solidFill>
                  <a:schemeClr val="dk2"/>
                </a:solidFill>
                <a:latin typeface="Times New Roman"/>
                <a:ea typeface="MS PGothic"/>
              </a:rPr>
              <a:t>s</a:t>
            </a:r>
            <a:endParaRPr b="0" lang="en-US" sz="1800" spc="-1" strike="noStrike">
              <a:solidFill>
                <a:srgbClr val="000000"/>
              </a:solidFill>
              <a:latin typeface="Arial"/>
            </a:endParaRPr>
          </a:p>
        </p:txBody>
      </p:sp>
      <p:sp>
        <p:nvSpPr>
          <p:cNvPr id="1231" name="Rectangle 41"/>
          <p:cNvSpPr/>
          <p:nvPr/>
        </p:nvSpPr>
        <p:spPr>
          <a:xfrm>
            <a:off x="9174960" y="4302720"/>
            <a:ext cx="30636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i="1" lang="en-US" sz="1800" spc="-1" strike="noStrike">
                <a:solidFill>
                  <a:schemeClr val="dk2"/>
                </a:solidFill>
                <a:latin typeface="Times New Roman"/>
                <a:ea typeface="MS PGothic"/>
              </a:rPr>
              <a:t>u</a:t>
            </a:r>
            <a:endParaRPr b="0" lang="en-US" sz="1800" spc="-1" strike="noStrike">
              <a:solidFill>
                <a:srgbClr val="000000"/>
              </a:solidFill>
              <a:latin typeface="Arial"/>
            </a:endParaRPr>
          </a:p>
        </p:txBody>
      </p:sp>
      <p:sp>
        <p:nvSpPr>
          <p:cNvPr id="1232" name="Text Box 43"/>
          <p:cNvSpPr/>
          <p:nvPr/>
        </p:nvSpPr>
        <p:spPr>
          <a:xfrm>
            <a:off x="9945360" y="1756440"/>
            <a:ext cx="28044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i="1" lang="en-US" sz="1800" spc="-1" strike="noStrike">
                <a:solidFill>
                  <a:schemeClr val="dk1"/>
                </a:solidFill>
                <a:latin typeface="Times New Roman"/>
                <a:ea typeface="MS PGothic"/>
              </a:rPr>
              <a:t>e</a:t>
            </a:r>
            <a:endParaRPr b="0" lang="en-US" sz="1800" spc="-1" strike="noStrike">
              <a:solidFill>
                <a:srgbClr val="000000"/>
              </a:solidFill>
              <a:latin typeface="Arial"/>
            </a:endParaRPr>
          </a:p>
        </p:txBody>
      </p:sp>
      <p:sp>
        <p:nvSpPr>
          <p:cNvPr id="1233" name="Text Box 44"/>
          <p:cNvSpPr/>
          <p:nvPr/>
        </p:nvSpPr>
        <p:spPr>
          <a:xfrm>
            <a:off x="9945360" y="4271040"/>
            <a:ext cx="28044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i="1" lang="en-US" sz="1800" spc="-1" strike="noStrike">
                <a:solidFill>
                  <a:schemeClr val="dk2"/>
                </a:solidFill>
                <a:latin typeface="Times New Roman"/>
                <a:ea typeface="MS PGothic"/>
              </a:rPr>
              <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4"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Example</a:t>
            </a:r>
            <a:endParaRPr b="0" lang="en-US" sz="4400" spc="-1" strike="noStrike">
              <a:solidFill>
                <a:srgbClr val="000000"/>
              </a:solidFill>
              <a:latin typeface="Arial"/>
            </a:endParaRPr>
          </a:p>
        </p:txBody>
      </p:sp>
      <p:sp>
        <p:nvSpPr>
          <p:cNvPr id="1235" name="PlaceHolder 2"/>
          <p:cNvSpPr>
            <a:spLocks noGrp="1"/>
          </p:cNvSpPr>
          <p:nvPr>
            <p:ph type="sldNum" idx="84"/>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07F935DA-E92A-4D7C-A857-53FCCD5D05D3}"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1236" name="Freeform 71"/>
          <p:cNvSpPr/>
          <p:nvPr/>
        </p:nvSpPr>
        <p:spPr>
          <a:xfrm>
            <a:off x="3614760" y="1208160"/>
            <a:ext cx="1043280" cy="735120"/>
          </a:xfrm>
          <a:custGeom>
            <a:avLst/>
            <a:gdLst>
              <a:gd name="textAreaLeft" fmla="*/ 0 w 1043280"/>
              <a:gd name="textAreaRight" fmla="*/ 1044720 w 1043280"/>
              <a:gd name="textAreaTop" fmla="*/ 0 h 735120"/>
              <a:gd name="textAreaBottom" fmla="*/ 736560 h 735120"/>
            </a:gdLst>
            <a:ahLst/>
            <a:rect l="textAreaLeft" t="textAreaTop" r="textAreaRight" b="textAreaBottom"/>
            <a:pathLst>
              <a:path w="658" h="464">
                <a:moveTo>
                  <a:pt x="329" y="13"/>
                </a:moveTo>
                <a:cubicBezTo>
                  <a:pt x="437" y="26"/>
                  <a:pt x="658" y="186"/>
                  <a:pt x="653" y="259"/>
                </a:cubicBezTo>
                <a:cubicBezTo>
                  <a:pt x="647" y="328"/>
                  <a:pt x="407" y="464"/>
                  <a:pt x="299" y="451"/>
                </a:cubicBezTo>
                <a:cubicBezTo>
                  <a:pt x="191" y="438"/>
                  <a:pt x="0" y="254"/>
                  <a:pt x="5" y="181"/>
                </a:cubicBezTo>
                <a:cubicBezTo>
                  <a:pt x="10" y="108"/>
                  <a:pt x="221" y="0"/>
                  <a:pt x="329" y="13"/>
                </a:cubicBezTo>
                <a:close/>
              </a:path>
            </a:pathLst>
          </a:cu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1800" spc="-1" strike="noStrike">
              <a:solidFill>
                <a:schemeClr val="dk1"/>
              </a:solidFill>
              <a:latin typeface="Calibri"/>
            </a:endParaRPr>
          </a:p>
        </p:txBody>
      </p:sp>
      <p:sp>
        <p:nvSpPr>
          <p:cNvPr id="1237" name="Oval 3"/>
          <p:cNvSpPr/>
          <p:nvPr/>
        </p:nvSpPr>
        <p:spPr>
          <a:xfrm>
            <a:off x="3890880" y="22543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1238" name="Oval 4"/>
          <p:cNvSpPr/>
          <p:nvPr/>
        </p:nvSpPr>
        <p:spPr>
          <a:xfrm>
            <a:off x="2517840" y="22543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1239" name="Oval 5"/>
          <p:cNvSpPr/>
          <p:nvPr/>
        </p:nvSpPr>
        <p:spPr>
          <a:xfrm>
            <a:off x="3889440" y="14479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A</a:t>
            </a:r>
            <a:endParaRPr b="0" lang="en-US" sz="1800" spc="-1" strike="noStrike">
              <a:solidFill>
                <a:srgbClr val="ffffff"/>
              </a:solidFill>
              <a:latin typeface="Arial"/>
            </a:endParaRPr>
          </a:p>
        </p:txBody>
      </p:sp>
      <p:sp>
        <p:nvSpPr>
          <p:cNvPr id="1240" name="Oval 6"/>
          <p:cNvSpPr/>
          <p:nvPr/>
        </p:nvSpPr>
        <p:spPr>
          <a:xfrm>
            <a:off x="3127320" y="30621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1241" name="AutoShape 7"/>
          <p:cNvCxnSpPr>
            <a:stCxn id="1239" idx="2"/>
            <a:endCxn id="1238" idx="0"/>
          </p:cNvCxnSpPr>
          <p:nvPr/>
        </p:nvCxnSpPr>
        <p:spPr>
          <a:xfrm flipV="1" rot="10800000">
            <a:off x="2700360" y="1630440"/>
            <a:ext cx="1189440" cy="624240"/>
          </a:xfrm>
          <a:prstGeom prst="curvedConnector2">
            <a:avLst/>
          </a:prstGeom>
          <a:ln w="38100">
            <a:solidFill>
              <a:srgbClr val="44546a"/>
            </a:solidFill>
            <a:round/>
          </a:ln>
        </p:spPr>
      </p:cxnSp>
      <p:cxnSp>
        <p:nvCxnSpPr>
          <p:cNvPr id="1242" name="AutoShape 8"/>
          <p:cNvCxnSpPr>
            <a:stCxn id="1240" idx="2"/>
            <a:endCxn id="1238" idx="4"/>
          </p:cNvCxnSpPr>
          <p:nvPr/>
        </p:nvCxnSpPr>
        <p:spPr>
          <a:xfrm rot="10800000">
            <a:off x="2700360" y="2619720"/>
            <a:ext cx="427320" cy="625680"/>
          </a:xfrm>
          <a:prstGeom prst="curvedConnector2">
            <a:avLst/>
          </a:prstGeom>
          <a:ln w="19050">
            <a:solidFill>
              <a:srgbClr val="000000"/>
            </a:solidFill>
            <a:round/>
          </a:ln>
        </p:spPr>
      </p:cxnSp>
      <p:cxnSp>
        <p:nvCxnSpPr>
          <p:cNvPr id="1243" name="AutoShape 9"/>
          <p:cNvCxnSpPr>
            <a:stCxn id="1240" idx="6"/>
            <a:endCxn id="1237" idx="3"/>
          </p:cNvCxnSpPr>
          <p:nvPr/>
        </p:nvCxnSpPr>
        <p:spPr>
          <a:xfrm flipV="1">
            <a:off x="3493080" y="2566800"/>
            <a:ext cx="451800" cy="678960"/>
          </a:xfrm>
          <a:prstGeom prst="curvedConnector2">
            <a:avLst/>
          </a:prstGeom>
          <a:ln w="19050">
            <a:solidFill>
              <a:srgbClr val="000000"/>
            </a:solidFill>
            <a:round/>
          </a:ln>
        </p:spPr>
      </p:cxnSp>
      <p:cxnSp>
        <p:nvCxnSpPr>
          <p:cNvPr id="1244" name="AutoShape 10"/>
          <p:cNvCxnSpPr>
            <a:stCxn id="1239" idx="4"/>
            <a:endCxn id="1237" idx="0"/>
          </p:cNvCxnSpPr>
          <p:nvPr/>
        </p:nvCxnSpPr>
        <p:spPr>
          <a:xfrm>
            <a:off x="4072320" y="1813680"/>
            <a:ext cx="2160" cy="441360"/>
          </a:xfrm>
          <a:prstGeom prst="straightConnector1">
            <a:avLst/>
          </a:prstGeom>
          <a:ln w="38100">
            <a:solidFill>
              <a:srgbClr val="44546a"/>
            </a:solidFill>
            <a:round/>
          </a:ln>
        </p:spPr>
      </p:cxnSp>
      <p:cxnSp>
        <p:nvCxnSpPr>
          <p:cNvPr id="1245" name="AutoShape 11"/>
          <p:cNvCxnSpPr>
            <a:stCxn id="1238" idx="6"/>
            <a:endCxn id="1237" idx="2"/>
          </p:cNvCxnSpPr>
          <p:nvPr/>
        </p:nvCxnSpPr>
        <p:spPr>
          <a:xfrm>
            <a:off x="2883600" y="2437200"/>
            <a:ext cx="1008000" cy="720"/>
          </a:xfrm>
          <a:prstGeom prst="straightConnector1">
            <a:avLst/>
          </a:prstGeom>
          <a:ln w="19050">
            <a:solidFill>
              <a:srgbClr val="000000"/>
            </a:solidFill>
            <a:round/>
          </a:ln>
        </p:spPr>
      </p:cxnSp>
      <p:sp>
        <p:nvSpPr>
          <p:cNvPr id="1246" name="Oval 12"/>
          <p:cNvSpPr/>
          <p:nvPr/>
        </p:nvSpPr>
        <p:spPr>
          <a:xfrm>
            <a:off x="5253120" y="22543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1247" name="AutoShape 13"/>
          <p:cNvCxnSpPr>
            <a:stCxn id="1248" idx="6"/>
            <a:endCxn id="1246" idx="4"/>
          </p:cNvCxnSpPr>
          <p:nvPr/>
        </p:nvCxnSpPr>
        <p:spPr>
          <a:xfrm flipV="1">
            <a:off x="5007600" y="2620080"/>
            <a:ext cx="429120" cy="625680"/>
          </a:xfrm>
          <a:prstGeom prst="curvedConnector2">
            <a:avLst/>
          </a:prstGeom>
          <a:ln w="19050">
            <a:solidFill>
              <a:srgbClr val="000000"/>
            </a:solidFill>
            <a:round/>
          </a:ln>
        </p:spPr>
      </p:cxnSp>
      <p:cxnSp>
        <p:nvCxnSpPr>
          <p:cNvPr id="1249" name="AutoShape 14"/>
          <p:cNvCxnSpPr>
            <a:stCxn id="1246" idx="0"/>
            <a:endCxn id="1239" idx="6"/>
          </p:cNvCxnSpPr>
          <p:nvPr/>
        </p:nvCxnSpPr>
        <p:spPr>
          <a:xfrm rot="10800000">
            <a:off x="4254840" y="1630440"/>
            <a:ext cx="1181520" cy="624240"/>
          </a:xfrm>
          <a:prstGeom prst="curvedConnector2">
            <a:avLst/>
          </a:prstGeom>
          <a:ln w="38100">
            <a:solidFill>
              <a:srgbClr val="44546a"/>
            </a:solidFill>
            <a:round/>
          </a:ln>
        </p:spPr>
      </p:cxnSp>
      <p:cxnSp>
        <p:nvCxnSpPr>
          <p:cNvPr id="1250" name="AutoShape 15"/>
          <p:cNvCxnSpPr>
            <a:stCxn id="1237" idx="6"/>
            <a:endCxn id="1246" idx="2"/>
          </p:cNvCxnSpPr>
          <p:nvPr/>
        </p:nvCxnSpPr>
        <p:spPr>
          <a:xfrm>
            <a:off x="4256640" y="2437200"/>
            <a:ext cx="997200" cy="720"/>
          </a:xfrm>
          <a:prstGeom prst="straightConnector1">
            <a:avLst/>
          </a:prstGeom>
          <a:ln w="19050">
            <a:solidFill>
              <a:srgbClr val="000000"/>
            </a:solidFill>
            <a:round/>
          </a:ln>
        </p:spPr>
      </p:cxnSp>
      <p:sp>
        <p:nvSpPr>
          <p:cNvPr id="1248" name="Oval 16"/>
          <p:cNvSpPr/>
          <p:nvPr/>
        </p:nvSpPr>
        <p:spPr>
          <a:xfrm>
            <a:off x="4641840" y="30621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1251" name="AutoShape 17"/>
          <p:cNvCxnSpPr>
            <a:stCxn id="1237" idx="5"/>
            <a:endCxn id="1248" idx="2"/>
          </p:cNvCxnSpPr>
          <p:nvPr/>
        </p:nvCxnSpPr>
        <p:spPr>
          <a:xfrm>
            <a:off x="4203360" y="2566800"/>
            <a:ext cx="439200" cy="678960"/>
          </a:xfrm>
          <a:prstGeom prst="curvedConnector2">
            <a:avLst/>
          </a:prstGeom>
          <a:ln w="19050">
            <a:solidFill>
              <a:srgbClr val="000000"/>
            </a:solidFill>
            <a:round/>
          </a:ln>
        </p:spPr>
      </p:cxnSp>
      <p:sp>
        <p:nvSpPr>
          <p:cNvPr id="1252" name="AutoShape 18"/>
          <p:cNvSpPr/>
          <p:nvPr/>
        </p:nvSpPr>
        <p:spPr>
          <a:xfrm rot="5400000">
            <a:off x="8315280" y="3414600"/>
            <a:ext cx="455760" cy="331920"/>
          </a:xfrm>
          <a:prstGeom prst="rightArrow">
            <a:avLst>
              <a:gd name="adj1" fmla="val 50000"/>
              <a:gd name="adj2" fmla="val 34286"/>
            </a:avLst>
          </a:prstGeom>
          <a:no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1253" name="AutoShape 19"/>
          <p:cNvSpPr/>
          <p:nvPr/>
        </p:nvSpPr>
        <p:spPr>
          <a:xfrm flipH="1" flipV="1" rot="8100000">
            <a:off x="5769720" y="3388680"/>
            <a:ext cx="1242360" cy="331560"/>
          </a:xfrm>
          <a:prstGeom prst="rightArrow">
            <a:avLst>
              <a:gd name="adj1" fmla="val 50000"/>
              <a:gd name="adj2" fmla="val 93214"/>
            </a:avLst>
          </a:prstGeom>
          <a:no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1254" name="AutoShape 20"/>
          <p:cNvSpPr/>
          <p:nvPr/>
        </p:nvSpPr>
        <p:spPr>
          <a:xfrm rot="5400000">
            <a:off x="3895560" y="3414600"/>
            <a:ext cx="455760" cy="331920"/>
          </a:xfrm>
          <a:prstGeom prst="rightArrow">
            <a:avLst>
              <a:gd name="adj1" fmla="val 50000"/>
              <a:gd name="adj2" fmla="val 34286"/>
            </a:avLst>
          </a:prstGeom>
          <a:no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
        <p:nvSpPr>
          <p:cNvPr id="1255" name="Text Box 21"/>
          <p:cNvSpPr/>
          <p:nvPr/>
        </p:nvSpPr>
        <p:spPr>
          <a:xfrm>
            <a:off x="4125240" y="12193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0</a:t>
            </a:r>
            <a:endParaRPr b="0" lang="en-US" sz="1800" spc="-1" strike="noStrike">
              <a:solidFill>
                <a:srgbClr val="000000"/>
              </a:solidFill>
              <a:latin typeface="Arial"/>
            </a:endParaRPr>
          </a:p>
        </p:txBody>
      </p:sp>
      <p:sp>
        <p:nvSpPr>
          <p:cNvPr id="1256" name="Text Box 22"/>
          <p:cNvSpPr/>
          <p:nvPr/>
        </p:nvSpPr>
        <p:spPr>
          <a:xfrm>
            <a:off x="5515920" y="20462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4</a:t>
            </a:r>
            <a:endParaRPr b="0" lang="en-US" sz="1800" spc="-1" strike="noStrike">
              <a:solidFill>
                <a:srgbClr val="000000"/>
              </a:solidFill>
              <a:latin typeface="Arial"/>
            </a:endParaRPr>
          </a:p>
        </p:txBody>
      </p:sp>
      <p:sp>
        <p:nvSpPr>
          <p:cNvPr id="1257" name="Text Box 23"/>
          <p:cNvSpPr/>
          <p:nvPr/>
        </p:nvSpPr>
        <p:spPr>
          <a:xfrm>
            <a:off x="4157280" y="20462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258" name="Text Box 24"/>
          <p:cNvSpPr/>
          <p:nvPr/>
        </p:nvSpPr>
        <p:spPr>
          <a:xfrm>
            <a:off x="2785680" y="20462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8</a:t>
            </a:r>
            <a:endParaRPr b="0" lang="en-US" sz="1800" spc="-1" strike="noStrike">
              <a:solidFill>
                <a:srgbClr val="000000"/>
              </a:solidFill>
              <a:latin typeface="Arial"/>
            </a:endParaRPr>
          </a:p>
        </p:txBody>
      </p:sp>
      <p:sp>
        <p:nvSpPr>
          <p:cNvPr id="1259" name="Text Box 25"/>
          <p:cNvSpPr/>
          <p:nvPr/>
        </p:nvSpPr>
        <p:spPr>
          <a:xfrm>
            <a:off x="2944440" y="2765520"/>
            <a:ext cx="40824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800" spc="-1" strike="noStrike">
                <a:solidFill>
                  <a:schemeClr val="dk1"/>
                </a:solidFill>
                <a:latin typeface="Symbol"/>
                <a:ea typeface="MS PGothic"/>
              </a:rPr>
              <a:t></a:t>
            </a:r>
            <a:endParaRPr b="0" lang="en-US" sz="1800" spc="-1" strike="noStrike">
              <a:solidFill>
                <a:srgbClr val="000000"/>
              </a:solidFill>
              <a:latin typeface="Arial"/>
            </a:endParaRPr>
          </a:p>
        </p:txBody>
      </p:sp>
      <p:sp>
        <p:nvSpPr>
          <p:cNvPr id="1260" name="Text Box 26"/>
          <p:cNvSpPr/>
          <p:nvPr/>
        </p:nvSpPr>
        <p:spPr>
          <a:xfrm>
            <a:off x="4806360" y="2765520"/>
            <a:ext cx="40824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800" spc="-1" strike="noStrike">
                <a:solidFill>
                  <a:schemeClr val="dk1"/>
                </a:solidFill>
                <a:latin typeface="Symbol"/>
                <a:ea typeface="MS PGothic"/>
              </a:rPr>
              <a:t></a:t>
            </a:r>
            <a:endParaRPr b="0" lang="en-US" sz="1800" spc="-1" strike="noStrike">
              <a:solidFill>
                <a:srgbClr val="000000"/>
              </a:solidFill>
              <a:latin typeface="Arial"/>
            </a:endParaRPr>
          </a:p>
        </p:txBody>
      </p:sp>
      <p:sp>
        <p:nvSpPr>
          <p:cNvPr id="1261" name="Text Box 27"/>
          <p:cNvSpPr/>
          <p:nvPr/>
        </p:nvSpPr>
        <p:spPr>
          <a:xfrm>
            <a:off x="4963680" y="146196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4</a:t>
            </a:r>
            <a:endParaRPr b="0" lang="en-US" sz="1800" spc="-1" strike="noStrike">
              <a:solidFill>
                <a:srgbClr val="000000"/>
              </a:solidFill>
              <a:latin typeface="Arial"/>
            </a:endParaRPr>
          </a:p>
        </p:txBody>
      </p:sp>
      <p:sp>
        <p:nvSpPr>
          <p:cNvPr id="1262" name="Text Box 28"/>
          <p:cNvSpPr/>
          <p:nvPr/>
        </p:nvSpPr>
        <p:spPr>
          <a:xfrm>
            <a:off x="2823480" y="15238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8</a:t>
            </a:r>
            <a:endParaRPr b="0" lang="en-US" sz="1800" spc="-1" strike="noStrike">
              <a:solidFill>
                <a:srgbClr val="000000"/>
              </a:solidFill>
              <a:latin typeface="Arial"/>
            </a:endParaRPr>
          </a:p>
        </p:txBody>
      </p:sp>
      <p:sp>
        <p:nvSpPr>
          <p:cNvPr id="1263" name="Text Box 33"/>
          <p:cNvSpPr/>
          <p:nvPr/>
        </p:nvSpPr>
        <p:spPr>
          <a:xfrm>
            <a:off x="3204720" y="21337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7</a:t>
            </a:r>
            <a:endParaRPr b="0" lang="en-US" sz="1800" spc="-1" strike="noStrike">
              <a:solidFill>
                <a:srgbClr val="000000"/>
              </a:solidFill>
              <a:latin typeface="Arial"/>
            </a:endParaRPr>
          </a:p>
        </p:txBody>
      </p:sp>
      <p:sp>
        <p:nvSpPr>
          <p:cNvPr id="1264" name="Text Box 34"/>
          <p:cNvSpPr/>
          <p:nvPr/>
        </p:nvSpPr>
        <p:spPr>
          <a:xfrm>
            <a:off x="4652280" y="21337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1</a:t>
            </a:r>
            <a:endParaRPr b="0" lang="en-US" sz="1800" spc="-1" strike="noStrike">
              <a:solidFill>
                <a:srgbClr val="000000"/>
              </a:solidFill>
              <a:latin typeface="Arial"/>
            </a:endParaRPr>
          </a:p>
        </p:txBody>
      </p:sp>
      <p:sp>
        <p:nvSpPr>
          <p:cNvPr id="1265" name="Text Box 35"/>
          <p:cNvSpPr/>
          <p:nvPr/>
        </p:nvSpPr>
        <p:spPr>
          <a:xfrm>
            <a:off x="2518920" y="29336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2</a:t>
            </a:r>
            <a:endParaRPr b="0" lang="en-US" sz="1800" spc="-1" strike="noStrike">
              <a:solidFill>
                <a:srgbClr val="000000"/>
              </a:solidFill>
              <a:latin typeface="Arial"/>
            </a:endParaRPr>
          </a:p>
        </p:txBody>
      </p:sp>
      <p:sp>
        <p:nvSpPr>
          <p:cNvPr id="1266" name="Text Box 37"/>
          <p:cNvSpPr/>
          <p:nvPr/>
        </p:nvSpPr>
        <p:spPr>
          <a:xfrm>
            <a:off x="5262120" y="29336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5</a:t>
            </a:r>
            <a:endParaRPr b="0" lang="en-US" sz="1800" spc="-1" strike="noStrike">
              <a:solidFill>
                <a:srgbClr val="000000"/>
              </a:solidFill>
              <a:latin typeface="Arial"/>
            </a:endParaRPr>
          </a:p>
        </p:txBody>
      </p:sp>
      <p:sp>
        <p:nvSpPr>
          <p:cNvPr id="1267" name="Text Box 38"/>
          <p:cNvSpPr/>
          <p:nvPr/>
        </p:nvSpPr>
        <p:spPr>
          <a:xfrm>
            <a:off x="3737880" y="182880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268" name="Text Box 39"/>
          <p:cNvSpPr/>
          <p:nvPr/>
        </p:nvSpPr>
        <p:spPr>
          <a:xfrm>
            <a:off x="3585600" y="26668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3</a:t>
            </a:r>
            <a:endParaRPr b="0" lang="en-US" sz="1800" spc="-1" strike="noStrike">
              <a:solidFill>
                <a:srgbClr val="000000"/>
              </a:solidFill>
              <a:latin typeface="Arial"/>
            </a:endParaRPr>
          </a:p>
        </p:txBody>
      </p:sp>
      <p:sp>
        <p:nvSpPr>
          <p:cNvPr id="1269" name="Text Box 40"/>
          <p:cNvSpPr/>
          <p:nvPr/>
        </p:nvSpPr>
        <p:spPr>
          <a:xfrm>
            <a:off x="4233240" y="26668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9</a:t>
            </a:r>
            <a:endParaRPr b="0" lang="en-US" sz="1800" spc="-1" strike="noStrike">
              <a:solidFill>
                <a:srgbClr val="000000"/>
              </a:solidFill>
              <a:latin typeface="Arial"/>
            </a:endParaRPr>
          </a:p>
        </p:txBody>
      </p:sp>
      <p:sp>
        <p:nvSpPr>
          <p:cNvPr id="1270" name="Freeform 72"/>
          <p:cNvSpPr/>
          <p:nvPr/>
        </p:nvSpPr>
        <p:spPr>
          <a:xfrm>
            <a:off x="3559320" y="3922560"/>
            <a:ext cx="1071720" cy="1535400"/>
          </a:xfrm>
          <a:custGeom>
            <a:avLst/>
            <a:gdLst>
              <a:gd name="textAreaLeft" fmla="*/ 0 w 1071720"/>
              <a:gd name="textAreaRight" fmla="*/ 1073160 w 1071720"/>
              <a:gd name="textAreaTop" fmla="*/ 0 h 1535400"/>
              <a:gd name="textAreaBottom" fmla="*/ 1536840 h 1535400"/>
            </a:gdLst>
            <a:ahLst/>
            <a:rect l="textAreaLeft" t="textAreaTop" r="textAreaRight" b="textAreaBottom"/>
            <a:pathLst>
              <a:path w="676" h="968">
                <a:moveTo>
                  <a:pt x="370" y="7"/>
                </a:moveTo>
                <a:cubicBezTo>
                  <a:pt x="468" y="14"/>
                  <a:pt x="604" y="72"/>
                  <a:pt x="640" y="181"/>
                </a:cubicBezTo>
                <a:cubicBezTo>
                  <a:pt x="676" y="290"/>
                  <a:pt x="640" y="531"/>
                  <a:pt x="586" y="661"/>
                </a:cubicBezTo>
                <a:cubicBezTo>
                  <a:pt x="532" y="791"/>
                  <a:pt x="404" y="968"/>
                  <a:pt x="316" y="961"/>
                </a:cubicBezTo>
                <a:cubicBezTo>
                  <a:pt x="228" y="954"/>
                  <a:pt x="102" y="756"/>
                  <a:pt x="58" y="619"/>
                </a:cubicBezTo>
                <a:cubicBezTo>
                  <a:pt x="14" y="482"/>
                  <a:pt x="0" y="241"/>
                  <a:pt x="52" y="139"/>
                </a:cubicBezTo>
                <a:cubicBezTo>
                  <a:pt x="104" y="37"/>
                  <a:pt x="272" y="0"/>
                  <a:pt x="370" y="7"/>
                </a:cubicBezTo>
                <a:close/>
              </a:path>
            </a:pathLst>
          </a:cu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1800" spc="-1" strike="noStrike">
              <a:solidFill>
                <a:schemeClr val="dk1"/>
              </a:solidFill>
              <a:latin typeface="Calibri"/>
            </a:endParaRPr>
          </a:p>
        </p:txBody>
      </p:sp>
      <p:sp>
        <p:nvSpPr>
          <p:cNvPr id="1271" name="Oval 73"/>
          <p:cNvSpPr/>
          <p:nvPr/>
        </p:nvSpPr>
        <p:spPr>
          <a:xfrm>
            <a:off x="3871800" y="493236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1272" name="Oval 74"/>
          <p:cNvSpPr/>
          <p:nvPr/>
        </p:nvSpPr>
        <p:spPr>
          <a:xfrm>
            <a:off x="2498760" y="49323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1273" name="Oval 75"/>
          <p:cNvSpPr/>
          <p:nvPr/>
        </p:nvSpPr>
        <p:spPr>
          <a:xfrm>
            <a:off x="3870360" y="412596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A</a:t>
            </a:r>
            <a:endParaRPr b="0" lang="en-US" sz="1800" spc="-1" strike="noStrike">
              <a:solidFill>
                <a:srgbClr val="ffffff"/>
              </a:solidFill>
              <a:latin typeface="Arial"/>
            </a:endParaRPr>
          </a:p>
        </p:txBody>
      </p:sp>
      <p:sp>
        <p:nvSpPr>
          <p:cNvPr id="1274" name="Oval 76"/>
          <p:cNvSpPr/>
          <p:nvPr/>
        </p:nvSpPr>
        <p:spPr>
          <a:xfrm>
            <a:off x="3108240" y="57405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1275" name="AutoShape 77"/>
          <p:cNvCxnSpPr>
            <a:stCxn id="1273" idx="2"/>
            <a:endCxn id="1272" idx="0"/>
          </p:cNvCxnSpPr>
          <p:nvPr/>
        </p:nvCxnSpPr>
        <p:spPr>
          <a:xfrm flipV="1" rot="10800000">
            <a:off x="2681280" y="4308480"/>
            <a:ext cx="1189440" cy="624240"/>
          </a:xfrm>
          <a:prstGeom prst="curvedConnector2">
            <a:avLst/>
          </a:prstGeom>
          <a:ln w="38100">
            <a:solidFill>
              <a:srgbClr val="44546a"/>
            </a:solidFill>
            <a:round/>
          </a:ln>
        </p:spPr>
      </p:cxnSp>
      <p:cxnSp>
        <p:nvCxnSpPr>
          <p:cNvPr id="1276" name="AutoShape 78"/>
          <p:cNvCxnSpPr>
            <a:stCxn id="1274" idx="2"/>
            <a:endCxn id="1272" idx="4"/>
          </p:cNvCxnSpPr>
          <p:nvPr/>
        </p:nvCxnSpPr>
        <p:spPr>
          <a:xfrm rot="10800000">
            <a:off x="2681280" y="5297760"/>
            <a:ext cx="427320" cy="626040"/>
          </a:xfrm>
          <a:prstGeom prst="curvedConnector2">
            <a:avLst/>
          </a:prstGeom>
          <a:ln w="19050">
            <a:solidFill>
              <a:srgbClr val="000000"/>
            </a:solidFill>
            <a:round/>
          </a:ln>
        </p:spPr>
      </p:cxnSp>
      <p:cxnSp>
        <p:nvCxnSpPr>
          <p:cNvPr id="1277" name="AutoShape 79"/>
          <p:cNvCxnSpPr>
            <a:stCxn id="1274" idx="6"/>
            <a:endCxn id="1271" idx="3"/>
          </p:cNvCxnSpPr>
          <p:nvPr/>
        </p:nvCxnSpPr>
        <p:spPr>
          <a:xfrm flipV="1">
            <a:off x="3474000" y="5244840"/>
            <a:ext cx="451800" cy="679320"/>
          </a:xfrm>
          <a:prstGeom prst="curvedConnector2">
            <a:avLst/>
          </a:prstGeom>
          <a:ln w="38100">
            <a:solidFill>
              <a:srgbClr val="44546a"/>
            </a:solidFill>
            <a:round/>
          </a:ln>
        </p:spPr>
      </p:cxnSp>
      <p:cxnSp>
        <p:nvCxnSpPr>
          <p:cNvPr id="1278" name="AutoShape 80"/>
          <p:cNvCxnSpPr>
            <a:stCxn id="1273" idx="4"/>
            <a:endCxn id="1271" idx="0"/>
          </p:cNvCxnSpPr>
          <p:nvPr/>
        </p:nvCxnSpPr>
        <p:spPr>
          <a:xfrm>
            <a:off x="4053240" y="4491720"/>
            <a:ext cx="2160" cy="441360"/>
          </a:xfrm>
          <a:prstGeom prst="straightConnector1">
            <a:avLst/>
          </a:prstGeom>
          <a:ln w="38100">
            <a:solidFill>
              <a:srgbClr val="44546a"/>
            </a:solidFill>
            <a:round/>
          </a:ln>
        </p:spPr>
      </p:cxnSp>
      <p:cxnSp>
        <p:nvCxnSpPr>
          <p:cNvPr id="1279" name="AutoShape 81"/>
          <p:cNvCxnSpPr>
            <a:stCxn id="1272" idx="6"/>
            <a:endCxn id="1271" idx="2"/>
          </p:cNvCxnSpPr>
          <p:nvPr/>
        </p:nvCxnSpPr>
        <p:spPr>
          <a:xfrm>
            <a:off x="2864520" y="5115240"/>
            <a:ext cx="1008000" cy="720"/>
          </a:xfrm>
          <a:prstGeom prst="straightConnector1">
            <a:avLst/>
          </a:prstGeom>
          <a:ln w="38100">
            <a:solidFill>
              <a:srgbClr val="000000"/>
            </a:solidFill>
            <a:prstDash val="dash"/>
            <a:round/>
          </a:ln>
        </p:spPr>
      </p:cxnSp>
      <p:sp>
        <p:nvSpPr>
          <p:cNvPr id="1280" name="Oval 82"/>
          <p:cNvSpPr/>
          <p:nvPr/>
        </p:nvSpPr>
        <p:spPr>
          <a:xfrm>
            <a:off x="5234040" y="49323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D</a:t>
            </a:r>
            <a:endParaRPr b="0" lang="en-US" sz="1800" spc="-1" strike="noStrike">
              <a:solidFill>
                <a:srgbClr val="ffffff"/>
              </a:solidFill>
              <a:latin typeface="Arial"/>
            </a:endParaRPr>
          </a:p>
        </p:txBody>
      </p:sp>
      <p:cxnSp>
        <p:nvCxnSpPr>
          <p:cNvPr id="1281" name="AutoShape 83"/>
          <p:cNvCxnSpPr>
            <a:stCxn id="1282" idx="6"/>
            <a:endCxn id="1280" idx="4"/>
          </p:cNvCxnSpPr>
          <p:nvPr/>
        </p:nvCxnSpPr>
        <p:spPr>
          <a:xfrm flipV="1">
            <a:off x="4988520" y="5298120"/>
            <a:ext cx="429120" cy="626040"/>
          </a:xfrm>
          <a:prstGeom prst="curvedConnector2">
            <a:avLst/>
          </a:prstGeom>
          <a:ln w="19050">
            <a:solidFill>
              <a:srgbClr val="000000"/>
            </a:solidFill>
            <a:round/>
          </a:ln>
        </p:spPr>
      </p:cxnSp>
      <p:cxnSp>
        <p:nvCxnSpPr>
          <p:cNvPr id="1283" name="AutoShape 84"/>
          <p:cNvCxnSpPr>
            <a:stCxn id="1280" idx="0"/>
            <a:endCxn id="1273" idx="6"/>
          </p:cNvCxnSpPr>
          <p:nvPr/>
        </p:nvCxnSpPr>
        <p:spPr>
          <a:xfrm rot="10800000">
            <a:off x="4235760" y="4308480"/>
            <a:ext cx="1181520" cy="624240"/>
          </a:xfrm>
          <a:prstGeom prst="curvedConnector2">
            <a:avLst/>
          </a:prstGeom>
          <a:ln w="38100">
            <a:solidFill>
              <a:srgbClr val="000000"/>
            </a:solidFill>
            <a:prstDash val="dash"/>
            <a:round/>
          </a:ln>
        </p:spPr>
      </p:cxnSp>
      <p:cxnSp>
        <p:nvCxnSpPr>
          <p:cNvPr id="1284" name="AutoShape 85"/>
          <p:cNvCxnSpPr>
            <a:stCxn id="1271" idx="6"/>
            <a:endCxn id="1280" idx="2"/>
          </p:cNvCxnSpPr>
          <p:nvPr/>
        </p:nvCxnSpPr>
        <p:spPr>
          <a:xfrm>
            <a:off x="4237560" y="5115240"/>
            <a:ext cx="997200" cy="720"/>
          </a:xfrm>
          <a:prstGeom prst="straightConnector1">
            <a:avLst/>
          </a:prstGeom>
          <a:ln w="38100">
            <a:solidFill>
              <a:srgbClr val="44546a"/>
            </a:solidFill>
            <a:round/>
          </a:ln>
        </p:spPr>
      </p:cxnSp>
      <p:sp>
        <p:nvSpPr>
          <p:cNvPr id="1282" name="Oval 86"/>
          <p:cNvSpPr/>
          <p:nvPr/>
        </p:nvSpPr>
        <p:spPr>
          <a:xfrm>
            <a:off x="4622760" y="57405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1285" name="AutoShape 87"/>
          <p:cNvCxnSpPr>
            <a:stCxn id="1271" idx="5"/>
            <a:endCxn id="1282" idx="2"/>
          </p:cNvCxnSpPr>
          <p:nvPr/>
        </p:nvCxnSpPr>
        <p:spPr>
          <a:xfrm>
            <a:off x="4184280" y="5244840"/>
            <a:ext cx="439200" cy="679320"/>
          </a:xfrm>
          <a:prstGeom prst="curvedConnector2">
            <a:avLst/>
          </a:prstGeom>
          <a:ln w="38100">
            <a:solidFill>
              <a:srgbClr val="44546a"/>
            </a:solidFill>
            <a:round/>
          </a:ln>
        </p:spPr>
      </p:cxnSp>
      <p:sp>
        <p:nvSpPr>
          <p:cNvPr id="1286" name="Text Box 88"/>
          <p:cNvSpPr/>
          <p:nvPr/>
        </p:nvSpPr>
        <p:spPr>
          <a:xfrm>
            <a:off x="4106520" y="389736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0</a:t>
            </a:r>
            <a:endParaRPr b="0" lang="en-US" sz="1800" spc="-1" strike="noStrike">
              <a:solidFill>
                <a:srgbClr val="000000"/>
              </a:solidFill>
              <a:latin typeface="Arial"/>
            </a:endParaRPr>
          </a:p>
        </p:txBody>
      </p:sp>
      <p:sp>
        <p:nvSpPr>
          <p:cNvPr id="1287" name="Text Box 89"/>
          <p:cNvSpPr/>
          <p:nvPr/>
        </p:nvSpPr>
        <p:spPr>
          <a:xfrm>
            <a:off x="5496840" y="47242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3</a:t>
            </a:r>
            <a:endParaRPr b="0" lang="en-US" sz="1800" spc="-1" strike="noStrike">
              <a:solidFill>
                <a:srgbClr val="000000"/>
              </a:solidFill>
              <a:latin typeface="Arial"/>
            </a:endParaRPr>
          </a:p>
        </p:txBody>
      </p:sp>
      <p:sp>
        <p:nvSpPr>
          <p:cNvPr id="1288" name="Text Box 90"/>
          <p:cNvSpPr/>
          <p:nvPr/>
        </p:nvSpPr>
        <p:spPr>
          <a:xfrm>
            <a:off x="4138200" y="47242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289" name="Text Box 91"/>
          <p:cNvSpPr/>
          <p:nvPr/>
        </p:nvSpPr>
        <p:spPr>
          <a:xfrm>
            <a:off x="2766600" y="47242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8</a:t>
            </a:r>
            <a:endParaRPr b="0" lang="en-US" sz="1800" spc="-1" strike="noStrike">
              <a:solidFill>
                <a:srgbClr val="000000"/>
              </a:solidFill>
              <a:latin typeface="Arial"/>
            </a:endParaRPr>
          </a:p>
        </p:txBody>
      </p:sp>
      <p:sp>
        <p:nvSpPr>
          <p:cNvPr id="1290" name="Text Box 92"/>
          <p:cNvSpPr/>
          <p:nvPr/>
        </p:nvSpPr>
        <p:spPr>
          <a:xfrm>
            <a:off x="3039480" y="54482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5</a:t>
            </a:r>
            <a:endParaRPr b="0" lang="en-US" sz="1800" spc="-1" strike="noStrike">
              <a:solidFill>
                <a:srgbClr val="000000"/>
              </a:solidFill>
              <a:latin typeface="Arial"/>
            </a:endParaRPr>
          </a:p>
        </p:txBody>
      </p:sp>
      <p:sp>
        <p:nvSpPr>
          <p:cNvPr id="1291" name="Text Box 93"/>
          <p:cNvSpPr/>
          <p:nvPr/>
        </p:nvSpPr>
        <p:spPr>
          <a:xfrm>
            <a:off x="4790520" y="5448240"/>
            <a:ext cx="39960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11</a:t>
            </a:r>
            <a:endParaRPr b="0" lang="en-US" sz="1800" spc="-1" strike="noStrike">
              <a:solidFill>
                <a:srgbClr val="000000"/>
              </a:solidFill>
              <a:latin typeface="Arial"/>
            </a:endParaRPr>
          </a:p>
        </p:txBody>
      </p:sp>
      <p:sp>
        <p:nvSpPr>
          <p:cNvPr id="1292" name="Text Box 94"/>
          <p:cNvSpPr/>
          <p:nvPr/>
        </p:nvSpPr>
        <p:spPr>
          <a:xfrm>
            <a:off x="4944600" y="414036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4</a:t>
            </a:r>
            <a:endParaRPr b="0" lang="en-US" sz="1800" spc="-1" strike="noStrike">
              <a:solidFill>
                <a:srgbClr val="000000"/>
              </a:solidFill>
              <a:latin typeface="Arial"/>
            </a:endParaRPr>
          </a:p>
        </p:txBody>
      </p:sp>
      <p:sp>
        <p:nvSpPr>
          <p:cNvPr id="1293" name="Text Box 95"/>
          <p:cNvSpPr/>
          <p:nvPr/>
        </p:nvSpPr>
        <p:spPr>
          <a:xfrm>
            <a:off x="2804760" y="42022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8</a:t>
            </a:r>
            <a:endParaRPr b="0" lang="en-US" sz="1800" spc="-1" strike="noStrike">
              <a:solidFill>
                <a:srgbClr val="000000"/>
              </a:solidFill>
              <a:latin typeface="Arial"/>
            </a:endParaRPr>
          </a:p>
        </p:txBody>
      </p:sp>
      <p:sp>
        <p:nvSpPr>
          <p:cNvPr id="1294" name="Text Box 96"/>
          <p:cNvSpPr/>
          <p:nvPr/>
        </p:nvSpPr>
        <p:spPr>
          <a:xfrm>
            <a:off x="3185640" y="481176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7</a:t>
            </a:r>
            <a:endParaRPr b="0" lang="en-US" sz="1800" spc="-1" strike="noStrike">
              <a:solidFill>
                <a:srgbClr val="000000"/>
              </a:solidFill>
              <a:latin typeface="Arial"/>
            </a:endParaRPr>
          </a:p>
        </p:txBody>
      </p:sp>
      <p:sp>
        <p:nvSpPr>
          <p:cNvPr id="1295" name="Text Box 97"/>
          <p:cNvSpPr/>
          <p:nvPr/>
        </p:nvSpPr>
        <p:spPr>
          <a:xfrm>
            <a:off x="4633560" y="481176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1</a:t>
            </a:r>
            <a:endParaRPr b="0" lang="en-US" sz="1800" spc="-1" strike="noStrike">
              <a:solidFill>
                <a:srgbClr val="000000"/>
              </a:solidFill>
              <a:latin typeface="Arial"/>
            </a:endParaRPr>
          </a:p>
        </p:txBody>
      </p:sp>
      <p:sp>
        <p:nvSpPr>
          <p:cNvPr id="1296" name="Text Box 98"/>
          <p:cNvSpPr/>
          <p:nvPr/>
        </p:nvSpPr>
        <p:spPr>
          <a:xfrm>
            <a:off x="2499840" y="56116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2</a:t>
            </a:r>
            <a:endParaRPr b="0" lang="en-US" sz="1800" spc="-1" strike="noStrike">
              <a:solidFill>
                <a:srgbClr val="000000"/>
              </a:solidFill>
              <a:latin typeface="Arial"/>
            </a:endParaRPr>
          </a:p>
        </p:txBody>
      </p:sp>
      <p:sp>
        <p:nvSpPr>
          <p:cNvPr id="1297" name="Text Box 99"/>
          <p:cNvSpPr/>
          <p:nvPr/>
        </p:nvSpPr>
        <p:spPr>
          <a:xfrm>
            <a:off x="5243040" y="56116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5</a:t>
            </a:r>
            <a:endParaRPr b="0" lang="en-US" sz="1800" spc="-1" strike="noStrike">
              <a:solidFill>
                <a:srgbClr val="000000"/>
              </a:solidFill>
              <a:latin typeface="Arial"/>
            </a:endParaRPr>
          </a:p>
        </p:txBody>
      </p:sp>
      <p:sp>
        <p:nvSpPr>
          <p:cNvPr id="1298" name="Text Box 100"/>
          <p:cNvSpPr/>
          <p:nvPr/>
        </p:nvSpPr>
        <p:spPr>
          <a:xfrm>
            <a:off x="3719160" y="45068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299" name="Text Box 101"/>
          <p:cNvSpPr/>
          <p:nvPr/>
        </p:nvSpPr>
        <p:spPr>
          <a:xfrm>
            <a:off x="3566520" y="53452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3</a:t>
            </a:r>
            <a:endParaRPr b="0" lang="en-US" sz="1800" spc="-1" strike="noStrike">
              <a:solidFill>
                <a:srgbClr val="000000"/>
              </a:solidFill>
              <a:latin typeface="Arial"/>
            </a:endParaRPr>
          </a:p>
        </p:txBody>
      </p:sp>
      <p:sp>
        <p:nvSpPr>
          <p:cNvPr id="1300" name="Text Box 102"/>
          <p:cNvSpPr/>
          <p:nvPr/>
        </p:nvSpPr>
        <p:spPr>
          <a:xfrm>
            <a:off x="4214160" y="53452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9</a:t>
            </a:r>
            <a:endParaRPr b="0" lang="en-US" sz="1800" spc="-1" strike="noStrike">
              <a:solidFill>
                <a:srgbClr val="000000"/>
              </a:solidFill>
              <a:latin typeface="Arial"/>
            </a:endParaRPr>
          </a:p>
        </p:txBody>
      </p:sp>
      <p:grpSp>
        <p:nvGrpSpPr>
          <p:cNvPr id="1301" name="Group 165"/>
          <p:cNvGrpSpPr/>
          <p:nvPr/>
        </p:nvGrpSpPr>
        <p:grpSpPr>
          <a:xfrm>
            <a:off x="6994440" y="1201680"/>
            <a:ext cx="3389400" cy="2225880"/>
            <a:chOff x="6994440" y="1201680"/>
            <a:chExt cx="3389400" cy="2225880"/>
          </a:xfrm>
        </p:grpSpPr>
        <p:sp>
          <p:nvSpPr>
            <p:cNvPr id="1302" name="Freeform 103"/>
            <p:cNvSpPr/>
            <p:nvPr/>
          </p:nvSpPr>
          <p:spPr>
            <a:xfrm>
              <a:off x="8037360" y="1201680"/>
              <a:ext cx="2346480" cy="1652760"/>
            </a:xfrm>
            <a:custGeom>
              <a:avLst/>
              <a:gdLst>
                <a:gd name="textAreaLeft" fmla="*/ 0 w 2346480"/>
                <a:gd name="textAreaRight" fmla="*/ 2347920 w 2346480"/>
                <a:gd name="textAreaTop" fmla="*/ 0 h 1652760"/>
                <a:gd name="textAreaBottom" fmla="*/ 1654200 h 1652760"/>
              </a:gdLst>
              <a:ahLst/>
              <a:rect l="textAreaLeft" t="textAreaTop" r="textAreaRight" b="textAreaBottom"/>
              <a:pathLst>
                <a:path w="1479" h="1042">
                  <a:moveTo>
                    <a:pt x="447" y="23"/>
                  </a:moveTo>
                  <a:cubicBezTo>
                    <a:pt x="622" y="20"/>
                    <a:pt x="952" y="0"/>
                    <a:pt x="1113" y="149"/>
                  </a:cubicBezTo>
                  <a:cubicBezTo>
                    <a:pt x="1274" y="298"/>
                    <a:pt x="1479" y="792"/>
                    <a:pt x="1413" y="917"/>
                  </a:cubicBezTo>
                  <a:cubicBezTo>
                    <a:pt x="1347" y="1042"/>
                    <a:pt x="911" y="888"/>
                    <a:pt x="717" y="899"/>
                  </a:cubicBezTo>
                  <a:cubicBezTo>
                    <a:pt x="523" y="910"/>
                    <a:pt x="357" y="1025"/>
                    <a:pt x="249" y="983"/>
                  </a:cubicBezTo>
                  <a:cubicBezTo>
                    <a:pt x="141" y="941"/>
                    <a:pt x="100" y="782"/>
                    <a:pt x="69" y="646"/>
                  </a:cubicBezTo>
                  <a:cubicBezTo>
                    <a:pt x="38" y="510"/>
                    <a:pt x="0" y="270"/>
                    <a:pt x="63" y="166"/>
                  </a:cubicBezTo>
                  <a:cubicBezTo>
                    <a:pt x="126" y="62"/>
                    <a:pt x="272" y="26"/>
                    <a:pt x="447" y="23"/>
                  </a:cubicBezTo>
                  <a:close/>
                </a:path>
              </a:pathLst>
            </a:cu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1800" spc="-1" strike="noStrike">
                <a:solidFill>
                  <a:schemeClr val="dk1"/>
                </a:solidFill>
                <a:latin typeface="Calibri"/>
              </a:endParaRPr>
            </a:p>
          </p:txBody>
        </p:sp>
        <p:sp>
          <p:nvSpPr>
            <p:cNvPr id="1303" name="Oval 104"/>
            <p:cNvSpPr/>
            <p:nvPr/>
          </p:nvSpPr>
          <p:spPr>
            <a:xfrm>
              <a:off x="8367840" y="22543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1304" name="Oval 105"/>
            <p:cNvSpPr/>
            <p:nvPr/>
          </p:nvSpPr>
          <p:spPr>
            <a:xfrm>
              <a:off x="6994440" y="225432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1305" name="Oval 106"/>
            <p:cNvSpPr/>
            <p:nvPr/>
          </p:nvSpPr>
          <p:spPr>
            <a:xfrm>
              <a:off x="8366040" y="14479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A</a:t>
              </a:r>
              <a:endParaRPr b="0" lang="en-US" sz="1800" spc="-1" strike="noStrike">
                <a:solidFill>
                  <a:srgbClr val="ffffff"/>
                </a:solidFill>
                <a:latin typeface="Arial"/>
              </a:endParaRPr>
            </a:p>
          </p:txBody>
        </p:sp>
        <p:sp>
          <p:nvSpPr>
            <p:cNvPr id="1306" name="Oval 107"/>
            <p:cNvSpPr/>
            <p:nvPr/>
          </p:nvSpPr>
          <p:spPr>
            <a:xfrm>
              <a:off x="7604280" y="30621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E</a:t>
              </a:r>
              <a:endParaRPr b="0" lang="en-US" sz="1800" spc="-1" strike="noStrike">
                <a:solidFill>
                  <a:srgbClr val="ffffff"/>
                </a:solidFill>
                <a:latin typeface="Arial"/>
              </a:endParaRPr>
            </a:p>
          </p:txBody>
        </p:sp>
        <p:cxnSp>
          <p:nvCxnSpPr>
            <p:cNvPr id="1307" name="AutoShape 108"/>
            <p:cNvCxnSpPr>
              <a:stCxn id="1305" idx="2"/>
              <a:endCxn id="1304" idx="0"/>
            </p:cNvCxnSpPr>
            <p:nvPr/>
          </p:nvCxnSpPr>
          <p:spPr>
            <a:xfrm flipV="1" rot="10800000">
              <a:off x="7176960" y="1630440"/>
              <a:ext cx="1189440" cy="624240"/>
            </a:xfrm>
            <a:prstGeom prst="curvedConnector2">
              <a:avLst/>
            </a:prstGeom>
            <a:ln w="38100">
              <a:solidFill>
                <a:srgbClr val="44546a"/>
              </a:solidFill>
              <a:round/>
            </a:ln>
          </p:spPr>
        </p:cxnSp>
        <p:cxnSp>
          <p:nvCxnSpPr>
            <p:cNvPr id="1308" name="AutoShape 109"/>
            <p:cNvCxnSpPr>
              <a:stCxn id="1306" idx="2"/>
              <a:endCxn id="1304" idx="4"/>
            </p:cNvCxnSpPr>
            <p:nvPr/>
          </p:nvCxnSpPr>
          <p:spPr>
            <a:xfrm rot="10800000">
              <a:off x="7176960" y="2619720"/>
              <a:ext cx="427680" cy="625680"/>
            </a:xfrm>
            <a:prstGeom prst="curvedConnector2">
              <a:avLst/>
            </a:prstGeom>
            <a:ln w="19050">
              <a:solidFill>
                <a:srgbClr val="000000"/>
              </a:solidFill>
              <a:round/>
            </a:ln>
          </p:spPr>
        </p:cxnSp>
        <p:cxnSp>
          <p:nvCxnSpPr>
            <p:cNvPr id="1309" name="AutoShape 110"/>
            <p:cNvCxnSpPr>
              <a:stCxn id="1306" idx="6"/>
              <a:endCxn id="1303" idx="3"/>
            </p:cNvCxnSpPr>
            <p:nvPr/>
          </p:nvCxnSpPr>
          <p:spPr>
            <a:xfrm flipV="1">
              <a:off x="7970040" y="2566800"/>
              <a:ext cx="451800" cy="678960"/>
            </a:xfrm>
            <a:prstGeom prst="curvedConnector2">
              <a:avLst/>
            </a:prstGeom>
            <a:ln w="38100">
              <a:solidFill>
                <a:srgbClr val="44546a"/>
              </a:solidFill>
              <a:round/>
            </a:ln>
          </p:spPr>
        </p:cxnSp>
        <p:cxnSp>
          <p:nvCxnSpPr>
            <p:cNvPr id="1310" name="AutoShape 111"/>
            <p:cNvCxnSpPr>
              <a:stCxn id="1305" idx="4"/>
              <a:endCxn id="1303" idx="0"/>
            </p:cNvCxnSpPr>
            <p:nvPr/>
          </p:nvCxnSpPr>
          <p:spPr>
            <a:xfrm>
              <a:off x="8548920" y="1813680"/>
              <a:ext cx="2520" cy="441360"/>
            </a:xfrm>
            <a:prstGeom prst="straightConnector1">
              <a:avLst/>
            </a:prstGeom>
            <a:ln w="38100">
              <a:solidFill>
                <a:srgbClr val="44546a"/>
              </a:solidFill>
              <a:round/>
            </a:ln>
          </p:spPr>
        </p:cxnSp>
        <p:cxnSp>
          <p:nvCxnSpPr>
            <p:cNvPr id="1311" name="AutoShape 112"/>
            <p:cNvCxnSpPr>
              <a:stCxn id="1304" idx="6"/>
              <a:endCxn id="1303" idx="2"/>
            </p:cNvCxnSpPr>
            <p:nvPr/>
          </p:nvCxnSpPr>
          <p:spPr>
            <a:xfrm>
              <a:off x="7360200" y="2437200"/>
              <a:ext cx="1008360" cy="720"/>
            </a:xfrm>
            <a:prstGeom prst="straightConnector1">
              <a:avLst/>
            </a:prstGeom>
            <a:ln w="38100">
              <a:solidFill>
                <a:srgbClr val="000000"/>
              </a:solidFill>
              <a:prstDash val="dash"/>
              <a:round/>
            </a:ln>
          </p:spPr>
        </p:cxnSp>
        <p:sp>
          <p:nvSpPr>
            <p:cNvPr id="1312" name="Oval 113"/>
            <p:cNvSpPr/>
            <p:nvPr/>
          </p:nvSpPr>
          <p:spPr>
            <a:xfrm>
              <a:off x="9729720" y="22543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D</a:t>
              </a:r>
              <a:endParaRPr b="0" lang="en-US" sz="1800" spc="-1" strike="noStrike">
                <a:solidFill>
                  <a:srgbClr val="ffffff"/>
                </a:solidFill>
                <a:latin typeface="Arial"/>
              </a:endParaRPr>
            </a:p>
          </p:txBody>
        </p:sp>
        <p:cxnSp>
          <p:nvCxnSpPr>
            <p:cNvPr id="1313" name="AutoShape 114"/>
            <p:cNvCxnSpPr>
              <a:stCxn id="1314" idx="6"/>
              <a:endCxn id="1312" idx="4"/>
            </p:cNvCxnSpPr>
            <p:nvPr/>
          </p:nvCxnSpPr>
          <p:spPr>
            <a:xfrm flipV="1">
              <a:off x="9484200" y="2620080"/>
              <a:ext cx="429120" cy="625680"/>
            </a:xfrm>
            <a:prstGeom prst="curvedConnector2">
              <a:avLst/>
            </a:prstGeom>
            <a:ln w="38100">
              <a:solidFill>
                <a:srgbClr val="44546a"/>
              </a:solidFill>
              <a:round/>
            </a:ln>
          </p:spPr>
        </p:cxnSp>
        <p:cxnSp>
          <p:nvCxnSpPr>
            <p:cNvPr id="1315" name="AutoShape 115"/>
            <p:cNvCxnSpPr>
              <a:stCxn id="1312" idx="0"/>
              <a:endCxn id="1305" idx="6"/>
            </p:cNvCxnSpPr>
            <p:nvPr/>
          </p:nvCxnSpPr>
          <p:spPr>
            <a:xfrm rot="10800000">
              <a:off x="8731440" y="1630440"/>
              <a:ext cx="1181520" cy="624240"/>
            </a:xfrm>
            <a:prstGeom prst="curvedConnector2">
              <a:avLst/>
            </a:prstGeom>
            <a:ln w="38100">
              <a:solidFill>
                <a:srgbClr val="000000"/>
              </a:solidFill>
              <a:prstDash val="dash"/>
              <a:round/>
            </a:ln>
          </p:spPr>
        </p:cxnSp>
        <p:cxnSp>
          <p:nvCxnSpPr>
            <p:cNvPr id="1316" name="AutoShape 116"/>
            <p:cNvCxnSpPr>
              <a:stCxn id="1303" idx="6"/>
              <a:endCxn id="1312" idx="2"/>
            </p:cNvCxnSpPr>
            <p:nvPr/>
          </p:nvCxnSpPr>
          <p:spPr>
            <a:xfrm>
              <a:off x="8733600" y="2437200"/>
              <a:ext cx="996840" cy="720"/>
            </a:xfrm>
            <a:prstGeom prst="straightConnector1">
              <a:avLst/>
            </a:prstGeom>
            <a:ln w="38100">
              <a:solidFill>
                <a:srgbClr val="44546a"/>
              </a:solidFill>
              <a:round/>
            </a:ln>
          </p:spPr>
        </p:cxnSp>
        <p:sp>
          <p:nvSpPr>
            <p:cNvPr id="1314" name="Oval 117"/>
            <p:cNvSpPr/>
            <p:nvPr/>
          </p:nvSpPr>
          <p:spPr>
            <a:xfrm>
              <a:off x="9118440" y="30621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1317" name="AutoShape 118"/>
            <p:cNvCxnSpPr>
              <a:stCxn id="1303" idx="5"/>
              <a:endCxn id="1314" idx="2"/>
            </p:cNvCxnSpPr>
            <p:nvPr/>
          </p:nvCxnSpPr>
          <p:spPr>
            <a:xfrm>
              <a:off x="8680320" y="2566800"/>
              <a:ext cx="438840" cy="678960"/>
            </a:xfrm>
            <a:prstGeom prst="curvedConnector2">
              <a:avLst/>
            </a:prstGeom>
            <a:ln w="38100">
              <a:solidFill>
                <a:srgbClr val="000000"/>
              </a:solidFill>
              <a:prstDash val="dash"/>
              <a:round/>
            </a:ln>
          </p:spPr>
        </p:cxnSp>
        <p:sp>
          <p:nvSpPr>
            <p:cNvPr id="1318" name="Text Box 119"/>
            <p:cNvSpPr/>
            <p:nvPr/>
          </p:nvSpPr>
          <p:spPr>
            <a:xfrm>
              <a:off x="8602200" y="12193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0</a:t>
              </a:r>
              <a:endParaRPr b="0" lang="en-US" sz="1800" spc="-1" strike="noStrike">
                <a:solidFill>
                  <a:srgbClr val="000000"/>
                </a:solidFill>
                <a:latin typeface="Arial"/>
              </a:endParaRPr>
            </a:p>
          </p:txBody>
        </p:sp>
        <p:sp>
          <p:nvSpPr>
            <p:cNvPr id="1319" name="Text Box 120"/>
            <p:cNvSpPr/>
            <p:nvPr/>
          </p:nvSpPr>
          <p:spPr>
            <a:xfrm>
              <a:off x="9992880" y="20462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3</a:t>
              </a:r>
              <a:endParaRPr b="0" lang="en-US" sz="1800" spc="-1" strike="noStrike">
                <a:solidFill>
                  <a:srgbClr val="000000"/>
                </a:solidFill>
                <a:latin typeface="Arial"/>
              </a:endParaRPr>
            </a:p>
          </p:txBody>
        </p:sp>
        <p:sp>
          <p:nvSpPr>
            <p:cNvPr id="1320" name="Text Box 121"/>
            <p:cNvSpPr/>
            <p:nvPr/>
          </p:nvSpPr>
          <p:spPr>
            <a:xfrm>
              <a:off x="8633880" y="20462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321" name="Text Box 122"/>
            <p:cNvSpPr/>
            <p:nvPr/>
          </p:nvSpPr>
          <p:spPr>
            <a:xfrm>
              <a:off x="7262280" y="20462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8</a:t>
              </a:r>
              <a:endParaRPr b="0" lang="en-US" sz="1800" spc="-1" strike="noStrike">
                <a:solidFill>
                  <a:srgbClr val="000000"/>
                </a:solidFill>
                <a:latin typeface="Arial"/>
              </a:endParaRPr>
            </a:p>
          </p:txBody>
        </p:sp>
        <p:sp>
          <p:nvSpPr>
            <p:cNvPr id="1322" name="Text Box 123"/>
            <p:cNvSpPr/>
            <p:nvPr/>
          </p:nvSpPr>
          <p:spPr>
            <a:xfrm>
              <a:off x="7535520" y="277020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5</a:t>
              </a:r>
              <a:endParaRPr b="0" lang="en-US" sz="1800" spc="-1" strike="noStrike">
                <a:solidFill>
                  <a:srgbClr val="000000"/>
                </a:solidFill>
                <a:latin typeface="Arial"/>
              </a:endParaRPr>
            </a:p>
          </p:txBody>
        </p:sp>
        <p:sp>
          <p:nvSpPr>
            <p:cNvPr id="1323" name="Text Box 124"/>
            <p:cNvSpPr/>
            <p:nvPr/>
          </p:nvSpPr>
          <p:spPr>
            <a:xfrm>
              <a:off x="9300600" y="277020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8</a:t>
              </a:r>
              <a:endParaRPr b="0" lang="en-US" sz="1800" spc="-1" strike="noStrike">
                <a:solidFill>
                  <a:srgbClr val="000000"/>
                </a:solidFill>
                <a:latin typeface="Arial"/>
              </a:endParaRPr>
            </a:p>
          </p:txBody>
        </p:sp>
        <p:sp>
          <p:nvSpPr>
            <p:cNvPr id="1324" name="Text Box 125"/>
            <p:cNvSpPr/>
            <p:nvPr/>
          </p:nvSpPr>
          <p:spPr>
            <a:xfrm>
              <a:off x="9440280" y="146196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4</a:t>
              </a:r>
              <a:endParaRPr b="0" lang="en-US" sz="1800" spc="-1" strike="noStrike">
                <a:solidFill>
                  <a:srgbClr val="000000"/>
                </a:solidFill>
                <a:latin typeface="Arial"/>
              </a:endParaRPr>
            </a:p>
          </p:txBody>
        </p:sp>
        <p:sp>
          <p:nvSpPr>
            <p:cNvPr id="1325" name="Text Box 126"/>
            <p:cNvSpPr/>
            <p:nvPr/>
          </p:nvSpPr>
          <p:spPr>
            <a:xfrm>
              <a:off x="7300440" y="15238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8</a:t>
              </a:r>
              <a:endParaRPr b="0" lang="en-US" sz="1800" spc="-1" strike="noStrike">
                <a:solidFill>
                  <a:srgbClr val="000000"/>
                </a:solidFill>
                <a:latin typeface="Arial"/>
              </a:endParaRPr>
            </a:p>
          </p:txBody>
        </p:sp>
        <p:sp>
          <p:nvSpPr>
            <p:cNvPr id="1326" name="Text Box 127"/>
            <p:cNvSpPr/>
            <p:nvPr/>
          </p:nvSpPr>
          <p:spPr>
            <a:xfrm>
              <a:off x="7681320" y="21337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7</a:t>
              </a:r>
              <a:endParaRPr b="0" lang="en-US" sz="1800" spc="-1" strike="noStrike">
                <a:solidFill>
                  <a:srgbClr val="000000"/>
                </a:solidFill>
                <a:latin typeface="Arial"/>
              </a:endParaRPr>
            </a:p>
          </p:txBody>
        </p:sp>
        <p:sp>
          <p:nvSpPr>
            <p:cNvPr id="1327" name="Text Box 128"/>
            <p:cNvSpPr/>
            <p:nvPr/>
          </p:nvSpPr>
          <p:spPr>
            <a:xfrm>
              <a:off x="9129240" y="21337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1</a:t>
              </a:r>
              <a:endParaRPr b="0" lang="en-US" sz="1800" spc="-1" strike="noStrike">
                <a:solidFill>
                  <a:srgbClr val="000000"/>
                </a:solidFill>
                <a:latin typeface="Arial"/>
              </a:endParaRPr>
            </a:p>
          </p:txBody>
        </p:sp>
        <p:sp>
          <p:nvSpPr>
            <p:cNvPr id="1328" name="Text Box 129"/>
            <p:cNvSpPr/>
            <p:nvPr/>
          </p:nvSpPr>
          <p:spPr>
            <a:xfrm>
              <a:off x="6995520" y="29336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2</a:t>
              </a:r>
              <a:endParaRPr b="0" lang="en-US" sz="1800" spc="-1" strike="noStrike">
                <a:solidFill>
                  <a:srgbClr val="000000"/>
                </a:solidFill>
                <a:latin typeface="Arial"/>
              </a:endParaRPr>
            </a:p>
          </p:txBody>
        </p:sp>
        <p:sp>
          <p:nvSpPr>
            <p:cNvPr id="1329" name="Text Box 130"/>
            <p:cNvSpPr/>
            <p:nvPr/>
          </p:nvSpPr>
          <p:spPr>
            <a:xfrm>
              <a:off x="9738720" y="29336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5</a:t>
              </a:r>
              <a:endParaRPr b="0" lang="en-US" sz="1800" spc="-1" strike="noStrike">
                <a:solidFill>
                  <a:srgbClr val="000000"/>
                </a:solidFill>
                <a:latin typeface="Arial"/>
              </a:endParaRPr>
            </a:p>
          </p:txBody>
        </p:sp>
        <p:sp>
          <p:nvSpPr>
            <p:cNvPr id="1330" name="Text Box 131"/>
            <p:cNvSpPr/>
            <p:nvPr/>
          </p:nvSpPr>
          <p:spPr>
            <a:xfrm>
              <a:off x="8214840" y="182880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331" name="Text Box 132"/>
            <p:cNvSpPr/>
            <p:nvPr/>
          </p:nvSpPr>
          <p:spPr>
            <a:xfrm>
              <a:off x="8062560" y="26668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3</a:t>
              </a:r>
              <a:endParaRPr b="0" lang="en-US" sz="1800" spc="-1" strike="noStrike">
                <a:solidFill>
                  <a:srgbClr val="000000"/>
                </a:solidFill>
                <a:latin typeface="Arial"/>
              </a:endParaRPr>
            </a:p>
          </p:txBody>
        </p:sp>
        <p:sp>
          <p:nvSpPr>
            <p:cNvPr id="1332" name="Text Box 133"/>
            <p:cNvSpPr/>
            <p:nvPr/>
          </p:nvSpPr>
          <p:spPr>
            <a:xfrm>
              <a:off x="8710200" y="26668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9</a:t>
              </a:r>
              <a:endParaRPr b="0" lang="en-US" sz="1800" spc="-1" strike="noStrike">
                <a:solidFill>
                  <a:srgbClr val="000000"/>
                </a:solidFill>
                <a:latin typeface="Arial"/>
              </a:endParaRPr>
            </a:p>
          </p:txBody>
        </p:sp>
      </p:grpSp>
      <p:sp>
        <p:nvSpPr>
          <p:cNvPr id="1333" name="Freeform 134"/>
          <p:cNvSpPr/>
          <p:nvPr/>
        </p:nvSpPr>
        <p:spPr>
          <a:xfrm>
            <a:off x="7280280" y="4114800"/>
            <a:ext cx="3103560" cy="2389320"/>
          </a:xfrm>
          <a:custGeom>
            <a:avLst/>
            <a:gdLst>
              <a:gd name="textAreaLeft" fmla="*/ 0 w 3103560"/>
              <a:gd name="textAreaRight" fmla="*/ 3105000 w 3103560"/>
              <a:gd name="textAreaTop" fmla="*/ 0 h 2389320"/>
              <a:gd name="textAreaBottom" fmla="*/ 2390760 h 2389320"/>
            </a:gdLst>
            <a:ahLst/>
            <a:rect l="textAreaLeft" t="textAreaTop" r="textAreaRight" b="textAreaBottom"/>
            <a:pathLst>
              <a:path w="1956" h="1506">
                <a:moveTo>
                  <a:pt x="886" y="23"/>
                </a:moveTo>
                <a:cubicBezTo>
                  <a:pt x="1061" y="20"/>
                  <a:pt x="1391" y="0"/>
                  <a:pt x="1552" y="149"/>
                </a:cubicBezTo>
                <a:cubicBezTo>
                  <a:pt x="1713" y="298"/>
                  <a:pt x="1956" y="787"/>
                  <a:pt x="1852" y="917"/>
                </a:cubicBezTo>
                <a:cubicBezTo>
                  <a:pt x="1748" y="1047"/>
                  <a:pt x="1146" y="847"/>
                  <a:pt x="928" y="930"/>
                </a:cubicBezTo>
                <a:cubicBezTo>
                  <a:pt x="710" y="1013"/>
                  <a:pt x="680" y="1330"/>
                  <a:pt x="544" y="1416"/>
                </a:cubicBezTo>
                <a:cubicBezTo>
                  <a:pt x="408" y="1502"/>
                  <a:pt x="197" y="1506"/>
                  <a:pt x="112" y="1446"/>
                </a:cubicBezTo>
                <a:cubicBezTo>
                  <a:pt x="27" y="1386"/>
                  <a:pt x="0" y="1150"/>
                  <a:pt x="34" y="1056"/>
                </a:cubicBezTo>
                <a:cubicBezTo>
                  <a:pt x="68" y="962"/>
                  <a:pt x="237" y="950"/>
                  <a:pt x="316" y="882"/>
                </a:cubicBezTo>
                <a:cubicBezTo>
                  <a:pt x="395" y="814"/>
                  <a:pt x="477" y="765"/>
                  <a:pt x="508" y="646"/>
                </a:cubicBezTo>
                <a:cubicBezTo>
                  <a:pt x="539" y="527"/>
                  <a:pt x="439" y="270"/>
                  <a:pt x="502" y="166"/>
                </a:cubicBezTo>
                <a:cubicBezTo>
                  <a:pt x="565" y="62"/>
                  <a:pt x="711" y="26"/>
                  <a:pt x="886" y="23"/>
                </a:cubicBezTo>
                <a:close/>
              </a:path>
            </a:pathLst>
          </a:cu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1334" name="Oval 135"/>
          <p:cNvSpPr/>
          <p:nvPr/>
        </p:nvSpPr>
        <p:spPr>
          <a:xfrm>
            <a:off x="8386920" y="493884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1335" name="Oval 136"/>
          <p:cNvSpPr/>
          <p:nvPr/>
        </p:nvSpPr>
        <p:spPr>
          <a:xfrm>
            <a:off x="7013520" y="493884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B</a:t>
            </a:r>
            <a:endParaRPr b="0" lang="en-US" sz="1800" spc="-1" strike="noStrike">
              <a:solidFill>
                <a:srgbClr val="ffffff"/>
              </a:solidFill>
              <a:latin typeface="Arial"/>
            </a:endParaRPr>
          </a:p>
        </p:txBody>
      </p:sp>
      <p:sp>
        <p:nvSpPr>
          <p:cNvPr id="1336" name="Oval 137"/>
          <p:cNvSpPr/>
          <p:nvPr/>
        </p:nvSpPr>
        <p:spPr>
          <a:xfrm>
            <a:off x="8385120" y="413244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A</a:t>
            </a:r>
            <a:endParaRPr b="0" lang="en-US" sz="1800" spc="-1" strike="noStrike">
              <a:solidFill>
                <a:srgbClr val="ffffff"/>
              </a:solidFill>
              <a:latin typeface="Arial"/>
            </a:endParaRPr>
          </a:p>
        </p:txBody>
      </p:sp>
      <p:sp>
        <p:nvSpPr>
          <p:cNvPr id="1337" name="Oval 138"/>
          <p:cNvSpPr/>
          <p:nvPr/>
        </p:nvSpPr>
        <p:spPr>
          <a:xfrm>
            <a:off x="7623000" y="574668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E</a:t>
            </a:r>
            <a:endParaRPr b="0" lang="en-US" sz="1800" spc="-1" strike="noStrike">
              <a:solidFill>
                <a:srgbClr val="ffffff"/>
              </a:solidFill>
              <a:latin typeface="Arial"/>
            </a:endParaRPr>
          </a:p>
        </p:txBody>
      </p:sp>
      <p:cxnSp>
        <p:nvCxnSpPr>
          <p:cNvPr id="1338" name="AutoShape 139"/>
          <p:cNvCxnSpPr>
            <a:stCxn id="1336" idx="2"/>
            <a:endCxn id="1335" idx="0"/>
          </p:cNvCxnSpPr>
          <p:nvPr/>
        </p:nvCxnSpPr>
        <p:spPr>
          <a:xfrm flipV="1" rot="10800000">
            <a:off x="7196040" y="4314960"/>
            <a:ext cx="1189440" cy="624240"/>
          </a:xfrm>
          <a:prstGeom prst="curvedConnector2">
            <a:avLst/>
          </a:prstGeom>
          <a:ln w="38100">
            <a:solidFill>
              <a:srgbClr val="000000"/>
            </a:solidFill>
            <a:prstDash val="dash"/>
            <a:round/>
          </a:ln>
        </p:spPr>
      </p:cxnSp>
      <p:cxnSp>
        <p:nvCxnSpPr>
          <p:cNvPr id="1339" name="AutoShape 140"/>
          <p:cNvCxnSpPr>
            <a:stCxn id="1337" idx="2"/>
            <a:endCxn id="1335" idx="4"/>
          </p:cNvCxnSpPr>
          <p:nvPr/>
        </p:nvCxnSpPr>
        <p:spPr>
          <a:xfrm rot="10800000">
            <a:off x="7196040" y="5304240"/>
            <a:ext cx="427320" cy="625680"/>
          </a:xfrm>
          <a:prstGeom prst="curvedConnector2">
            <a:avLst/>
          </a:prstGeom>
          <a:ln w="38100">
            <a:solidFill>
              <a:srgbClr val="44546a"/>
            </a:solidFill>
            <a:round/>
          </a:ln>
        </p:spPr>
      </p:cxnSp>
      <p:cxnSp>
        <p:nvCxnSpPr>
          <p:cNvPr id="1340" name="AutoShape 141"/>
          <p:cNvCxnSpPr>
            <a:stCxn id="1337" idx="6"/>
            <a:endCxn id="1334" idx="3"/>
          </p:cNvCxnSpPr>
          <p:nvPr/>
        </p:nvCxnSpPr>
        <p:spPr>
          <a:xfrm flipV="1">
            <a:off x="7988760" y="5251320"/>
            <a:ext cx="452160" cy="678960"/>
          </a:xfrm>
          <a:prstGeom prst="curvedConnector2">
            <a:avLst/>
          </a:prstGeom>
          <a:ln w="38100">
            <a:solidFill>
              <a:srgbClr val="44546a"/>
            </a:solidFill>
            <a:round/>
          </a:ln>
        </p:spPr>
      </p:cxnSp>
      <p:cxnSp>
        <p:nvCxnSpPr>
          <p:cNvPr id="1341" name="AutoShape 142"/>
          <p:cNvCxnSpPr>
            <a:stCxn id="1336" idx="4"/>
            <a:endCxn id="1334" idx="0"/>
          </p:cNvCxnSpPr>
          <p:nvPr/>
        </p:nvCxnSpPr>
        <p:spPr>
          <a:xfrm>
            <a:off x="8568000" y="4498200"/>
            <a:ext cx="2520" cy="441360"/>
          </a:xfrm>
          <a:prstGeom prst="straightConnector1">
            <a:avLst/>
          </a:prstGeom>
          <a:ln w="38100">
            <a:solidFill>
              <a:srgbClr val="44546a"/>
            </a:solidFill>
            <a:round/>
          </a:ln>
        </p:spPr>
      </p:cxnSp>
      <p:cxnSp>
        <p:nvCxnSpPr>
          <p:cNvPr id="1342" name="AutoShape 143"/>
          <p:cNvCxnSpPr>
            <a:stCxn id="1335" idx="6"/>
            <a:endCxn id="1334" idx="2"/>
          </p:cNvCxnSpPr>
          <p:nvPr/>
        </p:nvCxnSpPr>
        <p:spPr>
          <a:xfrm>
            <a:off x="7379280" y="5121720"/>
            <a:ext cx="1008360" cy="720"/>
          </a:xfrm>
          <a:prstGeom prst="straightConnector1">
            <a:avLst/>
          </a:prstGeom>
          <a:ln w="38100">
            <a:solidFill>
              <a:srgbClr val="000000"/>
            </a:solidFill>
            <a:prstDash val="dash"/>
            <a:round/>
          </a:ln>
        </p:spPr>
      </p:cxnSp>
      <p:sp>
        <p:nvSpPr>
          <p:cNvPr id="1343" name="Oval 144"/>
          <p:cNvSpPr/>
          <p:nvPr/>
        </p:nvSpPr>
        <p:spPr>
          <a:xfrm>
            <a:off x="9748800" y="493884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D</a:t>
            </a:r>
            <a:endParaRPr b="0" lang="en-US" sz="1800" spc="-1" strike="noStrike">
              <a:solidFill>
                <a:srgbClr val="ffffff"/>
              </a:solidFill>
              <a:latin typeface="Arial"/>
            </a:endParaRPr>
          </a:p>
        </p:txBody>
      </p:sp>
      <p:cxnSp>
        <p:nvCxnSpPr>
          <p:cNvPr id="1344" name="AutoShape 145"/>
          <p:cNvCxnSpPr>
            <a:stCxn id="1345" idx="6"/>
            <a:endCxn id="1343" idx="4"/>
          </p:cNvCxnSpPr>
          <p:nvPr/>
        </p:nvCxnSpPr>
        <p:spPr>
          <a:xfrm flipV="1">
            <a:off x="9503280" y="5304600"/>
            <a:ext cx="429120" cy="625680"/>
          </a:xfrm>
          <a:prstGeom prst="curvedConnector2">
            <a:avLst/>
          </a:prstGeom>
          <a:ln w="38100">
            <a:solidFill>
              <a:srgbClr val="44546a"/>
            </a:solidFill>
            <a:round/>
          </a:ln>
        </p:spPr>
      </p:cxnSp>
      <p:cxnSp>
        <p:nvCxnSpPr>
          <p:cNvPr id="1346" name="AutoShape 146"/>
          <p:cNvCxnSpPr>
            <a:stCxn id="1343" idx="0"/>
            <a:endCxn id="1336" idx="6"/>
          </p:cNvCxnSpPr>
          <p:nvPr/>
        </p:nvCxnSpPr>
        <p:spPr>
          <a:xfrm rot="10800000">
            <a:off x="8750520" y="4314960"/>
            <a:ext cx="1181520" cy="624240"/>
          </a:xfrm>
          <a:prstGeom prst="curvedConnector2">
            <a:avLst/>
          </a:prstGeom>
          <a:ln w="38100">
            <a:solidFill>
              <a:srgbClr val="000000"/>
            </a:solidFill>
            <a:prstDash val="dash"/>
            <a:round/>
          </a:ln>
        </p:spPr>
      </p:cxnSp>
      <p:cxnSp>
        <p:nvCxnSpPr>
          <p:cNvPr id="1347" name="AutoShape 147"/>
          <p:cNvCxnSpPr>
            <a:stCxn id="1334" idx="6"/>
            <a:endCxn id="1343" idx="2"/>
          </p:cNvCxnSpPr>
          <p:nvPr/>
        </p:nvCxnSpPr>
        <p:spPr>
          <a:xfrm>
            <a:off x="8752680" y="5121720"/>
            <a:ext cx="996840" cy="720"/>
          </a:xfrm>
          <a:prstGeom prst="straightConnector1">
            <a:avLst/>
          </a:prstGeom>
          <a:ln w="38100">
            <a:solidFill>
              <a:srgbClr val="44546a"/>
            </a:solidFill>
            <a:round/>
          </a:ln>
        </p:spPr>
      </p:cxnSp>
      <p:sp>
        <p:nvSpPr>
          <p:cNvPr id="1345" name="Oval 148"/>
          <p:cNvSpPr/>
          <p:nvPr/>
        </p:nvSpPr>
        <p:spPr>
          <a:xfrm>
            <a:off x="9137520" y="574668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1348" name="AutoShape 149"/>
          <p:cNvCxnSpPr>
            <a:stCxn id="1334" idx="5"/>
            <a:endCxn id="1345" idx="2"/>
          </p:cNvCxnSpPr>
          <p:nvPr/>
        </p:nvCxnSpPr>
        <p:spPr>
          <a:xfrm>
            <a:off x="8699400" y="5251320"/>
            <a:ext cx="438840" cy="678960"/>
          </a:xfrm>
          <a:prstGeom prst="curvedConnector2">
            <a:avLst/>
          </a:prstGeom>
          <a:ln w="38100">
            <a:solidFill>
              <a:srgbClr val="000000"/>
            </a:solidFill>
            <a:prstDash val="dash"/>
            <a:round/>
          </a:ln>
        </p:spPr>
      </p:cxnSp>
      <p:sp>
        <p:nvSpPr>
          <p:cNvPr id="1349" name="Text Box 150"/>
          <p:cNvSpPr/>
          <p:nvPr/>
        </p:nvSpPr>
        <p:spPr>
          <a:xfrm>
            <a:off x="8621280" y="39038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0</a:t>
            </a:r>
            <a:endParaRPr b="0" lang="en-US" sz="1800" spc="-1" strike="noStrike">
              <a:solidFill>
                <a:srgbClr val="000000"/>
              </a:solidFill>
              <a:latin typeface="Arial"/>
            </a:endParaRPr>
          </a:p>
        </p:txBody>
      </p:sp>
      <p:sp>
        <p:nvSpPr>
          <p:cNvPr id="1350" name="Text Box 151"/>
          <p:cNvSpPr/>
          <p:nvPr/>
        </p:nvSpPr>
        <p:spPr>
          <a:xfrm>
            <a:off x="10011960" y="473076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3</a:t>
            </a:r>
            <a:endParaRPr b="0" lang="en-US" sz="1800" spc="-1" strike="noStrike">
              <a:solidFill>
                <a:srgbClr val="000000"/>
              </a:solidFill>
              <a:latin typeface="Arial"/>
            </a:endParaRPr>
          </a:p>
        </p:txBody>
      </p:sp>
      <p:sp>
        <p:nvSpPr>
          <p:cNvPr id="1351" name="Text Box 152"/>
          <p:cNvSpPr/>
          <p:nvPr/>
        </p:nvSpPr>
        <p:spPr>
          <a:xfrm>
            <a:off x="8652960" y="473076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352" name="Text Box 153"/>
          <p:cNvSpPr/>
          <p:nvPr/>
        </p:nvSpPr>
        <p:spPr>
          <a:xfrm>
            <a:off x="7281360" y="473076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7</a:t>
            </a:r>
            <a:endParaRPr b="0" lang="en-US" sz="1800" spc="-1" strike="noStrike">
              <a:solidFill>
                <a:srgbClr val="000000"/>
              </a:solidFill>
              <a:latin typeface="Arial"/>
            </a:endParaRPr>
          </a:p>
        </p:txBody>
      </p:sp>
      <p:sp>
        <p:nvSpPr>
          <p:cNvPr id="1353" name="Text Box 154"/>
          <p:cNvSpPr/>
          <p:nvPr/>
        </p:nvSpPr>
        <p:spPr>
          <a:xfrm>
            <a:off x="7554240" y="54547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5</a:t>
            </a:r>
            <a:endParaRPr b="0" lang="en-US" sz="1800" spc="-1" strike="noStrike">
              <a:solidFill>
                <a:srgbClr val="000000"/>
              </a:solidFill>
              <a:latin typeface="Arial"/>
            </a:endParaRPr>
          </a:p>
        </p:txBody>
      </p:sp>
      <p:sp>
        <p:nvSpPr>
          <p:cNvPr id="1354" name="Text Box 155"/>
          <p:cNvSpPr/>
          <p:nvPr/>
        </p:nvSpPr>
        <p:spPr>
          <a:xfrm>
            <a:off x="9319680" y="54547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8</a:t>
            </a:r>
            <a:endParaRPr b="0" lang="en-US" sz="1800" spc="-1" strike="noStrike">
              <a:solidFill>
                <a:srgbClr val="000000"/>
              </a:solidFill>
              <a:latin typeface="Arial"/>
            </a:endParaRPr>
          </a:p>
        </p:txBody>
      </p:sp>
      <p:sp>
        <p:nvSpPr>
          <p:cNvPr id="1355" name="Text Box 156"/>
          <p:cNvSpPr/>
          <p:nvPr/>
        </p:nvSpPr>
        <p:spPr>
          <a:xfrm>
            <a:off x="9459360" y="41464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4</a:t>
            </a:r>
            <a:endParaRPr b="0" lang="en-US" sz="1800" spc="-1" strike="noStrike">
              <a:solidFill>
                <a:srgbClr val="000000"/>
              </a:solidFill>
              <a:latin typeface="Arial"/>
            </a:endParaRPr>
          </a:p>
        </p:txBody>
      </p:sp>
      <p:sp>
        <p:nvSpPr>
          <p:cNvPr id="1356" name="Text Box 157"/>
          <p:cNvSpPr/>
          <p:nvPr/>
        </p:nvSpPr>
        <p:spPr>
          <a:xfrm>
            <a:off x="7319520" y="420840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8</a:t>
            </a:r>
            <a:endParaRPr b="0" lang="en-US" sz="1800" spc="-1" strike="noStrike">
              <a:solidFill>
                <a:srgbClr val="000000"/>
              </a:solidFill>
              <a:latin typeface="Arial"/>
            </a:endParaRPr>
          </a:p>
        </p:txBody>
      </p:sp>
      <p:sp>
        <p:nvSpPr>
          <p:cNvPr id="1357" name="Text Box 158"/>
          <p:cNvSpPr/>
          <p:nvPr/>
        </p:nvSpPr>
        <p:spPr>
          <a:xfrm>
            <a:off x="7700400" y="48182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7</a:t>
            </a:r>
            <a:endParaRPr b="0" lang="en-US" sz="1800" spc="-1" strike="noStrike">
              <a:solidFill>
                <a:srgbClr val="000000"/>
              </a:solidFill>
              <a:latin typeface="Arial"/>
            </a:endParaRPr>
          </a:p>
        </p:txBody>
      </p:sp>
      <p:sp>
        <p:nvSpPr>
          <p:cNvPr id="1358" name="Text Box 159"/>
          <p:cNvSpPr/>
          <p:nvPr/>
        </p:nvSpPr>
        <p:spPr>
          <a:xfrm>
            <a:off x="9148320" y="48182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1</a:t>
            </a:r>
            <a:endParaRPr b="0" lang="en-US" sz="1800" spc="-1" strike="noStrike">
              <a:solidFill>
                <a:srgbClr val="000000"/>
              </a:solidFill>
              <a:latin typeface="Arial"/>
            </a:endParaRPr>
          </a:p>
        </p:txBody>
      </p:sp>
      <p:sp>
        <p:nvSpPr>
          <p:cNvPr id="1359" name="Text Box 160"/>
          <p:cNvSpPr/>
          <p:nvPr/>
        </p:nvSpPr>
        <p:spPr>
          <a:xfrm>
            <a:off x="7014600" y="561816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360" name="Text Box 161"/>
          <p:cNvSpPr/>
          <p:nvPr/>
        </p:nvSpPr>
        <p:spPr>
          <a:xfrm>
            <a:off x="9757800" y="561816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5</a:t>
            </a:r>
            <a:endParaRPr b="0" lang="en-US" sz="1800" spc="-1" strike="noStrike">
              <a:solidFill>
                <a:srgbClr val="000000"/>
              </a:solidFill>
              <a:latin typeface="Arial"/>
            </a:endParaRPr>
          </a:p>
        </p:txBody>
      </p:sp>
      <p:sp>
        <p:nvSpPr>
          <p:cNvPr id="1361" name="Text Box 162"/>
          <p:cNvSpPr/>
          <p:nvPr/>
        </p:nvSpPr>
        <p:spPr>
          <a:xfrm>
            <a:off x="8233920" y="45133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362" name="Text Box 163"/>
          <p:cNvSpPr/>
          <p:nvPr/>
        </p:nvSpPr>
        <p:spPr>
          <a:xfrm>
            <a:off x="8081280" y="535140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3</a:t>
            </a:r>
            <a:endParaRPr b="0" lang="en-US" sz="1800" spc="-1" strike="noStrike">
              <a:solidFill>
                <a:srgbClr val="000000"/>
              </a:solidFill>
              <a:latin typeface="Arial"/>
            </a:endParaRPr>
          </a:p>
        </p:txBody>
      </p:sp>
      <p:sp>
        <p:nvSpPr>
          <p:cNvPr id="1363" name="Text Box 164"/>
          <p:cNvSpPr/>
          <p:nvPr/>
        </p:nvSpPr>
        <p:spPr>
          <a:xfrm>
            <a:off x="8729280" y="535140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9</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4"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Example (cont.)</a:t>
            </a:r>
            <a:endParaRPr b="0" lang="en-US" sz="4400" spc="-1" strike="noStrike">
              <a:solidFill>
                <a:srgbClr val="000000"/>
              </a:solidFill>
              <a:latin typeface="Arial"/>
            </a:endParaRPr>
          </a:p>
        </p:txBody>
      </p:sp>
      <p:sp>
        <p:nvSpPr>
          <p:cNvPr id="1365" name="PlaceHolder 2"/>
          <p:cNvSpPr>
            <a:spLocks noGrp="1"/>
          </p:cNvSpPr>
          <p:nvPr>
            <p:ph type="sldNum" idx="85"/>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037B2522-7809-43CB-8595-5B14F6EBA2D5}"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1366" name="Freeform 2051"/>
          <p:cNvSpPr/>
          <p:nvPr/>
        </p:nvSpPr>
        <p:spPr>
          <a:xfrm>
            <a:off x="2192400" y="1695600"/>
            <a:ext cx="3710160" cy="2386080"/>
          </a:xfrm>
          <a:custGeom>
            <a:avLst/>
            <a:gdLst>
              <a:gd name="textAreaLeft" fmla="*/ 0 w 3710160"/>
              <a:gd name="textAreaRight" fmla="*/ 3711600 w 3710160"/>
              <a:gd name="textAreaTop" fmla="*/ 0 h 2386080"/>
              <a:gd name="textAreaBottom" fmla="*/ 2387520 h 2386080"/>
            </a:gdLst>
            <a:ahLst/>
            <a:rect l="textAreaLeft" t="textAreaTop" r="textAreaRight" b="textAreaBottom"/>
            <a:pathLst>
              <a:path w="2338" h="1504">
                <a:moveTo>
                  <a:pt x="1271" y="0"/>
                </a:moveTo>
                <a:cubicBezTo>
                  <a:pt x="1459" y="15"/>
                  <a:pt x="1840" y="26"/>
                  <a:pt x="1996" y="184"/>
                </a:cubicBezTo>
                <a:cubicBezTo>
                  <a:pt x="2152" y="342"/>
                  <a:pt x="2338" y="822"/>
                  <a:pt x="2207" y="950"/>
                </a:cubicBezTo>
                <a:cubicBezTo>
                  <a:pt x="2076" y="1078"/>
                  <a:pt x="1426" y="883"/>
                  <a:pt x="1211" y="954"/>
                </a:cubicBezTo>
                <a:cubicBezTo>
                  <a:pt x="996" y="1025"/>
                  <a:pt x="1049" y="1286"/>
                  <a:pt x="917" y="1374"/>
                </a:cubicBezTo>
                <a:cubicBezTo>
                  <a:pt x="785" y="1462"/>
                  <a:pt x="555" y="1504"/>
                  <a:pt x="419" y="1482"/>
                </a:cubicBezTo>
                <a:cubicBezTo>
                  <a:pt x="283" y="1460"/>
                  <a:pt x="164" y="1385"/>
                  <a:pt x="101" y="1242"/>
                </a:cubicBezTo>
                <a:cubicBezTo>
                  <a:pt x="38" y="1099"/>
                  <a:pt x="0" y="808"/>
                  <a:pt x="41" y="624"/>
                </a:cubicBezTo>
                <a:cubicBezTo>
                  <a:pt x="82" y="440"/>
                  <a:pt x="210" y="237"/>
                  <a:pt x="347" y="138"/>
                </a:cubicBezTo>
                <a:cubicBezTo>
                  <a:pt x="484" y="39"/>
                  <a:pt x="709" y="53"/>
                  <a:pt x="863" y="30"/>
                </a:cubicBezTo>
                <a:cubicBezTo>
                  <a:pt x="1017" y="7"/>
                  <a:pt x="1186" y="6"/>
                  <a:pt x="1271" y="0"/>
                </a:cubicBezTo>
                <a:close/>
              </a:path>
            </a:pathLst>
          </a:cu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1800" spc="-1" strike="noStrike">
              <a:solidFill>
                <a:schemeClr val="dk1"/>
              </a:solidFill>
              <a:latin typeface="Calibri"/>
            </a:endParaRPr>
          </a:p>
        </p:txBody>
      </p:sp>
      <p:sp>
        <p:nvSpPr>
          <p:cNvPr id="1367" name="Oval 2052"/>
          <p:cNvSpPr/>
          <p:nvPr/>
        </p:nvSpPr>
        <p:spPr>
          <a:xfrm>
            <a:off x="3716280" y="27115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1368" name="Oval 2053"/>
          <p:cNvSpPr/>
          <p:nvPr/>
        </p:nvSpPr>
        <p:spPr>
          <a:xfrm>
            <a:off x="2343240" y="27115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B</a:t>
            </a:r>
            <a:endParaRPr b="0" lang="en-US" sz="1800" spc="-1" strike="noStrike">
              <a:solidFill>
                <a:srgbClr val="ffffff"/>
              </a:solidFill>
              <a:latin typeface="Arial"/>
            </a:endParaRPr>
          </a:p>
        </p:txBody>
      </p:sp>
      <p:sp>
        <p:nvSpPr>
          <p:cNvPr id="1369" name="Oval 2054"/>
          <p:cNvSpPr/>
          <p:nvPr/>
        </p:nvSpPr>
        <p:spPr>
          <a:xfrm>
            <a:off x="3714840" y="19051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A</a:t>
            </a:r>
            <a:endParaRPr b="0" lang="en-US" sz="1800" spc="-1" strike="noStrike">
              <a:solidFill>
                <a:srgbClr val="ffffff"/>
              </a:solidFill>
              <a:latin typeface="Arial"/>
            </a:endParaRPr>
          </a:p>
        </p:txBody>
      </p:sp>
      <p:sp>
        <p:nvSpPr>
          <p:cNvPr id="1370" name="Oval 2055"/>
          <p:cNvSpPr/>
          <p:nvPr/>
        </p:nvSpPr>
        <p:spPr>
          <a:xfrm>
            <a:off x="2952720" y="351936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E</a:t>
            </a:r>
            <a:endParaRPr b="0" lang="en-US" sz="1800" spc="-1" strike="noStrike">
              <a:solidFill>
                <a:srgbClr val="ffffff"/>
              </a:solidFill>
              <a:latin typeface="Arial"/>
            </a:endParaRPr>
          </a:p>
        </p:txBody>
      </p:sp>
      <p:cxnSp>
        <p:nvCxnSpPr>
          <p:cNvPr id="1371" name="AutoShape 2056"/>
          <p:cNvCxnSpPr>
            <a:stCxn id="1369" idx="2"/>
            <a:endCxn id="1368" idx="0"/>
          </p:cNvCxnSpPr>
          <p:nvPr/>
        </p:nvCxnSpPr>
        <p:spPr>
          <a:xfrm flipV="1" rot="10800000">
            <a:off x="2525760" y="2087640"/>
            <a:ext cx="1189440" cy="624240"/>
          </a:xfrm>
          <a:prstGeom prst="curvedConnector2">
            <a:avLst/>
          </a:prstGeom>
          <a:ln w="38100">
            <a:solidFill>
              <a:srgbClr val="000000"/>
            </a:solidFill>
            <a:prstDash val="dash"/>
            <a:round/>
          </a:ln>
        </p:spPr>
      </p:cxnSp>
      <p:cxnSp>
        <p:nvCxnSpPr>
          <p:cNvPr id="1372" name="AutoShape 2057"/>
          <p:cNvCxnSpPr>
            <a:stCxn id="1370" idx="2"/>
            <a:endCxn id="1368" idx="4"/>
          </p:cNvCxnSpPr>
          <p:nvPr/>
        </p:nvCxnSpPr>
        <p:spPr>
          <a:xfrm rot="10800000">
            <a:off x="2525760" y="3076920"/>
            <a:ext cx="427320" cy="625680"/>
          </a:xfrm>
          <a:prstGeom prst="curvedConnector2">
            <a:avLst/>
          </a:prstGeom>
          <a:ln w="38100">
            <a:solidFill>
              <a:srgbClr val="44546a"/>
            </a:solidFill>
            <a:round/>
          </a:ln>
        </p:spPr>
      </p:cxnSp>
      <p:cxnSp>
        <p:nvCxnSpPr>
          <p:cNvPr id="1373" name="AutoShape 2058"/>
          <p:cNvCxnSpPr>
            <a:stCxn id="1370" idx="6"/>
            <a:endCxn id="1367" idx="3"/>
          </p:cNvCxnSpPr>
          <p:nvPr/>
        </p:nvCxnSpPr>
        <p:spPr>
          <a:xfrm flipV="1">
            <a:off x="3318480" y="3024000"/>
            <a:ext cx="451800" cy="678960"/>
          </a:xfrm>
          <a:prstGeom prst="curvedConnector2">
            <a:avLst/>
          </a:prstGeom>
          <a:ln w="38100">
            <a:solidFill>
              <a:srgbClr val="44546a"/>
            </a:solidFill>
            <a:round/>
          </a:ln>
        </p:spPr>
      </p:cxnSp>
      <p:cxnSp>
        <p:nvCxnSpPr>
          <p:cNvPr id="1374" name="AutoShape 2059"/>
          <p:cNvCxnSpPr>
            <a:stCxn id="1369" idx="4"/>
            <a:endCxn id="1367" idx="0"/>
          </p:cNvCxnSpPr>
          <p:nvPr/>
        </p:nvCxnSpPr>
        <p:spPr>
          <a:xfrm>
            <a:off x="3897720" y="2270880"/>
            <a:ext cx="2160" cy="441360"/>
          </a:xfrm>
          <a:prstGeom prst="straightConnector1">
            <a:avLst/>
          </a:prstGeom>
          <a:ln w="38100">
            <a:solidFill>
              <a:srgbClr val="44546a"/>
            </a:solidFill>
            <a:round/>
          </a:ln>
        </p:spPr>
      </p:cxnSp>
      <p:cxnSp>
        <p:nvCxnSpPr>
          <p:cNvPr id="1375" name="AutoShape 2060"/>
          <p:cNvCxnSpPr>
            <a:stCxn id="1368" idx="6"/>
            <a:endCxn id="1367" idx="2"/>
          </p:cNvCxnSpPr>
          <p:nvPr/>
        </p:nvCxnSpPr>
        <p:spPr>
          <a:xfrm>
            <a:off x="2709000" y="2894400"/>
            <a:ext cx="1008000" cy="720"/>
          </a:xfrm>
          <a:prstGeom prst="straightConnector1">
            <a:avLst/>
          </a:prstGeom>
          <a:ln w="38100">
            <a:solidFill>
              <a:srgbClr val="000000"/>
            </a:solidFill>
            <a:prstDash val="dash"/>
            <a:round/>
          </a:ln>
        </p:spPr>
      </p:cxnSp>
      <p:sp>
        <p:nvSpPr>
          <p:cNvPr id="1376" name="Oval 2061"/>
          <p:cNvSpPr/>
          <p:nvPr/>
        </p:nvSpPr>
        <p:spPr>
          <a:xfrm>
            <a:off x="5078520" y="27115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D</a:t>
            </a:r>
            <a:endParaRPr b="0" lang="en-US" sz="1800" spc="-1" strike="noStrike">
              <a:solidFill>
                <a:srgbClr val="ffffff"/>
              </a:solidFill>
              <a:latin typeface="Arial"/>
            </a:endParaRPr>
          </a:p>
        </p:txBody>
      </p:sp>
      <p:cxnSp>
        <p:nvCxnSpPr>
          <p:cNvPr id="1377" name="AutoShape 2062"/>
          <p:cNvCxnSpPr>
            <a:stCxn id="1378" idx="6"/>
            <a:endCxn id="1376" idx="4"/>
          </p:cNvCxnSpPr>
          <p:nvPr/>
        </p:nvCxnSpPr>
        <p:spPr>
          <a:xfrm flipV="1">
            <a:off x="4833000" y="3077280"/>
            <a:ext cx="429120" cy="625680"/>
          </a:xfrm>
          <a:prstGeom prst="curvedConnector2">
            <a:avLst/>
          </a:prstGeom>
          <a:ln w="38100">
            <a:solidFill>
              <a:srgbClr val="44546a"/>
            </a:solidFill>
            <a:round/>
          </a:ln>
        </p:spPr>
      </p:cxnSp>
      <p:cxnSp>
        <p:nvCxnSpPr>
          <p:cNvPr id="1379" name="AutoShape 2063"/>
          <p:cNvCxnSpPr>
            <a:stCxn id="1376" idx="0"/>
            <a:endCxn id="1369" idx="6"/>
          </p:cNvCxnSpPr>
          <p:nvPr/>
        </p:nvCxnSpPr>
        <p:spPr>
          <a:xfrm rot="10800000">
            <a:off x="4080240" y="2087640"/>
            <a:ext cx="1181520" cy="624240"/>
          </a:xfrm>
          <a:prstGeom prst="curvedConnector2">
            <a:avLst/>
          </a:prstGeom>
          <a:ln w="38100">
            <a:solidFill>
              <a:srgbClr val="000000"/>
            </a:solidFill>
            <a:prstDash val="dash"/>
            <a:round/>
          </a:ln>
        </p:spPr>
      </p:cxnSp>
      <p:cxnSp>
        <p:nvCxnSpPr>
          <p:cNvPr id="1380" name="AutoShape 2064"/>
          <p:cNvCxnSpPr>
            <a:stCxn id="1367" idx="6"/>
            <a:endCxn id="1376" idx="2"/>
          </p:cNvCxnSpPr>
          <p:nvPr/>
        </p:nvCxnSpPr>
        <p:spPr>
          <a:xfrm>
            <a:off x="4082040" y="2894400"/>
            <a:ext cx="997200" cy="720"/>
          </a:xfrm>
          <a:prstGeom prst="straightConnector1">
            <a:avLst/>
          </a:prstGeom>
          <a:ln w="38100">
            <a:solidFill>
              <a:srgbClr val="44546a"/>
            </a:solidFill>
            <a:round/>
          </a:ln>
        </p:spPr>
      </p:cxnSp>
      <p:sp>
        <p:nvSpPr>
          <p:cNvPr id="1378" name="Oval 2065"/>
          <p:cNvSpPr/>
          <p:nvPr/>
        </p:nvSpPr>
        <p:spPr>
          <a:xfrm>
            <a:off x="4467240" y="35193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1381" name="AutoShape 2066"/>
          <p:cNvCxnSpPr>
            <a:stCxn id="1367" idx="5"/>
            <a:endCxn id="1378" idx="2"/>
          </p:cNvCxnSpPr>
          <p:nvPr/>
        </p:nvCxnSpPr>
        <p:spPr>
          <a:xfrm>
            <a:off x="4028760" y="3024000"/>
            <a:ext cx="439200" cy="678960"/>
          </a:xfrm>
          <a:prstGeom prst="curvedConnector2">
            <a:avLst/>
          </a:prstGeom>
          <a:ln w="38100">
            <a:solidFill>
              <a:srgbClr val="000000"/>
            </a:solidFill>
            <a:prstDash val="dash"/>
            <a:round/>
          </a:ln>
        </p:spPr>
      </p:cxnSp>
      <p:sp>
        <p:nvSpPr>
          <p:cNvPr id="1382" name="Text Box 2067"/>
          <p:cNvSpPr/>
          <p:nvPr/>
        </p:nvSpPr>
        <p:spPr>
          <a:xfrm>
            <a:off x="3950640" y="16765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0</a:t>
            </a:r>
            <a:endParaRPr b="0" lang="en-US" sz="1800" spc="-1" strike="noStrike">
              <a:solidFill>
                <a:srgbClr val="000000"/>
              </a:solidFill>
              <a:latin typeface="Arial"/>
            </a:endParaRPr>
          </a:p>
        </p:txBody>
      </p:sp>
      <p:sp>
        <p:nvSpPr>
          <p:cNvPr id="1383" name="Text Box 2068"/>
          <p:cNvSpPr/>
          <p:nvPr/>
        </p:nvSpPr>
        <p:spPr>
          <a:xfrm>
            <a:off x="5341320" y="25034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3</a:t>
            </a:r>
            <a:endParaRPr b="0" lang="en-US" sz="1800" spc="-1" strike="noStrike">
              <a:solidFill>
                <a:srgbClr val="000000"/>
              </a:solidFill>
              <a:latin typeface="Arial"/>
            </a:endParaRPr>
          </a:p>
        </p:txBody>
      </p:sp>
      <p:sp>
        <p:nvSpPr>
          <p:cNvPr id="1384" name="Text Box 2069"/>
          <p:cNvSpPr/>
          <p:nvPr/>
        </p:nvSpPr>
        <p:spPr>
          <a:xfrm>
            <a:off x="3982680" y="25034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385" name="Text Box 2070"/>
          <p:cNvSpPr/>
          <p:nvPr/>
        </p:nvSpPr>
        <p:spPr>
          <a:xfrm>
            <a:off x="2611080" y="25034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7</a:t>
            </a:r>
            <a:endParaRPr b="0" lang="en-US" sz="1800" spc="-1" strike="noStrike">
              <a:solidFill>
                <a:srgbClr val="000000"/>
              </a:solidFill>
              <a:latin typeface="Arial"/>
            </a:endParaRPr>
          </a:p>
        </p:txBody>
      </p:sp>
      <p:sp>
        <p:nvSpPr>
          <p:cNvPr id="1386" name="Text Box 2071"/>
          <p:cNvSpPr/>
          <p:nvPr/>
        </p:nvSpPr>
        <p:spPr>
          <a:xfrm>
            <a:off x="2825280" y="322740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5</a:t>
            </a:r>
            <a:endParaRPr b="0" lang="en-US" sz="1800" spc="-1" strike="noStrike">
              <a:solidFill>
                <a:srgbClr val="000000"/>
              </a:solidFill>
              <a:latin typeface="Arial"/>
            </a:endParaRPr>
          </a:p>
        </p:txBody>
      </p:sp>
      <p:sp>
        <p:nvSpPr>
          <p:cNvPr id="1387" name="Text Box 2072"/>
          <p:cNvSpPr/>
          <p:nvPr/>
        </p:nvSpPr>
        <p:spPr>
          <a:xfrm>
            <a:off x="4649400" y="322740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8</a:t>
            </a:r>
            <a:endParaRPr b="0" lang="en-US" sz="1800" spc="-1" strike="noStrike">
              <a:solidFill>
                <a:srgbClr val="000000"/>
              </a:solidFill>
              <a:latin typeface="Arial"/>
            </a:endParaRPr>
          </a:p>
        </p:txBody>
      </p:sp>
      <p:sp>
        <p:nvSpPr>
          <p:cNvPr id="1388" name="Text Box 2073"/>
          <p:cNvSpPr/>
          <p:nvPr/>
        </p:nvSpPr>
        <p:spPr>
          <a:xfrm>
            <a:off x="4789080" y="191916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4</a:t>
            </a:r>
            <a:endParaRPr b="0" lang="en-US" sz="1800" spc="-1" strike="noStrike">
              <a:solidFill>
                <a:srgbClr val="000000"/>
              </a:solidFill>
              <a:latin typeface="Arial"/>
            </a:endParaRPr>
          </a:p>
        </p:txBody>
      </p:sp>
      <p:sp>
        <p:nvSpPr>
          <p:cNvPr id="1389" name="Text Box 2074"/>
          <p:cNvSpPr/>
          <p:nvPr/>
        </p:nvSpPr>
        <p:spPr>
          <a:xfrm>
            <a:off x="2648880" y="19810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8</a:t>
            </a:r>
            <a:endParaRPr b="0" lang="en-US" sz="1800" spc="-1" strike="noStrike">
              <a:solidFill>
                <a:srgbClr val="000000"/>
              </a:solidFill>
              <a:latin typeface="Arial"/>
            </a:endParaRPr>
          </a:p>
        </p:txBody>
      </p:sp>
      <p:sp>
        <p:nvSpPr>
          <p:cNvPr id="1390" name="Text Box 2075"/>
          <p:cNvSpPr/>
          <p:nvPr/>
        </p:nvSpPr>
        <p:spPr>
          <a:xfrm>
            <a:off x="3030120" y="25909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7</a:t>
            </a:r>
            <a:endParaRPr b="0" lang="en-US" sz="1800" spc="-1" strike="noStrike">
              <a:solidFill>
                <a:srgbClr val="000000"/>
              </a:solidFill>
              <a:latin typeface="Arial"/>
            </a:endParaRPr>
          </a:p>
        </p:txBody>
      </p:sp>
      <p:sp>
        <p:nvSpPr>
          <p:cNvPr id="1391" name="Text Box 2076"/>
          <p:cNvSpPr/>
          <p:nvPr/>
        </p:nvSpPr>
        <p:spPr>
          <a:xfrm>
            <a:off x="4477680" y="25909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1</a:t>
            </a:r>
            <a:endParaRPr b="0" lang="en-US" sz="1800" spc="-1" strike="noStrike">
              <a:solidFill>
                <a:srgbClr val="000000"/>
              </a:solidFill>
              <a:latin typeface="Arial"/>
            </a:endParaRPr>
          </a:p>
        </p:txBody>
      </p:sp>
      <p:sp>
        <p:nvSpPr>
          <p:cNvPr id="1392" name="Text Box 2077"/>
          <p:cNvSpPr/>
          <p:nvPr/>
        </p:nvSpPr>
        <p:spPr>
          <a:xfrm>
            <a:off x="2344320" y="33908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2</a:t>
            </a:r>
            <a:endParaRPr b="0" lang="en-US" sz="1800" spc="-1" strike="noStrike">
              <a:solidFill>
                <a:srgbClr val="000000"/>
              </a:solidFill>
              <a:latin typeface="Arial"/>
            </a:endParaRPr>
          </a:p>
        </p:txBody>
      </p:sp>
      <p:sp>
        <p:nvSpPr>
          <p:cNvPr id="1393" name="Text Box 2078"/>
          <p:cNvSpPr/>
          <p:nvPr/>
        </p:nvSpPr>
        <p:spPr>
          <a:xfrm>
            <a:off x="5087520" y="33908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5</a:t>
            </a:r>
            <a:endParaRPr b="0" lang="en-US" sz="1800" spc="-1" strike="noStrike">
              <a:solidFill>
                <a:srgbClr val="000000"/>
              </a:solidFill>
              <a:latin typeface="Arial"/>
            </a:endParaRPr>
          </a:p>
        </p:txBody>
      </p:sp>
      <p:sp>
        <p:nvSpPr>
          <p:cNvPr id="1394" name="Text Box 2079"/>
          <p:cNvSpPr/>
          <p:nvPr/>
        </p:nvSpPr>
        <p:spPr>
          <a:xfrm>
            <a:off x="3563280" y="228600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395" name="Text Box 2080"/>
          <p:cNvSpPr/>
          <p:nvPr/>
        </p:nvSpPr>
        <p:spPr>
          <a:xfrm>
            <a:off x="3411000" y="31240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3</a:t>
            </a:r>
            <a:endParaRPr b="0" lang="en-US" sz="1800" spc="-1" strike="noStrike">
              <a:solidFill>
                <a:srgbClr val="000000"/>
              </a:solidFill>
              <a:latin typeface="Arial"/>
            </a:endParaRPr>
          </a:p>
        </p:txBody>
      </p:sp>
      <p:sp>
        <p:nvSpPr>
          <p:cNvPr id="1396" name="Text Box 2081"/>
          <p:cNvSpPr/>
          <p:nvPr/>
        </p:nvSpPr>
        <p:spPr>
          <a:xfrm>
            <a:off x="4058640" y="312408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9</a:t>
            </a:r>
            <a:endParaRPr b="0" lang="en-US" sz="1800" spc="-1" strike="noStrike">
              <a:solidFill>
                <a:srgbClr val="000000"/>
              </a:solidFill>
              <a:latin typeface="Arial"/>
            </a:endParaRPr>
          </a:p>
        </p:txBody>
      </p:sp>
      <p:sp>
        <p:nvSpPr>
          <p:cNvPr id="1397" name="Freeform 2082"/>
          <p:cNvSpPr/>
          <p:nvPr/>
        </p:nvSpPr>
        <p:spPr>
          <a:xfrm>
            <a:off x="6454800" y="3809880"/>
            <a:ext cx="3565800" cy="2457720"/>
          </a:xfrm>
          <a:custGeom>
            <a:avLst/>
            <a:gdLst>
              <a:gd name="textAreaLeft" fmla="*/ 0 w 3565800"/>
              <a:gd name="textAreaRight" fmla="*/ 3567240 w 3565800"/>
              <a:gd name="textAreaTop" fmla="*/ 0 h 2457720"/>
              <a:gd name="textAreaBottom" fmla="*/ 2459160 h 2457720"/>
            </a:gdLst>
            <a:ahLst/>
            <a:rect l="textAreaLeft" t="textAreaTop" r="textAreaRight" b="textAreaBottom"/>
            <a:pathLst>
              <a:path w="2247" h="1549">
                <a:moveTo>
                  <a:pt x="1274" y="23"/>
                </a:moveTo>
                <a:cubicBezTo>
                  <a:pt x="1508" y="25"/>
                  <a:pt x="1779" y="0"/>
                  <a:pt x="1940" y="149"/>
                </a:cubicBezTo>
                <a:cubicBezTo>
                  <a:pt x="2101" y="298"/>
                  <a:pt x="2247" y="698"/>
                  <a:pt x="2240" y="917"/>
                </a:cubicBezTo>
                <a:cubicBezTo>
                  <a:pt x="2233" y="1136"/>
                  <a:pt x="2197" y="1373"/>
                  <a:pt x="1899" y="1461"/>
                </a:cubicBezTo>
                <a:cubicBezTo>
                  <a:pt x="1601" y="1549"/>
                  <a:pt x="760" y="1516"/>
                  <a:pt x="452" y="1446"/>
                </a:cubicBezTo>
                <a:cubicBezTo>
                  <a:pt x="144" y="1376"/>
                  <a:pt x="100" y="1203"/>
                  <a:pt x="50" y="1038"/>
                </a:cubicBezTo>
                <a:cubicBezTo>
                  <a:pt x="0" y="873"/>
                  <a:pt x="71" y="606"/>
                  <a:pt x="152" y="456"/>
                </a:cubicBezTo>
                <a:cubicBezTo>
                  <a:pt x="233" y="306"/>
                  <a:pt x="349" y="210"/>
                  <a:pt x="536" y="138"/>
                </a:cubicBezTo>
                <a:cubicBezTo>
                  <a:pt x="723" y="66"/>
                  <a:pt x="1040" y="21"/>
                  <a:pt x="1274" y="23"/>
                </a:cubicBezTo>
                <a:close/>
              </a:path>
            </a:pathLst>
          </a:cu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algn="ctr" defTabSz="457200">
              <a:lnSpc>
                <a:spcPct val="100000"/>
              </a:lnSpc>
            </a:pPr>
            <a:endParaRPr b="0" lang="en-US" sz="1800" spc="-1" strike="noStrike">
              <a:solidFill>
                <a:schemeClr val="dk1"/>
              </a:solidFill>
              <a:latin typeface="Calibri"/>
            </a:endParaRPr>
          </a:p>
        </p:txBody>
      </p:sp>
      <p:sp>
        <p:nvSpPr>
          <p:cNvPr id="1398" name="Oval 2083"/>
          <p:cNvSpPr/>
          <p:nvPr/>
        </p:nvSpPr>
        <p:spPr>
          <a:xfrm>
            <a:off x="8097840" y="48625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1399" name="Oval 2084"/>
          <p:cNvSpPr/>
          <p:nvPr/>
        </p:nvSpPr>
        <p:spPr>
          <a:xfrm>
            <a:off x="6724800" y="48625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B</a:t>
            </a:r>
            <a:endParaRPr b="0" lang="en-US" sz="1800" spc="-1" strike="noStrike">
              <a:solidFill>
                <a:srgbClr val="ffffff"/>
              </a:solidFill>
              <a:latin typeface="Arial"/>
            </a:endParaRPr>
          </a:p>
        </p:txBody>
      </p:sp>
      <p:sp>
        <p:nvSpPr>
          <p:cNvPr id="1400" name="Oval 2085"/>
          <p:cNvSpPr/>
          <p:nvPr/>
        </p:nvSpPr>
        <p:spPr>
          <a:xfrm>
            <a:off x="8096400" y="40561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A</a:t>
            </a:r>
            <a:endParaRPr b="0" lang="en-US" sz="1800" spc="-1" strike="noStrike">
              <a:solidFill>
                <a:srgbClr val="ffffff"/>
              </a:solidFill>
              <a:latin typeface="Arial"/>
            </a:endParaRPr>
          </a:p>
        </p:txBody>
      </p:sp>
      <p:sp>
        <p:nvSpPr>
          <p:cNvPr id="1401" name="Oval 2086"/>
          <p:cNvSpPr/>
          <p:nvPr/>
        </p:nvSpPr>
        <p:spPr>
          <a:xfrm>
            <a:off x="7334280" y="56707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E</a:t>
            </a:r>
            <a:endParaRPr b="0" lang="en-US" sz="1800" spc="-1" strike="noStrike">
              <a:solidFill>
                <a:srgbClr val="ffffff"/>
              </a:solidFill>
              <a:latin typeface="Arial"/>
            </a:endParaRPr>
          </a:p>
        </p:txBody>
      </p:sp>
      <p:cxnSp>
        <p:nvCxnSpPr>
          <p:cNvPr id="1402" name="AutoShape 2087"/>
          <p:cNvCxnSpPr>
            <a:stCxn id="1400" idx="2"/>
            <a:endCxn id="1399" idx="0"/>
          </p:cNvCxnSpPr>
          <p:nvPr/>
        </p:nvCxnSpPr>
        <p:spPr>
          <a:xfrm flipV="1" rot="10800000">
            <a:off x="6907320" y="4238640"/>
            <a:ext cx="1189440" cy="624240"/>
          </a:xfrm>
          <a:prstGeom prst="curvedConnector2">
            <a:avLst/>
          </a:prstGeom>
          <a:ln w="38100">
            <a:solidFill>
              <a:srgbClr val="000000"/>
            </a:solidFill>
            <a:prstDash val="dash"/>
            <a:round/>
          </a:ln>
        </p:spPr>
      </p:cxnSp>
      <p:cxnSp>
        <p:nvCxnSpPr>
          <p:cNvPr id="1403" name="AutoShape 2088"/>
          <p:cNvCxnSpPr>
            <a:stCxn id="1401" idx="2"/>
            <a:endCxn id="1399" idx="4"/>
          </p:cNvCxnSpPr>
          <p:nvPr/>
        </p:nvCxnSpPr>
        <p:spPr>
          <a:xfrm rot="10800000">
            <a:off x="6907320" y="5227920"/>
            <a:ext cx="427320" cy="626040"/>
          </a:xfrm>
          <a:prstGeom prst="curvedConnector2">
            <a:avLst/>
          </a:prstGeom>
          <a:ln w="38100">
            <a:solidFill>
              <a:srgbClr val="44546a"/>
            </a:solidFill>
            <a:round/>
          </a:ln>
        </p:spPr>
      </p:cxnSp>
      <p:cxnSp>
        <p:nvCxnSpPr>
          <p:cNvPr id="1404" name="AutoShape 2089"/>
          <p:cNvCxnSpPr>
            <a:stCxn id="1401" idx="6"/>
            <a:endCxn id="1398" idx="3"/>
          </p:cNvCxnSpPr>
          <p:nvPr/>
        </p:nvCxnSpPr>
        <p:spPr>
          <a:xfrm flipV="1">
            <a:off x="7700040" y="5175000"/>
            <a:ext cx="451800" cy="679320"/>
          </a:xfrm>
          <a:prstGeom prst="curvedConnector2">
            <a:avLst/>
          </a:prstGeom>
          <a:ln w="38100">
            <a:solidFill>
              <a:srgbClr val="44546a"/>
            </a:solidFill>
            <a:round/>
          </a:ln>
        </p:spPr>
      </p:cxnSp>
      <p:cxnSp>
        <p:nvCxnSpPr>
          <p:cNvPr id="1405" name="AutoShape 2090"/>
          <p:cNvCxnSpPr>
            <a:stCxn id="1400" idx="4"/>
            <a:endCxn id="1398" idx="0"/>
          </p:cNvCxnSpPr>
          <p:nvPr/>
        </p:nvCxnSpPr>
        <p:spPr>
          <a:xfrm>
            <a:off x="8279280" y="4421880"/>
            <a:ext cx="2160" cy="441360"/>
          </a:xfrm>
          <a:prstGeom prst="straightConnector1">
            <a:avLst/>
          </a:prstGeom>
          <a:ln w="38100">
            <a:solidFill>
              <a:srgbClr val="44546a"/>
            </a:solidFill>
            <a:round/>
          </a:ln>
        </p:spPr>
      </p:cxnSp>
      <p:cxnSp>
        <p:nvCxnSpPr>
          <p:cNvPr id="1406" name="AutoShape 2091"/>
          <p:cNvCxnSpPr>
            <a:stCxn id="1399" idx="6"/>
            <a:endCxn id="1398" idx="2"/>
          </p:cNvCxnSpPr>
          <p:nvPr/>
        </p:nvCxnSpPr>
        <p:spPr>
          <a:xfrm>
            <a:off x="7090560" y="5045400"/>
            <a:ext cx="1008000" cy="720"/>
          </a:xfrm>
          <a:prstGeom prst="straightConnector1">
            <a:avLst/>
          </a:prstGeom>
          <a:ln w="38100">
            <a:solidFill>
              <a:srgbClr val="000000"/>
            </a:solidFill>
            <a:prstDash val="dash"/>
            <a:round/>
          </a:ln>
        </p:spPr>
      </p:cxnSp>
      <p:sp>
        <p:nvSpPr>
          <p:cNvPr id="1407" name="Oval 2092"/>
          <p:cNvSpPr/>
          <p:nvPr/>
        </p:nvSpPr>
        <p:spPr>
          <a:xfrm>
            <a:off x="9460080" y="48625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D</a:t>
            </a:r>
            <a:endParaRPr b="0" lang="en-US" sz="1800" spc="-1" strike="noStrike">
              <a:solidFill>
                <a:srgbClr val="ffffff"/>
              </a:solidFill>
              <a:latin typeface="Arial"/>
            </a:endParaRPr>
          </a:p>
        </p:txBody>
      </p:sp>
      <p:cxnSp>
        <p:nvCxnSpPr>
          <p:cNvPr id="1408" name="AutoShape 2093"/>
          <p:cNvCxnSpPr>
            <a:stCxn id="1409" idx="6"/>
            <a:endCxn id="1407" idx="4"/>
          </p:cNvCxnSpPr>
          <p:nvPr/>
        </p:nvCxnSpPr>
        <p:spPr>
          <a:xfrm flipV="1">
            <a:off x="9214560" y="5228280"/>
            <a:ext cx="429120" cy="626040"/>
          </a:xfrm>
          <a:prstGeom prst="curvedConnector2">
            <a:avLst/>
          </a:prstGeom>
          <a:ln w="38100">
            <a:solidFill>
              <a:srgbClr val="44546a"/>
            </a:solidFill>
            <a:round/>
          </a:ln>
        </p:spPr>
      </p:cxnSp>
      <p:cxnSp>
        <p:nvCxnSpPr>
          <p:cNvPr id="1410" name="AutoShape 2094"/>
          <p:cNvCxnSpPr>
            <a:stCxn id="1407" idx="0"/>
            <a:endCxn id="1400" idx="6"/>
          </p:cNvCxnSpPr>
          <p:nvPr/>
        </p:nvCxnSpPr>
        <p:spPr>
          <a:xfrm rot="10800000">
            <a:off x="8461800" y="4238640"/>
            <a:ext cx="1181520" cy="624240"/>
          </a:xfrm>
          <a:prstGeom prst="curvedConnector2">
            <a:avLst/>
          </a:prstGeom>
          <a:ln w="38100">
            <a:solidFill>
              <a:srgbClr val="000000"/>
            </a:solidFill>
            <a:prstDash val="dash"/>
            <a:round/>
          </a:ln>
        </p:spPr>
      </p:cxnSp>
      <p:cxnSp>
        <p:nvCxnSpPr>
          <p:cNvPr id="1411" name="AutoShape 2095"/>
          <p:cNvCxnSpPr>
            <a:stCxn id="1398" idx="6"/>
            <a:endCxn id="1407" idx="2"/>
          </p:cNvCxnSpPr>
          <p:nvPr/>
        </p:nvCxnSpPr>
        <p:spPr>
          <a:xfrm>
            <a:off x="8463600" y="5045400"/>
            <a:ext cx="997200" cy="720"/>
          </a:xfrm>
          <a:prstGeom prst="straightConnector1">
            <a:avLst/>
          </a:prstGeom>
          <a:ln w="38100">
            <a:solidFill>
              <a:srgbClr val="44546a"/>
            </a:solidFill>
            <a:round/>
          </a:ln>
        </p:spPr>
      </p:cxnSp>
      <p:sp>
        <p:nvSpPr>
          <p:cNvPr id="1409" name="Oval 2096"/>
          <p:cNvSpPr/>
          <p:nvPr/>
        </p:nvSpPr>
        <p:spPr>
          <a:xfrm>
            <a:off x="8848800" y="56707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algn="ctr" defTabSz="457200">
              <a:lnSpc>
                <a:spcPct val="100000"/>
              </a:lnSpc>
            </a:pPr>
            <a:r>
              <a:rPr b="0" lang="en-US" sz="1800" spc="-1" strike="noStrike">
                <a:solidFill>
                  <a:schemeClr val="dk2"/>
                </a:solidFill>
                <a:latin typeface="Tahoma"/>
                <a:ea typeface="MS PGothic"/>
              </a:rPr>
              <a:t>F</a:t>
            </a:r>
            <a:endParaRPr b="0" lang="en-US" sz="1800" spc="-1" strike="noStrike">
              <a:solidFill>
                <a:srgbClr val="ffffff"/>
              </a:solidFill>
              <a:latin typeface="Arial"/>
            </a:endParaRPr>
          </a:p>
        </p:txBody>
      </p:sp>
      <p:cxnSp>
        <p:nvCxnSpPr>
          <p:cNvPr id="1412" name="AutoShape 2097"/>
          <p:cNvCxnSpPr>
            <a:stCxn id="1398" idx="5"/>
            <a:endCxn id="1409" idx="2"/>
          </p:cNvCxnSpPr>
          <p:nvPr/>
        </p:nvCxnSpPr>
        <p:spPr>
          <a:xfrm>
            <a:off x="8410320" y="5175000"/>
            <a:ext cx="439200" cy="679320"/>
          </a:xfrm>
          <a:prstGeom prst="curvedConnector2">
            <a:avLst/>
          </a:prstGeom>
          <a:ln w="38100">
            <a:solidFill>
              <a:srgbClr val="000000"/>
            </a:solidFill>
            <a:prstDash val="dash"/>
            <a:round/>
          </a:ln>
        </p:spPr>
      </p:cxnSp>
      <p:sp>
        <p:nvSpPr>
          <p:cNvPr id="1413" name="Text Box 2098"/>
          <p:cNvSpPr/>
          <p:nvPr/>
        </p:nvSpPr>
        <p:spPr>
          <a:xfrm>
            <a:off x="8332200" y="38275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0</a:t>
            </a:r>
            <a:endParaRPr b="0" lang="en-US" sz="1800" spc="-1" strike="noStrike">
              <a:solidFill>
                <a:srgbClr val="000000"/>
              </a:solidFill>
              <a:latin typeface="Arial"/>
            </a:endParaRPr>
          </a:p>
        </p:txBody>
      </p:sp>
      <p:sp>
        <p:nvSpPr>
          <p:cNvPr id="1414" name="Text Box 2099"/>
          <p:cNvSpPr/>
          <p:nvPr/>
        </p:nvSpPr>
        <p:spPr>
          <a:xfrm>
            <a:off x="9722880" y="46544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3</a:t>
            </a:r>
            <a:endParaRPr b="0" lang="en-US" sz="1800" spc="-1" strike="noStrike">
              <a:solidFill>
                <a:srgbClr val="000000"/>
              </a:solidFill>
              <a:latin typeface="Arial"/>
            </a:endParaRPr>
          </a:p>
        </p:txBody>
      </p:sp>
      <p:sp>
        <p:nvSpPr>
          <p:cNvPr id="1415" name="Text Box 2100"/>
          <p:cNvSpPr/>
          <p:nvPr/>
        </p:nvSpPr>
        <p:spPr>
          <a:xfrm>
            <a:off x="8363880" y="46544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416" name="Text Box 2101"/>
          <p:cNvSpPr/>
          <p:nvPr/>
        </p:nvSpPr>
        <p:spPr>
          <a:xfrm>
            <a:off x="6992280" y="46544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7</a:t>
            </a:r>
            <a:endParaRPr b="0" lang="en-US" sz="1800" spc="-1" strike="noStrike">
              <a:solidFill>
                <a:srgbClr val="000000"/>
              </a:solidFill>
              <a:latin typeface="Arial"/>
            </a:endParaRPr>
          </a:p>
        </p:txBody>
      </p:sp>
      <p:sp>
        <p:nvSpPr>
          <p:cNvPr id="1417" name="Text Box 2102"/>
          <p:cNvSpPr/>
          <p:nvPr/>
        </p:nvSpPr>
        <p:spPr>
          <a:xfrm>
            <a:off x="7206840" y="537840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5</a:t>
            </a:r>
            <a:endParaRPr b="0" lang="en-US" sz="1800" spc="-1" strike="noStrike">
              <a:solidFill>
                <a:srgbClr val="000000"/>
              </a:solidFill>
              <a:latin typeface="Arial"/>
            </a:endParaRPr>
          </a:p>
        </p:txBody>
      </p:sp>
      <p:sp>
        <p:nvSpPr>
          <p:cNvPr id="1418" name="Text Box 2103"/>
          <p:cNvSpPr/>
          <p:nvPr/>
        </p:nvSpPr>
        <p:spPr>
          <a:xfrm>
            <a:off x="9030960" y="537840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8</a:t>
            </a:r>
            <a:endParaRPr b="0" lang="en-US" sz="1800" spc="-1" strike="noStrike">
              <a:solidFill>
                <a:srgbClr val="000000"/>
              </a:solidFill>
              <a:latin typeface="Arial"/>
            </a:endParaRPr>
          </a:p>
        </p:txBody>
      </p:sp>
      <p:sp>
        <p:nvSpPr>
          <p:cNvPr id="1419" name="Text Box 2104"/>
          <p:cNvSpPr/>
          <p:nvPr/>
        </p:nvSpPr>
        <p:spPr>
          <a:xfrm>
            <a:off x="9170640" y="40705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4</a:t>
            </a:r>
            <a:endParaRPr b="0" lang="en-US" sz="1800" spc="-1" strike="noStrike">
              <a:solidFill>
                <a:srgbClr val="000000"/>
              </a:solidFill>
              <a:latin typeface="Arial"/>
            </a:endParaRPr>
          </a:p>
        </p:txBody>
      </p:sp>
      <p:sp>
        <p:nvSpPr>
          <p:cNvPr id="1420" name="Text Box 2105"/>
          <p:cNvSpPr/>
          <p:nvPr/>
        </p:nvSpPr>
        <p:spPr>
          <a:xfrm>
            <a:off x="7030440" y="41324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8</a:t>
            </a:r>
            <a:endParaRPr b="0" lang="en-US" sz="1800" spc="-1" strike="noStrike">
              <a:solidFill>
                <a:srgbClr val="000000"/>
              </a:solidFill>
              <a:latin typeface="Arial"/>
            </a:endParaRPr>
          </a:p>
        </p:txBody>
      </p:sp>
      <p:sp>
        <p:nvSpPr>
          <p:cNvPr id="1421" name="Text Box 2106"/>
          <p:cNvSpPr/>
          <p:nvPr/>
        </p:nvSpPr>
        <p:spPr>
          <a:xfrm>
            <a:off x="7411680" y="47419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7</a:t>
            </a:r>
            <a:endParaRPr b="0" lang="en-US" sz="1800" spc="-1" strike="noStrike">
              <a:solidFill>
                <a:srgbClr val="000000"/>
              </a:solidFill>
              <a:latin typeface="Arial"/>
            </a:endParaRPr>
          </a:p>
        </p:txBody>
      </p:sp>
      <p:sp>
        <p:nvSpPr>
          <p:cNvPr id="1422" name="Text Box 2107"/>
          <p:cNvSpPr/>
          <p:nvPr/>
        </p:nvSpPr>
        <p:spPr>
          <a:xfrm>
            <a:off x="8859240" y="474192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1</a:t>
            </a:r>
            <a:endParaRPr b="0" lang="en-US" sz="1800" spc="-1" strike="noStrike">
              <a:solidFill>
                <a:srgbClr val="000000"/>
              </a:solidFill>
              <a:latin typeface="Arial"/>
            </a:endParaRPr>
          </a:p>
        </p:txBody>
      </p:sp>
      <p:sp>
        <p:nvSpPr>
          <p:cNvPr id="1423" name="Text Box 2108"/>
          <p:cNvSpPr/>
          <p:nvPr/>
        </p:nvSpPr>
        <p:spPr>
          <a:xfrm>
            <a:off x="6725880" y="55418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424" name="Text Box 2109"/>
          <p:cNvSpPr/>
          <p:nvPr/>
        </p:nvSpPr>
        <p:spPr>
          <a:xfrm>
            <a:off x="9469080" y="55418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5</a:t>
            </a:r>
            <a:endParaRPr b="0" lang="en-US" sz="1800" spc="-1" strike="noStrike">
              <a:solidFill>
                <a:srgbClr val="000000"/>
              </a:solidFill>
              <a:latin typeface="Arial"/>
            </a:endParaRPr>
          </a:p>
        </p:txBody>
      </p:sp>
      <p:sp>
        <p:nvSpPr>
          <p:cNvPr id="1425" name="Text Box 2110"/>
          <p:cNvSpPr/>
          <p:nvPr/>
        </p:nvSpPr>
        <p:spPr>
          <a:xfrm>
            <a:off x="7944840" y="443700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426" name="Text Box 2111"/>
          <p:cNvSpPr/>
          <p:nvPr/>
        </p:nvSpPr>
        <p:spPr>
          <a:xfrm>
            <a:off x="7792560" y="52754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2"/>
                </a:solidFill>
                <a:latin typeface="Times New Roman"/>
                <a:ea typeface="MS PGothic"/>
              </a:rPr>
              <a:t>3</a:t>
            </a:r>
            <a:endParaRPr b="0" lang="en-US" sz="1800" spc="-1" strike="noStrike">
              <a:solidFill>
                <a:srgbClr val="000000"/>
              </a:solidFill>
              <a:latin typeface="Arial"/>
            </a:endParaRPr>
          </a:p>
        </p:txBody>
      </p:sp>
      <p:sp>
        <p:nvSpPr>
          <p:cNvPr id="1427" name="Text Box 2112"/>
          <p:cNvSpPr/>
          <p:nvPr/>
        </p:nvSpPr>
        <p:spPr>
          <a:xfrm>
            <a:off x="8440200" y="5275440"/>
            <a:ext cx="294480" cy="36396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800" spc="-1" strike="noStrike">
                <a:solidFill>
                  <a:schemeClr val="dk1"/>
                </a:solidFill>
                <a:latin typeface="Times New Roman"/>
                <a:ea typeface="MS PGothic"/>
              </a:rPr>
              <a:t>9</a:t>
            </a:r>
            <a:endParaRPr b="0" lang="en-US" sz="1800" spc="-1" strike="noStrike">
              <a:solidFill>
                <a:srgbClr val="000000"/>
              </a:solidFill>
              <a:latin typeface="Arial"/>
            </a:endParaRPr>
          </a:p>
        </p:txBody>
      </p:sp>
      <p:sp>
        <p:nvSpPr>
          <p:cNvPr id="1428" name="AutoShape 2113"/>
          <p:cNvSpPr/>
          <p:nvPr/>
        </p:nvSpPr>
        <p:spPr>
          <a:xfrm flipH="1" flipV="1" rot="13500000">
            <a:off x="6032880" y="3872520"/>
            <a:ext cx="608040" cy="331560"/>
          </a:xfrm>
          <a:prstGeom prst="rightArrow">
            <a:avLst>
              <a:gd name="adj1" fmla="val 50000"/>
              <a:gd name="adj2" fmla="val 45714"/>
            </a:avLst>
          </a:prstGeom>
          <a:noFill/>
          <a:ln w="19050">
            <a:solidFill>
              <a:srgbClr val="000000"/>
            </a:solidFill>
            <a:miter/>
          </a:ln>
        </p:spPr>
        <p:style>
          <a:lnRef idx="0"/>
          <a:fillRef idx="0"/>
          <a:effectRef idx="0"/>
          <a:fontRef idx="minor"/>
        </p:style>
        <p:txBody>
          <a:bodyPr wrap="none" lIns="90000" rIns="90000" tIns="45000" bIns="45000" anchor="ctr">
            <a:noAutofit/>
          </a:bodyPr>
          <a:p>
            <a:pPr algn="ctr" defTabSz="457200">
              <a:lnSpc>
                <a:spcPct val="100000"/>
              </a:lnSpc>
            </a:pPr>
            <a:endParaRPr b="0" lang="en-US" sz="2400" spc="-1" strike="noStrike">
              <a:solidFill>
                <a:schemeClr val="dk1"/>
              </a:solidFill>
              <a:latin typeface="Tahoma"/>
              <a:ea typeface="MS PGothic"/>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9"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Dijkstra’s Algorithm</a:t>
            </a:r>
            <a:endParaRPr b="0" lang="en-US" sz="4400" spc="-1" strike="noStrike">
              <a:solidFill>
                <a:srgbClr val="000000"/>
              </a:solidFill>
              <a:latin typeface="Arial"/>
            </a:endParaRPr>
          </a:p>
        </p:txBody>
      </p:sp>
      <p:pic>
        <p:nvPicPr>
          <p:cNvPr id="1430" name="Picture 2" descr=""/>
          <p:cNvPicPr/>
          <p:nvPr/>
        </p:nvPicPr>
        <p:blipFill>
          <a:blip r:embed="rId1"/>
          <a:stretch/>
        </p:blipFill>
        <p:spPr>
          <a:xfrm>
            <a:off x="2335680" y="1310400"/>
            <a:ext cx="8105760" cy="4443480"/>
          </a:xfrm>
          <a:prstGeom prst="rect">
            <a:avLst/>
          </a:prstGeom>
          <a:ln w="0">
            <a:noFill/>
          </a:ln>
        </p:spPr>
      </p:pic>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1"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Analysis of Dijkstra’s Algorithm</a:t>
            </a:r>
            <a:endParaRPr b="0" lang="en-US" sz="4400" spc="-1" strike="noStrike">
              <a:solidFill>
                <a:srgbClr val="000000"/>
              </a:solidFill>
              <a:latin typeface="Arial"/>
            </a:endParaRPr>
          </a:p>
        </p:txBody>
      </p:sp>
      <p:sp>
        <p:nvSpPr>
          <p:cNvPr id="1432"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Graph operations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We find all the incident edges once for each vertex</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Label operations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We set/get the distance and locator labels of vertex </a:t>
            </a:r>
            <a:r>
              <a:rPr b="1" i="1" lang="en-US" sz="1800" spc="-1" strike="noStrike">
                <a:solidFill>
                  <a:schemeClr val="dk1"/>
                </a:solidFill>
                <a:latin typeface="Times New Roman"/>
              </a:rPr>
              <a:t>z</a:t>
            </a:r>
            <a:r>
              <a:rPr b="0" lang="en-US" sz="1800" spc="-1" strike="noStrike">
                <a:solidFill>
                  <a:schemeClr val="dk1"/>
                </a:solidFill>
                <a:latin typeface="Calibri"/>
              </a:rPr>
              <a:t> </a:t>
            </a:r>
            <a:r>
              <a:rPr b="1" i="1" lang="en-US" sz="1800" spc="-1" strike="noStrike">
                <a:solidFill>
                  <a:schemeClr val="dk1"/>
                </a:solidFill>
                <a:latin typeface="Times New Roman"/>
              </a:rPr>
              <a:t>O</a:t>
            </a:r>
            <a:r>
              <a:rPr b="0" lang="en-US" sz="1800" spc="-1" strike="noStrike">
                <a:solidFill>
                  <a:schemeClr val="dk1"/>
                </a:solidFill>
                <a:latin typeface="Times New Roman"/>
              </a:rPr>
              <a:t>(deg(</a:t>
            </a:r>
            <a:r>
              <a:rPr b="1" i="1" lang="en-US" sz="1800" spc="-1" strike="noStrike">
                <a:solidFill>
                  <a:schemeClr val="dk1"/>
                </a:solidFill>
                <a:latin typeface="Times New Roman"/>
              </a:rPr>
              <a:t>z</a:t>
            </a:r>
            <a:r>
              <a:rPr b="0" lang="en-US" sz="1800" spc="-1" strike="noStrike">
                <a:solidFill>
                  <a:schemeClr val="dk1"/>
                </a:solidFill>
                <a:latin typeface="Times New Roman"/>
              </a:rPr>
              <a:t>))</a:t>
            </a:r>
            <a:r>
              <a:rPr b="0" lang="en-US" sz="1800" spc="-1" strike="noStrike">
                <a:solidFill>
                  <a:schemeClr val="dk1"/>
                </a:solidFill>
                <a:latin typeface="Calibri"/>
              </a:rPr>
              <a:t> times</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Setting/getting a label takes </a:t>
            </a:r>
            <a:r>
              <a:rPr b="1" i="1" lang="en-US" sz="1800" spc="-1" strike="noStrike">
                <a:solidFill>
                  <a:schemeClr val="dk1"/>
                </a:solidFill>
                <a:latin typeface="Times New Roman"/>
              </a:rPr>
              <a:t>O</a:t>
            </a:r>
            <a:r>
              <a:rPr b="0" lang="en-US" sz="1800" spc="-1" strike="noStrike">
                <a:solidFill>
                  <a:schemeClr val="dk1"/>
                </a:solidFill>
                <a:latin typeface="Times New Roman"/>
              </a:rPr>
              <a:t>(1)</a:t>
            </a:r>
            <a:r>
              <a:rPr b="0" lang="en-US" sz="1800" spc="-1" strike="noStrike">
                <a:solidFill>
                  <a:schemeClr val="dk1"/>
                </a:solidFill>
                <a:latin typeface="Calibri"/>
              </a:rPr>
              <a:t> time</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Priority queue operations</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Each vertex is inserted once into and removed once from the priority queue, where each insertion or removal takes </a:t>
            </a:r>
            <a:r>
              <a:rPr b="1" i="1" lang="en-US" sz="1800" spc="-1" strike="noStrike">
                <a:solidFill>
                  <a:schemeClr val="dk1"/>
                </a:solidFill>
                <a:latin typeface="Times New Roman"/>
              </a:rPr>
              <a:t>O</a:t>
            </a:r>
            <a:r>
              <a:rPr b="0" lang="en-US" sz="1800" spc="-1" strike="noStrike">
                <a:solidFill>
                  <a:schemeClr val="dk1"/>
                </a:solidFill>
                <a:latin typeface="Times New Roman"/>
              </a:rPr>
              <a:t>(log </a:t>
            </a:r>
            <a:r>
              <a:rPr b="1" i="1" lang="en-US" sz="1800" spc="-1" strike="noStrike">
                <a:solidFill>
                  <a:schemeClr val="dk1"/>
                </a:solidFill>
                <a:latin typeface="Times New Roman"/>
              </a:rPr>
              <a:t>n</a:t>
            </a:r>
            <a:r>
              <a:rPr b="0" lang="en-US" sz="1800" spc="-1" strike="noStrike">
                <a:solidFill>
                  <a:schemeClr val="dk1"/>
                </a:solidFill>
                <a:latin typeface="Times New Roman"/>
              </a:rPr>
              <a:t>) </a:t>
            </a:r>
            <a:r>
              <a:rPr b="0" lang="en-US" sz="1800" spc="-1" strike="noStrike">
                <a:solidFill>
                  <a:schemeClr val="dk1"/>
                </a:solidFill>
                <a:latin typeface="Calibri"/>
              </a:rPr>
              <a:t>time</a:t>
            </a:r>
            <a:endParaRPr b="0" lang="en-US" sz="1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The key of a vertex in the priority queue is modified at most </a:t>
            </a:r>
            <a:r>
              <a:rPr b="0" lang="en-US" sz="1800" spc="-1" strike="noStrike">
                <a:solidFill>
                  <a:schemeClr val="dk1"/>
                </a:solidFill>
                <a:latin typeface="Times New Roman"/>
              </a:rPr>
              <a:t>deg(</a:t>
            </a:r>
            <a:r>
              <a:rPr b="1" i="1" lang="en-US" sz="1800" spc="-1" strike="noStrike">
                <a:solidFill>
                  <a:schemeClr val="dk1"/>
                </a:solidFill>
                <a:latin typeface="Times New Roman"/>
              </a:rPr>
              <a:t>w</a:t>
            </a:r>
            <a:r>
              <a:rPr b="0" lang="en-US" sz="1800" spc="-1" strike="noStrike">
                <a:solidFill>
                  <a:schemeClr val="dk1"/>
                </a:solidFill>
                <a:latin typeface="Times New Roman"/>
              </a:rPr>
              <a:t>) </a:t>
            </a:r>
            <a:r>
              <a:rPr b="0" lang="en-US" sz="1800" spc="-1" strike="noStrike">
                <a:solidFill>
                  <a:schemeClr val="dk1"/>
                </a:solidFill>
                <a:latin typeface="Calibri"/>
              </a:rPr>
              <a:t>times, where each key change takes </a:t>
            </a:r>
            <a:r>
              <a:rPr b="1" i="1" lang="en-US" sz="1800" spc="-1" strike="noStrike">
                <a:solidFill>
                  <a:schemeClr val="dk1"/>
                </a:solidFill>
                <a:latin typeface="Times New Roman"/>
              </a:rPr>
              <a:t>O</a:t>
            </a:r>
            <a:r>
              <a:rPr b="0" lang="en-US" sz="1800" spc="-1" strike="noStrike">
                <a:solidFill>
                  <a:schemeClr val="dk1"/>
                </a:solidFill>
                <a:latin typeface="Times New Roman"/>
              </a:rPr>
              <a:t>(log </a:t>
            </a:r>
            <a:r>
              <a:rPr b="1" i="1" lang="en-US" sz="1800" spc="-1" strike="noStrike">
                <a:solidFill>
                  <a:schemeClr val="dk1"/>
                </a:solidFill>
                <a:latin typeface="Times New Roman"/>
              </a:rPr>
              <a:t>n</a:t>
            </a:r>
            <a:r>
              <a:rPr b="0" lang="en-US" sz="1800" spc="-1" strike="noStrike">
                <a:solidFill>
                  <a:schemeClr val="dk1"/>
                </a:solidFill>
                <a:latin typeface="Times New Roman"/>
              </a:rPr>
              <a:t>) </a:t>
            </a:r>
            <a:r>
              <a:rPr b="0" lang="en-US" sz="1800" spc="-1" strike="noStrike">
                <a:solidFill>
                  <a:schemeClr val="dk1"/>
                </a:solidFill>
                <a:latin typeface="Calibri"/>
              </a:rPr>
              <a:t>time </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Dijkstra’s algorithm runs in </a:t>
            </a:r>
            <a:r>
              <a:rPr b="1" i="1" lang="en-US" sz="2000" spc="-1" strike="noStrike">
                <a:solidFill>
                  <a:schemeClr val="dk1"/>
                </a:solidFill>
                <a:latin typeface="Times New Roman"/>
              </a:rPr>
              <a:t>O</a:t>
            </a:r>
            <a:r>
              <a:rPr b="0" lang="en-US" sz="2000" spc="-1" strike="noStrike">
                <a:solidFill>
                  <a:schemeClr val="dk1"/>
                </a:solidFill>
                <a:latin typeface="Times New Roman"/>
              </a:rPr>
              <a:t>((</a:t>
            </a:r>
            <a:r>
              <a:rPr b="1" i="1" lang="en-US" sz="2000" spc="-1" strike="noStrike">
                <a:solidFill>
                  <a:schemeClr val="dk1"/>
                </a:solidFill>
                <a:latin typeface="Times New Roman"/>
              </a:rPr>
              <a:t>n </a:t>
            </a:r>
            <a:r>
              <a:rPr b="0" lang="en-US" sz="2000" spc="-1" strike="noStrike">
                <a:solidFill>
                  <a:schemeClr val="dk1"/>
                </a:solidFill>
                <a:latin typeface="Symbol"/>
              </a:rPr>
              <a:t>+</a:t>
            </a:r>
            <a:r>
              <a:rPr b="1" i="1" lang="en-US" sz="2000" spc="-1" strike="noStrike">
                <a:solidFill>
                  <a:schemeClr val="dk1"/>
                </a:solidFill>
                <a:latin typeface="Times New Roman"/>
              </a:rPr>
              <a:t> m</a:t>
            </a:r>
            <a:r>
              <a:rPr b="0" lang="en-US" sz="2000" spc="-1" strike="noStrike">
                <a:solidFill>
                  <a:schemeClr val="dk1"/>
                </a:solidFill>
                <a:latin typeface="Times New Roman"/>
              </a:rPr>
              <a:t>) log </a:t>
            </a:r>
            <a:r>
              <a:rPr b="1" i="1" lang="en-US" sz="2000" spc="-1" strike="noStrike">
                <a:solidFill>
                  <a:schemeClr val="dk1"/>
                </a:solidFill>
                <a:latin typeface="Times New Roman"/>
              </a:rPr>
              <a:t>n</a:t>
            </a:r>
            <a:r>
              <a:rPr b="0" lang="en-US" sz="2000" spc="-1" strike="noStrike">
                <a:solidFill>
                  <a:schemeClr val="dk1"/>
                </a:solidFill>
                <a:latin typeface="Times New Roman"/>
              </a:rPr>
              <a:t>)</a:t>
            </a:r>
            <a:r>
              <a:rPr b="0" lang="en-US" sz="2000" spc="-1" strike="noStrike">
                <a:solidFill>
                  <a:schemeClr val="dk1"/>
                </a:solidFill>
                <a:latin typeface="Calibri"/>
              </a:rPr>
              <a:t> time provided the graph is represented by the adjacency list/map structure</a:t>
            </a:r>
            <a:endParaRPr b="0" lang="en-US" sz="20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1800" spc="-1" strike="noStrike">
                <a:solidFill>
                  <a:schemeClr val="dk1"/>
                </a:solidFill>
                <a:latin typeface="Calibri"/>
              </a:rPr>
              <a:t>Recall that </a:t>
            </a:r>
            <a:r>
              <a:rPr b="1" lang="en-US" sz="2400" spc="-1" strike="noStrike">
                <a:solidFill>
                  <a:schemeClr val="dk1"/>
                </a:solidFill>
                <a:latin typeface="Symbol"/>
              </a:rPr>
              <a:t>S</a:t>
            </a:r>
            <a:r>
              <a:rPr b="1" i="1" lang="en-US" sz="1800" spc="-1" strike="noStrike" baseline="-25000">
                <a:solidFill>
                  <a:schemeClr val="dk1"/>
                </a:solidFill>
                <a:latin typeface="Times New Roman"/>
              </a:rPr>
              <a:t>v </a:t>
            </a:r>
            <a:r>
              <a:rPr b="0" lang="en-US" sz="1800" spc="-1" strike="noStrike">
                <a:solidFill>
                  <a:schemeClr val="dk1"/>
                </a:solidFill>
                <a:latin typeface="Times New Roman"/>
              </a:rPr>
              <a:t>deg(</a:t>
            </a:r>
            <a:r>
              <a:rPr b="1" i="1" lang="en-US" sz="1800" spc="-1" strike="noStrike">
                <a:solidFill>
                  <a:schemeClr val="dk1"/>
                </a:solidFill>
                <a:latin typeface="Times New Roman"/>
              </a:rPr>
              <a:t>v</a:t>
            </a:r>
            <a:r>
              <a:rPr b="0" lang="en-US" sz="1800" spc="-1" strike="noStrike">
                <a:solidFill>
                  <a:schemeClr val="dk1"/>
                </a:solidFill>
                <a:latin typeface="Times New Roman"/>
              </a:rPr>
              <a:t>)</a:t>
            </a:r>
            <a:r>
              <a:rPr b="1" i="1" lang="en-US" sz="1800" spc="-1" strike="noStrike">
                <a:solidFill>
                  <a:schemeClr val="dk1"/>
                </a:solidFill>
                <a:latin typeface="Times New Roman"/>
              </a:rPr>
              <a:t> </a:t>
            </a:r>
            <a:r>
              <a:rPr b="0" lang="en-US" sz="1800" spc="-1" strike="noStrike">
                <a:solidFill>
                  <a:schemeClr val="dk1"/>
                </a:solidFill>
                <a:latin typeface="Symbol"/>
              </a:rPr>
              <a:t>= </a:t>
            </a:r>
            <a:r>
              <a:rPr b="0" lang="en-US" sz="1800" spc="-1" strike="noStrike">
                <a:solidFill>
                  <a:schemeClr val="dk1"/>
                </a:solidFill>
                <a:latin typeface="Times New Roman"/>
              </a:rPr>
              <a:t>2</a:t>
            </a:r>
            <a:r>
              <a:rPr b="1" i="1" lang="en-US" sz="1800" spc="-1" strike="noStrike">
                <a:solidFill>
                  <a:schemeClr val="dk1"/>
                </a:solidFill>
                <a:latin typeface="Times New Roman"/>
              </a:rPr>
              <a:t>m</a:t>
            </a:r>
            <a:endParaRPr b="0" lang="en-US" sz="1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chemeClr val="dk1"/>
                </a:solidFill>
                <a:latin typeface="Calibri"/>
              </a:rPr>
              <a:t>The running time can also be expressed as </a:t>
            </a:r>
            <a:r>
              <a:rPr b="1" i="1" lang="en-US" sz="2000" spc="-1" strike="noStrike">
                <a:solidFill>
                  <a:schemeClr val="dk1"/>
                </a:solidFill>
                <a:latin typeface="Times New Roman"/>
              </a:rPr>
              <a:t>O</a:t>
            </a:r>
            <a:r>
              <a:rPr b="0" lang="en-US" sz="2000" spc="-1" strike="noStrike">
                <a:solidFill>
                  <a:schemeClr val="dk1"/>
                </a:solidFill>
                <a:latin typeface="Times New Roman"/>
              </a:rPr>
              <a:t>(</a:t>
            </a:r>
            <a:r>
              <a:rPr b="1" i="1" lang="en-US" sz="2000" spc="-1" strike="noStrike">
                <a:solidFill>
                  <a:schemeClr val="dk1"/>
                </a:solidFill>
                <a:latin typeface="Times New Roman"/>
              </a:rPr>
              <a:t>m</a:t>
            </a:r>
            <a:r>
              <a:rPr b="0" lang="en-US" sz="2000" spc="-1" strike="noStrike">
                <a:solidFill>
                  <a:schemeClr val="dk1"/>
                </a:solidFill>
                <a:latin typeface="Times New Roman"/>
              </a:rPr>
              <a:t> log </a:t>
            </a:r>
            <a:r>
              <a:rPr b="1" i="1" lang="en-US" sz="2000" spc="-1" strike="noStrike">
                <a:solidFill>
                  <a:schemeClr val="dk1"/>
                </a:solidFill>
                <a:latin typeface="Times New Roman"/>
              </a:rPr>
              <a:t>n</a:t>
            </a:r>
            <a:r>
              <a:rPr b="0" lang="en-US" sz="2000" spc="-1" strike="noStrike">
                <a:solidFill>
                  <a:schemeClr val="dk1"/>
                </a:solidFill>
                <a:latin typeface="Times New Roman"/>
              </a:rPr>
              <a:t>)</a:t>
            </a:r>
            <a:r>
              <a:rPr b="0" lang="en-US" sz="2000" spc="-1" strike="noStrike">
                <a:solidFill>
                  <a:schemeClr val="dk1"/>
                </a:solidFill>
                <a:latin typeface="Calibri"/>
              </a:rPr>
              <a:t> since the graph is connected</a:t>
            </a:r>
            <a:endParaRPr b="0" lang="en-US" sz="2000" spc="-1" strike="noStrike">
              <a:solidFill>
                <a:srgbClr val="000000"/>
              </a:solidFill>
              <a:latin typeface="Arial"/>
            </a:endParaRPr>
          </a:p>
        </p:txBody>
      </p:sp>
      <p:sp>
        <p:nvSpPr>
          <p:cNvPr id="1433" name="PlaceHolder 3"/>
          <p:cNvSpPr>
            <a:spLocks noGrp="1"/>
          </p:cNvSpPr>
          <p:nvPr>
            <p:ph type="ftr" idx="86"/>
          </p:nvPr>
        </p:nvSpPr>
        <p:spPr>
          <a:xfrm>
            <a:off x="4038480" y="6356520"/>
            <a:ext cx="4113360" cy="363600"/>
          </a:xfrm>
          <a:prstGeom prst="rect">
            <a:avLst/>
          </a:prstGeom>
          <a:noFill/>
          <a:ln w="0">
            <a:noFill/>
          </a:ln>
        </p:spPr>
        <p:txBody>
          <a:bodyPr lIns="91440" rIns="91440" tIns="45720" bIns="45720" anchor="ctr">
            <a:noAutofit/>
          </a:bodyPr>
          <a:lstStyle>
            <a:lvl1pPr indent="0" algn="ct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ctr" defTabSz="457200">
              <a:lnSpc>
                <a:spcPct val="100000"/>
              </a:lnSpc>
              <a:buNone/>
              <a:tabLst>
                <a:tab algn="l" pos="0"/>
              </a:tabLst>
            </a:pPr>
            <a:r>
              <a:rPr b="0" lang="en-US" sz="1400" spc="-1" strike="noStrike">
                <a:solidFill>
                  <a:schemeClr val="dk1">
                    <a:tint val="75000"/>
                  </a:schemeClr>
                </a:solidFill>
                <a:latin typeface="Tahoma"/>
                <a:ea typeface="MS PGothic"/>
              </a:rPr>
              <a:t>Shortest Paths</a:t>
            </a:r>
            <a:endParaRPr b="0" lang="en-US" sz="1400" spc="-1" strike="noStrike">
              <a:solidFill>
                <a:srgbClr val="000000"/>
              </a:solidFill>
              <a:latin typeface="Times New Roman"/>
            </a:endParaRPr>
          </a:p>
        </p:txBody>
      </p:sp>
      <p:sp>
        <p:nvSpPr>
          <p:cNvPr id="1434" name="PlaceHolder 4"/>
          <p:cNvSpPr>
            <a:spLocks noGrp="1"/>
          </p:cNvSpPr>
          <p:nvPr>
            <p:ph type="sldNum" idx="87"/>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B5865B97-6D14-4B8B-A085-52AEC46B7FFD}"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5"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Python Implementation</a:t>
            </a:r>
            <a:endParaRPr b="0" lang="en-US" sz="4400" spc="-1" strike="noStrike">
              <a:solidFill>
                <a:srgbClr val="000000"/>
              </a:solidFill>
              <a:latin typeface="Arial"/>
            </a:endParaRPr>
          </a:p>
        </p:txBody>
      </p:sp>
      <p:sp>
        <p:nvSpPr>
          <p:cNvPr id="1436" name="PlaceHolder 2"/>
          <p:cNvSpPr>
            <a:spLocks noGrp="1"/>
          </p:cNvSpPr>
          <p:nvPr>
            <p:ph type="ftr" idx="88"/>
          </p:nvPr>
        </p:nvSpPr>
        <p:spPr>
          <a:xfrm>
            <a:off x="4038480" y="6356520"/>
            <a:ext cx="4113360" cy="363600"/>
          </a:xfrm>
          <a:prstGeom prst="rect">
            <a:avLst/>
          </a:prstGeom>
          <a:noFill/>
          <a:ln w="0">
            <a:noFill/>
          </a:ln>
        </p:spPr>
        <p:txBody>
          <a:bodyPr lIns="91440" rIns="91440" tIns="45720" bIns="45720" anchor="ctr">
            <a:noAutofit/>
          </a:bodyPr>
          <a:lstStyle>
            <a:lvl1pPr indent="0" algn="ctr" defTabSz="457200">
              <a:lnSpc>
                <a:spcPct val="100000"/>
              </a:lnSpc>
              <a:buNone/>
              <a:tabLst>
                <a:tab algn="l" pos="0"/>
              </a:tabLst>
              <a:defRPr b="0" lang="en-US" sz="1200" spc="-1" strike="noStrike">
                <a:solidFill>
                  <a:schemeClr val="dk1">
                    <a:tint val="75000"/>
                  </a:schemeClr>
                </a:solidFill>
                <a:latin typeface="Calibri"/>
              </a:defRPr>
            </a:lvl1pPr>
          </a:lstStyle>
          <a:p>
            <a:pPr indent="0" algn="ctr" defTabSz="457200">
              <a:lnSpc>
                <a:spcPct val="100000"/>
              </a:lnSpc>
              <a:buNone/>
              <a:tabLst>
                <a:tab algn="l" pos="0"/>
              </a:tabLst>
            </a:pPr>
            <a:r>
              <a:rPr b="0" lang="en-US" sz="1200" spc="-1" strike="noStrike">
                <a:solidFill>
                  <a:schemeClr val="dk1">
                    <a:tint val="75000"/>
                  </a:schemeClr>
                </a:solidFill>
                <a:latin typeface="Calibri"/>
              </a:rPr>
              <a:t>Shortest Paths</a:t>
            </a:r>
            <a:endParaRPr b="0" lang="en-US" sz="1200" spc="-1" strike="noStrike">
              <a:solidFill>
                <a:srgbClr val="000000"/>
              </a:solidFill>
              <a:latin typeface="Times New Roman"/>
            </a:endParaRPr>
          </a:p>
        </p:txBody>
      </p:sp>
      <p:sp>
        <p:nvSpPr>
          <p:cNvPr id="1437" name="PlaceHolder 3"/>
          <p:cNvSpPr>
            <a:spLocks noGrp="1"/>
          </p:cNvSpPr>
          <p:nvPr>
            <p:ph type="sldNum" idx="89"/>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D85F1C88-7267-48EC-8B39-79A5E49D2C3E}"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pic>
        <p:nvPicPr>
          <p:cNvPr id="1438" name="Picture 5" descr=""/>
          <p:cNvPicPr/>
          <p:nvPr/>
        </p:nvPicPr>
        <p:blipFill>
          <a:blip r:embed="rId1"/>
          <a:stretch/>
        </p:blipFill>
        <p:spPr>
          <a:xfrm>
            <a:off x="4030560" y="838080"/>
            <a:ext cx="4475160" cy="5637240"/>
          </a:xfrm>
          <a:prstGeom prst="rect">
            <a:avLst/>
          </a:prstGeom>
          <a:ln w="0">
            <a:noFill/>
          </a:ln>
        </p:spPr>
      </p:pic>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9" name="PlaceHolder 1"/>
          <p:cNvSpPr>
            <a:spLocks noGrp="1"/>
          </p:cNvSpPr>
          <p:nvPr>
            <p:ph type="title"/>
          </p:nvPr>
        </p:nvSpPr>
        <p:spPr>
          <a:xfrm>
            <a:off x="838080" y="365040"/>
            <a:ext cx="10514160" cy="64260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Why Dijkstra’s Algorithm Works</a:t>
            </a:r>
            <a:endParaRPr b="0" lang="en-US" sz="4400" spc="-1" strike="noStrike">
              <a:solidFill>
                <a:srgbClr val="000000"/>
              </a:solidFill>
              <a:latin typeface="Arial"/>
            </a:endParaRPr>
          </a:p>
        </p:txBody>
      </p:sp>
      <p:sp>
        <p:nvSpPr>
          <p:cNvPr id="1440" name="PlaceHolder 2"/>
          <p:cNvSpPr>
            <a:spLocks noGrp="1"/>
          </p:cNvSpPr>
          <p:nvPr>
            <p:ph/>
          </p:nvPr>
        </p:nvSpPr>
        <p:spPr>
          <a:xfrm>
            <a:off x="838080" y="1107000"/>
            <a:ext cx="10514160" cy="50684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400" spc="-1" strike="noStrike">
                <a:solidFill>
                  <a:schemeClr val="dk1"/>
                </a:solidFill>
                <a:latin typeface="Calibri"/>
              </a:rPr>
              <a:t>Dijkstra’s algorithm is based on the greedy method. It adds vertices by increasing distance.</a:t>
            </a:r>
            <a:endParaRPr b="0" lang="en-US" sz="2400" spc="-1" strike="noStrike">
              <a:solidFill>
                <a:srgbClr val="000000"/>
              </a:solidFill>
              <a:latin typeface="Arial"/>
            </a:endParaRPr>
          </a:p>
        </p:txBody>
      </p:sp>
      <p:sp>
        <p:nvSpPr>
          <p:cNvPr id="1441" name="PlaceHolder 3"/>
          <p:cNvSpPr>
            <a:spLocks noGrp="1"/>
          </p:cNvSpPr>
          <p:nvPr>
            <p:ph type="ftr" idx="90"/>
          </p:nvPr>
        </p:nvSpPr>
        <p:spPr>
          <a:xfrm>
            <a:off x="4038480" y="6356520"/>
            <a:ext cx="4113360" cy="363600"/>
          </a:xfrm>
          <a:prstGeom prst="rect">
            <a:avLst/>
          </a:prstGeom>
          <a:noFill/>
          <a:ln w="0">
            <a:noFill/>
          </a:ln>
        </p:spPr>
        <p:txBody>
          <a:bodyPr lIns="91440" rIns="91440" tIns="45720" bIns="45720" anchor="ctr">
            <a:noAutofit/>
          </a:bodyPr>
          <a:lstStyle>
            <a:lvl1pPr indent="0" algn="ct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ctr" defTabSz="457200">
              <a:lnSpc>
                <a:spcPct val="100000"/>
              </a:lnSpc>
              <a:buNone/>
              <a:tabLst>
                <a:tab algn="l" pos="0"/>
              </a:tabLst>
            </a:pPr>
            <a:r>
              <a:rPr b="0" lang="en-US" sz="1400" spc="-1" strike="noStrike">
                <a:solidFill>
                  <a:schemeClr val="dk1">
                    <a:tint val="75000"/>
                  </a:schemeClr>
                </a:solidFill>
                <a:latin typeface="Tahoma"/>
                <a:ea typeface="MS PGothic"/>
              </a:rPr>
              <a:t>Shortest Paths</a:t>
            </a:r>
            <a:endParaRPr b="0" lang="en-US" sz="1400" spc="-1" strike="noStrike">
              <a:solidFill>
                <a:srgbClr val="000000"/>
              </a:solidFill>
              <a:latin typeface="Times New Roman"/>
            </a:endParaRPr>
          </a:p>
        </p:txBody>
      </p:sp>
      <p:sp>
        <p:nvSpPr>
          <p:cNvPr id="1442" name="PlaceHolder 4"/>
          <p:cNvSpPr>
            <a:spLocks noGrp="1"/>
          </p:cNvSpPr>
          <p:nvPr>
            <p:ph type="sldNum" idx="91"/>
          </p:nvPr>
        </p:nvSpPr>
        <p:spPr>
          <a:xfrm>
            <a:off x="8610480" y="6356520"/>
            <a:ext cx="274176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400" spc="-1" strike="noStrike">
                <a:solidFill>
                  <a:schemeClr val="dk1">
                    <a:tint val="75000"/>
                  </a:schemeClr>
                </a:solidFill>
                <a:latin typeface="Tahoma"/>
                <a:ea typeface="MS PGothic"/>
              </a:defRPr>
            </a:lvl1pPr>
          </a:lstStyle>
          <a:p>
            <a:pPr indent="0" algn="r" defTabSz="457200">
              <a:lnSpc>
                <a:spcPct val="100000"/>
              </a:lnSpc>
              <a:buNone/>
              <a:tabLst>
                <a:tab algn="l" pos="0"/>
              </a:tabLst>
            </a:pPr>
            <a:fld id="{27F928D6-E673-4C19-9C9B-F287DDE1B35F}" type="slidenum">
              <a:rPr b="0" lang="en-US" sz="1400" spc="-1" strike="noStrike">
                <a:solidFill>
                  <a:schemeClr val="dk1">
                    <a:tint val="75000"/>
                  </a:schemeClr>
                </a:solidFill>
                <a:latin typeface="Tahoma"/>
                <a:ea typeface="MS PGothic"/>
              </a:rPr>
              <a:t>&lt;number&gt;</a:t>
            </a:fld>
            <a:endParaRPr b="0" lang="en-US" sz="1400" spc="-1" strike="noStrike">
              <a:solidFill>
                <a:srgbClr val="000000"/>
              </a:solidFill>
              <a:latin typeface="Times New Roman"/>
            </a:endParaRPr>
          </a:p>
        </p:txBody>
      </p:sp>
      <p:sp>
        <p:nvSpPr>
          <p:cNvPr id="1443" name="Freeform 70"/>
          <p:cNvSpPr/>
          <p:nvPr/>
        </p:nvSpPr>
        <p:spPr>
          <a:xfrm>
            <a:off x="6880320" y="2717640"/>
            <a:ext cx="3710160" cy="2386080"/>
          </a:xfrm>
          <a:custGeom>
            <a:avLst/>
            <a:gdLst>
              <a:gd name="textAreaLeft" fmla="*/ 0 w 3710160"/>
              <a:gd name="textAreaRight" fmla="*/ 3711600 w 3710160"/>
              <a:gd name="textAreaTop" fmla="*/ 0 h 2386080"/>
              <a:gd name="textAreaBottom" fmla="*/ 2387520 h 2386080"/>
            </a:gdLst>
            <a:ahLst/>
            <a:rect l="textAreaLeft" t="textAreaTop" r="textAreaRight" b="textAreaBottom"/>
            <a:pathLst>
              <a:path w="2338" h="1504">
                <a:moveTo>
                  <a:pt x="1271" y="0"/>
                </a:moveTo>
                <a:cubicBezTo>
                  <a:pt x="1459" y="15"/>
                  <a:pt x="1840" y="26"/>
                  <a:pt x="1996" y="184"/>
                </a:cubicBezTo>
                <a:cubicBezTo>
                  <a:pt x="2152" y="342"/>
                  <a:pt x="2338" y="822"/>
                  <a:pt x="2207" y="950"/>
                </a:cubicBezTo>
                <a:cubicBezTo>
                  <a:pt x="2076" y="1078"/>
                  <a:pt x="1426" y="883"/>
                  <a:pt x="1211" y="954"/>
                </a:cubicBezTo>
                <a:cubicBezTo>
                  <a:pt x="996" y="1025"/>
                  <a:pt x="1049" y="1286"/>
                  <a:pt x="917" y="1374"/>
                </a:cubicBezTo>
                <a:cubicBezTo>
                  <a:pt x="785" y="1462"/>
                  <a:pt x="555" y="1504"/>
                  <a:pt x="419" y="1482"/>
                </a:cubicBezTo>
                <a:cubicBezTo>
                  <a:pt x="283" y="1460"/>
                  <a:pt x="164" y="1385"/>
                  <a:pt x="101" y="1242"/>
                </a:cubicBezTo>
                <a:cubicBezTo>
                  <a:pt x="38" y="1099"/>
                  <a:pt x="0" y="808"/>
                  <a:pt x="41" y="624"/>
                </a:cubicBezTo>
                <a:cubicBezTo>
                  <a:pt x="82" y="440"/>
                  <a:pt x="210" y="237"/>
                  <a:pt x="347" y="138"/>
                </a:cubicBezTo>
                <a:cubicBezTo>
                  <a:pt x="484" y="39"/>
                  <a:pt x="709" y="53"/>
                  <a:pt x="863" y="30"/>
                </a:cubicBezTo>
                <a:cubicBezTo>
                  <a:pt x="1017" y="7"/>
                  <a:pt x="1186" y="6"/>
                  <a:pt x="1271" y="0"/>
                </a:cubicBezTo>
                <a:close/>
              </a:path>
            </a:pathLst>
          </a:custGeom>
          <a:solidFill>
            <a:srgbClr val="dddddd"/>
          </a:solidFill>
          <a:ln w="12700">
            <a:solidFill>
              <a:srgbClr val="44546a"/>
            </a:solidFill>
            <a:prstDash val="dash"/>
            <a:round/>
          </a:ln>
        </p:spPr>
        <p:style>
          <a:lnRef idx="0"/>
          <a:fillRef idx="0"/>
          <a:effectRef idx="0"/>
          <a:fontRef idx="minor"/>
        </p:style>
        <p:txBody>
          <a:bodyPr wrap="none" lIns="90000" rIns="90000" tIns="45000" bIns="45000" anchor="ctr">
            <a:noAutofit/>
          </a:bodyPr>
          <a:p>
            <a:pPr defTabSz="457200">
              <a:lnSpc>
                <a:spcPct val="100000"/>
              </a:lnSpc>
            </a:pPr>
            <a:endParaRPr b="0" lang="en-US" sz="1800" spc="-1" strike="noStrike">
              <a:solidFill>
                <a:schemeClr val="dk1"/>
              </a:solidFill>
              <a:latin typeface="Calibri"/>
            </a:endParaRPr>
          </a:p>
        </p:txBody>
      </p:sp>
      <p:sp>
        <p:nvSpPr>
          <p:cNvPr id="1444" name="Oval 71"/>
          <p:cNvSpPr/>
          <p:nvPr/>
        </p:nvSpPr>
        <p:spPr>
          <a:xfrm>
            <a:off x="8404200" y="37339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C</a:t>
            </a:r>
            <a:endParaRPr b="0" lang="en-US" sz="1800" spc="-1" strike="noStrike">
              <a:solidFill>
                <a:srgbClr val="ffffff"/>
              </a:solidFill>
              <a:latin typeface="Arial"/>
            </a:endParaRPr>
          </a:p>
        </p:txBody>
      </p:sp>
      <p:sp>
        <p:nvSpPr>
          <p:cNvPr id="1445" name="Oval 72"/>
          <p:cNvSpPr/>
          <p:nvPr/>
        </p:nvSpPr>
        <p:spPr>
          <a:xfrm>
            <a:off x="7031160" y="37339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2"/>
                </a:solidFill>
                <a:latin typeface="Tahoma"/>
                <a:ea typeface="MS PGothic"/>
              </a:rPr>
              <a:t>B</a:t>
            </a:r>
            <a:endParaRPr b="0" lang="en-US" sz="1800" spc="-1" strike="noStrike">
              <a:solidFill>
                <a:srgbClr val="ffffff"/>
              </a:solidFill>
              <a:latin typeface="Arial"/>
            </a:endParaRPr>
          </a:p>
        </p:txBody>
      </p:sp>
      <p:sp>
        <p:nvSpPr>
          <p:cNvPr id="1446" name="Oval 73"/>
          <p:cNvSpPr/>
          <p:nvPr/>
        </p:nvSpPr>
        <p:spPr>
          <a:xfrm>
            <a:off x="8402760" y="29275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2"/>
                </a:solidFill>
                <a:latin typeface="Tahoma"/>
                <a:ea typeface="MS PGothic"/>
              </a:rPr>
              <a:t>A</a:t>
            </a:r>
            <a:endParaRPr b="0" lang="en-US" sz="1800" spc="-1" strike="noStrike">
              <a:solidFill>
                <a:srgbClr val="ffffff"/>
              </a:solidFill>
              <a:latin typeface="Arial"/>
            </a:endParaRPr>
          </a:p>
        </p:txBody>
      </p:sp>
      <p:sp>
        <p:nvSpPr>
          <p:cNvPr id="1447" name="Oval 74"/>
          <p:cNvSpPr/>
          <p:nvPr/>
        </p:nvSpPr>
        <p:spPr>
          <a:xfrm>
            <a:off x="7640640" y="454176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2"/>
                </a:solidFill>
                <a:latin typeface="Tahoma"/>
                <a:ea typeface="MS PGothic"/>
              </a:rPr>
              <a:t>E</a:t>
            </a:r>
            <a:endParaRPr b="0" lang="en-US" sz="1800" spc="-1" strike="noStrike">
              <a:solidFill>
                <a:srgbClr val="ffffff"/>
              </a:solidFill>
              <a:latin typeface="Arial"/>
            </a:endParaRPr>
          </a:p>
        </p:txBody>
      </p:sp>
      <p:cxnSp>
        <p:nvCxnSpPr>
          <p:cNvPr id="1448" name="AutoShape 75"/>
          <p:cNvCxnSpPr>
            <a:stCxn id="1446" idx="2"/>
            <a:endCxn id="1445" idx="0"/>
          </p:cNvCxnSpPr>
          <p:nvPr/>
        </p:nvCxnSpPr>
        <p:spPr>
          <a:xfrm flipV="1" rot="10800000">
            <a:off x="7213680" y="3110040"/>
            <a:ext cx="1189440" cy="624240"/>
          </a:xfrm>
          <a:prstGeom prst="curvedConnector2">
            <a:avLst/>
          </a:prstGeom>
          <a:ln w="38100">
            <a:solidFill>
              <a:srgbClr val="000000"/>
            </a:solidFill>
            <a:prstDash val="dash"/>
            <a:round/>
          </a:ln>
        </p:spPr>
      </p:cxnSp>
      <p:cxnSp>
        <p:nvCxnSpPr>
          <p:cNvPr id="1449" name="AutoShape 76"/>
          <p:cNvCxnSpPr>
            <a:stCxn id="1447" idx="2"/>
            <a:endCxn id="1445" idx="4"/>
          </p:cNvCxnSpPr>
          <p:nvPr/>
        </p:nvCxnSpPr>
        <p:spPr>
          <a:xfrm rot="10800000">
            <a:off x="7213680" y="4099320"/>
            <a:ext cx="427320" cy="625680"/>
          </a:xfrm>
          <a:prstGeom prst="curvedConnector2">
            <a:avLst/>
          </a:prstGeom>
          <a:ln w="38100">
            <a:solidFill>
              <a:srgbClr val="44546a"/>
            </a:solidFill>
            <a:round/>
          </a:ln>
        </p:spPr>
      </p:cxnSp>
      <p:cxnSp>
        <p:nvCxnSpPr>
          <p:cNvPr id="1450" name="AutoShape 77"/>
          <p:cNvCxnSpPr>
            <a:stCxn id="1447" idx="6"/>
            <a:endCxn id="1444" idx="3"/>
          </p:cNvCxnSpPr>
          <p:nvPr/>
        </p:nvCxnSpPr>
        <p:spPr>
          <a:xfrm flipV="1">
            <a:off x="8006400" y="4046400"/>
            <a:ext cx="451800" cy="678960"/>
          </a:xfrm>
          <a:prstGeom prst="curvedConnector2">
            <a:avLst/>
          </a:prstGeom>
          <a:ln w="38100">
            <a:solidFill>
              <a:srgbClr val="44546a"/>
            </a:solidFill>
            <a:round/>
          </a:ln>
        </p:spPr>
      </p:cxnSp>
      <p:cxnSp>
        <p:nvCxnSpPr>
          <p:cNvPr id="1451" name="AutoShape 78"/>
          <p:cNvCxnSpPr>
            <a:stCxn id="1446" idx="4"/>
            <a:endCxn id="1444" idx="0"/>
          </p:cNvCxnSpPr>
          <p:nvPr/>
        </p:nvCxnSpPr>
        <p:spPr>
          <a:xfrm>
            <a:off x="8585640" y="3293280"/>
            <a:ext cx="2160" cy="441360"/>
          </a:xfrm>
          <a:prstGeom prst="straightConnector1">
            <a:avLst/>
          </a:prstGeom>
          <a:ln w="38100">
            <a:solidFill>
              <a:srgbClr val="44546a"/>
            </a:solidFill>
            <a:round/>
          </a:ln>
        </p:spPr>
      </p:cxnSp>
      <p:cxnSp>
        <p:nvCxnSpPr>
          <p:cNvPr id="1452" name="AutoShape 79"/>
          <p:cNvCxnSpPr>
            <a:stCxn id="1445" idx="6"/>
            <a:endCxn id="1444" idx="2"/>
          </p:cNvCxnSpPr>
          <p:nvPr/>
        </p:nvCxnSpPr>
        <p:spPr>
          <a:xfrm>
            <a:off x="7396920" y="3916800"/>
            <a:ext cx="1008000" cy="720"/>
          </a:xfrm>
          <a:prstGeom prst="straightConnector1">
            <a:avLst/>
          </a:prstGeom>
          <a:ln w="38100">
            <a:solidFill>
              <a:srgbClr val="000000"/>
            </a:solidFill>
            <a:prstDash val="dash"/>
            <a:round/>
          </a:ln>
        </p:spPr>
      </p:cxnSp>
      <p:sp>
        <p:nvSpPr>
          <p:cNvPr id="1453" name="Oval 80"/>
          <p:cNvSpPr/>
          <p:nvPr/>
        </p:nvSpPr>
        <p:spPr>
          <a:xfrm>
            <a:off x="9766440" y="3733920"/>
            <a:ext cx="365400" cy="365400"/>
          </a:xfrm>
          <a:prstGeom prst="ellipse">
            <a:avLst/>
          </a:prstGeom>
          <a:solidFill>
            <a:schemeClr val="accent1"/>
          </a:solidFill>
          <a:ln w="38100">
            <a:solidFill>
              <a:srgbClr val="44546a"/>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2"/>
                </a:solidFill>
                <a:latin typeface="Tahoma"/>
                <a:ea typeface="MS PGothic"/>
              </a:rPr>
              <a:t>D</a:t>
            </a:r>
            <a:endParaRPr b="0" lang="en-US" sz="1800" spc="-1" strike="noStrike">
              <a:solidFill>
                <a:srgbClr val="ffffff"/>
              </a:solidFill>
              <a:latin typeface="Arial"/>
            </a:endParaRPr>
          </a:p>
        </p:txBody>
      </p:sp>
      <p:cxnSp>
        <p:nvCxnSpPr>
          <p:cNvPr id="1454" name="AutoShape 81"/>
          <p:cNvCxnSpPr>
            <a:stCxn id="1455" idx="6"/>
            <a:endCxn id="1453" idx="4"/>
          </p:cNvCxnSpPr>
          <p:nvPr/>
        </p:nvCxnSpPr>
        <p:spPr>
          <a:xfrm flipV="1">
            <a:off x="9520920" y="4099680"/>
            <a:ext cx="429120" cy="625680"/>
          </a:xfrm>
          <a:prstGeom prst="curvedConnector2">
            <a:avLst/>
          </a:prstGeom>
          <a:ln w="38100">
            <a:solidFill>
              <a:srgbClr val="44546a"/>
            </a:solidFill>
            <a:round/>
          </a:ln>
        </p:spPr>
      </p:cxnSp>
      <p:cxnSp>
        <p:nvCxnSpPr>
          <p:cNvPr id="1456" name="AutoShape 82"/>
          <p:cNvCxnSpPr>
            <a:stCxn id="1453" idx="0"/>
            <a:endCxn id="1446" idx="6"/>
          </p:cNvCxnSpPr>
          <p:nvPr/>
        </p:nvCxnSpPr>
        <p:spPr>
          <a:xfrm rot="10800000">
            <a:off x="8768160" y="3110040"/>
            <a:ext cx="1181520" cy="624240"/>
          </a:xfrm>
          <a:prstGeom prst="curvedConnector2">
            <a:avLst/>
          </a:prstGeom>
          <a:ln w="38100">
            <a:solidFill>
              <a:srgbClr val="000000"/>
            </a:solidFill>
            <a:prstDash val="dash"/>
            <a:round/>
          </a:ln>
        </p:spPr>
      </p:cxnSp>
      <p:cxnSp>
        <p:nvCxnSpPr>
          <p:cNvPr id="1457" name="AutoShape 83"/>
          <p:cNvCxnSpPr>
            <a:stCxn id="1444" idx="6"/>
            <a:endCxn id="1453" idx="2"/>
          </p:cNvCxnSpPr>
          <p:nvPr/>
        </p:nvCxnSpPr>
        <p:spPr>
          <a:xfrm>
            <a:off x="8769960" y="3916800"/>
            <a:ext cx="997200" cy="720"/>
          </a:xfrm>
          <a:prstGeom prst="straightConnector1">
            <a:avLst/>
          </a:prstGeom>
          <a:ln w="38100">
            <a:solidFill>
              <a:srgbClr val="44546a"/>
            </a:solidFill>
            <a:round/>
          </a:ln>
        </p:spPr>
      </p:cxnSp>
      <p:sp>
        <p:nvSpPr>
          <p:cNvPr id="1455" name="Oval 84"/>
          <p:cNvSpPr/>
          <p:nvPr/>
        </p:nvSpPr>
        <p:spPr>
          <a:xfrm>
            <a:off x="9155160" y="4541760"/>
            <a:ext cx="365400" cy="365400"/>
          </a:xfrm>
          <a:prstGeom prst="ellipse">
            <a:avLst/>
          </a:prstGeom>
          <a:solidFill>
            <a:schemeClr val="accent1"/>
          </a:solidFill>
          <a:ln w="19050">
            <a:solidFill>
              <a:srgbClr val="000000"/>
            </a:solidFill>
            <a:round/>
          </a:ln>
        </p:spPr>
        <p:style>
          <a:lnRef idx="0"/>
          <a:fillRef idx="0"/>
          <a:effectRef idx="0"/>
          <a:fontRef idx="minor"/>
        </p:style>
        <p:txBody>
          <a:bodyPr wrap="none" lIns="90000" rIns="90000" tIns="45000" bIns="45000" anchor="ctr">
            <a:noAutofit/>
          </a:bodyPr>
          <a:p>
            <a:pPr defTabSz="457200">
              <a:lnSpc>
                <a:spcPct val="100000"/>
              </a:lnSpc>
            </a:pPr>
            <a:r>
              <a:rPr b="0" lang="en-US" sz="1800" spc="-1" strike="noStrike">
                <a:solidFill>
                  <a:schemeClr val="dk1"/>
                </a:solidFill>
                <a:latin typeface="Tahoma"/>
                <a:ea typeface="MS PGothic"/>
              </a:rPr>
              <a:t>F</a:t>
            </a:r>
            <a:endParaRPr b="0" lang="en-US" sz="1800" spc="-1" strike="noStrike">
              <a:solidFill>
                <a:srgbClr val="ffffff"/>
              </a:solidFill>
              <a:latin typeface="Arial"/>
            </a:endParaRPr>
          </a:p>
        </p:txBody>
      </p:sp>
      <p:cxnSp>
        <p:nvCxnSpPr>
          <p:cNvPr id="1458" name="AutoShape 85"/>
          <p:cNvCxnSpPr>
            <a:stCxn id="1444" idx="5"/>
            <a:endCxn id="1455" idx="2"/>
          </p:cNvCxnSpPr>
          <p:nvPr/>
        </p:nvCxnSpPr>
        <p:spPr>
          <a:xfrm>
            <a:off x="8716680" y="4046400"/>
            <a:ext cx="439200" cy="678960"/>
          </a:xfrm>
          <a:prstGeom prst="curvedConnector2">
            <a:avLst/>
          </a:prstGeom>
          <a:ln w="38100">
            <a:solidFill>
              <a:srgbClr val="000000"/>
            </a:solidFill>
            <a:prstDash val="dash"/>
            <a:round/>
          </a:ln>
        </p:spPr>
      </p:cxnSp>
      <p:sp>
        <p:nvSpPr>
          <p:cNvPr id="1459" name="Text Box 86"/>
          <p:cNvSpPr/>
          <p:nvPr/>
        </p:nvSpPr>
        <p:spPr>
          <a:xfrm>
            <a:off x="8638560" y="269892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2"/>
                </a:solidFill>
                <a:latin typeface="Times New Roman"/>
                <a:ea typeface="MS PGothic"/>
              </a:rPr>
              <a:t>0</a:t>
            </a:r>
            <a:endParaRPr b="0" lang="en-US" sz="1800" spc="-1" strike="noStrike">
              <a:solidFill>
                <a:srgbClr val="000000"/>
              </a:solidFill>
              <a:latin typeface="Arial"/>
            </a:endParaRPr>
          </a:p>
        </p:txBody>
      </p:sp>
      <p:sp>
        <p:nvSpPr>
          <p:cNvPr id="1460" name="Text Box 87"/>
          <p:cNvSpPr/>
          <p:nvPr/>
        </p:nvSpPr>
        <p:spPr>
          <a:xfrm>
            <a:off x="10029240" y="352584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2"/>
                </a:solidFill>
                <a:latin typeface="Times New Roman"/>
                <a:ea typeface="MS PGothic"/>
              </a:rPr>
              <a:t>3</a:t>
            </a:r>
            <a:endParaRPr b="0" lang="en-US" sz="1800" spc="-1" strike="noStrike">
              <a:solidFill>
                <a:srgbClr val="000000"/>
              </a:solidFill>
              <a:latin typeface="Arial"/>
            </a:endParaRPr>
          </a:p>
        </p:txBody>
      </p:sp>
      <p:sp>
        <p:nvSpPr>
          <p:cNvPr id="1461" name="Text Box 88"/>
          <p:cNvSpPr/>
          <p:nvPr/>
        </p:nvSpPr>
        <p:spPr>
          <a:xfrm>
            <a:off x="8670240" y="352584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462" name="Text Box 89"/>
          <p:cNvSpPr/>
          <p:nvPr/>
        </p:nvSpPr>
        <p:spPr>
          <a:xfrm>
            <a:off x="7298640" y="352584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2"/>
                </a:solidFill>
                <a:latin typeface="Times New Roman"/>
                <a:ea typeface="MS PGothic"/>
              </a:rPr>
              <a:t>7</a:t>
            </a:r>
            <a:endParaRPr b="0" lang="en-US" sz="1800" spc="-1" strike="noStrike">
              <a:solidFill>
                <a:srgbClr val="000000"/>
              </a:solidFill>
              <a:latin typeface="Arial"/>
            </a:endParaRPr>
          </a:p>
        </p:txBody>
      </p:sp>
      <p:sp>
        <p:nvSpPr>
          <p:cNvPr id="1463" name="Text Box 90"/>
          <p:cNvSpPr/>
          <p:nvPr/>
        </p:nvSpPr>
        <p:spPr>
          <a:xfrm>
            <a:off x="7513200" y="424980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2"/>
                </a:solidFill>
                <a:latin typeface="Times New Roman"/>
                <a:ea typeface="MS PGothic"/>
              </a:rPr>
              <a:t>5</a:t>
            </a:r>
            <a:endParaRPr b="0" lang="en-US" sz="1800" spc="-1" strike="noStrike">
              <a:solidFill>
                <a:srgbClr val="000000"/>
              </a:solidFill>
              <a:latin typeface="Arial"/>
            </a:endParaRPr>
          </a:p>
        </p:txBody>
      </p:sp>
      <p:sp>
        <p:nvSpPr>
          <p:cNvPr id="1464" name="Text Box 91"/>
          <p:cNvSpPr/>
          <p:nvPr/>
        </p:nvSpPr>
        <p:spPr>
          <a:xfrm>
            <a:off x="9337320" y="424980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2"/>
                </a:solidFill>
                <a:latin typeface="Times New Roman"/>
                <a:ea typeface="MS PGothic"/>
              </a:rPr>
              <a:t>8</a:t>
            </a:r>
            <a:endParaRPr b="0" lang="en-US" sz="1800" spc="-1" strike="noStrike">
              <a:solidFill>
                <a:srgbClr val="000000"/>
              </a:solidFill>
              <a:latin typeface="Arial"/>
            </a:endParaRPr>
          </a:p>
        </p:txBody>
      </p:sp>
      <p:sp>
        <p:nvSpPr>
          <p:cNvPr id="1465" name="Text Box 92"/>
          <p:cNvSpPr/>
          <p:nvPr/>
        </p:nvSpPr>
        <p:spPr>
          <a:xfrm>
            <a:off x="9477000" y="294156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1"/>
                </a:solidFill>
                <a:latin typeface="Times New Roman"/>
                <a:ea typeface="MS PGothic"/>
              </a:rPr>
              <a:t>4</a:t>
            </a:r>
            <a:endParaRPr b="0" lang="en-US" sz="1800" spc="-1" strike="noStrike">
              <a:solidFill>
                <a:srgbClr val="000000"/>
              </a:solidFill>
              <a:latin typeface="Arial"/>
            </a:endParaRPr>
          </a:p>
        </p:txBody>
      </p:sp>
      <p:sp>
        <p:nvSpPr>
          <p:cNvPr id="1466" name="Text Box 93"/>
          <p:cNvSpPr/>
          <p:nvPr/>
        </p:nvSpPr>
        <p:spPr>
          <a:xfrm>
            <a:off x="7336800" y="300348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1"/>
                </a:solidFill>
                <a:latin typeface="Times New Roman"/>
                <a:ea typeface="MS PGothic"/>
              </a:rPr>
              <a:t>8</a:t>
            </a:r>
            <a:endParaRPr b="0" lang="en-US" sz="1800" spc="-1" strike="noStrike">
              <a:solidFill>
                <a:srgbClr val="000000"/>
              </a:solidFill>
              <a:latin typeface="Arial"/>
            </a:endParaRPr>
          </a:p>
        </p:txBody>
      </p:sp>
      <p:sp>
        <p:nvSpPr>
          <p:cNvPr id="1467" name="Text Box 94"/>
          <p:cNvSpPr/>
          <p:nvPr/>
        </p:nvSpPr>
        <p:spPr>
          <a:xfrm>
            <a:off x="7718040" y="361332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1"/>
                </a:solidFill>
                <a:latin typeface="Times New Roman"/>
                <a:ea typeface="MS PGothic"/>
              </a:rPr>
              <a:t>7</a:t>
            </a:r>
            <a:endParaRPr b="0" lang="en-US" sz="1800" spc="-1" strike="noStrike">
              <a:solidFill>
                <a:srgbClr val="000000"/>
              </a:solidFill>
              <a:latin typeface="Arial"/>
            </a:endParaRPr>
          </a:p>
        </p:txBody>
      </p:sp>
      <p:sp>
        <p:nvSpPr>
          <p:cNvPr id="1468" name="Text Box 95"/>
          <p:cNvSpPr/>
          <p:nvPr/>
        </p:nvSpPr>
        <p:spPr>
          <a:xfrm>
            <a:off x="9165600" y="361332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2"/>
                </a:solidFill>
                <a:latin typeface="Times New Roman"/>
                <a:ea typeface="MS PGothic"/>
              </a:rPr>
              <a:t>1</a:t>
            </a:r>
            <a:endParaRPr b="0" lang="en-US" sz="1800" spc="-1" strike="noStrike">
              <a:solidFill>
                <a:srgbClr val="000000"/>
              </a:solidFill>
              <a:latin typeface="Arial"/>
            </a:endParaRPr>
          </a:p>
        </p:txBody>
      </p:sp>
      <p:sp>
        <p:nvSpPr>
          <p:cNvPr id="1469" name="Text Box 96"/>
          <p:cNvSpPr/>
          <p:nvPr/>
        </p:nvSpPr>
        <p:spPr>
          <a:xfrm>
            <a:off x="7032240" y="441324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1"/>
                </a:solidFill>
                <a:latin typeface="Times New Roman"/>
                <a:ea typeface="MS PGothic"/>
              </a:rPr>
              <a:t>2</a:t>
            </a:r>
            <a:endParaRPr b="0" lang="en-US" sz="1800" spc="-1" strike="noStrike">
              <a:solidFill>
                <a:srgbClr val="000000"/>
              </a:solidFill>
              <a:latin typeface="Arial"/>
            </a:endParaRPr>
          </a:p>
        </p:txBody>
      </p:sp>
      <p:sp>
        <p:nvSpPr>
          <p:cNvPr id="1470" name="Text Box 97"/>
          <p:cNvSpPr/>
          <p:nvPr/>
        </p:nvSpPr>
        <p:spPr>
          <a:xfrm>
            <a:off x="9775440" y="441324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2"/>
                </a:solidFill>
                <a:latin typeface="Times New Roman"/>
                <a:ea typeface="MS PGothic"/>
              </a:rPr>
              <a:t>5</a:t>
            </a:r>
            <a:endParaRPr b="0" lang="en-US" sz="1800" spc="-1" strike="noStrike">
              <a:solidFill>
                <a:srgbClr val="000000"/>
              </a:solidFill>
              <a:latin typeface="Arial"/>
            </a:endParaRPr>
          </a:p>
        </p:txBody>
      </p:sp>
      <p:sp>
        <p:nvSpPr>
          <p:cNvPr id="1471" name="Text Box 98"/>
          <p:cNvSpPr/>
          <p:nvPr/>
        </p:nvSpPr>
        <p:spPr>
          <a:xfrm>
            <a:off x="8251200" y="330840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2"/>
                </a:solidFill>
                <a:latin typeface="Times New Roman"/>
                <a:ea typeface="MS PGothic"/>
              </a:rPr>
              <a:t>2</a:t>
            </a:r>
            <a:endParaRPr b="0" lang="en-US" sz="1800" spc="-1" strike="noStrike">
              <a:solidFill>
                <a:srgbClr val="000000"/>
              </a:solidFill>
              <a:latin typeface="Arial"/>
            </a:endParaRPr>
          </a:p>
        </p:txBody>
      </p:sp>
      <p:sp>
        <p:nvSpPr>
          <p:cNvPr id="1472" name="Text Box 99"/>
          <p:cNvSpPr/>
          <p:nvPr/>
        </p:nvSpPr>
        <p:spPr>
          <a:xfrm>
            <a:off x="8098920" y="414648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2"/>
                </a:solidFill>
                <a:latin typeface="Times New Roman"/>
                <a:ea typeface="MS PGothic"/>
              </a:rPr>
              <a:t>3</a:t>
            </a:r>
            <a:endParaRPr b="0" lang="en-US" sz="1800" spc="-1" strike="noStrike">
              <a:solidFill>
                <a:srgbClr val="000000"/>
              </a:solidFill>
              <a:latin typeface="Arial"/>
            </a:endParaRPr>
          </a:p>
        </p:txBody>
      </p:sp>
      <p:sp>
        <p:nvSpPr>
          <p:cNvPr id="1473" name="Text Box 100"/>
          <p:cNvSpPr/>
          <p:nvPr/>
        </p:nvSpPr>
        <p:spPr>
          <a:xfrm>
            <a:off x="8746560" y="4146480"/>
            <a:ext cx="294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800" spc="-1" strike="noStrike">
                <a:solidFill>
                  <a:schemeClr val="dk1"/>
                </a:solidFill>
                <a:latin typeface="Times New Roman"/>
                <a:ea typeface="MS PGothic"/>
              </a:rPr>
              <a:t>9</a:t>
            </a:r>
            <a:endParaRPr b="0" lang="en-US" sz="1800" spc="-1" strike="noStrike">
              <a:solidFill>
                <a:srgbClr val="000000"/>
              </a:solidFill>
              <a:latin typeface="Arial"/>
            </a:endParaRPr>
          </a:p>
        </p:txBody>
      </p:sp>
      <p:sp>
        <p:nvSpPr>
          <p:cNvPr id="1474" name="Rectangle 103"/>
          <p:cNvSpPr/>
          <p:nvPr/>
        </p:nvSpPr>
        <p:spPr>
          <a:xfrm>
            <a:off x="1905120" y="2362320"/>
            <a:ext cx="4896000" cy="3905280"/>
          </a:xfrm>
          <a:prstGeom prst="rect">
            <a:avLst/>
          </a:prstGeom>
          <a:noFill/>
          <a:ln w="0">
            <a:noFill/>
          </a:ln>
        </p:spPr>
        <p:style>
          <a:lnRef idx="0"/>
          <a:fillRef idx="0"/>
          <a:effectRef idx="0"/>
          <a:fontRef idx="minor"/>
        </p:style>
        <p:txBody>
          <a:bodyPr lIns="90000" rIns="90000" tIns="45000" bIns="45000" anchor="t">
            <a:noAutofit/>
          </a:bodyPr>
          <a:p>
            <a:pPr lvl="1" marL="743040" indent="-285840" defTabSz="457200">
              <a:lnSpc>
                <a:spcPct val="100000"/>
              </a:lnSpc>
              <a:spcBef>
                <a:spcPts val="400"/>
              </a:spcBef>
              <a:buClr>
                <a:srgbClr val="000000"/>
              </a:buClr>
              <a:buSzPct val="60000"/>
              <a:buFont typeface="Wingdings" charset="2"/>
              <a:buChar char=""/>
            </a:pPr>
            <a:r>
              <a:rPr b="0" lang="en-US" sz="2000" spc="-1" strike="noStrike">
                <a:solidFill>
                  <a:schemeClr val="dk1"/>
                </a:solidFill>
                <a:latin typeface="Tahoma"/>
                <a:ea typeface="MS PGothic"/>
              </a:rPr>
              <a:t>Suppose it didn’t find all shortest distances. Let F be the first wrong vertex the algorithm processed.</a:t>
            </a:r>
            <a:endParaRPr b="0" lang="en-US" sz="2000" spc="-1" strike="noStrike">
              <a:solidFill>
                <a:srgbClr val="000000"/>
              </a:solidFill>
              <a:latin typeface="Arial"/>
            </a:endParaRPr>
          </a:p>
          <a:p>
            <a:pPr lvl="1" marL="743040" indent="-285840" defTabSz="457200">
              <a:lnSpc>
                <a:spcPct val="100000"/>
              </a:lnSpc>
              <a:spcBef>
                <a:spcPts val="400"/>
              </a:spcBef>
              <a:buClr>
                <a:srgbClr val="000000"/>
              </a:buClr>
              <a:buSzPct val="60000"/>
              <a:buFont typeface="Wingdings" charset="2"/>
              <a:buChar char=""/>
            </a:pPr>
            <a:r>
              <a:rPr b="0" lang="en-US" sz="2000" spc="-1" strike="noStrike">
                <a:solidFill>
                  <a:schemeClr val="dk1"/>
                </a:solidFill>
                <a:latin typeface="Tahoma"/>
                <a:ea typeface="MS PGothic"/>
              </a:rPr>
              <a:t>When the previous node, D, on the true shortest path was considered, its distance was correct</a:t>
            </a:r>
            <a:endParaRPr b="0" lang="en-US" sz="2000" spc="-1" strike="noStrike">
              <a:solidFill>
                <a:srgbClr val="000000"/>
              </a:solidFill>
              <a:latin typeface="Arial"/>
            </a:endParaRPr>
          </a:p>
          <a:p>
            <a:pPr lvl="1" marL="743040" indent="-285840" defTabSz="457200">
              <a:lnSpc>
                <a:spcPct val="100000"/>
              </a:lnSpc>
              <a:spcBef>
                <a:spcPts val="400"/>
              </a:spcBef>
              <a:buClr>
                <a:srgbClr val="000000"/>
              </a:buClr>
              <a:buSzPct val="60000"/>
              <a:buFont typeface="Wingdings" charset="2"/>
              <a:buChar char=""/>
            </a:pPr>
            <a:r>
              <a:rPr b="0" lang="en-US" sz="2000" spc="-1" strike="noStrike">
                <a:solidFill>
                  <a:schemeClr val="dk1"/>
                </a:solidFill>
                <a:latin typeface="Tahoma"/>
                <a:ea typeface="MS PGothic"/>
              </a:rPr>
              <a:t>But the edge (D,F) was </a:t>
            </a:r>
            <a:r>
              <a:rPr b="0" lang="en-US" sz="2000" spc="-1" strike="noStrike">
                <a:solidFill>
                  <a:schemeClr val="dk2"/>
                </a:solidFill>
                <a:latin typeface="Tahoma"/>
                <a:ea typeface="MS PGothic"/>
              </a:rPr>
              <a:t>relaxed</a:t>
            </a:r>
            <a:r>
              <a:rPr b="0" lang="en-US" sz="2000" spc="-1" strike="noStrike">
                <a:solidFill>
                  <a:schemeClr val="dk1"/>
                </a:solidFill>
                <a:latin typeface="Tahoma"/>
                <a:ea typeface="MS PGothic"/>
              </a:rPr>
              <a:t> at that time!</a:t>
            </a:r>
            <a:endParaRPr b="0" lang="en-US" sz="2000" spc="-1" strike="noStrike">
              <a:solidFill>
                <a:srgbClr val="000000"/>
              </a:solidFill>
              <a:latin typeface="Arial"/>
            </a:endParaRPr>
          </a:p>
          <a:p>
            <a:pPr lvl="1" marL="743040" indent="-285840" defTabSz="457200">
              <a:lnSpc>
                <a:spcPct val="100000"/>
              </a:lnSpc>
              <a:spcBef>
                <a:spcPts val="400"/>
              </a:spcBef>
              <a:buClr>
                <a:srgbClr val="000000"/>
              </a:buClr>
              <a:buSzPct val="60000"/>
              <a:buFont typeface="Wingdings" charset="2"/>
              <a:buChar char=""/>
            </a:pPr>
            <a:r>
              <a:rPr b="0" lang="en-US" sz="2000" spc="-1" strike="noStrike">
                <a:solidFill>
                  <a:schemeClr val="dk1"/>
                </a:solidFill>
                <a:latin typeface="Tahoma"/>
                <a:ea typeface="MS PGothic"/>
              </a:rPr>
              <a:t>Thus, so long as d(F)</a:t>
            </a:r>
            <a:r>
              <a:rPr b="0" lang="en-US" sz="2000" spc="-1" strike="noStrike" u="sng">
                <a:solidFill>
                  <a:schemeClr val="dk1"/>
                </a:solidFill>
                <a:uFillTx/>
                <a:latin typeface="Tahoma"/>
                <a:ea typeface="MS PGothic"/>
              </a:rPr>
              <a:t>&gt;</a:t>
            </a:r>
            <a:r>
              <a:rPr b="0" lang="en-US" sz="2000" spc="-1" strike="noStrike">
                <a:solidFill>
                  <a:schemeClr val="dk1"/>
                </a:solidFill>
                <a:latin typeface="Tahoma"/>
                <a:ea typeface="MS PGothic"/>
              </a:rPr>
              <a:t>d(D), F’s distance cannot be wrong.  That is, there is no wrong vertex</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item1.xml><?xml version="1.0" encoding="utf-8"?>
<sisl xmlns:xsi="http://www.w3.org/2001/XMLSchema-instance" xmlns:xsd="http://www.w3.org/2001/XMLSchema" xmlns="http://www.boldonjames.com/2008/01/sie/internal/label" sislVersion="0" policy="753fb180-a0f1-47ee-bb6b-5956a4b631ac" origin="userSelected">
  <element uid="id_classification_nonbusiness" value=""/>
  <element uid="3a9ec6f0-1d56-47f3-b78c-2cd80822a847" value=""/>
</sisl>
</file>

<file path=customXml/itemProps1.xml><?xml version="1.0" encoding="utf-8"?>
<ds:datastoreItem xmlns:ds="http://schemas.openxmlformats.org/officeDocument/2006/customXml" ds:itemID="{7664947D-1B56-4BFD-91EF-AB6B34E3E77C}">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emplate>Office Theme</Template>
  <TotalTime>34988</TotalTime>
  <Application>LibreOffice/24.2.7.2$Linux_X86_64 LibreOffice_project/420$Build-2</Application>
  <AppVersion>15.0000</AppVersion>
  <Words>4500</Words>
  <Paragraphs>1094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2018-03-07T03:10:24Z</dcterms:created>
  <dc:creator>Kürşat İNCE</dc:creator>
  <dc:description/>
  <dc:language>en-US</dc:language>
  <cp:lastModifiedBy/>
  <cp:lastPrinted>2024-05-30T21:19:50Z</cp:lastPrinted>
  <dcterms:modified xsi:type="dcterms:W3CDTF">2025-09-12T23:18:38Z</dcterms:modified>
  <cp:revision>755</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61</vt:i4>
  </property>
  <property fmtid="{D5CDD505-2E9C-101B-9397-08002B2CF9AE}" pid="5" name="bjClsUserRVM">
    <vt:lpwstr>[]</vt:lpwstr>
  </property>
  <property fmtid="{D5CDD505-2E9C-101B-9397-08002B2CF9AE}" pid="6" name="bjDocumentLabelXML">
    <vt:lpwstr>&lt;?xml version="1.0" encoding="us-ascii"?&gt;&lt;sisl xmlns:xsi="http://www.w3.org/2001/XMLSchema-instance" xmlns:xsd="http://www.w3.org/2001/XMLSchema" sislVersion="0" policy="753fb180-a0f1-47ee-bb6b-5956a4b631ac" origin="userSelected" xmlns="http://www.boldonj</vt:lpwstr>
  </property>
  <property fmtid="{D5CDD505-2E9C-101B-9397-08002B2CF9AE}" pid="7" name="bjDocumentLabelXML-0">
    <vt:lpwstr>ames.com/2008/01/sie/internal/label"&gt;&lt;element uid="id_classification_nonbusiness" value="" /&gt;&lt;element uid="3a9ec6f0-1d56-47f3-b78c-2cd80822a847" value="" /&gt;&lt;/sisl&gt;</vt:lpwstr>
  </property>
  <property fmtid="{D5CDD505-2E9C-101B-9397-08002B2CF9AE}" pid="8" name="bjDocumentSecurityLabel">
    <vt:lpwstr>TASNİF DIŞI</vt:lpwstr>
  </property>
  <property fmtid="{D5CDD505-2E9C-101B-9397-08002B2CF9AE}" pid="9" name="bjSaver">
    <vt:lpwstr>f8PkN1uJXJwqI9alO3CYacUW7PVwbe+w</vt:lpwstr>
  </property>
  <property fmtid="{D5CDD505-2E9C-101B-9397-08002B2CF9AE}" pid="10" name="docIndexRef">
    <vt:lpwstr>3c4ade84-1b77-4958-b253-7a1280122afc</vt:lpwstr>
  </property>
</Properties>
</file>