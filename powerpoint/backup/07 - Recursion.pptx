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jpeg" ContentType="image/jpeg"/>
  <Override PartName="/ppt/media/image7.gif" ContentType="image/gif"/>
  <Override PartName="/ppt/media/image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CC55E2E-FE48-4B39-A077-A96D624DB59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9E5FCE8-71BC-4BD8-95AD-26E8F60A7C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dt" idx="23"/>
          </p:nvPr>
        </p:nvSpPr>
        <p:spPr>
          <a:xfrm>
            <a:off x="388476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6BB629-0BAA-4B94-B087-C75BE3C29D60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A94EF0-7FBA-40D6-833E-3BC4C615E5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dt" idx="25"/>
          </p:nvPr>
        </p:nvSpPr>
        <p:spPr>
          <a:xfrm>
            <a:off x="388476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C4EDD9-178C-459F-80C9-9898986024DA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Puzzle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D8A578-CE6B-4A31-8AB1-C7275958BF9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dt" idx="27"/>
          </p:nvPr>
        </p:nvSpPr>
        <p:spPr>
          <a:xfrm>
            <a:off x="388476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7A81F9-5C00-4951-9145-6B68E124475E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ff"/>
                </a:solidFill>
                <a:latin typeface="Times-Bold"/>
              </a:rPr>
              <a:t>R-4.1) Hint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Don’t forget about the space used by the function stack.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ff"/>
                </a:solidFill>
                <a:latin typeface="Times-Bold"/>
              </a:rPr>
              <a:t>R-4.1) Solution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If the sequence has 1 element, that is the maximum. Otherwise, consider the bigger of the first element or the maximum of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other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CMSY10"/>
              </a:rPr>
              <a:t>−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1 elements. The running time and space usages is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(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)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ff"/>
                </a:solidFill>
                <a:latin typeface="Times-Bold"/>
              </a:rPr>
              <a:t>R-4.7) Hint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Process the string left to right.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ff"/>
                </a:solidFill>
                <a:latin typeface="Times-Bold"/>
              </a:rPr>
              <a:t>R-4.7) Solution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Use a single-digit as the base case. For a multiple-digit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string, let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CMSY8"/>
              </a:rPr>
              <a:t>′ 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=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sd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for digit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. We have that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value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(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CMSY8"/>
              </a:rPr>
              <a:t>′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) =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+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10 *</a:t>
            </a:r>
            <a:r>
              <a:rPr b="0" lang="en-US" sz="1800" spc="-1" strike="noStrike">
                <a:solidFill>
                  <a:srgbClr val="000000"/>
                </a:solidFill>
                <a:latin typeface="CMSY10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value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(</a:t>
            </a:r>
            <a:r>
              <a:rPr b="0" i="1" lang="en-US" sz="1800" spc="-1" strike="noStrike">
                <a:solidFill>
                  <a:srgbClr val="000000"/>
                </a:solidFill>
                <a:latin typeface="Times-Italic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cmr10"/>
              </a:rPr>
              <a:t>)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CF436D-A233-4809-9AC2-F1DA9D2E659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dt" idx="29"/>
          </p:nvPr>
        </p:nvSpPr>
        <p:spPr>
          <a:xfrm>
            <a:off x="388476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F6E2E1-F06D-4D04-B6D8-3465AA551907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02E400-EE93-46C1-AB18-E95C709D5C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D67679-8F23-4536-A139-762A03CBFD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E7B872A-2DDE-4C0D-8442-66DE606F05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10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6200" y="1107000"/>
            <a:ext cx="51310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F775413-908F-435C-B5DF-59D20EC3E3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2C61A16-3BE7-4532-A417-F116D9974B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8D3C3C2-1D3B-4B6C-8B06-428A50A27A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3A4236-170F-4577-A7C1-A0157EBBBB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472644-BE86-4CDD-9C74-EC17320205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56007C-4CB5-464F-86D6-38FA8B394C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3072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6200" y="1107000"/>
            <a:ext cx="513072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250861D-EC21-4D10-A836-0F8522B92E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A32627-AA6F-4B70-90D7-4878AB47CC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B2ECBF-93DA-4218-8E12-738A29B7B2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3280" cy="29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Recursion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3280" cy="10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Agenda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Define: Recursion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Examples: Factorial, Fibonacci Numbers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Designing Recursive Algorithms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 Towers of Hanoi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Tail Recursion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Recursion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When a function calls itself…We have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recursion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Such function/algorithm is called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recursive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function/algorithm.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Base case(s)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Values of the input variables for which we perform no recursive calls are called base cases (there should be at least one base case).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Every possible chain of recursive calls must eventually reach a base case.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Recursive calls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Calls to the current method.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Each recursive call should be defined so that it makes progress towards a base case.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Factorial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3157560" y="2140200"/>
            <a:ext cx="5144400" cy="822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157560" y="3754800"/>
            <a:ext cx="6585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569cd6"/>
                </a:solidFill>
                <a:latin typeface="Consolas"/>
              </a:rPr>
              <a:t>def</a:t>
            </a: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 f(n):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4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 n == </a:t>
            </a:r>
            <a:r>
              <a:rPr b="0" lang="en-US" sz="2400" spc="-1" strike="noStrike">
                <a:solidFill>
                  <a:srgbClr val="b5cea8"/>
                </a:solidFill>
                <a:latin typeface="Consolas"/>
              </a:rPr>
              <a:t>0</a:t>
            </a: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: </a:t>
            </a:r>
            <a:r>
              <a:rPr b="0" lang="en-US" sz="24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 </a:t>
            </a:r>
            <a:r>
              <a:rPr b="0" lang="en-US" sz="2400" spc="-1" strike="noStrike">
                <a:solidFill>
                  <a:srgbClr val="b5cea8"/>
                </a:solidFill>
                <a:latin typeface="Consolas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4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: </a:t>
            </a:r>
            <a:r>
              <a:rPr b="0" lang="en-US" sz="24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 n * f(n-</a:t>
            </a:r>
            <a:r>
              <a:rPr b="0" lang="en-US" sz="24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400" spc="-1" strike="noStrike">
                <a:solidFill>
                  <a:srgbClr val="d4d4d4"/>
                </a:solidFill>
                <a:latin typeface="Consolas"/>
              </a:rPr>
              <a:t>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Factorial – continued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5880" y="1398600"/>
            <a:ext cx="5780880" cy="46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Output: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var(--notebook-cell-output-font-family)"/>
              </a:rPr>
              <a:t>Called with n= 4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var(--notebook-cell-output-font-family)"/>
              </a:rPr>
              <a:t>Called with n= 3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var(--notebook-cell-output-font-family)"/>
              </a:rPr>
              <a:t>Called with n= 2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var(--notebook-cell-output-font-family)"/>
              </a:rPr>
              <a:t>Called with n= 1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var(--notebook-cell-output-font-family)"/>
              </a:rPr>
              <a:t>Called with n= 0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var(--notebook-cell-output-font-family)"/>
              </a:rPr>
              <a:t>24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885960" y="1398600"/>
            <a:ext cx="61621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569cd6"/>
                </a:solidFill>
                <a:latin typeface="Consolas"/>
              </a:rPr>
              <a:t>def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 f(n):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print (</a:t>
            </a:r>
            <a:r>
              <a:rPr b="0" lang="en-US" sz="1800" spc="-1" strike="noStrike">
                <a:solidFill>
                  <a:srgbClr val="ce9178"/>
                </a:solidFill>
                <a:latin typeface="Consolas"/>
              </a:rPr>
              <a:t>"Called with n="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, 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18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 n == </a:t>
            </a:r>
            <a:r>
              <a:rPr b="0" lang="en-US" sz="1800" spc="-1" strike="noStrike">
                <a:solidFill>
                  <a:srgbClr val="b5cea8"/>
                </a:solidFill>
                <a:latin typeface="Consolas"/>
              </a:rPr>
              <a:t>0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: </a:t>
            </a:r>
            <a:r>
              <a:rPr b="0" lang="en-US" sz="18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 </a:t>
            </a:r>
            <a:r>
              <a:rPr b="0" lang="en-US" sz="1800" spc="-1" strike="noStrike">
                <a:solidFill>
                  <a:srgbClr val="b5cea8"/>
                </a:solidFill>
                <a:latin typeface="Consola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18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: </a:t>
            </a:r>
            <a:r>
              <a:rPr b="0" lang="en-US" sz="18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 n * f(n-</a:t>
            </a:r>
            <a:r>
              <a:rPr b="0" lang="en-US" sz="18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4d4d4"/>
                </a:solidFill>
                <a:latin typeface="Consolas"/>
              </a:rPr>
              <a:t>f(4) # 4!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Factorial – continued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" name="Group 100"/>
          <p:cNvGrpSpPr/>
          <p:nvPr/>
        </p:nvGrpSpPr>
        <p:grpSpPr>
          <a:xfrm>
            <a:off x="3536280" y="1486080"/>
            <a:ext cx="5720040" cy="4475880"/>
            <a:chOff x="3536280" y="1486080"/>
            <a:chExt cx="5720040" cy="4475880"/>
          </a:xfrm>
        </p:grpSpPr>
        <p:sp>
          <p:nvSpPr>
            <p:cNvPr id="69" name="AutoShape 10"/>
            <p:cNvSpPr/>
            <p:nvPr/>
          </p:nvSpPr>
          <p:spPr>
            <a:xfrm>
              <a:off x="3536280" y="1486080"/>
              <a:ext cx="5720040" cy="447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" name="Freeform 12"/>
            <p:cNvSpPr/>
            <p:nvPr/>
          </p:nvSpPr>
          <p:spPr>
            <a:xfrm>
              <a:off x="3559680" y="2010960"/>
              <a:ext cx="2181240" cy="436320"/>
            </a:xfrm>
            <a:custGeom>
              <a:avLst/>
              <a:gdLst>
                <a:gd name="textAreaLeft" fmla="*/ 0 w 2181240"/>
                <a:gd name="textAreaRight" fmla="*/ 2181960 w 2181240"/>
                <a:gd name="textAreaTop" fmla="*/ 0 h 436320"/>
                <a:gd name="textAreaBottom" fmla="*/ 437040 h 43632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Calibri"/>
                </a:rPr>
                <a:t>f(4)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Freeform 13"/>
            <p:cNvSpPr/>
            <p:nvPr/>
          </p:nvSpPr>
          <p:spPr>
            <a:xfrm>
              <a:off x="3559680" y="2010960"/>
              <a:ext cx="2181240" cy="436320"/>
            </a:xfrm>
            <a:custGeom>
              <a:avLst/>
              <a:gdLst>
                <a:gd name="textAreaLeft" fmla="*/ 0 w 2181240"/>
                <a:gd name="textAreaRight" fmla="*/ 2181960 w 2181240"/>
                <a:gd name="textAreaTop" fmla="*/ 0 h 436320"/>
                <a:gd name="textAreaBottom" fmla="*/ 437040 h 43632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cap="rnd" w="63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72" name="Line 18"/>
            <p:cNvSpPr/>
            <p:nvPr/>
          </p:nvSpPr>
          <p:spPr>
            <a:xfrm>
              <a:off x="4759920" y="2448000"/>
              <a:ext cx="94320" cy="379080"/>
            </a:xfrm>
            <a:prstGeom prst="line">
              <a:avLst/>
            </a:prstGeom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73" name="Freeform 19"/>
            <p:cNvSpPr/>
            <p:nvPr/>
          </p:nvSpPr>
          <p:spPr>
            <a:xfrm>
              <a:off x="4820040" y="2812320"/>
              <a:ext cx="63720" cy="72000"/>
            </a:xfrm>
            <a:custGeom>
              <a:avLst/>
              <a:gdLst>
                <a:gd name="textAreaLeft" fmla="*/ 0 w 63720"/>
                <a:gd name="textAreaRight" fmla="*/ 64440 w 63720"/>
                <a:gd name="textAreaTop" fmla="*/ 0 h 72000"/>
                <a:gd name="textAreaBottom" fmla="*/ 72720 h 72000"/>
              </a:gdLst>
              <a:ahLst/>
              <a:rect l="textAreaLeft" t="textAreaTop" r="textAreaRight" b="textAreaBottom"/>
              <a:pathLst>
                <a:path w="30" h="34">
                  <a:moveTo>
                    <a:pt x="30" y="0"/>
                  </a:moveTo>
                  <a:lnTo>
                    <a:pt x="23" y="34"/>
                  </a:lnTo>
                  <a:lnTo>
                    <a:pt x="0" y="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74" name="Freeform 20"/>
            <p:cNvSpPr/>
            <p:nvPr/>
          </p:nvSpPr>
          <p:spPr>
            <a:xfrm>
              <a:off x="3776040" y="2885400"/>
              <a:ext cx="2183400" cy="434160"/>
            </a:xfrm>
            <a:custGeom>
              <a:avLst/>
              <a:gdLst>
                <a:gd name="textAreaLeft" fmla="*/ 0 w 2183400"/>
                <a:gd name="textAreaRight" fmla="*/ 2184120 w 2183400"/>
                <a:gd name="textAreaTop" fmla="*/ 0 h 434160"/>
                <a:gd name="textAreaBottom" fmla="*/ 434880 h 43416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Calibri"/>
                </a:rPr>
                <a:t>f(3)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Freeform 21"/>
            <p:cNvSpPr/>
            <p:nvPr/>
          </p:nvSpPr>
          <p:spPr>
            <a:xfrm>
              <a:off x="3776040" y="2885400"/>
              <a:ext cx="2183400" cy="434160"/>
            </a:xfrm>
            <a:custGeom>
              <a:avLst/>
              <a:gdLst>
                <a:gd name="textAreaLeft" fmla="*/ 0 w 2183400"/>
                <a:gd name="textAreaRight" fmla="*/ 2184120 w 2183400"/>
                <a:gd name="textAreaTop" fmla="*/ 0 h 434160"/>
                <a:gd name="textAreaBottom" fmla="*/ 434880 h 43416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cap="rnd" w="63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76" name="Line 26"/>
            <p:cNvSpPr/>
            <p:nvPr/>
          </p:nvSpPr>
          <p:spPr>
            <a:xfrm>
              <a:off x="4978440" y="3320280"/>
              <a:ext cx="94320" cy="381240"/>
            </a:xfrm>
            <a:prstGeom prst="line">
              <a:avLst/>
            </a:prstGeom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77" name="Freeform 27"/>
            <p:cNvSpPr/>
            <p:nvPr/>
          </p:nvSpPr>
          <p:spPr>
            <a:xfrm>
              <a:off x="5038560" y="3684600"/>
              <a:ext cx="63720" cy="72000"/>
            </a:xfrm>
            <a:custGeom>
              <a:avLst/>
              <a:gdLst>
                <a:gd name="textAreaLeft" fmla="*/ 0 w 63720"/>
                <a:gd name="textAreaRight" fmla="*/ 64440 w 63720"/>
                <a:gd name="textAreaTop" fmla="*/ 0 h 72000"/>
                <a:gd name="textAreaBottom" fmla="*/ 72720 h 72000"/>
              </a:gdLst>
              <a:ahLst/>
              <a:rect l="textAreaLeft" t="textAreaTop" r="textAreaRight" b="textAreaBottom"/>
              <a:pathLst>
                <a:path w="30" h="34">
                  <a:moveTo>
                    <a:pt x="30" y="0"/>
                  </a:moveTo>
                  <a:lnTo>
                    <a:pt x="23" y="34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78" name="Freeform 28"/>
            <p:cNvSpPr/>
            <p:nvPr/>
          </p:nvSpPr>
          <p:spPr>
            <a:xfrm>
              <a:off x="3994920" y="3757320"/>
              <a:ext cx="2183400" cy="436320"/>
            </a:xfrm>
            <a:custGeom>
              <a:avLst/>
              <a:gdLst>
                <a:gd name="textAreaLeft" fmla="*/ 0 w 2183400"/>
                <a:gd name="textAreaRight" fmla="*/ 2184120 w 2183400"/>
                <a:gd name="textAreaTop" fmla="*/ 0 h 436320"/>
                <a:gd name="textAreaBottom" fmla="*/ 437040 h 43632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Calibri"/>
                </a:rPr>
                <a:t>f(2)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Freeform 29"/>
            <p:cNvSpPr/>
            <p:nvPr/>
          </p:nvSpPr>
          <p:spPr>
            <a:xfrm>
              <a:off x="3994920" y="3757320"/>
              <a:ext cx="2183400" cy="436320"/>
            </a:xfrm>
            <a:custGeom>
              <a:avLst/>
              <a:gdLst>
                <a:gd name="textAreaLeft" fmla="*/ 0 w 2183400"/>
                <a:gd name="textAreaRight" fmla="*/ 2184120 w 2183400"/>
                <a:gd name="textAreaTop" fmla="*/ 0 h 436320"/>
                <a:gd name="textAreaBottom" fmla="*/ 437040 h 43632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cap="rnd" w="63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0" name="Line 34"/>
            <p:cNvSpPr/>
            <p:nvPr/>
          </p:nvSpPr>
          <p:spPr>
            <a:xfrm>
              <a:off x="5194800" y="4194360"/>
              <a:ext cx="96480" cy="379440"/>
            </a:xfrm>
            <a:prstGeom prst="line">
              <a:avLst/>
            </a:prstGeom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1" name="Freeform 35"/>
            <p:cNvSpPr/>
            <p:nvPr/>
          </p:nvSpPr>
          <p:spPr>
            <a:xfrm>
              <a:off x="5257440" y="4559040"/>
              <a:ext cx="63720" cy="72000"/>
            </a:xfrm>
            <a:custGeom>
              <a:avLst/>
              <a:gdLst>
                <a:gd name="textAreaLeft" fmla="*/ 0 w 63720"/>
                <a:gd name="textAreaRight" fmla="*/ 64440 w 63720"/>
                <a:gd name="textAreaTop" fmla="*/ 0 h 72000"/>
                <a:gd name="textAreaBottom" fmla="*/ 72720 h 72000"/>
              </a:gdLst>
              <a:ahLst/>
              <a:rect l="textAreaLeft" t="textAreaTop" r="textAreaRight" b="textAreaBottom"/>
              <a:pathLst>
                <a:path w="30" h="34">
                  <a:moveTo>
                    <a:pt x="30" y="0"/>
                  </a:moveTo>
                  <a:lnTo>
                    <a:pt x="22" y="34"/>
                  </a:lnTo>
                  <a:lnTo>
                    <a:pt x="0" y="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2" name="Freeform 36"/>
            <p:cNvSpPr/>
            <p:nvPr/>
          </p:nvSpPr>
          <p:spPr>
            <a:xfrm>
              <a:off x="4213440" y="4631760"/>
              <a:ext cx="2183400" cy="434160"/>
            </a:xfrm>
            <a:custGeom>
              <a:avLst/>
              <a:gdLst>
                <a:gd name="textAreaLeft" fmla="*/ 0 w 2183400"/>
                <a:gd name="textAreaRight" fmla="*/ 2184120 w 2183400"/>
                <a:gd name="textAreaTop" fmla="*/ 0 h 434160"/>
                <a:gd name="textAreaBottom" fmla="*/ 434880 h 43416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Calibri"/>
                </a:rPr>
                <a:t>f(1)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Freeform 37"/>
            <p:cNvSpPr/>
            <p:nvPr/>
          </p:nvSpPr>
          <p:spPr>
            <a:xfrm>
              <a:off x="4213440" y="4631760"/>
              <a:ext cx="2183400" cy="434160"/>
            </a:xfrm>
            <a:custGeom>
              <a:avLst/>
              <a:gdLst>
                <a:gd name="textAreaLeft" fmla="*/ 0 w 2183400"/>
                <a:gd name="textAreaRight" fmla="*/ 2184120 w 2183400"/>
                <a:gd name="textAreaTop" fmla="*/ 0 h 434160"/>
                <a:gd name="textAreaBottom" fmla="*/ 434880 h 43416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cap="rnd" w="63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4" name="Line 42"/>
            <p:cNvSpPr/>
            <p:nvPr/>
          </p:nvSpPr>
          <p:spPr>
            <a:xfrm>
              <a:off x="5413680" y="5066640"/>
              <a:ext cx="96480" cy="379440"/>
            </a:xfrm>
            <a:prstGeom prst="line">
              <a:avLst/>
            </a:prstGeom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5" name="Freeform 43"/>
            <p:cNvSpPr/>
            <p:nvPr/>
          </p:nvSpPr>
          <p:spPr>
            <a:xfrm>
              <a:off x="5473800" y="5431320"/>
              <a:ext cx="65880" cy="72000"/>
            </a:xfrm>
            <a:custGeom>
              <a:avLst/>
              <a:gdLst>
                <a:gd name="textAreaLeft" fmla="*/ 0 w 65880"/>
                <a:gd name="textAreaRight" fmla="*/ 66600 w 65880"/>
                <a:gd name="textAreaTop" fmla="*/ 0 h 72000"/>
                <a:gd name="textAreaBottom" fmla="*/ 72720 h 72000"/>
              </a:gdLst>
              <a:ahLst/>
              <a:rect l="textAreaLeft" t="textAreaTop" r="textAreaRight" b="textAreaBottom"/>
              <a:pathLst>
                <a:path w="31" h="34">
                  <a:moveTo>
                    <a:pt x="31" y="0"/>
                  </a:moveTo>
                  <a:lnTo>
                    <a:pt x="23" y="34"/>
                  </a:lnTo>
                  <a:lnTo>
                    <a:pt x="0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6" name="Freeform 44"/>
            <p:cNvSpPr/>
            <p:nvPr/>
          </p:nvSpPr>
          <p:spPr>
            <a:xfrm>
              <a:off x="4431960" y="5504040"/>
              <a:ext cx="2181240" cy="436320"/>
            </a:xfrm>
            <a:custGeom>
              <a:avLst/>
              <a:gdLst>
                <a:gd name="textAreaLeft" fmla="*/ 0 w 2181240"/>
                <a:gd name="textAreaRight" fmla="*/ 2181960 w 2181240"/>
                <a:gd name="textAreaTop" fmla="*/ 0 h 436320"/>
                <a:gd name="textAreaBottom" fmla="*/ 437040 h 43632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Calibri"/>
                </a:rPr>
                <a:t>f(0)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Freeform 45"/>
            <p:cNvSpPr/>
            <p:nvPr/>
          </p:nvSpPr>
          <p:spPr>
            <a:xfrm>
              <a:off x="4431960" y="5504040"/>
              <a:ext cx="2181240" cy="436320"/>
            </a:xfrm>
            <a:custGeom>
              <a:avLst/>
              <a:gdLst>
                <a:gd name="textAreaLeft" fmla="*/ 0 w 2181240"/>
                <a:gd name="textAreaRight" fmla="*/ 2181960 w 2181240"/>
                <a:gd name="textAreaTop" fmla="*/ 0 h 436320"/>
                <a:gd name="textAreaBottom" fmla="*/ 437040 h 436320"/>
              </a:gdLst>
              <a:ahLst/>
              <a:rect l="textAreaLeft" t="textAreaTop" r="textAreaRight" b="textAreaBottom"/>
              <a:pathLst>
                <a:path w="3840" h="768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cap="rnd" w="63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8" name="Freeform 50"/>
            <p:cNvSpPr/>
            <p:nvPr/>
          </p:nvSpPr>
          <p:spPr>
            <a:xfrm>
              <a:off x="6446880" y="4878360"/>
              <a:ext cx="393840" cy="84348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843480"/>
                <a:gd name="textAreaBottom" fmla="*/ 844200 h 843480"/>
              </a:gdLst>
              <a:ahLst/>
              <a:rect l="textAreaLeft" t="textAreaTop" r="textAreaRight" b="textAreaBottom"/>
              <a:pathLst>
                <a:path w="184" h="394">
                  <a:moveTo>
                    <a:pt x="78" y="394"/>
                  </a:moveTo>
                  <a:lnTo>
                    <a:pt x="122" y="355"/>
                  </a:lnTo>
                  <a:lnTo>
                    <a:pt x="154" y="315"/>
                  </a:lnTo>
                  <a:lnTo>
                    <a:pt x="175" y="276"/>
                  </a:lnTo>
                  <a:lnTo>
                    <a:pt x="184" y="237"/>
                  </a:lnTo>
                  <a:lnTo>
                    <a:pt x="182" y="197"/>
                  </a:lnTo>
                  <a:lnTo>
                    <a:pt x="168" y="158"/>
                  </a:lnTo>
                  <a:lnTo>
                    <a:pt x="143" y="118"/>
                  </a:lnTo>
                  <a:lnTo>
                    <a:pt x="107" y="79"/>
                  </a:lnTo>
                  <a:lnTo>
                    <a:pt x="59" y="40"/>
                  </a:lnTo>
                  <a:lnTo>
                    <a:pt x="0" y="0"/>
                  </a:lnTo>
                </a:path>
              </a:pathLst>
            </a:custGeom>
            <a:noFill/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89" name="Rectangle 52"/>
            <p:cNvSpPr/>
            <p:nvPr/>
          </p:nvSpPr>
          <p:spPr>
            <a:xfrm>
              <a:off x="6946200" y="5144040"/>
              <a:ext cx="5155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return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Rectangle 53"/>
            <p:cNvSpPr/>
            <p:nvPr/>
          </p:nvSpPr>
          <p:spPr>
            <a:xfrm>
              <a:off x="7574400" y="514404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1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Rectangle 54"/>
            <p:cNvSpPr/>
            <p:nvPr/>
          </p:nvSpPr>
          <p:spPr>
            <a:xfrm>
              <a:off x="4875840" y="2550960"/>
              <a:ext cx="11102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Recursive call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Freeform 58"/>
            <p:cNvSpPr/>
            <p:nvPr/>
          </p:nvSpPr>
          <p:spPr>
            <a:xfrm>
              <a:off x="6228360" y="4006080"/>
              <a:ext cx="393840" cy="8413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841320"/>
                <a:gd name="textAreaBottom" fmla="*/ 842040 h 841320"/>
              </a:gdLst>
              <a:ahLst/>
              <a:rect l="textAreaLeft" t="textAreaTop" r="textAreaRight" b="textAreaBottom"/>
              <a:pathLst>
                <a:path w="184" h="393">
                  <a:moveTo>
                    <a:pt x="79" y="393"/>
                  </a:moveTo>
                  <a:lnTo>
                    <a:pt x="122" y="354"/>
                  </a:lnTo>
                  <a:lnTo>
                    <a:pt x="154" y="315"/>
                  </a:lnTo>
                  <a:lnTo>
                    <a:pt x="175" y="275"/>
                  </a:lnTo>
                  <a:lnTo>
                    <a:pt x="184" y="236"/>
                  </a:lnTo>
                  <a:lnTo>
                    <a:pt x="182" y="197"/>
                  </a:lnTo>
                  <a:lnTo>
                    <a:pt x="169" y="157"/>
                  </a:lnTo>
                  <a:lnTo>
                    <a:pt x="144" y="118"/>
                  </a:lnTo>
                  <a:lnTo>
                    <a:pt x="107" y="78"/>
                  </a:lnTo>
                  <a:lnTo>
                    <a:pt x="60" y="39"/>
                  </a:lnTo>
                  <a:lnTo>
                    <a:pt x="0" y="0"/>
                  </a:lnTo>
                </a:path>
              </a:pathLst>
            </a:custGeom>
            <a:noFill/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93" name="Freeform 60"/>
            <p:cNvSpPr/>
            <p:nvPr/>
          </p:nvSpPr>
          <p:spPr>
            <a:xfrm>
              <a:off x="6011640" y="3131640"/>
              <a:ext cx="391680" cy="843480"/>
            </a:xfrm>
            <a:custGeom>
              <a:avLst/>
              <a:gdLst>
                <a:gd name="textAreaLeft" fmla="*/ 0 w 391680"/>
                <a:gd name="textAreaRight" fmla="*/ 392400 w 391680"/>
                <a:gd name="textAreaTop" fmla="*/ 0 h 843480"/>
                <a:gd name="textAreaBottom" fmla="*/ 844200 h 843480"/>
              </a:gdLst>
              <a:ahLst/>
              <a:rect l="textAreaLeft" t="textAreaTop" r="textAreaRight" b="textAreaBottom"/>
              <a:pathLst>
                <a:path w="183" h="394">
                  <a:moveTo>
                    <a:pt x="78" y="394"/>
                  </a:moveTo>
                  <a:lnTo>
                    <a:pt x="121" y="355"/>
                  </a:lnTo>
                  <a:lnTo>
                    <a:pt x="153" y="315"/>
                  </a:lnTo>
                  <a:lnTo>
                    <a:pt x="174" y="276"/>
                  </a:lnTo>
                  <a:lnTo>
                    <a:pt x="183" y="237"/>
                  </a:lnTo>
                  <a:lnTo>
                    <a:pt x="181" y="197"/>
                  </a:lnTo>
                  <a:lnTo>
                    <a:pt x="168" y="158"/>
                  </a:lnTo>
                  <a:lnTo>
                    <a:pt x="143" y="119"/>
                  </a:lnTo>
                  <a:lnTo>
                    <a:pt x="106" y="79"/>
                  </a:lnTo>
                  <a:lnTo>
                    <a:pt x="59" y="40"/>
                  </a:lnTo>
                  <a:lnTo>
                    <a:pt x="0" y="0"/>
                  </a:lnTo>
                </a:path>
              </a:pathLst>
            </a:custGeom>
            <a:noFill/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94" name="Freeform 61"/>
            <p:cNvSpPr/>
            <p:nvPr/>
          </p:nvSpPr>
          <p:spPr>
            <a:xfrm>
              <a:off x="5960160" y="3101760"/>
              <a:ext cx="74160" cy="63720"/>
            </a:xfrm>
            <a:custGeom>
              <a:avLst/>
              <a:gdLst>
                <a:gd name="textAreaLeft" fmla="*/ 0 w 74160"/>
                <a:gd name="textAreaRight" fmla="*/ 74880 w 74160"/>
                <a:gd name="textAreaTop" fmla="*/ 0 h 63720"/>
                <a:gd name="textAreaBottom" fmla="*/ 64440 h 63720"/>
              </a:gdLst>
              <a:ahLst/>
              <a:rect l="textAreaLeft" t="textAreaTop" r="textAreaRight" b="textAreaBottom"/>
              <a:pathLst>
                <a:path w="35" h="30">
                  <a:moveTo>
                    <a:pt x="19" y="30"/>
                  </a:moveTo>
                  <a:lnTo>
                    <a:pt x="0" y="0"/>
                  </a:lnTo>
                  <a:lnTo>
                    <a:pt x="35" y="3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440" bIns="19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95" name="Freeform 62"/>
            <p:cNvSpPr/>
            <p:nvPr/>
          </p:nvSpPr>
          <p:spPr>
            <a:xfrm>
              <a:off x="5793120" y="2259360"/>
              <a:ext cx="393840" cy="8413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841320"/>
                <a:gd name="textAreaBottom" fmla="*/ 842040 h 841320"/>
              </a:gdLst>
              <a:ahLst/>
              <a:rect l="textAreaLeft" t="textAreaTop" r="textAreaRight" b="textAreaBottom"/>
              <a:pathLst>
                <a:path w="184" h="393">
                  <a:moveTo>
                    <a:pt x="78" y="393"/>
                  </a:moveTo>
                  <a:lnTo>
                    <a:pt x="121" y="354"/>
                  </a:lnTo>
                  <a:lnTo>
                    <a:pt x="154" y="315"/>
                  </a:lnTo>
                  <a:lnTo>
                    <a:pt x="174" y="275"/>
                  </a:lnTo>
                  <a:lnTo>
                    <a:pt x="184" y="236"/>
                  </a:lnTo>
                  <a:lnTo>
                    <a:pt x="181" y="197"/>
                  </a:lnTo>
                  <a:lnTo>
                    <a:pt x="168" y="157"/>
                  </a:lnTo>
                  <a:lnTo>
                    <a:pt x="143" y="118"/>
                  </a:lnTo>
                  <a:lnTo>
                    <a:pt x="107" y="79"/>
                  </a:lnTo>
                  <a:lnTo>
                    <a:pt x="59" y="39"/>
                  </a:lnTo>
                  <a:lnTo>
                    <a:pt x="0" y="0"/>
                  </a:lnTo>
                </a:path>
              </a:pathLst>
            </a:custGeom>
            <a:noFill/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96" name="Freeform 63"/>
            <p:cNvSpPr/>
            <p:nvPr/>
          </p:nvSpPr>
          <p:spPr>
            <a:xfrm>
              <a:off x="5741640" y="2229480"/>
              <a:ext cx="74160" cy="61560"/>
            </a:xfrm>
            <a:custGeom>
              <a:avLst/>
              <a:gdLst>
                <a:gd name="textAreaLeft" fmla="*/ 0 w 74160"/>
                <a:gd name="textAreaRight" fmla="*/ 74880 w 74160"/>
                <a:gd name="textAreaTop" fmla="*/ 0 h 61560"/>
                <a:gd name="textAreaBottom" fmla="*/ 62280 h 61560"/>
              </a:gdLst>
              <a:ahLst/>
              <a:rect l="textAreaLeft" t="textAreaTop" r="textAreaRight" b="textAreaBottom"/>
              <a:pathLst>
                <a:path w="35" h="29">
                  <a:moveTo>
                    <a:pt x="19" y="29"/>
                  </a:moveTo>
                  <a:lnTo>
                    <a:pt x="0" y="0"/>
                  </a:lnTo>
                  <a:lnTo>
                    <a:pt x="35" y="2"/>
                  </a:lnTo>
                  <a:lnTo>
                    <a:pt x="19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97" name="Rectangle 64"/>
            <p:cNvSpPr/>
            <p:nvPr/>
          </p:nvSpPr>
          <p:spPr>
            <a:xfrm>
              <a:off x="6738480" y="4289040"/>
              <a:ext cx="5155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return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Rectangle 65"/>
            <p:cNvSpPr/>
            <p:nvPr/>
          </p:nvSpPr>
          <p:spPr>
            <a:xfrm>
              <a:off x="7374960" y="428904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1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Rectangle 66"/>
            <p:cNvSpPr/>
            <p:nvPr/>
          </p:nvSpPr>
          <p:spPr>
            <a:xfrm>
              <a:off x="7492680" y="4289040"/>
              <a:ext cx="6948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*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Rectangle 67"/>
            <p:cNvSpPr/>
            <p:nvPr/>
          </p:nvSpPr>
          <p:spPr>
            <a:xfrm>
              <a:off x="7574400" y="4289040"/>
              <a:ext cx="1483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1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Rectangle 68"/>
            <p:cNvSpPr/>
            <p:nvPr/>
          </p:nvSpPr>
          <p:spPr>
            <a:xfrm>
              <a:off x="7756560" y="4289040"/>
              <a:ext cx="15300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=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Rectangle 69"/>
            <p:cNvSpPr/>
            <p:nvPr/>
          </p:nvSpPr>
          <p:spPr>
            <a:xfrm>
              <a:off x="7947360" y="428904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1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Rectangle 70"/>
            <p:cNvSpPr/>
            <p:nvPr/>
          </p:nvSpPr>
          <p:spPr>
            <a:xfrm>
              <a:off x="6536880" y="3414600"/>
              <a:ext cx="5155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return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Rectangle 71"/>
            <p:cNvSpPr/>
            <p:nvPr/>
          </p:nvSpPr>
          <p:spPr>
            <a:xfrm>
              <a:off x="7165080" y="341460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Rectangle 72"/>
            <p:cNvSpPr/>
            <p:nvPr/>
          </p:nvSpPr>
          <p:spPr>
            <a:xfrm>
              <a:off x="7293600" y="3414600"/>
              <a:ext cx="6948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*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Rectangle 73"/>
            <p:cNvSpPr/>
            <p:nvPr/>
          </p:nvSpPr>
          <p:spPr>
            <a:xfrm>
              <a:off x="7374960" y="3414600"/>
              <a:ext cx="1483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1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Rectangle 74"/>
            <p:cNvSpPr/>
            <p:nvPr/>
          </p:nvSpPr>
          <p:spPr>
            <a:xfrm>
              <a:off x="7557120" y="3414600"/>
              <a:ext cx="15300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=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Rectangle 75"/>
            <p:cNvSpPr/>
            <p:nvPr/>
          </p:nvSpPr>
          <p:spPr>
            <a:xfrm>
              <a:off x="7747920" y="341460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Rectangle 76"/>
            <p:cNvSpPr/>
            <p:nvPr/>
          </p:nvSpPr>
          <p:spPr>
            <a:xfrm>
              <a:off x="6247440" y="2542320"/>
              <a:ext cx="5155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return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Rectangle 77"/>
            <p:cNvSpPr/>
            <p:nvPr/>
          </p:nvSpPr>
          <p:spPr>
            <a:xfrm>
              <a:off x="6884280" y="254232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Rectangle 78"/>
            <p:cNvSpPr/>
            <p:nvPr/>
          </p:nvSpPr>
          <p:spPr>
            <a:xfrm>
              <a:off x="7002000" y="2542320"/>
              <a:ext cx="6948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*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Rectangle 79"/>
            <p:cNvSpPr/>
            <p:nvPr/>
          </p:nvSpPr>
          <p:spPr>
            <a:xfrm>
              <a:off x="7083360" y="2542320"/>
              <a:ext cx="1483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2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Rectangle 80"/>
            <p:cNvSpPr/>
            <p:nvPr/>
          </p:nvSpPr>
          <p:spPr>
            <a:xfrm>
              <a:off x="7265520" y="2542320"/>
              <a:ext cx="15300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=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Rectangle 81"/>
            <p:cNvSpPr/>
            <p:nvPr/>
          </p:nvSpPr>
          <p:spPr>
            <a:xfrm>
              <a:off x="7456320" y="254232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6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Freeform 82"/>
            <p:cNvSpPr/>
            <p:nvPr/>
          </p:nvSpPr>
          <p:spPr>
            <a:xfrm>
              <a:off x="5741640" y="1850040"/>
              <a:ext cx="637920" cy="378720"/>
            </a:xfrm>
            <a:custGeom>
              <a:avLst/>
              <a:gdLst>
                <a:gd name="textAreaLeft" fmla="*/ 0 w 637920"/>
                <a:gd name="textAreaRight" fmla="*/ 638640 w 637920"/>
                <a:gd name="textAreaTop" fmla="*/ 0 h 378720"/>
                <a:gd name="textAreaBottom" fmla="*/ 379440 h 378720"/>
              </a:gdLst>
              <a:ahLst/>
              <a:rect l="textAreaLeft" t="textAreaTop" r="textAreaRight" b="textAreaBottom"/>
              <a:pathLst>
                <a:path w="298" h="177">
                  <a:moveTo>
                    <a:pt x="0" y="177"/>
                  </a:moveTo>
                  <a:lnTo>
                    <a:pt x="64" y="173"/>
                  </a:lnTo>
                  <a:lnTo>
                    <a:pt x="121" y="163"/>
                  </a:lnTo>
                  <a:lnTo>
                    <a:pt x="171" y="144"/>
                  </a:lnTo>
                  <a:lnTo>
                    <a:pt x="214" y="119"/>
                  </a:lnTo>
                  <a:lnTo>
                    <a:pt x="249" y="87"/>
                  </a:lnTo>
                  <a:lnTo>
                    <a:pt x="277" y="47"/>
                  </a:lnTo>
                  <a:lnTo>
                    <a:pt x="298" y="0"/>
                  </a:lnTo>
                </a:path>
              </a:pathLst>
            </a:custGeom>
            <a:noFill/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16" name="Freeform 83"/>
            <p:cNvSpPr/>
            <p:nvPr/>
          </p:nvSpPr>
          <p:spPr>
            <a:xfrm>
              <a:off x="6346080" y="1792440"/>
              <a:ext cx="63720" cy="74160"/>
            </a:xfrm>
            <a:custGeom>
              <a:avLst/>
              <a:gdLst>
                <a:gd name="textAreaLeft" fmla="*/ 0 w 63720"/>
                <a:gd name="textAreaRight" fmla="*/ 64440 w 63720"/>
                <a:gd name="textAreaTop" fmla="*/ 0 h 74160"/>
                <a:gd name="textAreaBottom" fmla="*/ 74880 h 74160"/>
              </a:gdLst>
              <a:ahLst/>
              <a:rect l="textAreaLeft" t="textAreaTop" r="textAreaRight" b="textAreaBottom"/>
              <a:pathLst>
                <a:path w="30" h="35">
                  <a:moveTo>
                    <a:pt x="30" y="35"/>
                  </a:moveTo>
                  <a:lnTo>
                    <a:pt x="24" y="0"/>
                  </a:lnTo>
                  <a:lnTo>
                    <a:pt x="0" y="26"/>
                  </a:lnTo>
                  <a:lnTo>
                    <a:pt x="30" y="3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17" name="Rectangle 84"/>
            <p:cNvSpPr/>
            <p:nvPr/>
          </p:nvSpPr>
          <p:spPr>
            <a:xfrm>
              <a:off x="5647320" y="1541520"/>
              <a:ext cx="5155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return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Rectangle 85"/>
            <p:cNvSpPr/>
            <p:nvPr/>
          </p:nvSpPr>
          <p:spPr>
            <a:xfrm>
              <a:off x="6273360" y="1541520"/>
              <a:ext cx="986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4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Rectangle 86"/>
            <p:cNvSpPr/>
            <p:nvPr/>
          </p:nvSpPr>
          <p:spPr>
            <a:xfrm>
              <a:off x="6393240" y="1541520"/>
              <a:ext cx="6948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*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Rectangle 87"/>
            <p:cNvSpPr/>
            <p:nvPr/>
          </p:nvSpPr>
          <p:spPr>
            <a:xfrm>
              <a:off x="6483240" y="1541520"/>
              <a:ext cx="14832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6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Rectangle 88"/>
            <p:cNvSpPr/>
            <p:nvPr/>
          </p:nvSpPr>
          <p:spPr>
            <a:xfrm>
              <a:off x="6665400" y="1541520"/>
              <a:ext cx="15300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=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Rectangle 89"/>
            <p:cNvSpPr/>
            <p:nvPr/>
          </p:nvSpPr>
          <p:spPr>
            <a:xfrm>
              <a:off x="6847560" y="1541520"/>
              <a:ext cx="19800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24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Line 90"/>
            <p:cNvSpPr/>
            <p:nvPr/>
          </p:nvSpPr>
          <p:spPr>
            <a:xfrm>
              <a:off x="7160400" y="1683000"/>
              <a:ext cx="705240" cy="2160"/>
            </a:xfrm>
            <a:prstGeom prst="line">
              <a:avLst/>
            </a:prstGeom>
            <a:ln cap="rnd" w="1588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840" bIns="-4284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24" name="Freeform 91"/>
            <p:cNvSpPr/>
            <p:nvPr/>
          </p:nvSpPr>
          <p:spPr>
            <a:xfrm>
              <a:off x="7857360" y="1650960"/>
              <a:ext cx="68040" cy="65880"/>
            </a:xfrm>
            <a:custGeom>
              <a:avLst/>
              <a:gdLst>
                <a:gd name="textAreaLeft" fmla="*/ 0 w 68040"/>
                <a:gd name="textAreaRight" fmla="*/ 68760 w 68040"/>
                <a:gd name="textAreaTop" fmla="*/ 0 h 65880"/>
                <a:gd name="textAreaBottom" fmla="*/ 66600 h 65880"/>
              </a:gdLst>
              <a:ahLst/>
              <a:rect l="textAreaLeft" t="textAreaTop" r="textAreaRight" b="textAreaBottom"/>
              <a:pathLst>
                <a:path w="32" h="31">
                  <a:moveTo>
                    <a:pt x="0" y="0"/>
                  </a:moveTo>
                  <a:lnTo>
                    <a:pt x="32" y="15"/>
                  </a:lnTo>
                  <a:lnTo>
                    <a:pt x="0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25" name="Rectangle 92"/>
            <p:cNvSpPr/>
            <p:nvPr/>
          </p:nvSpPr>
          <p:spPr>
            <a:xfrm>
              <a:off x="7993800" y="1550160"/>
              <a:ext cx="9518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final answer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Line 93"/>
            <p:cNvSpPr/>
            <p:nvPr/>
          </p:nvSpPr>
          <p:spPr>
            <a:xfrm flipV="1">
              <a:off x="7597800" y="4614480"/>
              <a:ext cx="2160" cy="550800"/>
            </a:xfrm>
            <a:prstGeom prst="line">
              <a:avLst/>
            </a:prstGeom>
            <a:ln cap="rnd" w="635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27" name="Freeform 94"/>
            <p:cNvSpPr/>
            <p:nvPr/>
          </p:nvSpPr>
          <p:spPr>
            <a:xfrm>
              <a:off x="7559280" y="4546080"/>
              <a:ext cx="76320" cy="7848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78480"/>
                <a:gd name="textAreaBottom" fmla="*/ 79200 h 78480"/>
              </a:gdLst>
              <a:ahLst/>
              <a:rect l="textAreaLeft" t="textAreaTop" r="textAreaRight" b="textAreaBottom"/>
              <a:pathLst>
                <a:path w="36" h="37">
                  <a:moveTo>
                    <a:pt x="0" y="37"/>
                  </a:moveTo>
                  <a:lnTo>
                    <a:pt x="18" y="0"/>
                  </a:lnTo>
                  <a:lnTo>
                    <a:pt x="36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28" name="Line 95"/>
            <p:cNvSpPr/>
            <p:nvPr/>
          </p:nvSpPr>
          <p:spPr>
            <a:xfrm flipH="1" flipV="1">
              <a:off x="7473240" y="3729600"/>
              <a:ext cx="396720" cy="574200"/>
            </a:xfrm>
            <a:prstGeom prst="line">
              <a:avLst/>
            </a:prstGeom>
            <a:ln cap="rnd" w="635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29" name="Freeform 96"/>
            <p:cNvSpPr/>
            <p:nvPr/>
          </p:nvSpPr>
          <p:spPr>
            <a:xfrm>
              <a:off x="7432920" y="3673800"/>
              <a:ext cx="76320" cy="8496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84960"/>
                <a:gd name="textAreaBottom" fmla="*/ 85680 h 84960"/>
              </a:gdLst>
              <a:ahLst/>
              <a:rect l="textAreaLeft" t="textAreaTop" r="textAreaRight" b="textAreaBottom"/>
              <a:pathLst>
                <a:path w="36" h="40">
                  <a:moveTo>
                    <a:pt x="6" y="40"/>
                  </a:moveTo>
                  <a:lnTo>
                    <a:pt x="0" y="0"/>
                  </a:lnTo>
                  <a:lnTo>
                    <a:pt x="36" y="19"/>
                  </a:lnTo>
                  <a:lnTo>
                    <a:pt x="6" y="4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30" name="Line 97"/>
            <p:cNvSpPr/>
            <p:nvPr/>
          </p:nvSpPr>
          <p:spPr>
            <a:xfrm flipH="1" flipV="1">
              <a:off x="7205400" y="2850840"/>
              <a:ext cx="501480" cy="578520"/>
            </a:xfrm>
            <a:prstGeom prst="line">
              <a:avLst/>
            </a:prstGeom>
            <a:ln cap="rnd" w="635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31" name="Freeform 98"/>
            <p:cNvSpPr/>
            <p:nvPr/>
          </p:nvSpPr>
          <p:spPr>
            <a:xfrm>
              <a:off x="7160760" y="2799720"/>
              <a:ext cx="80640" cy="84960"/>
            </a:xfrm>
            <a:custGeom>
              <a:avLst/>
              <a:gdLst>
                <a:gd name="textAreaLeft" fmla="*/ 0 w 80640"/>
                <a:gd name="textAreaRight" fmla="*/ 81360 w 80640"/>
                <a:gd name="textAreaTop" fmla="*/ 0 h 84960"/>
                <a:gd name="textAreaBottom" fmla="*/ 85680 h 84960"/>
              </a:gdLst>
              <a:ahLst/>
              <a:rect l="textAreaLeft" t="textAreaTop" r="textAreaRight" b="textAreaBottom"/>
              <a:pathLst>
                <a:path w="38" h="40">
                  <a:moveTo>
                    <a:pt x="10" y="40"/>
                  </a:moveTo>
                  <a:lnTo>
                    <a:pt x="0" y="0"/>
                  </a:lnTo>
                  <a:lnTo>
                    <a:pt x="38" y="16"/>
                  </a:lnTo>
                  <a:lnTo>
                    <a:pt x="10" y="4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32" name="Line 99"/>
            <p:cNvSpPr/>
            <p:nvPr/>
          </p:nvSpPr>
          <p:spPr>
            <a:xfrm flipH="1" flipV="1">
              <a:off x="6613920" y="1837080"/>
              <a:ext cx="874440" cy="720000"/>
            </a:xfrm>
            <a:prstGeom prst="line">
              <a:avLst/>
            </a:prstGeom>
            <a:ln cap="rnd" w="635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33" name="Freeform 100"/>
            <p:cNvSpPr/>
            <p:nvPr/>
          </p:nvSpPr>
          <p:spPr>
            <a:xfrm>
              <a:off x="6560640" y="1792440"/>
              <a:ext cx="84960" cy="8064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80640"/>
                <a:gd name="textAreaBottom" fmla="*/ 81360 h 80640"/>
              </a:gdLst>
              <a:ahLst/>
              <a:rect l="textAreaLeft" t="textAreaTop" r="textAreaRight" b="textAreaBottom"/>
              <a:pathLst>
                <a:path w="40" h="38">
                  <a:moveTo>
                    <a:pt x="17" y="38"/>
                  </a:moveTo>
                  <a:lnTo>
                    <a:pt x="0" y="0"/>
                  </a:lnTo>
                  <a:lnTo>
                    <a:pt x="40" y="10"/>
                  </a:lnTo>
                  <a:lnTo>
                    <a:pt x="17" y="38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34" name="Line 101"/>
            <p:cNvSpPr/>
            <p:nvPr/>
          </p:nvSpPr>
          <p:spPr>
            <a:xfrm>
              <a:off x="4541400" y="1573560"/>
              <a:ext cx="93960" cy="381600"/>
            </a:xfrm>
            <a:prstGeom prst="line">
              <a:avLst/>
            </a:prstGeom>
            <a:ln cap="rnd" w="158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35" name="Freeform 102"/>
            <p:cNvSpPr/>
            <p:nvPr/>
          </p:nvSpPr>
          <p:spPr>
            <a:xfrm>
              <a:off x="4601520" y="1938240"/>
              <a:ext cx="63720" cy="72000"/>
            </a:xfrm>
            <a:custGeom>
              <a:avLst/>
              <a:gdLst>
                <a:gd name="textAreaLeft" fmla="*/ 0 w 63720"/>
                <a:gd name="textAreaRight" fmla="*/ 64440 w 63720"/>
                <a:gd name="textAreaTop" fmla="*/ 0 h 72000"/>
                <a:gd name="textAreaBottom" fmla="*/ 72720 h 72000"/>
              </a:gdLst>
              <a:ahLst/>
              <a:rect l="textAreaLeft" t="textAreaTop" r="textAreaRight" b="textAreaBottom"/>
              <a:pathLst>
                <a:path w="30" h="34">
                  <a:moveTo>
                    <a:pt x="30" y="0"/>
                  </a:moveTo>
                  <a:lnTo>
                    <a:pt x="23" y="34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400" spc="-1" strike="noStrike">
                <a:solidFill>
                  <a:srgbClr val="0033cc"/>
                </a:solidFill>
                <a:latin typeface="Calibri"/>
              </a:endParaRPr>
            </a:p>
          </p:txBody>
        </p:sp>
        <p:sp>
          <p:nvSpPr>
            <p:cNvPr id="136" name="Rectangle 103"/>
            <p:cNvSpPr/>
            <p:nvPr/>
          </p:nvSpPr>
          <p:spPr>
            <a:xfrm>
              <a:off x="3803040" y="1647000"/>
              <a:ext cx="73368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Initial call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Rectangle 54"/>
            <p:cNvSpPr/>
            <p:nvPr/>
          </p:nvSpPr>
          <p:spPr>
            <a:xfrm>
              <a:off x="5123520" y="3466080"/>
              <a:ext cx="11102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Recursive call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Rectangle 54"/>
            <p:cNvSpPr/>
            <p:nvPr/>
          </p:nvSpPr>
          <p:spPr>
            <a:xfrm>
              <a:off x="5311440" y="4302000"/>
              <a:ext cx="11102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Recursive call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Rectangle 54"/>
            <p:cNvSpPr/>
            <p:nvPr/>
          </p:nvSpPr>
          <p:spPr>
            <a:xfrm>
              <a:off x="5542560" y="5204520"/>
              <a:ext cx="1110240" cy="21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33cc"/>
                  </a:solidFill>
                  <a:latin typeface="Arial"/>
                  <a:ea typeface="MS PGothic"/>
                </a:rPr>
                <a:t>Recursive call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Number Guess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Pick a number between 1 and 100.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Binary Search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Search for an integer “target” in an ordered list.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Picture 6" descr=""/>
          <p:cNvPicPr/>
          <p:nvPr/>
        </p:nvPicPr>
        <p:blipFill>
          <a:blip r:embed="rId1"/>
          <a:stretch/>
        </p:blipFill>
        <p:spPr>
          <a:xfrm>
            <a:off x="2495520" y="1751040"/>
            <a:ext cx="7038360" cy="464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Binary Search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Picture 6" descr=""/>
          <p:cNvPicPr/>
          <p:nvPr/>
        </p:nvPicPr>
        <p:blipFill>
          <a:blip r:embed="rId1"/>
          <a:stretch/>
        </p:blipFill>
        <p:spPr>
          <a:xfrm>
            <a:off x="2266920" y="1336680"/>
            <a:ext cx="7657560" cy="460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Fibonacci Numbers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2838600" y="3162600"/>
            <a:ext cx="5352480" cy="31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6111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fib(0) = 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fib(1) =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fib(2) = 1 + 0 =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fib(3) = 1 + 1 = 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fib(4) = 2 + 1 = 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fib(5) = 3 + 2 = 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fib(6) = 5 + 3 = 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fib(7) = 8 + 5 = 13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fib(8) = 13 + 8 = 21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3062160" y="1496160"/>
            <a:ext cx="5848560" cy="1178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Fibonacci Numbers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310040" y="3162600"/>
            <a:ext cx="4676040" cy="31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6111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fib(0) =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fib(1) =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fib(2) = 1 + 1 + 1 = 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fib(3) = 1 + 3 + 1 = 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fib(4) = 1 + 5 + 3 = 9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fib(5) = 1 + 9 + 5 = 15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fib(6) = 1 + 15 + 9 = 25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fib(7) = 1 + 25 + 15 = 41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Calls for fib(8) = 1 + 41 + 25 = 67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3062160" y="1496160"/>
            <a:ext cx="5848560" cy="1178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Content Placeholder 2"/>
          <p:cNvSpPr/>
          <p:nvPr/>
        </p:nvSpPr>
        <p:spPr>
          <a:xfrm>
            <a:off x="6291720" y="3162600"/>
            <a:ext cx="4676040" cy="31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Basically: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Call for fib(n) &gt; 2^(n/2)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Exponential runtime!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Fibonacci Numbers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866960" y="1916640"/>
            <a:ext cx="8686080" cy="336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569cd6"/>
                </a:solidFill>
                <a:latin typeface="Consolas"/>
              </a:rPr>
              <a:t>def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 fib2(n):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800" spc="-1" strike="noStrike">
                <a:solidFill>
                  <a:srgbClr val="ce9178"/>
                </a:solidFill>
                <a:latin typeface="Consolas"/>
              </a:rPr>
              <a:t>"""Return the nth Fibonacci number."""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8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 n &lt;= </a:t>
            </a:r>
            <a:r>
              <a:rPr b="0" lang="en-US" sz="28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: </a:t>
            </a:r>
            <a:r>
              <a:rPr b="0" lang="en-US" sz="28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 (n,</a:t>
            </a:r>
            <a:r>
              <a:rPr b="0" lang="en-US" sz="2800" spc="-1" strike="noStrike">
                <a:solidFill>
                  <a:srgbClr val="b5cea8"/>
                </a:solidFill>
                <a:latin typeface="Consolas"/>
              </a:rPr>
              <a:t>0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8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(a, b) = fib2(n-</a:t>
            </a:r>
            <a:r>
              <a:rPr b="0" lang="en-US" sz="28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8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2800" spc="-1" strike="noStrike">
                <a:solidFill>
                  <a:srgbClr val="d4d4d4"/>
                </a:solidFill>
                <a:latin typeface="Consolas"/>
              </a:rPr>
              <a:t> (a+b, a)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Designing Recursive Algorithms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Test for base cases: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There should be at least one.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Base case should not contain recursion.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Recursive step: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Perform one or more recursive calls.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Input size (or length) should decrease with each recursive call.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Chain of recursive calls should reach to base case.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Towers of Hanoi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4000320"/>
            <a:ext cx="10638720" cy="21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Game rules: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Only one disk may be moved at a time.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Each move consists of taking the upper disk from one of the stacks and placing it on top of another stack or on an empty rod.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No disk may be placed on top of a disk that is smaller than it.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Picture 4" descr="A model set of the Tower of Hanoi (with 8 disks)"/>
          <p:cNvPicPr/>
          <p:nvPr/>
        </p:nvPicPr>
        <p:blipFill>
          <a:blip r:embed="rId1"/>
          <a:stretch/>
        </p:blipFill>
        <p:spPr>
          <a:xfrm>
            <a:off x="3176640" y="1162080"/>
            <a:ext cx="6447600" cy="283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Towers of Hanoi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2" descr=""/>
          <p:cNvPicPr/>
          <p:nvPr/>
        </p:nvPicPr>
        <p:blipFill>
          <a:blip r:embed="rId1"/>
          <a:stretch/>
        </p:blipFill>
        <p:spPr>
          <a:xfrm>
            <a:off x="2657520" y="2533680"/>
            <a:ext cx="7298280" cy="141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Towers of Hanoi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Picture 4" descr=""/>
          <p:cNvPicPr/>
          <p:nvPr/>
        </p:nvPicPr>
        <p:blipFill>
          <a:blip r:embed="rId1"/>
          <a:stretch/>
        </p:blipFill>
        <p:spPr>
          <a:xfrm>
            <a:off x="3099960" y="1299600"/>
            <a:ext cx="6201000" cy="487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Example: Towers of Hanoi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515880" y="1937520"/>
            <a:ext cx="11159640" cy="34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def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TowerOfHanoi(n , source, destination, auxiliary):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n==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print (</a:t>
            </a:r>
            <a:r>
              <a:rPr b="0" lang="en-US" sz="2000" spc="-1" strike="noStrike">
                <a:solidFill>
                  <a:srgbClr val="ce9178"/>
                </a:solidFill>
                <a:latin typeface="Consolas"/>
              </a:rPr>
              <a:t>"Move disk 1 from source"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,source,</a:t>
            </a:r>
            <a:r>
              <a:rPr b="0" lang="en-US" sz="2000" spc="-1" strike="noStrike">
                <a:solidFill>
                  <a:srgbClr val="ce9178"/>
                </a:solidFill>
                <a:latin typeface="Consolas"/>
              </a:rPr>
              <a:t>"to destination"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,destination)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return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TowerOfHanoi(n-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, source, auxiliary, destination)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print (</a:t>
            </a:r>
            <a:r>
              <a:rPr b="0" lang="en-US" sz="2000" spc="-1" strike="noStrike">
                <a:solidFill>
                  <a:srgbClr val="ce9178"/>
                </a:solidFill>
                <a:latin typeface="Consolas"/>
              </a:rPr>
              <a:t>"Move disk"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,n,</a:t>
            </a:r>
            <a:r>
              <a:rPr b="0" lang="en-US" sz="2000" spc="-1" strike="noStrike">
                <a:solidFill>
                  <a:srgbClr val="ce9178"/>
                </a:solidFill>
                <a:latin typeface="Consolas"/>
              </a:rPr>
              <a:t>"from source"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,source,</a:t>
            </a:r>
            <a:r>
              <a:rPr b="0" lang="en-US" sz="2000" spc="-1" strike="noStrike">
                <a:solidFill>
                  <a:srgbClr val="ce9178"/>
                </a:solidFill>
                <a:latin typeface="Consolas"/>
              </a:rPr>
              <a:t>"to destination"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,destination)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TowerOfHanoi(n-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, auxiliary, destination, source)     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Tail Recursion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Recursive call is the last step of the function.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Function returns immediately after recursive call.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Eliminating tail recursion will clear any overhead resulting from recursive function calls.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Iterative Binary Search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1220040" y="1441080"/>
            <a:ext cx="9996480" cy="46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def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binary_search_iterative(data, target):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ce9178"/>
                </a:solidFill>
                <a:latin typeface="Consolas"/>
              </a:rPr>
              <a:t>"""Return True if target is found in the given Python list."""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low = 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high = len(data) - 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while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low &lt;= high: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mid = (low + high) // 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if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target == data[mid]: </a:t>
            </a:r>
            <a:r>
              <a:rPr b="0" lang="en-US" sz="2000" spc="-1" strike="noStrike">
                <a:solidFill>
                  <a:srgbClr val="6a9955"/>
                </a:solidFill>
                <a:latin typeface="Consolas"/>
              </a:rPr>
              <a:t># found a match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True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elif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target &lt; data[mid]: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high = mid - 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</a:t>
            </a:r>
            <a:r>
              <a:rPr b="0" lang="en-US" sz="2000" spc="-1" strike="noStrike">
                <a:solidFill>
                  <a:srgbClr val="6a9955"/>
                </a:solidFill>
                <a:latin typeface="Consolas"/>
              </a:rPr>
              <a:t># only consider values left of mid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else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low = mid + </a:t>
            </a:r>
            <a:r>
              <a:rPr b="0" lang="en-US" sz="2000" spc="-1" strike="noStrike">
                <a:solidFill>
                  <a:srgbClr val="b5cea8"/>
                </a:solidFill>
                <a:latin typeface="Consolas"/>
              </a:rPr>
              <a:t>1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</a:t>
            </a:r>
            <a:r>
              <a:rPr b="0" lang="en-US" sz="2000" spc="-1" strike="noStrike">
                <a:solidFill>
                  <a:srgbClr val="6a9955"/>
                </a:solidFill>
                <a:latin typeface="Consolas"/>
              </a:rPr>
              <a:t># only consider values right of mid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   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return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</a:t>
            </a:r>
            <a:r>
              <a:rPr b="0" lang="en-US" sz="2000" spc="-1" strike="noStrike">
                <a:solidFill>
                  <a:srgbClr val="569cd6"/>
                </a:solidFill>
                <a:latin typeface="Consolas"/>
              </a:rPr>
              <a:t>False</a:t>
            </a:r>
            <a:r>
              <a:rPr b="0" lang="en-US" sz="2000" spc="-1" strike="noStrike">
                <a:solidFill>
                  <a:srgbClr val="d4d4d4"/>
                </a:solidFill>
                <a:latin typeface="Consolas"/>
              </a:rPr>
              <a:t> </a:t>
            </a:r>
            <a:r>
              <a:rPr b="0" lang="en-US" sz="2000" spc="-1" strike="noStrike">
                <a:solidFill>
                  <a:srgbClr val="6a9955"/>
                </a:solidFill>
                <a:latin typeface="Consolas"/>
              </a:rPr>
              <a:t># loop ended without success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Exercises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R-4.1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Describe a recursive algorithm for finding the maximum element in a sequence, S, of n elements. What is your running time and space usage?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R-4.7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Describe a recursive function for converting a string of digits into the integer it represents. For example, “13531” represents the integer 13,531.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EC8C8039-EF7F-4657-A0C7-7FE1EEAD64B1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29498</TotalTime>
  <Application>LibreOffice/24.2.7.2$Linux_X86_64 LibreOffice_project/420$Build-2</Application>
  <AppVersion>15.0000</AppVersion>
  <Words>1159</Words>
  <Paragraphs>179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2023-10-30T20:43:34Z</cp:lastPrinted>
  <dcterms:modified xsi:type="dcterms:W3CDTF">2025-09-12T23:16:42Z</dcterms:modified>
  <cp:revision>686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20</vt:i4>
  </property>
  <property fmtid="{D5CDD505-2E9C-101B-9397-08002B2CF9AE}" pid="6" name="bjClsUserRVM">
    <vt:lpwstr>[]</vt:lpwstr>
  </property>
  <property fmtid="{D5CDD505-2E9C-101B-9397-08002B2CF9AE}" pid="7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8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9" name="bjDocumentSecurityLabel">
    <vt:lpwstr>TASNİF DIŞI</vt:lpwstr>
  </property>
  <property fmtid="{D5CDD505-2E9C-101B-9397-08002B2CF9AE}" pid="10" name="bjSaver">
    <vt:lpwstr>f8PkN1uJXJwqI9alO3CYacUW7PVwbe+w</vt:lpwstr>
  </property>
  <property fmtid="{D5CDD505-2E9C-101B-9397-08002B2CF9AE}" pid="11" name="docIndexRef">
    <vt:lpwstr>3c4ade84-1b77-4958-b253-7a1280122afc</vt:lpwstr>
  </property>
</Properties>
</file>