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_rels/item1.xml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_rels/presentation.xml.rels" ContentType="application/vnd.openxmlformats-package.relationships+xml"/>
  <Override PartName="/ppt/media/image13.wmf" ContentType="image/x-wmf"/>
  <Override PartName="/ppt/media/image9.png" ContentType="image/png"/>
  <Override PartName="/ppt/media/image18.png" ContentType="image/png"/>
  <Override PartName="/ppt/media/image20.png" ContentType="image/png"/>
  <Override PartName="/ppt/media/image12.png" ContentType="image/png"/>
  <Override PartName="/ppt/media/image3.png" ContentType="image/png"/>
  <Override PartName="/ppt/media/image19.png" ContentType="image/png"/>
  <Override PartName="/ppt/media/image16.wmf" ContentType="image/x-wmf"/>
  <Override PartName="/ppt/media/image8.png" ContentType="image/png"/>
  <Override PartName="/ppt/media/image17.png" ContentType="image/png"/>
  <Override PartName="/ppt/media/image15.wmf" ContentType="image/x-wmf"/>
  <Override PartName="/ppt/media/image14.wmf" ContentType="image/x-wmf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2.png" ContentType="image/png"/>
  <Override PartName="/ppt/media/image11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8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1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2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64BAB67-679B-4EE9-BD54-EF6EAC30E93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2" name="PlaceHolder 4"/>
          <p:cNvSpPr>
            <a:spLocks noGrp="1"/>
          </p:cNvSpPr>
          <p:nvPr>
            <p:ph type="ftr" idx="26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3" name="PlaceHolder 5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74C6CAE-6AFF-479B-B3E3-3727F28203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ftr" idx="28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21C9D6-F332-4CE7-8E9B-CF44618EFA4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ftr" idx="30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8C79E63-F0E8-45E5-B98B-3B5CAB1C720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Clr>
                <a:srgbClr val="374151"/>
              </a:buClr>
              <a:buFont typeface="+mj-lt"/>
              <a:buAutoNum type="arabicPeriod"/>
            </a:pPr>
            <a:r>
              <a:rPr b="0" lang="en-US" sz="2000" spc="-1" strike="noStrike">
                <a:solidFill>
                  <a:srgbClr val="374151"/>
                </a:solidFill>
                <a:latin typeface="Söhne"/>
              </a:rPr>
              <a:t>Dynamic Size: Linked lists can easily grow or shrink in size by adding or removing nodes. In contrast, regular lists (arrays) are often allocated a fixed amount of memory, and resizing them can be inefficient and error-prone.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374151"/>
              </a:buClr>
              <a:buFont typeface="+mj-lt"/>
              <a:buAutoNum type="arabicPeriod"/>
            </a:pPr>
            <a:r>
              <a:rPr b="0" lang="en-US" sz="2000" spc="-1" strike="noStrike">
                <a:solidFill>
                  <a:srgbClr val="374151"/>
                </a:solidFill>
                <a:latin typeface="Söhne"/>
              </a:rPr>
              <a:t>Efficient Insertions and Deletions: Insertions and deletions at the beginning or middle of a linked list can be done in constant time (O(1)) if you have a reference to the node where the operation is to be performed. In contrast, adding or removing elements in the middle of a regular list requires shifting elements, which can be O(n) in the worst case.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374151"/>
              </a:buClr>
              <a:buFont typeface="+mj-lt"/>
              <a:buAutoNum type="arabicPeriod"/>
            </a:pPr>
            <a:r>
              <a:rPr b="0" lang="en-US" sz="2000" spc="-1" strike="noStrike">
                <a:solidFill>
                  <a:srgbClr val="374151"/>
                </a:solidFill>
                <a:latin typeface="Söhne"/>
              </a:rPr>
              <a:t>Memory Efficiency: Linked lists use memory more efficiently since they allocate memory for each node as needed. In regular lists, memory is often allocated in fixed-size chunks, which can lead to wasted memory when the list size is smaller than the allocated chunk size.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374151"/>
              </a:buClr>
              <a:buFont typeface="+mj-lt"/>
              <a:buAutoNum type="arabicPeriod"/>
            </a:pPr>
            <a:r>
              <a:rPr b="0" lang="en-US" sz="2000" spc="-1" strike="noStrike">
                <a:solidFill>
                  <a:srgbClr val="374151"/>
                </a:solidFill>
                <a:latin typeface="Söhne"/>
              </a:rPr>
              <a:t>No Need for Pre-allocation: Linked lists don't require you to specify the size of the list in advance. You can keep adding elements as needed without worrying about resizing or reallocation.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374151"/>
              </a:buClr>
              <a:buFont typeface="+mj-lt"/>
              <a:buAutoNum type="arabicPeriod"/>
            </a:pPr>
            <a:r>
              <a:rPr b="0" lang="en-US" sz="2000" spc="-1" strike="noStrike">
                <a:solidFill>
                  <a:srgbClr val="374151"/>
                </a:solidFill>
                <a:latin typeface="Söhne"/>
              </a:rPr>
              <a:t>Constant-Time Insertions at the Head: Inserting an element at the beginning of a linked list is a constant-time operation (O(1)), as it only involves creating a new node and updating references. In a regular list, inserting at the beginning requires shifting all existing elements, which is O(n).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374151"/>
              </a:buClr>
              <a:buFont typeface="+mj-lt"/>
              <a:buAutoNum type="arabicPeriod"/>
            </a:pPr>
            <a:r>
              <a:rPr b="0" lang="en-US" sz="2000" spc="-1" strike="noStrike">
                <a:solidFill>
                  <a:srgbClr val="374151"/>
                </a:solidFill>
                <a:latin typeface="Söhne"/>
              </a:rPr>
              <a:t>Easy Implementation of Other Data Structures: Linked lists serve as the foundation for other data structures like stacks, queues, and hash tables. They are often used as building blocks for more complex data structures.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 type="ftr" idx="32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5F26FB-35BA-48FC-AE56-B5192687855D}" type="slidenum"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ftr" idx="34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3" name="PlaceHolder 5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A8D88CA-53A2-4FB3-BA8A-42C2E2221B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36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C13A3B1-8158-4FAB-ABC3-017E6CE086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2" name="PlaceHolder 4"/>
          <p:cNvSpPr>
            <a:spLocks noGrp="1"/>
          </p:cNvSpPr>
          <p:nvPr>
            <p:ph type="ftr" idx="38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3" name="PlaceHolder 5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95A7E4-58C0-482E-B728-F0CC42DFA2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ftr" idx="40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8" name="PlaceHolder 5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8084EA5-47F4-4391-A244-1B1834D84A8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2" name="PlaceHolder 4"/>
          <p:cNvSpPr>
            <a:spLocks noGrp="1"/>
          </p:cNvSpPr>
          <p:nvPr>
            <p:ph type="ftr" idx="42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3" name="PlaceHolder 5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3EDAC5-B116-4184-B383-486357EAA5B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 type="ftr" idx="44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8" name="PlaceHolder 5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AAB9479-4CB5-41B9-A442-BCF40B6794E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ftr" idx="46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E8D3734-2744-43C8-AFF1-631A16D1450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ftr" idx="48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5CD7F9-3767-4B81-9E3E-71EAB6457F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2" name="PlaceHolder 4"/>
          <p:cNvSpPr>
            <a:spLocks noGrp="1"/>
          </p:cNvSpPr>
          <p:nvPr>
            <p:ph type="ftr" idx="50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3" name="PlaceHolder 5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FB5A1D-7C0C-4E70-8D9B-A2CFDFF9087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ftr" idx="52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C62D36-743F-4A51-98C7-C8D89660CB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ftr" idx="54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E8F0641-F5BC-44E6-BE8C-1E33905781B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ftr" idx="56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8" name="PlaceHolder 5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B4F5FDC-150D-4AB2-B7D8-D26A9F11F48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 type="ftr" idx="58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3" name="PlaceHolder 5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840383-83C7-4F5F-92CB-00959073C8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7" name="PlaceHolder 4"/>
          <p:cNvSpPr>
            <a:spLocks noGrp="1"/>
          </p:cNvSpPr>
          <p:nvPr>
            <p:ph type="ftr" idx="60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8" name="PlaceHolder 5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3C477A-A6C0-45C1-9EC1-FEE929AA1A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ftr" idx="62"/>
          </p:nvPr>
        </p:nvSpPr>
        <p:spPr>
          <a:xfrm>
            <a:off x="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7A3118-BE15-4A45-BD68-69E6C8ED79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8FF42E9-33CB-4439-B7FF-946E731104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5961834-3B71-4BEF-AFEB-3B07F511AD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FED256F0-E878-4C55-BB03-7EFB6478C6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1310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226200" y="1107000"/>
            <a:ext cx="51310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7BF3CE28-C494-4443-A15A-F64C458028E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AD7473CC-EFFF-400E-8037-C0D59B3344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ED867421-4763-4757-BBAB-FADDB3EA8B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9358FA-36D4-46A2-B335-9FC317C185A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1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13F913-CC25-4925-BC88-6DAED94469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F1F8884-5CEC-4969-9490-C28C53EF73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38080" y="1107000"/>
            <a:ext cx="513072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226200" y="1107000"/>
            <a:ext cx="5130720" cy="5069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F0851E8-7DC7-4B73-8E96-650B361FE9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AEE909A-D4E7-4A1A-BFAA-B3A9FB2DE0A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B7E229E-A8D3-45CF-9EB9-71AF550B0A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6"/>
          <p:cNvSpPr/>
          <p:nvPr/>
        </p:nvSpPr>
        <p:spPr>
          <a:xfrm>
            <a:off x="41400" y="6539040"/>
            <a:ext cx="5150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</a:rPr>
              <a:t>ENG 346 – Data Structures and Algorithms for Artificial Intelligence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" name="Picture 4" descr="Gebze Technical University"/>
          <p:cNvPicPr/>
          <p:nvPr/>
        </p:nvPicPr>
        <p:blipFill>
          <a:blip r:embed="rId2"/>
          <a:stretch/>
        </p:blipFill>
        <p:spPr>
          <a:xfrm>
            <a:off x="10150560" y="-89640"/>
            <a:ext cx="2159280" cy="10134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hyperlink" Target="mailto:mpekmezci@gtu.edu.t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wmf"/><Relationship Id="rId2" Type="http://schemas.openxmlformats.org/officeDocument/2006/relationships/image" Target="../media/image14.wmf"/><Relationship Id="rId3" Type="http://schemas.openxmlformats.org/officeDocument/2006/relationships/image" Target="../media/image15.wmf"/><Relationship Id="rId4" Type="http://schemas.openxmlformats.org/officeDocument/2006/relationships/image" Target="../media/image16.wmf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341000" y="1252800"/>
            <a:ext cx="9143280" cy="299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75000" lnSpcReduction="10000"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ENG 346</a:t>
            </a:r>
            <a:br>
              <a:rPr sz="6000"/>
            </a:br>
            <a:r>
              <a:rPr b="1" lang="en-US" sz="6000" spc="-1" strike="noStrike">
                <a:solidFill>
                  <a:srgbClr val="c00000"/>
                </a:solidFill>
                <a:latin typeface="Calibri Light"/>
              </a:rPr>
              <a:t>Data Structures and Algorithms for Artificial Intelligence</a:t>
            </a:r>
            <a:br>
              <a:rPr sz="6000"/>
            </a:br>
            <a:r>
              <a:rPr b="1" lang="en-US" sz="4900" spc="-1" strike="noStrike">
                <a:solidFill>
                  <a:schemeClr val="dk1"/>
                </a:solidFill>
                <a:latin typeface="Calibri Light"/>
              </a:rPr>
              <a:t>Linked Lists</a:t>
            </a:r>
            <a:endParaRPr b="0" lang="en-US" sz="4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496520" y="4462200"/>
            <a:ext cx="9143280" cy="100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Dr. Mehmet PEKMEZCİ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  <a:hlinkClick r:id="rId1"/>
              </a:rPr>
              <a:t>mpekmezci@gtu.edu.tr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https://github.com/mehmetpekmezci/GTU-ENG-346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Agenda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Singly Linked Lists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Stacks Revisited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Queues Revisited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Doubly Linked Lists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Organize and store a collection of elements, called nodes, in a linear sequence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Each node in a linked list has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Data: Actual value or information to store in the list.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Reference(s): Represents the connection(s) between nodes in the sequence. 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Type of linked lists: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Singly linked list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Doubly linked list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Circular linked list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Advantages of Linked Lists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Dynamic Size: Can easily grow or shrink in size by adding or removing nodes.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Efficient Insertions and Deletions: Insertions and deletions at the beginning or middle of a linked list can be done in constant time.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Memory Efficiency: Linked lists use memory more efficiently since they allocate memory for each node as needed.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No Need for Pre-allocation: Linked lists don't require you to specify the size of the list in advance.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Constant-Time Insertions at the Head.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Easy Implementation of Other Data Structures like stacks, queues, and hash tables.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Disadvantages of Linked Lists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Inefficient Random Access: Accessing an element at a specific index in a linked list can be inefficient, taking O(n) time in the worst case.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Increased Memory Overhead: Each node in a linked list requires additional memory to store the reference to the next node.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Slower Traversal: Traversing a linked list can be slower than iterating through an array because it involves following references from one node to the next.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Singly Linked Lists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2270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singly linked list is a concrete data structure consisting of a sequence of nodes, starting from a head pointer.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Each node stores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Link to the next node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" name="Group 34"/>
          <p:cNvGrpSpPr/>
          <p:nvPr/>
        </p:nvGrpSpPr>
        <p:grpSpPr>
          <a:xfrm>
            <a:off x="407880" y="3627720"/>
            <a:ext cx="2590200" cy="2133000"/>
            <a:chOff x="407880" y="3627720"/>
            <a:chExt cx="2590200" cy="2133000"/>
          </a:xfrm>
        </p:grpSpPr>
        <p:sp>
          <p:nvSpPr>
            <p:cNvPr id="67" name="Rectangle 3"/>
            <p:cNvSpPr/>
            <p:nvPr/>
          </p:nvSpPr>
          <p:spPr>
            <a:xfrm>
              <a:off x="679320" y="4139640"/>
              <a:ext cx="608760" cy="6087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ＭＳ Ｐゴシック"/>
              </a:endParaRPr>
            </a:p>
          </p:txBody>
        </p:sp>
        <p:sp>
          <p:nvSpPr>
            <p:cNvPr id="68" name="Text Box 11"/>
            <p:cNvSpPr/>
            <p:nvPr/>
          </p:nvSpPr>
          <p:spPr>
            <a:xfrm>
              <a:off x="2111400" y="3987360"/>
              <a:ext cx="70092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Tahoma"/>
                  <a:ea typeface="ＭＳ Ｐゴシック"/>
                </a:rPr>
                <a:t>next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" name="Text Box 12"/>
            <p:cNvSpPr/>
            <p:nvPr/>
          </p:nvSpPr>
          <p:spPr>
            <a:xfrm>
              <a:off x="645840" y="5237280"/>
              <a:ext cx="74196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2"/>
                  </a:solidFill>
                  <a:latin typeface="Tahoma"/>
                  <a:ea typeface="ＭＳ Ｐゴシック"/>
                </a:rPr>
                <a:t>Data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" name="Text Box 13"/>
            <p:cNvSpPr/>
            <p:nvPr/>
          </p:nvSpPr>
          <p:spPr>
            <a:xfrm>
              <a:off x="1361880" y="3627720"/>
              <a:ext cx="82584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b="0" lang="en-US" sz="2000" spc="-1" strike="noStrike">
                  <a:solidFill>
                    <a:schemeClr val="dk1"/>
                  </a:solidFill>
                  <a:latin typeface="Tahoma"/>
                  <a:ea typeface="ＭＳ Ｐゴシック"/>
                </a:rPr>
                <a:t>Node</a:t>
              </a:r>
              <a:endParaRPr b="0" lang="en-US" sz="2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AutoShape 14"/>
            <p:cNvSpPr/>
            <p:nvPr/>
          </p:nvSpPr>
          <p:spPr>
            <a:xfrm>
              <a:off x="407880" y="3627720"/>
              <a:ext cx="2590200" cy="2133000"/>
            </a:xfrm>
            <a:prstGeom prst="roundRect">
              <a:avLst>
                <a:gd name="adj" fmla="val 16667"/>
              </a:avLst>
            </a:prstGeom>
            <a:noFill/>
            <a:ln w="9525">
              <a:solidFill>
                <a:srgbClr val="000000"/>
              </a:solidFill>
              <a:prstDash val="lg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ＭＳ Ｐゴシック"/>
              </a:endParaRPr>
            </a:p>
          </p:txBody>
        </p:sp>
        <p:sp>
          <p:nvSpPr>
            <p:cNvPr id="72" name="Rectangle 8"/>
            <p:cNvSpPr/>
            <p:nvPr/>
          </p:nvSpPr>
          <p:spPr>
            <a:xfrm>
              <a:off x="1288800" y="4139640"/>
              <a:ext cx="608760" cy="60876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defTabSz="457200">
                <a:lnSpc>
                  <a:spcPct val="100000"/>
                </a:lnSpc>
              </a:pPr>
              <a:endParaRPr b="0" lang="en-US" sz="2400" spc="-1" strike="noStrike">
                <a:solidFill>
                  <a:schemeClr val="dk1"/>
                </a:solidFill>
                <a:latin typeface="Tahoma"/>
                <a:ea typeface="ＭＳ Ｐゴシック"/>
              </a:endParaRPr>
            </a:p>
          </p:txBody>
        </p:sp>
        <p:sp>
          <p:nvSpPr>
            <p:cNvPr id="73" name="Line 18"/>
            <p:cNvSpPr/>
            <p:nvPr/>
          </p:nvSpPr>
          <p:spPr>
            <a:xfrm>
              <a:off x="983880" y="4444200"/>
              <a:ext cx="360" cy="914400"/>
            </a:xfrm>
            <a:prstGeom prst="line">
              <a:avLst/>
            </a:prstGeom>
            <a:ln w="28575">
              <a:solidFill>
                <a:srgbClr val="44546a"/>
              </a:solidFill>
              <a:round/>
              <a:headEnd len="med" type="oval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2400" spc="-1" strike="noStrike">
                <a:solidFill>
                  <a:schemeClr val="dk1"/>
                </a:solidFill>
                <a:latin typeface="Tahoma"/>
                <a:ea typeface="ＭＳ Ｐゴシック"/>
              </a:endParaRPr>
            </a:p>
          </p:txBody>
        </p:sp>
        <p:sp>
          <p:nvSpPr>
            <p:cNvPr id="74" name="Line 19"/>
            <p:cNvSpPr/>
            <p:nvPr/>
          </p:nvSpPr>
          <p:spPr>
            <a:xfrm>
              <a:off x="1593360" y="4444200"/>
              <a:ext cx="914400" cy="360"/>
            </a:xfrm>
            <a:prstGeom prst="line">
              <a:avLst/>
            </a:prstGeom>
            <a:ln w="28575">
              <a:solidFill>
                <a:srgbClr val="000000"/>
              </a:solidFill>
              <a:round/>
              <a:headEnd len="med" type="oval" w="med"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4640" bIns="-44640" anchor="t">
              <a:noAutofit/>
            </a:bodyPr>
            <a:p>
              <a:endParaRPr b="0" lang="en-US" sz="2400" spc="-1" strike="noStrike">
                <a:solidFill>
                  <a:schemeClr val="dk1"/>
                </a:solidFill>
                <a:latin typeface="Tahoma"/>
                <a:ea typeface="ＭＳ Ｐゴシック"/>
              </a:endParaRPr>
            </a:p>
          </p:txBody>
        </p:sp>
      </p:grpSp>
      <p:sp>
        <p:nvSpPr>
          <p:cNvPr id="75" name="Rectangle 11"/>
          <p:cNvSpPr/>
          <p:nvPr/>
        </p:nvSpPr>
        <p:spPr>
          <a:xfrm>
            <a:off x="431820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76" name="Text Box 22"/>
          <p:cNvSpPr/>
          <p:nvPr/>
        </p:nvSpPr>
        <p:spPr>
          <a:xfrm>
            <a:off x="4460040" y="5425920"/>
            <a:ext cx="3412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2"/>
                </a:solidFill>
                <a:latin typeface="Tahoma"/>
                <a:ea typeface="ＭＳ Ｐゴシック"/>
              </a:rPr>
              <a:t>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13"/>
          <p:cNvSpPr/>
          <p:nvPr/>
        </p:nvSpPr>
        <p:spPr>
          <a:xfrm>
            <a:off x="492768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78" name="Line 25"/>
          <p:cNvSpPr/>
          <p:nvPr/>
        </p:nvSpPr>
        <p:spPr>
          <a:xfrm>
            <a:off x="4622760" y="4520880"/>
            <a:ext cx="360" cy="914400"/>
          </a:xfrm>
          <a:prstGeom prst="line">
            <a:avLst/>
          </a:prstGeom>
          <a:ln w="28575">
            <a:solidFill>
              <a:srgbClr val="44546a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79" name="Line 26"/>
          <p:cNvSpPr/>
          <p:nvPr/>
        </p:nvSpPr>
        <p:spPr>
          <a:xfrm>
            <a:off x="5232240" y="4520880"/>
            <a:ext cx="914400" cy="360"/>
          </a:xfrm>
          <a:prstGeom prst="line">
            <a:avLst/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0" name="Rectangle 16"/>
          <p:cNvSpPr/>
          <p:nvPr/>
        </p:nvSpPr>
        <p:spPr>
          <a:xfrm>
            <a:off x="614700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1" name="Rectangle 17"/>
          <p:cNvSpPr/>
          <p:nvPr/>
        </p:nvSpPr>
        <p:spPr>
          <a:xfrm>
            <a:off x="675648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2" name="Line 29"/>
          <p:cNvSpPr/>
          <p:nvPr/>
        </p:nvSpPr>
        <p:spPr>
          <a:xfrm>
            <a:off x="7061040" y="4520880"/>
            <a:ext cx="914400" cy="360"/>
          </a:xfrm>
          <a:prstGeom prst="line">
            <a:avLst/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3" name="Rectangle 19"/>
          <p:cNvSpPr/>
          <p:nvPr/>
        </p:nvSpPr>
        <p:spPr>
          <a:xfrm>
            <a:off x="797580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4" name="Rectangle 20"/>
          <p:cNvSpPr/>
          <p:nvPr/>
        </p:nvSpPr>
        <p:spPr>
          <a:xfrm>
            <a:off x="858528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5" name="Line 32"/>
          <p:cNvSpPr/>
          <p:nvPr/>
        </p:nvSpPr>
        <p:spPr>
          <a:xfrm>
            <a:off x="8889840" y="4520880"/>
            <a:ext cx="914400" cy="360"/>
          </a:xfrm>
          <a:prstGeom prst="line">
            <a:avLst/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6" name="Rectangle 22"/>
          <p:cNvSpPr/>
          <p:nvPr/>
        </p:nvSpPr>
        <p:spPr>
          <a:xfrm>
            <a:off x="980460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7" name="Rectangle 23"/>
          <p:cNvSpPr/>
          <p:nvPr/>
        </p:nvSpPr>
        <p:spPr>
          <a:xfrm>
            <a:off x="10414080" y="4215960"/>
            <a:ext cx="608760" cy="608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8" name="Line 35"/>
          <p:cNvSpPr/>
          <p:nvPr/>
        </p:nvSpPr>
        <p:spPr>
          <a:xfrm>
            <a:off x="10718640" y="4520880"/>
            <a:ext cx="914400" cy="360"/>
          </a:xfrm>
          <a:prstGeom prst="line">
            <a:avLst/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89" name="Text Box 37"/>
          <p:cNvSpPr/>
          <p:nvPr/>
        </p:nvSpPr>
        <p:spPr>
          <a:xfrm>
            <a:off x="6287400" y="5425920"/>
            <a:ext cx="344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2"/>
                </a:solidFill>
                <a:latin typeface="Tahoma"/>
                <a:ea typeface="ＭＳ Ｐゴシック"/>
              </a:rPr>
              <a:t>B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Line 38"/>
          <p:cNvSpPr/>
          <p:nvPr/>
        </p:nvSpPr>
        <p:spPr>
          <a:xfrm>
            <a:off x="6451560" y="4520880"/>
            <a:ext cx="360" cy="914400"/>
          </a:xfrm>
          <a:prstGeom prst="line">
            <a:avLst/>
          </a:prstGeom>
          <a:ln w="28575">
            <a:solidFill>
              <a:srgbClr val="44546a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91" name="Text Box 39"/>
          <p:cNvSpPr/>
          <p:nvPr/>
        </p:nvSpPr>
        <p:spPr>
          <a:xfrm>
            <a:off x="8118360" y="5425920"/>
            <a:ext cx="339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2"/>
                </a:solidFill>
                <a:latin typeface="Tahoma"/>
                <a:ea typeface="ＭＳ Ｐゴシック"/>
              </a:rPr>
              <a:t>C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Line 40"/>
          <p:cNvSpPr/>
          <p:nvPr/>
        </p:nvSpPr>
        <p:spPr>
          <a:xfrm>
            <a:off x="8280360" y="4520880"/>
            <a:ext cx="360" cy="914400"/>
          </a:xfrm>
          <a:prstGeom prst="line">
            <a:avLst/>
          </a:prstGeom>
          <a:ln w="28575">
            <a:solidFill>
              <a:srgbClr val="44546a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93" name="Text Box 41"/>
          <p:cNvSpPr/>
          <p:nvPr/>
        </p:nvSpPr>
        <p:spPr>
          <a:xfrm>
            <a:off x="9936000" y="5425920"/>
            <a:ext cx="363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2"/>
                </a:solidFill>
                <a:latin typeface="Tahoma"/>
                <a:ea typeface="ＭＳ Ｐゴシック"/>
              </a:rPr>
              <a:t>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Line 42"/>
          <p:cNvSpPr/>
          <p:nvPr/>
        </p:nvSpPr>
        <p:spPr>
          <a:xfrm>
            <a:off x="10109160" y="4520880"/>
            <a:ext cx="360" cy="914400"/>
          </a:xfrm>
          <a:prstGeom prst="line">
            <a:avLst/>
          </a:prstGeom>
          <a:ln w="28575">
            <a:solidFill>
              <a:srgbClr val="44546a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95" name="Text Box 43"/>
          <p:cNvSpPr/>
          <p:nvPr/>
        </p:nvSpPr>
        <p:spPr>
          <a:xfrm>
            <a:off x="11586240" y="4322520"/>
            <a:ext cx="4341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Symbol"/>
                <a:ea typeface="ＭＳ Ｐゴシック"/>
              </a:rPr>
              <a:t>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Line 26"/>
          <p:cNvSpPr/>
          <p:nvPr/>
        </p:nvSpPr>
        <p:spPr>
          <a:xfrm>
            <a:off x="3541680" y="4146120"/>
            <a:ext cx="762120" cy="380880"/>
          </a:xfrm>
          <a:prstGeom prst="line">
            <a:avLst/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97" name="Text Box 11"/>
          <p:cNvSpPr/>
          <p:nvPr/>
        </p:nvSpPr>
        <p:spPr>
          <a:xfrm>
            <a:off x="3182760" y="3765240"/>
            <a:ext cx="7786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ＭＳ Ｐゴシック"/>
              </a:rPr>
              <a:t>head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Line 26"/>
          <p:cNvSpPr/>
          <p:nvPr/>
        </p:nvSpPr>
        <p:spPr>
          <a:xfrm>
            <a:off x="9015480" y="3927960"/>
            <a:ext cx="762120" cy="380880"/>
          </a:xfrm>
          <a:prstGeom prst="line">
            <a:avLst/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ＭＳ Ｐゴシック"/>
            </a:endParaRPr>
          </a:p>
        </p:txBody>
      </p:sp>
      <p:sp>
        <p:nvSpPr>
          <p:cNvPr id="99" name="Text Box 11"/>
          <p:cNvSpPr/>
          <p:nvPr/>
        </p:nvSpPr>
        <p:spPr>
          <a:xfrm>
            <a:off x="8772840" y="3547080"/>
            <a:ext cx="545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ＭＳ Ｐゴシック"/>
              </a:rPr>
              <a:t>tail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3" dur="indefinite" restart="never" nodeType="tmRoot">
          <p:childTnLst>
            <p:seq>
              <p:cTn id="34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nodeType="with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Inserting at the Head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717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Allocate a new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Insert new element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Have new node point to old head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Update head to point to new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3" descr=""/>
          <p:cNvPicPr/>
          <p:nvPr/>
        </p:nvPicPr>
        <p:blipFill>
          <a:blip r:embed="rId1"/>
          <a:stretch/>
        </p:blipFill>
        <p:spPr>
          <a:xfrm>
            <a:off x="7097760" y="1009080"/>
            <a:ext cx="4255200" cy="488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838080" y="35928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Removing from the Head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76252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Update head to point to next node in the list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Allow garbage collector to reclaim the former first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5" name="Picture 3" descr=""/>
          <p:cNvPicPr/>
          <p:nvPr/>
        </p:nvPicPr>
        <p:blipFill>
          <a:blip r:embed="rId1"/>
          <a:stretch/>
        </p:blipFill>
        <p:spPr>
          <a:xfrm>
            <a:off x="8470080" y="3864240"/>
            <a:ext cx="3065760" cy="1377000"/>
          </a:xfrm>
          <a:prstGeom prst="rect">
            <a:avLst/>
          </a:prstGeom>
          <a:ln w="0">
            <a:noFill/>
          </a:ln>
        </p:spPr>
      </p:pic>
      <p:pic>
        <p:nvPicPr>
          <p:cNvPr id="106" name="Picture 4" descr=""/>
          <p:cNvPicPr/>
          <p:nvPr/>
        </p:nvPicPr>
        <p:blipFill>
          <a:blip r:embed="rId2"/>
          <a:stretch/>
        </p:blipFill>
        <p:spPr>
          <a:xfrm>
            <a:off x="7892280" y="2442240"/>
            <a:ext cx="3643560" cy="133272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5" descr=""/>
          <p:cNvPicPr/>
          <p:nvPr/>
        </p:nvPicPr>
        <p:blipFill>
          <a:blip r:embed="rId3"/>
          <a:stretch/>
        </p:blipFill>
        <p:spPr>
          <a:xfrm>
            <a:off x="7892280" y="1091520"/>
            <a:ext cx="3643560" cy="1261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Inserting at the Tail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8294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Allocate a new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Insert new element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Have new node point to null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Have old last node point to new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Update tail to point to new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Picture 3" descr=""/>
          <p:cNvPicPr/>
          <p:nvPr/>
        </p:nvPicPr>
        <p:blipFill>
          <a:blip r:embed="rId1"/>
          <a:stretch/>
        </p:blipFill>
        <p:spPr>
          <a:xfrm>
            <a:off x="7385400" y="1107000"/>
            <a:ext cx="4389480" cy="474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838080" y="35928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Removing from the Tail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574020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Removing at the tail of a singly linked list is not efficient!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There is no constant-time way to update the tail to point to the previous node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Picture 3" descr=""/>
          <p:cNvPicPr/>
          <p:nvPr/>
        </p:nvPicPr>
        <p:blipFill>
          <a:blip r:embed="rId1"/>
          <a:stretch/>
        </p:blipFill>
        <p:spPr>
          <a:xfrm>
            <a:off x="7227000" y="1837800"/>
            <a:ext cx="4361400" cy="1919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Stack as a 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Implement a stack with a singly linked list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top element </a:t>
            </a:r>
            <a:r>
              <a:rPr b="0" lang="en-US" sz="2800" spc="-1" strike="noStrike">
                <a:solidFill>
                  <a:schemeClr val="dk1"/>
                </a:solidFill>
                <a:latin typeface="Wingdings"/>
              </a:rPr>
              <a:t></a:t>
            </a: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 The first node of the list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space used is O(n) and each operation of the Stack ADT takes O(1) time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2133720" y="380880"/>
            <a:ext cx="7771680" cy="837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Linked-List Stack in Python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Linked Lists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ahoma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0DA6AD-3D97-44C2-BFFE-BBBFA2AC73AB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ahoma"/>
                <a:ea typeface="MS PGothic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19" name="Picture 6" descr=""/>
          <p:cNvPicPr/>
          <p:nvPr/>
        </p:nvPicPr>
        <p:blipFill>
          <a:blip r:embed="rId1"/>
          <a:stretch/>
        </p:blipFill>
        <p:spPr>
          <a:xfrm>
            <a:off x="636480" y="1219320"/>
            <a:ext cx="4916880" cy="390708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  <p:pic>
        <p:nvPicPr>
          <p:cNvPr id="120" name="Picture 7" descr=""/>
          <p:cNvPicPr/>
          <p:nvPr/>
        </p:nvPicPr>
        <p:blipFill>
          <a:blip r:embed="rId2"/>
          <a:stretch/>
        </p:blipFill>
        <p:spPr>
          <a:xfrm>
            <a:off x="6158160" y="1219320"/>
            <a:ext cx="5490720" cy="326448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  <p:pic>
        <p:nvPicPr>
          <p:cNvPr id="121" name="Picture 8" descr=""/>
          <p:cNvPicPr/>
          <p:nvPr/>
        </p:nvPicPr>
        <p:blipFill>
          <a:blip r:embed="rId3"/>
          <a:stretch/>
        </p:blipFill>
        <p:spPr>
          <a:xfrm>
            <a:off x="6158160" y="4528080"/>
            <a:ext cx="5756760" cy="227376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Queue as a 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Implement a queue with a singly linked list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front element </a:t>
            </a:r>
            <a:r>
              <a:rPr b="0" lang="en-US" sz="2400" spc="-1" strike="noStrike">
                <a:solidFill>
                  <a:schemeClr val="dk1"/>
                </a:solidFill>
                <a:latin typeface="Wingdings"/>
              </a:rPr>
              <a:t>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the first node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The rear element </a:t>
            </a:r>
            <a:r>
              <a:rPr b="0" lang="en-US" sz="2400" spc="-1" strike="noStrike">
                <a:solidFill>
                  <a:schemeClr val="dk1"/>
                </a:solidFill>
                <a:latin typeface="Wingdings"/>
              </a:rPr>
              <a:t></a:t>
            </a: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 the last node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The space used is O(n) and each operation of the Queue ADT takes O(1) time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Linked-List Queue in Python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ftr" idx="2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Linked Lists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sldNum" idx="2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ahoma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CDA9E8A-59F3-4F07-9B25-24E853FBB08D}" type="slidenum"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ahoma"/>
                <a:ea typeface="MS PGothic"/>
              </a:rPr>
              <a:t>14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7" name="Picture 5" descr=""/>
          <p:cNvPicPr/>
          <p:nvPr/>
        </p:nvPicPr>
        <p:blipFill>
          <a:blip r:embed="rId1"/>
          <a:stretch/>
        </p:blipFill>
        <p:spPr>
          <a:xfrm>
            <a:off x="532440" y="1515600"/>
            <a:ext cx="5097600" cy="465588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  <p:pic>
        <p:nvPicPr>
          <p:cNvPr id="128" name="Picture 6" descr=""/>
          <p:cNvPicPr/>
          <p:nvPr/>
        </p:nvPicPr>
        <p:blipFill>
          <a:blip r:embed="rId2"/>
          <a:stretch/>
        </p:blipFill>
        <p:spPr>
          <a:xfrm>
            <a:off x="6195960" y="1515600"/>
            <a:ext cx="5290560" cy="422316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Doubly 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2209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A linked list which can be traversed in both directions.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Each Node stores: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Link to the previous node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Link to the next node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4"/>
          <p:cNvSpPr/>
          <p:nvPr/>
        </p:nvSpPr>
        <p:spPr>
          <a:xfrm>
            <a:off x="1159560" y="4501080"/>
            <a:ext cx="497880" cy="497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32" name="Rectangle 5"/>
          <p:cNvSpPr/>
          <p:nvPr/>
        </p:nvSpPr>
        <p:spPr>
          <a:xfrm>
            <a:off x="1658160" y="4501080"/>
            <a:ext cx="497880" cy="497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33" name="Rectangle 6"/>
          <p:cNvSpPr/>
          <p:nvPr/>
        </p:nvSpPr>
        <p:spPr>
          <a:xfrm>
            <a:off x="2156760" y="4501080"/>
            <a:ext cx="497880" cy="4978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cxnSp>
        <p:nvCxnSpPr>
          <p:cNvPr id="134" name="AutoShape 10"/>
          <p:cNvCxnSpPr/>
          <p:nvPr/>
        </p:nvCxnSpPr>
        <p:spPr>
          <a:xfrm rot="10800000">
            <a:off x="660600" y="4376880"/>
            <a:ext cx="748440" cy="373680"/>
          </a:xfrm>
          <a:prstGeom prst="curvedConnector3">
            <a:avLst>
              <a:gd name="adj1" fmla="val 25024"/>
            </a:avLst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</p:cxnSp>
      <p:cxnSp>
        <p:nvCxnSpPr>
          <p:cNvPr id="135" name="AutoShape 12"/>
          <p:cNvCxnSpPr/>
          <p:nvPr/>
        </p:nvCxnSpPr>
        <p:spPr>
          <a:xfrm flipV="1">
            <a:off x="2405880" y="4377240"/>
            <a:ext cx="748440" cy="373680"/>
          </a:xfrm>
          <a:prstGeom prst="curvedConnector3">
            <a:avLst>
              <a:gd name="adj1" fmla="val 25024"/>
            </a:avLst>
          </a:prstGeom>
          <a:ln w="28575">
            <a:solidFill>
              <a:srgbClr val="000000"/>
            </a:solidFill>
            <a:round/>
            <a:headEnd len="med" type="oval" w="med"/>
            <a:tailEnd len="med" type="triangle" w="med"/>
          </a:ln>
        </p:spPr>
      </p:cxnSp>
      <p:cxnSp>
        <p:nvCxnSpPr>
          <p:cNvPr id="136" name="AutoShape 13"/>
          <p:cNvCxnSpPr>
            <a:endCxn id="137" idx="0"/>
          </p:cNvCxnSpPr>
          <p:nvPr/>
        </p:nvCxnSpPr>
        <p:spPr>
          <a:xfrm flipH="1" rot="16200000">
            <a:off x="1641600" y="5017320"/>
            <a:ext cx="540360" cy="6120"/>
          </a:xfrm>
          <a:prstGeom prst="curvedConnector3">
            <a:avLst>
              <a:gd name="adj1" fmla="val 0"/>
            </a:avLst>
          </a:prstGeom>
          <a:ln w="28575">
            <a:solidFill>
              <a:srgbClr val="44546a"/>
            </a:solidFill>
            <a:round/>
            <a:headEnd len="med" type="oval" w="med"/>
            <a:tailEnd len="med" type="triangle" w="med"/>
          </a:ln>
        </p:spPr>
      </p:cxnSp>
      <p:sp>
        <p:nvSpPr>
          <p:cNvPr id="138" name="Text Box 14"/>
          <p:cNvSpPr/>
          <p:nvPr/>
        </p:nvSpPr>
        <p:spPr>
          <a:xfrm>
            <a:off x="563400" y="3980520"/>
            <a:ext cx="703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MS PGothic"/>
              </a:rPr>
              <a:t>prev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 Box 15"/>
          <p:cNvSpPr/>
          <p:nvPr/>
        </p:nvSpPr>
        <p:spPr>
          <a:xfrm>
            <a:off x="2493720" y="3980520"/>
            <a:ext cx="700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MS PGothic"/>
              </a:rPr>
              <a:t>next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Box 16"/>
          <p:cNvSpPr/>
          <p:nvPr/>
        </p:nvSpPr>
        <p:spPr>
          <a:xfrm>
            <a:off x="1543680" y="5290200"/>
            <a:ext cx="741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2"/>
                </a:solidFill>
                <a:latin typeface="Tahoma"/>
                <a:ea typeface="MS PGothic"/>
              </a:rPr>
              <a:t>Data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Box 87"/>
          <p:cNvSpPr/>
          <p:nvPr/>
        </p:nvSpPr>
        <p:spPr>
          <a:xfrm>
            <a:off x="1457640" y="3817080"/>
            <a:ext cx="8258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MS PGothic"/>
              </a:rPr>
              <a:t>Node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AutoShape 88"/>
          <p:cNvSpPr/>
          <p:nvPr/>
        </p:nvSpPr>
        <p:spPr>
          <a:xfrm>
            <a:off x="276120" y="3817080"/>
            <a:ext cx="3199680" cy="190440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2" name="Rectangle 17"/>
          <p:cNvSpPr/>
          <p:nvPr/>
        </p:nvSpPr>
        <p:spPr>
          <a:xfrm>
            <a:off x="533844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3" name="Rectangle 35"/>
          <p:cNvSpPr/>
          <p:nvPr/>
        </p:nvSpPr>
        <p:spPr>
          <a:xfrm>
            <a:off x="564336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4" name="Rectangle 36"/>
          <p:cNvSpPr/>
          <p:nvPr/>
        </p:nvSpPr>
        <p:spPr>
          <a:xfrm>
            <a:off x="594828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5" name="Freeform 40"/>
          <p:cNvSpPr/>
          <p:nvPr/>
        </p:nvSpPr>
        <p:spPr>
          <a:xfrm>
            <a:off x="6100560" y="42123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6" name="Rectangle 44"/>
          <p:cNvSpPr/>
          <p:nvPr/>
        </p:nvSpPr>
        <p:spPr>
          <a:xfrm>
            <a:off x="686268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7" name="Rectangle 45"/>
          <p:cNvSpPr/>
          <p:nvPr/>
        </p:nvSpPr>
        <p:spPr>
          <a:xfrm>
            <a:off x="716724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8" name="Rectangle 46"/>
          <p:cNvSpPr/>
          <p:nvPr/>
        </p:nvSpPr>
        <p:spPr>
          <a:xfrm>
            <a:off x="747216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49" name="Freeform 47"/>
          <p:cNvSpPr/>
          <p:nvPr/>
        </p:nvSpPr>
        <p:spPr>
          <a:xfrm>
            <a:off x="7624440" y="42123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0" name="Rectangle 50"/>
          <p:cNvSpPr/>
          <p:nvPr/>
        </p:nvSpPr>
        <p:spPr>
          <a:xfrm>
            <a:off x="838656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51" name="Rectangle 51"/>
          <p:cNvSpPr/>
          <p:nvPr/>
        </p:nvSpPr>
        <p:spPr>
          <a:xfrm>
            <a:off x="869148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52" name="Rectangle 52"/>
          <p:cNvSpPr/>
          <p:nvPr/>
        </p:nvSpPr>
        <p:spPr>
          <a:xfrm>
            <a:off x="899604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53" name="Freeform 53"/>
          <p:cNvSpPr/>
          <p:nvPr/>
        </p:nvSpPr>
        <p:spPr>
          <a:xfrm>
            <a:off x="9148680" y="42123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4" name="Rectangle 56"/>
          <p:cNvSpPr/>
          <p:nvPr/>
        </p:nvSpPr>
        <p:spPr>
          <a:xfrm>
            <a:off x="991044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55" name="Rectangle 57"/>
          <p:cNvSpPr/>
          <p:nvPr/>
        </p:nvSpPr>
        <p:spPr>
          <a:xfrm>
            <a:off x="1021536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56" name="Rectangle 58"/>
          <p:cNvSpPr/>
          <p:nvPr/>
        </p:nvSpPr>
        <p:spPr>
          <a:xfrm>
            <a:off x="1052028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57" name="Freeform 41"/>
          <p:cNvSpPr/>
          <p:nvPr/>
        </p:nvSpPr>
        <p:spPr>
          <a:xfrm rot="10800000">
            <a:off x="6253560" y="43653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8" name="Freeform 48"/>
          <p:cNvSpPr/>
          <p:nvPr/>
        </p:nvSpPr>
        <p:spPr>
          <a:xfrm rot="10800000">
            <a:off x="7777440" y="43653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9" name="Freeform 54"/>
          <p:cNvSpPr/>
          <p:nvPr/>
        </p:nvSpPr>
        <p:spPr>
          <a:xfrm rot="10800000">
            <a:off x="9301680" y="43653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0" name="Freeform 63"/>
          <p:cNvSpPr/>
          <p:nvPr/>
        </p:nvSpPr>
        <p:spPr>
          <a:xfrm>
            <a:off x="5722560" y="4350600"/>
            <a:ext cx="167400" cy="551880"/>
          </a:xfrm>
          <a:custGeom>
            <a:avLst/>
            <a:gdLst>
              <a:gd name="textAreaLeft" fmla="*/ 0 w 167400"/>
              <a:gd name="textAreaRight" fmla="*/ 168120 w 167400"/>
              <a:gd name="textAreaTop" fmla="*/ 0 h 551880"/>
              <a:gd name="textAreaBottom" fmla="*/ 552600 h 551880"/>
            </a:gdLst>
            <a:ahLst/>
            <a:rect l="textAreaLeft" t="textAreaTop" r="textAreaRight" b="textAreaBottom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>
            <a:solidFill>
              <a:srgbClr val="44546a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1" name="Freeform 64"/>
          <p:cNvSpPr/>
          <p:nvPr/>
        </p:nvSpPr>
        <p:spPr>
          <a:xfrm>
            <a:off x="7243560" y="4350600"/>
            <a:ext cx="167400" cy="551880"/>
          </a:xfrm>
          <a:custGeom>
            <a:avLst/>
            <a:gdLst>
              <a:gd name="textAreaLeft" fmla="*/ 0 w 167400"/>
              <a:gd name="textAreaRight" fmla="*/ 168120 w 167400"/>
              <a:gd name="textAreaTop" fmla="*/ 0 h 551880"/>
              <a:gd name="textAreaBottom" fmla="*/ 552600 h 551880"/>
            </a:gdLst>
            <a:ahLst/>
            <a:rect l="textAreaLeft" t="textAreaTop" r="textAreaRight" b="textAreaBottom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>
            <a:solidFill>
              <a:srgbClr val="44546a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2" name="Freeform 65"/>
          <p:cNvSpPr/>
          <p:nvPr/>
        </p:nvSpPr>
        <p:spPr>
          <a:xfrm>
            <a:off x="8764200" y="4350600"/>
            <a:ext cx="167400" cy="551880"/>
          </a:xfrm>
          <a:custGeom>
            <a:avLst/>
            <a:gdLst>
              <a:gd name="textAreaLeft" fmla="*/ 0 w 167400"/>
              <a:gd name="textAreaRight" fmla="*/ 168120 w 167400"/>
              <a:gd name="textAreaTop" fmla="*/ 0 h 551880"/>
              <a:gd name="textAreaBottom" fmla="*/ 552600 h 551880"/>
            </a:gdLst>
            <a:ahLst/>
            <a:rect l="textAreaLeft" t="textAreaTop" r="textAreaRight" b="textAreaBottom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>
            <a:solidFill>
              <a:srgbClr val="44546a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63" name="Freeform 66"/>
          <p:cNvSpPr/>
          <p:nvPr/>
        </p:nvSpPr>
        <p:spPr>
          <a:xfrm>
            <a:off x="10285200" y="4350600"/>
            <a:ext cx="167400" cy="551880"/>
          </a:xfrm>
          <a:custGeom>
            <a:avLst/>
            <a:gdLst>
              <a:gd name="textAreaLeft" fmla="*/ 0 w 167400"/>
              <a:gd name="textAreaRight" fmla="*/ 168120 w 167400"/>
              <a:gd name="textAreaTop" fmla="*/ 0 h 551880"/>
              <a:gd name="textAreaBottom" fmla="*/ 552600 h 551880"/>
            </a:gdLst>
            <a:ahLst/>
            <a:rect l="textAreaLeft" t="textAreaTop" r="textAreaRight" b="textAreaBottom"/>
            <a:pathLst>
              <a:path w="106" h="348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>
            <a:solidFill>
              <a:srgbClr val="44546a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64" name="Picture 67" descr=""/>
          <p:cNvPicPr/>
          <p:nvPr/>
        </p:nvPicPr>
        <p:blipFill>
          <a:blip r:embed="rId1"/>
          <a:stretch/>
        </p:blipFill>
        <p:spPr>
          <a:xfrm>
            <a:off x="5557680" y="4934520"/>
            <a:ext cx="685080" cy="834480"/>
          </a:xfrm>
          <a:prstGeom prst="rect">
            <a:avLst/>
          </a:prstGeom>
          <a:ln w="19050">
            <a:solidFill>
              <a:srgbClr val="44546a"/>
            </a:solidFill>
            <a:miter/>
          </a:ln>
        </p:spPr>
      </p:pic>
      <p:pic>
        <p:nvPicPr>
          <p:cNvPr id="165" name="Picture 68" descr=""/>
          <p:cNvPicPr/>
          <p:nvPr/>
        </p:nvPicPr>
        <p:blipFill>
          <a:blip r:embed="rId2"/>
          <a:stretch/>
        </p:blipFill>
        <p:spPr>
          <a:xfrm>
            <a:off x="7084800" y="4934520"/>
            <a:ext cx="685080" cy="802440"/>
          </a:xfrm>
          <a:prstGeom prst="rect">
            <a:avLst/>
          </a:prstGeom>
          <a:ln w="19050">
            <a:solidFill>
              <a:srgbClr val="44546a"/>
            </a:solidFill>
            <a:miter/>
          </a:ln>
        </p:spPr>
      </p:pic>
      <p:pic>
        <p:nvPicPr>
          <p:cNvPr id="166" name="Picture 69" descr=""/>
          <p:cNvPicPr/>
          <p:nvPr/>
        </p:nvPicPr>
        <p:blipFill>
          <a:blip r:embed="rId3"/>
          <a:stretch/>
        </p:blipFill>
        <p:spPr>
          <a:xfrm>
            <a:off x="10139040" y="4934520"/>
            <a:ext cx="685080" cy="612000"/>
          </a:xfrm>
          <a:prstGeom prst="rect">
            <a:avLst/>
          </a:prstGeom>
          <a:ln w="19050">
            <a:solidFill>
              <a:srgbClr val="44546a"/>
            </a:solidFill>
            <a:miter/>
          </a:ln>
        </p:spPr>
      </p:pic>
      <p:pic>
        <p:nvPicPr>
          <p:cNvPr id="167" name="Picture 70" descr=""/>
          <p:cNvPicPr/>
          <p:nvPr/>
        </p:nvPicPr>
        <p:blipFill>
          <a:blip r:embed="rId4"/>
          <a:stretch/>
        </p:blipFill>
        <p:spPr>
          <a:xfrm>
            <a:off x="8611920" y="4934520"/>
            <a:ext cx="685080" cy="662760"/>
          </a:xfrm>
          <a:prstGeom prst="rect">
            <a:avLst/>
          </a:prstGeom>
          <a:ln w="19050">
            <a:solidFill>
              <a:srgbClr val="44546a"/>
            </a:solidFill>
            <a:miter/>
          </a:ln>
        </p:spPr>
      </p:pic>
      <p:sp>
        <p:nvSpPr>
          <p:cNvPr id="168" name="Rectangle 72"/>
          <p:cNvSpPr/>
          <p:nvPr/>
        </p:nvSpPr>
        <p:spPr>
          <a:xfrm>
            <a:off x="1143468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69" name="Rectangle 73"/>
          <p:cNvSpPr/>
          <p:nvPr/>
        </p:nvSpPr>
        <p:spPr>
          <a:xfrm>
            <a:off x="4424040" y="4197960"/>
            <a:ext cx="304200" cy="304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70" name="Freeform 74"/>
          <p:cNvSpPr/>
          <p:nvPr/>
        </p:nvSpPr>
        <p:spPr>
          <a:xfrm>
            <a:off x="10672560" y="41979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1" name="Freeform 75"/>
          <p:cNvSpPr/>
          <p:nvPr/>
        </p:nvSpPr>
        <p:spPr>
          <a:xfrm rot="10800000">
            <a:off x="10825560" y="435132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2" name="Freeform 76"/>
          <p:cNvSpPr/>
          <p:nvPr/>
        </p:nvSpPr>
        <p:spPr>
          <a:xfrm>
            <a:off x="4576680" y="419796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3" name="Freeform 77"/>
          <p:cNvSpPr/>
          <p:nvPr/>
        </p:nvSpPr>
        <p:spPr>
          <a:xfrm rot="10800000">
            <a:off x="4729680" y="4351320"/>
            <a:ext cx="761400" cy="138960"/>
          </a:xfrm>
          <a:custGeom>
            <a:avLst/>
            <a:gdLst>
              <a:gd name="textAreaLeft" fmla="*/ 0 w 761400"/>
              <a:gd name="textAreaRight" fmla="*/ 762120 w 761400"/>
              <a:gd name="textAreaTop" fmla="*/ 0 h 138960"/>
              <a:gd name="textAreaBottom" fmla="*/ 139680 h 138960"/>
            </a:gdLst>
            <a:ahLst/>
            <a:rect l="textAreaLeft" t="textAreaTop" r="textAreaRight" b="textAreaBottom"/>
            <a:pathLst>
              <a:path w="480" h="88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>
            <a:solidFill>
              <a:srgbClr val="000000"/>
            </a:solidFill>
            <a:round/>
            <a:headEnd len="sm" type="oval" w="sm"/>
            <a:tailEnd len="lg" type="triangle" w="sm"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4" name="Text Box 78"/>
          <p:cNvSpPr/>
          <p:nvPr/>
        </p:nvSpPr>
        <p:spPr>
          <a:xfrm>
            <a:off x="11099160" y="3740760"/>
            <a:ext cx="892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MS PGothic"/>
              </a:rPr>
              <a:t>trailer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Box 79"/>
          <p:cNvSpPr/>
          <p:nvPr/>
        </p:nvSpPr>
        <p:spPr>
          <a:xfrm>
            <a:off x="4024080" y="3817080"/>
            <a:ext cx="10270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MS PGothic"/>
              </a:rPr>
              <a:t>header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AutoShape 82"/>
          <p:cNvSpPr/>
          <p:nvPr/>
        </p:nvSpPr>
        <p:spPr>
          <a:xfrm>
            <a:off x="5109840" y="3817080"/>
            <a:ext cx="5866560" cy="837360"/>
          </a:xfrm>
          <a:prstGeom prst="roundRect">
            <a:avLst>
              <a:gd name="adj" fmla="val 16667"/>
            </a:avLst>
          </a:prstGeom>
          <a:noFill/>
          <a:ln w="9525">
            <a:solidFill>
              <a:srgbClr val="000000"/>
            </a:solidFill>
            <a:prstDash val="lgDash"/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b="0" lang="en-US" sz="2400" spc="-1" strike="noStrike">
              <a:solidFill>
                <a:schemeClr val="dk1"/>
              </a:solidFill>
              <a:latin typeface="Tahoma"/>
              <a:ea typeface="MS PGothic"/>
            </a:endParaRPr>
          </a:p>
        </p:txBody>
      </p:sp>
      <p:sp>
        <p:nvSpPr>
          <p:cNvPr id="177" name="Text Box 83"/>
          <p:cNvSpPr/>
          <p:nvPr/>
        </p:nvSpPr>
        <p:spPr>
          <a:xfrm>
            <a:off x="7683840" y="3758400"/>
            <a:ext cx="947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Tahoma"/>
                <a:ea typeface="MS PGothic"/>
              </a:rPr>
              <a:t>Nodes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Deletion from Doubly 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1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Remove a node, p, from a doubly-linked list.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0" name="Picture 98" descr=""/>
          <p:cNvPicPr/>
          <p:nvPr/>
        </p:nvPicPr>
        <p:blipFill>
          <a:blip r:embed="rId1"/>
          <a:stretch/>
        </p:blipFill>
        <p:spPr>
          <a:xfrm>
            <a:off x="2822400" y="1626840"/>
            <a:ext cx="7333560" cy="4754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Insertion to Doubly 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Insert a new node, q, between p and its successor.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3" name="Picture 3" descr=""/>
          <p:cNvPicPr/>
          <p:nvPr/>
        </p:nvPicPr>
        <p:blipFill>
          <a:blip r:embed="rId1"/>
          <a:stretch/>
        </p:blipFill>
        <p:spPr>
          <a:xfrm>
            <a:off x="2609640" y="1903320"/>
            <a:ext cx="7553880" cy="4307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Doubly Linked List in Python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Picture 3" descr=""/>
          <p:cNvPicPr/>
          <p:nvPr/>
        </p:nvPicPr>
        <p:blipFill>
          <a:blip r:embed="rId1"/>
          <a:stretch/>
        </p:blipFill>
        <p:spPr>
          <a:xfrm>
            <a:off x="437760" y="1107000"/>
            <a:ext cx="5345640" cy="429552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  <p:pic>
        <p:nvPicPr>
          <p:cNvPr id="186" name="Picture 4" descr=""/>
          <p:cNvPicPr/>
          <p:nvPr/>
        </p:nvPicPr>
        <p:blipFill>
          <a:blip r:embed="rId2"/>
          <a:stretch/>
        </p:blipFill>
        <p:spPr>
          <a:xfrm>
            <a:off x="5982480" y="1107000"/>
            <a:ext cx="5856840" cy="3677040"/>
          </a:xfrm>
          <a:prstGeom prst="rect">
            <a:avLst/>
          </a:prstGeom>
          <a:ln cap="sq" w="38100">
            <a:solidFill>
              <a:srgbClr val="000000"/>
            </a:solidFill>
            <a:miter/>
          </a:ln>
          <a:effectLst>
            <a:outerShdw algn="tl" blurRad="50760" dir="2700000" dist="37674" rotWithShape="0">
              <a:srgbClr val="808080">
                <a:alpha val="43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64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93333"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c00000"/>
                </a:solidFill>
                <a:latin typeface="Calibri Light"/>
              </a:rPr>
              <a:t>Circular Linked List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838080" y="1107000"/>
            <a:ext cx="10514880" cy="50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item1.xml><?xml version="1.0" encoding="utf-8"?>
<sisl xmlns:xsi="http://www.w3.org/2001/XMLSchema-instance" xmlns:xsd="http://www.w3.org/2001/XMLSchema" xmlns="http://www.boldonjames.com/2008/01/sie/internal/label" sislVersion="0" policy="753fb180-a0f1-47ee-bb6b-5956a4b631ac" origin="userSelected">
  <element uid="id_classification_nonbusiness" value=""/>
  <element uid="3a9ec6f0-1d56-47f3-b78c-2cd80822a847" value=""/>
</sisl>
</file>

<file path=customXml/itemProps1.xml><?xml version="1.0" encoding="utf-8"?>
<ds:datastoreItem xmlns:ds="http://schemas.openxmlformats.org/officeDocument/2006/customXml" ds:itemID="{4802F114-75A3-44AB-91CB-0D8A37ADCF66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32567</TotalTime>
  <Application>LibreOffice/24.2.7.2$Linux_X86_64 LibreOffice_project/420$Build-2</Application>
  <AppVersion>15.0000</AppVersion>
  <Words>945</Words>
  <Paragraphs>121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2018-03-07T03:10:24Z</dcterms:created>
  <dc:creator>Kürşat İNCE</dc:creator>
  <dc:description/>
  <dc:language>en-US</dc:language>
  <cp:lastModifiedBy/>
  <cp:lastPrinted>2025-09-12T23:17:20Z</cp:lastPrinted>
  <dcterms:modified xsi:type="dcterms:W3CDTF">2025-09-12T23:17:31Z</dcterms:modified>
  <cp:revision>703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1</vt:i4>
  </property>
  <property fmtid="{D5CDD505-2E9C-101B-9397-08002B2CF9AE}" pid="3" name="Notes">
    <vt:i4>19</vt:i4>
  </property>
  <property fmtid="{D5CDD505-2E9C-101B-9397-08002B2CF9AE}" pid="4" name="PresentationFormat">
    <vt:lpwstr>Widescreen</vt:lpwstr>
  </property>
  <property fmtid="{D5CDD505-2E9C-101B-9397-08002B2CF9AE}" pid="5" name="Slides">
    <vt:i4>19</vt:i4>
  </property>
  <property fmtid="{D5CDD505-2E9C-101B-9397-08002B2CF9AE}" pid="6" name="bjClsUserRVM">
    <vt:lpwstr>[]</vt:lpwstr>
  </property>
  <property fmtid="{D5CDD505-2E9C-101B-9397-08002B2CF9AE}" pid="7" name="bjDocumentLabelXML">
    <vt:lpwstr>&lt;?xml version="1.0" encoding="us-ascii"?&gt;&lt;sisl xmlns:xsi="http://www.w3.org/2001/XMLSchema-instance" xmlns:xsd="http://www.w3.org/2001/XMLSchema" sislVersion="0" policy="753fb180-a0f1-47ee-bb6b-5956a4b631ac" origin="userSelected" xmlns="http://www.boldonj</vt:lpwstr>
  </property>
  <property fmtid="{D5CDD505-2E9C-101B-9397-08002B2CF9AE}" pid="8" name="bjDocumentLabelXML-0">
    <vt:lpwstr>ames.com/2008/01/sie/internal/label"&gt;&lt;element uid="id_classification_nonbusiness" value="" /&gt;&lt;element uid="3a9ec6f0-1d56-47f3-b78c-2cd80822a847" value="" /&gt;&lt;/sisl&gt;</vt:lpwstr>
  </property>
  <property fmtid="{D5CDD505-2E9C-101B-9397-08002B2CF9AE}" pid="9" name="bjDocumentSecurityLabel">
    <vt:lpwstr>TASNİF DIŞI</vt:lpwstr>
  </property>
  <property fmtid="{D5CDD505-2E9C-101B-9397-08002B2CF9AE}" pid="10" name="bjSaver">
    <vt:lpwstr>f8PkN1uJXJwqI9alO3CYacUW7PVwbe+w</vt:lpwstr>
  </property>
  <property fmtid="{D5CDD505-2E9C-101B-9397-08002B2CF9AE}" pid="11" name="docIndexRef">
    <vt:lpwstr>3c4ade84-1b77-4958-b253-7a1280122afc</vt:lpwstr>
  </property>
</Properties>
</file>