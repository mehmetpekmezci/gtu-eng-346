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F2CF07E-57A7-49F5-8670-773F00E3356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A29DF81-3B9C-42A6-A6E4-D6788AF0C8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3CD1BC-8EE4-402D-B33C-D2F96B233C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1CEA18B-CFC7-43A6-B3BB-09F4FBC319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8ADC53D-8FD3-4274-9B35-98A9504DF8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1310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6200" y="1107000"/>
            <a:ext cx="51310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6F6670A-3763-4327-AAEC-E3F350753E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46E2EF1-27A1-4779-9759-2FF04B282A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ADF4B6E-C940-4668-8008-370BD63673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8815732-A3A1-4D74-9243-A9B524115F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6496B03-4800-48E9-B05C-B62FAF61215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CB698F7-2B52-49C9-A647-BCCDD1F7EA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513072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26200" y="1107000"/>
            <a:ext cx="513072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5645A24-8DFC-48DA-858C-7E84E06C82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88C471B-0CFF-4B9B-92CE-9739944049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81854FE-227D-4667-94CC-A6A29B04AF5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mpekmezci@gtu.edu.t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341000" y="1252800"/>
            <a:ext cx="9143280" cy="299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ENG 346</a:t>
            </a:r>
            <a:br>
              <a:rPr sz="6000"/>
            </a:b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Data Structures and Algorithms for Artificial Intelligence</a:t>
            </a:r>
            <a:br>
              <a:rPr sz="6000"/>
            </a:b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Lists Tuples Maps</a:t>
            </a:r>
            <a:endParaRPr b="0" lang="en-US" sz="4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496520" y="4462200"/>
            <a:ext cx="9143280" cy="100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Dr. Mehmet PEKMEZCİ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hlinkClick r:id="rId1"/>
              </a:rPr>
              <a:t>mpekmezci@gtu.edu.tr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https://github.com/mehmetpekmezci/GTU-ENG-346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Sequences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280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Built-in types: list, tuple, and str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Sequence supports indexing, e.g. A[i]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These types uses an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array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to represent the sequence.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An array is a set of memory locations that can be addressed using consecutive indices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Indices start with 0.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8" name="Group 26"/>
          <p:cNvGrpSpPr/>
          <p:nvPr/>
        </p:nvGrpSpPr>
        <p:grpSpPr>
          <a:xfrm>
            <a:off x="3143160" y="4524480"/>
            <a:ext cx="5638320" cy="762480"/>
            <a:chOff x="3143160" y="4524480"/>
            <a:chExt cx="5638320" cy="762480"/>
          </a:xfrm>
        </p:grpSpPr>
        <p:sp>
          <p:nvSpPr>
            <p:cNvPr id="59" name="Rectangle 58"/>
            <p:cNvSpPr/>
            <p:nvPr/>
          </p:nvSpPr>
          <p:spPr>
            <a:xfrm>
              <a:off x="3143160" y="4524480"/>
              <a:ext cx="296280" cy="36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i="1" lang="en-US" sz="2400" spc="-1" strike="noStrike">
                  <a:solidFill>
                    <a:schemeClr val="accent2"/>
                  </a:solidFill>
                  <a:latin typeface="Times New Roman"/>
                  <a:ea typeface="MS PGothic"/>
                </a:rPr>
                <a:t>A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676680" y="4913280"/>
              <a:ext cx="153000" cy="36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accent2"/>
                  </a:solidFill>
                  <a:latin typeface="Times New Roman"/>
                  <a:ea typeface="MS PGothic"/>
                </a:rPr>
                <a:t>0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3981600" y="4913280"/>
              <a:ext cx="153000" cy="36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accent2"/>
                  </a:solidFill>
                  <a:latin typeface="Times New Roman"/>
                  <a:ea typeface="MS PGothic"/>
                </a:rPr>
                <a:t>1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286160" y="4913280"/>
              <a:ext cx="153000" cy="36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2400" spc="-1" strike="noStrike">
                  <a:solidFill>
                    <a:schemeClr val="accent2"/>
                  </a:solidFill>
                  <a:latin typeface="Times New Roman"/>
                  <a:ea typeface="MS PGothic"/>
                </a:rPr>
                <a:t>2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" name="Rectangle 65"/>
            <p:cNvSpPr/>
            <p:nvPr/>
          </p:nvSpPr>
          <p:spPr>
            <a:xfrm>
              <a:off x="6953400" y="4913280"/>
              <a:ext cx="281880" cy="36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i="1" lang="en-US" sz="2400" spc="-1" strike="noStrike">
                  <a:solidFill>
                    <a:schemeClr val="accent2"/>
                  </a:solidFill>
                  <a:latin typeface="Times New Roman"/>
                  <a:ea typeface="MS PGothic"/>
                </a:rPr>
                <a:t>n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" name="Rectangle 82"/>
            <p:cNvSpPr/>
            <p:nvPr/>
          </p:nvSpPr>
          <p:spPr>
            <a:xfrm>
              <a:off x="3600360" y="4600440"/>
              <a:ext cx="304200" cy="3042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65" name="Rectangle 83"/>
            <p:cNvSpPr/>
            <p:nvPr/>
          </p:nvSpPr>
          <p:spPr>
            <a:xfrm>
              <a:off x="3905280" y="4600440"/>
              <a:ext cx="304200" cy="3042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66" name="Rectangle 84"/>
            <p:cNvSpPr/>
            <p:nvPr/>
          </p:nvSpPr>
          <p:spPr>
            <a:xfrm>
              <a:off x="4210200" y="4600440"/>
              <a:ext cx="304200" cy="3042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67" name="Rectangle 85"/>
            <p:cNvSpPr/>
            <p:nvPr/>
          </p:nvSpPr>
          <p:spPr>
            <a:xfrm>
              <a:off x="4514760" y="4600440"/>
              <a:ext cx="304200" cy="3042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68" name="Rectangle 86"/>
            <p:cNvSpPr/>
            <p:nvPr/>
          </p:nvSpPr>
          <p:spPr>
            <a:xfrm>
              <a:off x="4819680" y="4600440"/>
              <a:ext cx="304200" cy="3042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69" name="Rectangle 87"/>
            <p:cNvSpPr/>
            <p:nvPr/>
          </p:nvSpPr>
          <p:spPr>
            <a:xfrm>
              <a:off x="5124600" y="4600440"/>
              <a:ext cx="304200" cy="3042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70" name="Rectangle 88"/>
            <p:cNvSpPr/>
            <p:nvPr/>
          </p:nvSpPr>
          <p:spPr>
            <a:xfrm>
              <a:off x="5429160" y="4600440"/>
              <a:ext cx="304200" cy="304200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71" name="Rectangle 89"/>
            <p:cNvSpPr/>
            <p:nvPr/>
          </p:nvSpPr>
          <p:spPr>
            <a:xfrm>
              <a:off x="5734080" y="4600440"/>
              <a:ext cx="304200" cy="3042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72" name="Rectangle 90"/>
            <p:cNvSpPr/>
            <p:nvPr/>
          </p:nvSpPr>
          <p:spPr>
            <a:xfrm>
              <a:off x="6039000" y="4600440"/>
              <a:ext cx="304200" cy="3042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73" name="Rectangle 91"/>
            <p:cNvSpPr/>
            <p:nvPr/>
          </p:nvSpPr>
          <p:spPr>
            <a:xfrm>
              <a:off x="6343560" y="4600440"/>
              <a:ext cx="304200" cy="3042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74" name="Rectangle 92"/>
            <p:cNvSpPr/>
            <p:nvPr/>
          </p:nvSpPr>
          <p:spPr>
            <a:xfrm>
              <a:off x="6648480" y="4600440"/>
              <a:ext cx="304200" cy="3042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75" name="Rectangle 93"/>
            <p:cNvSpPr/>
            <p:nvPr/>
          </p:nvSpPr>
          <p:spPr>
            <a:xfrm>
              <a:off x="6953400" y="4600440"/>
              <a:ext cx="304200" cy="3042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76" name="Rectangle 94"/>
            <p:cNvSpPr/>
            <p:nvPr/>
          </p:nvSpPr>
          <p:spPr>
            <a:xfrm>
              <a:off x="7257960" y="4600440"/>
              <a:ext cx="304200" cy="3042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77" name="Rectangle 95"/>
            <p:cNvSpPr/>
            <p:nvPr/>
          </p:nvSpPr>
          <p:spPr>
            <a:xfrm>
              <a:off x="7562880" y="4600440"/>
              <a:ext cx="304200" cy="3042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78" name="Rectangle 96"/>
            <p:cNvSpPr/>
            <p:nvPr/>
          </p:nvSpPr>
          <p:spPr>
            <a:xfrm>
              <a:off x="7867800" y="4600440"/>
              <a:ext cx="304200" cy="3042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79" name="Rectangle 97"/>
            <p:cNvSpPr/>
            <p:nvPr/>
          </p:nvSpPr>
          <p:spPr>
            <a:xfrm>
              <a:off x="8172360" y="4600440"/>
              <a:ext cx="304200" cy="3042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80" name="Rectangle 98"/>
            <p:cNvSpPr/>
            <p:nvPr/>
          </p:nvSpPr>
          <p:spPr>
            <a:xfrm>
              <a:off x="8477280" y="4600440"/>
              <a:ext cx="304200" cy="3042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MS PGothic"/>
              </a:endParaRPr>
            </a:p>
          </p:txBody>
        </p:sp>
        <p:sp>
          <p:nvSpPr>
            <p:cNvPr id="81" name="Rectangle 130"/>
            <p:cNvSpPr/>
            <p:nvPr/>
          </p:nvSpPr>
          <p:spPr>
            <a:xfrm>
              <a:off x="5429160" y="4921200"/>
              <a:ext cx="281880" cy="36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i="1" lang="en-US" sz="2400" spc="-1" strike="noStrike">
                  <a:solidFill>
                    <a:schemeClr val="accent2"/>
                  </a:solidFill>
                  <a:latin typeface="Times New Roman"/>
                  <a:ea typeface="MS PGothic"/>
                </a:rPr>
                <a:t>i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Arrays as Memory Cells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An array can store primitive elements, such as characters, giving us a compact array.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An array can also store references to objects.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Picture 6" descr=""/>
          <p:cNvPicPr/>
          <p:nvPr/>
        </p:nvPicPr>
        <p:blipFill>
          <a:blip r:embed="rId1"/>
          <a:stretch/>
        </p:blipFill>
        <p:spPr>
          <a:xfrm>
            <a:off x="4191120" y="1952640"/>
            <a:ext cx="2971080" cy="1134360"/>
          </a:xfrm>
          <a:prstGeom prst="rect">
            <a:avLst/>
          </a:prstGeom>
          <a:ln w="0">
            <a:noFill/>
          </a:ln>
        </p:spPr>
      </p:pic>
      <p:pic>
        <p:nvPicPr>
          <p:cNvPr id="85" name="Picture 7" descr=""/>
          <p:cNvPicPr/>
          <p:nvPr/>
        </p:nvPicPr>
        <p:blipFill>
          <a:blip r:embed="rId2"/>
          <a:stretch/>
        </p:blipFill>
        <p:spPr>
          <a:xfrm>
            <a:off x="2685960" y="4074840"/>
            <a:ext cx="5981040" cy="228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Compact Arrays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Defined in “array” module.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Provides compact storage for arrays of 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primitive data types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Example: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6" descr=""/>
          <p:cNvPicPr/>
          <p:nvPr/>
        </p:nvPicPr>
        <p:blipFill>
          <a:blip r:embed="rId1"/>
          <a:stretch/>
        </p:blipFill>
        <p:spPr>
          <a:xfrm>
            <a:off x="2200320" y="2581200"/>
            <a:ext cx="7466760" cy="62316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6" descr=""/>
          <p:cNvPicPr/>
          <p:nvPr/>
        </p:nvPicPr>
        <p:blipFill>
          <a:blip r:embed="rId2"/>
          <a:stretch/>
        </p:blipFill>
        <p:spPr>
          <a:xfrm>
            <a:off x="3371760" y="3233520"/>
            <a:ext cx="4914360" cy="325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Array Operations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array.insert(i, x): add x to index i </a:t>
            </a:r>
            <a:r>
              <a:rPr b="0" lang="en-US" sz="28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O(n)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array.append(x): add x to end of array.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array.remove(x): remove first occurrence of x </a:t>
            </a:r>
            <a:r>
              <a:rPr b="0" lang="en-US" sz="28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O(n)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array.pop(i=-1): remove and return ith element.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array.index(x): search and return element x in the array.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array.tolist(): return array content in Python List Class.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…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Lists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Built-in list Class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Denoted with []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Allow duplicate values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Allow mixed types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Index starts with 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Lists – continued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Let A = </a:t>
            </a:r>
            <a:r>
              <a:rPr b="0" lang="it-IT" sz="2800" spc="-1" strike="noStrike">
                <a:solidFill>
                  <a:schemeClr val="dk1"/>
                </a:solidFill>
                <a:latin typeface="Calibri"/>
              </a:rPr>
              <a:t>["apple", "banana", "cherry", "orange", "kiwi", "melon", "mango"]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2800" spc="-1" strike="noStrike">
                <a:solidFill>
                  <a:schemeClr val="dk1"/>
                </a:solidFill>
                <a:latin typeface="Calibri"/>
              </a:rPr>
              <a:t>A[0] </a:t>
            </a:r>
            <a:r>
              <a:rPr b="0" lang="it-IT" sz="28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lang="it-IT" sz="2800" spc="-1" strike="noStrike">
                <a:solidFill>
                  <a:schemeClr val="dk1"/>
                </a:solidFill>
                <a:latin typeface="Calibri"/>
              </a:rPr>
              <a:t> "apple"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2800" spc="-1" strike="noStrike">
                <a:solidFill>
                  <a:schemeClr val="dk1"/>
                </a:solidFill>
                <a:latin typeface="Calibri"/>
              </a:rPr>
              <a:t>A[1] </a:t>
            </a:r>
            <a:r>
              <a:rPr b="0" lang="it-IT" sz="28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lang="it-IT" sz="2800" spc="-1" strike="noStrike">
                <a:solidFill>
                  <a:schemeClr val="dk1"/>
                </a:solidFill>
                <a:latin typeface="Calibri"/>
              </a:rPr>
              <a:t> "banana"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A[-1]: last item in the list </a:t>
            </a:r>
            <a:r>
              <a:rPr b="0" lang="en-US" sz="28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it-IT" sz="2800" spc="-1" strike="noStrike">
                <a:solidFill>
                  <a:schemeClr val="dk1"/>
                </a:solidFill>
                <a:latin typeface="Calibri"/>
              </a:rPr>
              <a:t>"mango"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A[1:]: new list which starts at index 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A[:2]: first two items </a:t>
            </a:r>
            <a:r>
              <a:rPr b="0" lang="en-US" sz="28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it-IT" sz="2800" spc="-1" strike="noStrike">
                <a:solidFill>
                  <a:schemeClr val="dk1"/>
                </a:solidFill>
                <a:latin typeface="Calibri"/>
              </a:rPr>
              <a:t>["apple", "banana "]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2800" spc="-1" strike="noStrike">
                <a:solidFill>
                  <a:schemeClr val="dk1"/>
                </a:solidFill>
                <a:latin typeface="Calibri"/>
              </a:rPr>
              <a:t>...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Lists – continued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A.append(x): Add x to the end of the list.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A.extend(B): Add items in list B to the end of list A.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A.append(B): Add list B to the end of the list A.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A.remove(x): Remove first occurrence of item x.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A.pop(i=-1): Remove and return ith element.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del A[i]: remove ith element.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List Comprehension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Let A = list(range(10))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 = []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for x in A: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B.append(x**2)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versus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 = [x**2 for x in A]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List Comprehension – continued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fruits = [</a:t>
            </a:r>
            <a:r>
              <a:rPr b="0" lang="en-US" sz="2400" spc="-1" strike="noStrike">
                <a:solidFill>
                  <a:srgbClr val="a52a2a"/>
                </a:solidFill>
                <a:latin typeface="Consolas"/>
              </a:rPr>
              <a:t>"apple"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, </a:t>
            </a:r>
            <a:r>
              <a:rPr b="0" lang="en-US" sz="2400" spc="-1" strike="noStrike">
                <a:solidFill>
                  <a:srgbClr val="a52a2a"/>
                </a:solidFill>
                <a:latin typeface="Consolas"/>
              </a:rPr>
              <a:t>"banana"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, </a:t>
            </a:r>
            <a:r>
              <a:rPr b="0" lang="en-US" sz="2400" spc="-1" strike="noStrike">
                <a:solidFill>
                  <a:srgbClr val="a52a2a"/>
                </a:solidFill>
                <a:latin typeface="Consolas"/>
              </a:rPr>
              <a:t>"cherry"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, </a:t>
            </a:r>
            <a:r>
              <a:rPr b="0" lang="en-US" sz="2400" spc="-1" strike="noStrike">
                <a:solidFill>
                  <a:srgbClr val="a52a2a"/>
                </a:solidFill>
                <a:latin typeface="Consolas"/>
              </a:rPr>
              <a:t>"kiwi"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, </a:t>
            </a:r>
            <a:r>
              <a:rPr b="0" lang="en-US" sz="2400" spc="-1" strike="noStrike">
                <a:solidFill>
                  <a:srgbClr val="a52a2a"/>
                </a:solidFill>
                <a:latin typeface="Consolas"/>
              </a:rPr>
              <a:t>"mango"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]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newlist = [x </a:t>
            </a:r>
            <a:r>
              <a:rPr b="0" lang="en-US" sz="2400" spc="-1" strike="noStrike">
                <a:solidFill>
                  <a:srgbClr val="0000cd"/>
                </a:solidFill>
                <a:latin typeface="Consolas"/>
              </a:rPr>
              <a:t>for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 x </a:t>
            </a:r>
            <a:r>
              <a:rPr b="0" lang="en-US" sz="2400" spc="-1" strike="noStrike">
                <a:solidFill>
                  <a:srgbClr val="0000cd"/>
                </a:solidFill>
                <a:latin typeface="Consolas"/>
              </a:rPr>
              <a:t>in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 fruits </a:t>
            </a:r>
            <a:r>
              <a:rPr b="0" lang="en-US" sz="2400" spc="-1" strike="noStrike">
                <a:solidFill>
                  <a:srgbClr val="0000cd"/>
                </a:solidFill>
                <a:latin typeface="Consolas"/>
              </a:rPr>
              <a:t>if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 </a:t>
            </a:r>
            <a:r>
              <a:rPr b="0" lang="en-US" sz="2400" spc="-1" strike="noStrike">
                <a:solidFill>
                  <a:srgbClr val="a52a2a"/>
                </a:solidFill>
                <a:latin typeface="Consolas"/>
              </a:rPr>
              <a:t>"a"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 </a:t>
            </a:r>
            <a:r>
              <a:rPr b="0" lang="en-US" sz="2400" spc="-1" strike="noStrike">
                <a:solidFill>
                  <a:srgbClr val="0000cd"/>
                </a:solidFill>
                <a:latin typeface="Consolas"/>
              </a:rPr>
              <a:t>in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 x]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# newlist = [</a:t>
            </a:r>
            <a:r>
              <a:rPr b="0" lang="en-US" sz="2400" spc="-1" strike="noStrike">
                <a:solidFill>
                  <a:srgbClr val="a52a2a"/>
                </a:solidFill>
                <a:latin typeface="Consolas"/>
              </a:rPr>
              <a:t>"apple"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, </a:t>
            </a:r>
            <a:r>
              <a:rPr b="0" lang="en-US" sz="2400" spc="-1" strike="noStrike">
                <a:solidFill>
                  <a:srgbClr val="a52a2a"/>
                </a:solidFill>
                <a:latin typeface="Consolas"/>
              </a:rPr>
              <a:t>"banana"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, </a:t>
            </a:r>
            <a:r>
              <a:rPr b="0" lang="en-US" sz="2400" spc="-1" strike="noStrike">
                <a:solidFill>
                  <a:srgbClr val="a52a2a"/>
                </a:solidFill>
                <a:latin typeface="Consolas"/>
              </a:rPr>
              <a:t>"mango"</a:t>
            </a:r>
            <a:r>
              <a:rPr b="0" lang="en-US" sz="2400" spc="-1" strike="noStrike">
                <a:solidFill>
                  <a:srgbClr val="000000"/>
                </a:solidFill>
                <a:latin typeface="Consolas"/>
              </a:rPr>
              <a:t>]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Tuples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Built-in list Class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Cannot be changed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Denoted with ()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Allow duplicate values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Allow mixed types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Index starts with 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Tuples – continued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Let B = (1, 5, 7, 9, 3)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Content cannot be changed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B[0] </a:t>
            </a:r>
            <a:r>
              <a:rPr b="0" lang="en-US" sz="28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 = ("A", ) </a:t>
            </a:r>
            <a:r>
              <a:rPr b="0" lang="en-US" sz="2800" spc="-1" strike="noStrike">
                <a:solidFill>
                  <a:schemeClr val="accent6">
                    <a:lumMod val="75000"/>
                  </a:schemeClr>
                </a:solidFill>
                <a:latin typeface="Calibri"/>
              </a:rPr>
              <a:t># tuple with one item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Tuples – continued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Function returning tuples: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def stats(data):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return max(data), min(data)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stats([1, 3, 5, 7, 9]) </a:t>
            </a:r>
            <a:r>
              <a:rPr b="0" lang="en-US" sz="2800" spc="-1" strike="noStrike">
                <a:solidFill>
                  <a:schemeClr val="accent6">
                    <a:lumMod val="75000"/>
                  </a:schemeClr>
                </a:solidFill>
                <a:latin typeface="Calibri"/>
              </a:rPr>
              <a:t># returns tuple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(9, 1)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Dictionary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Built-in list Class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Denoted with { }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Allow mixed types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Key-value pairs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Unordered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Dynamic sizing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Accessed by keys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Allow dictionary comprehensions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Examples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accent6">
                    <a:lumMod val="75000"/>
                  </a:schemeClr>
                </a:solidFill>
                <a:latin typeface="Calibri"/>
              </a:rPr>
              <a:t># Iterating through key-value pairs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for key, value in somedict.items():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print(key, ":", value)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Sets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Built-in list Class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Denoted with { }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Allow mixed types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Unordered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Dynamic sizing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Allow set comprehensions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Common set operations, e.g. union, intersection, etc.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753fb180-a0f1-47ee-bb6b-5956a4b631ac" origin="userSelected">
  <element uid="id_classification_nonbusiness" value=""/>
  <element uid="3a9ec6f0-1d56-47f3-b78c-2cd80822a847" value=""/>
</sisl>
</file>

<file path=customXml/itemProps1.xml><?xml version="1.0" encoding="utf-8"?>
<ds:datastoreItem xmlns:ds="http://schemas.openxmlformats.org/officeDocument/2006/customXml" ds:itemID="{EC8C8039-EF7F-4657-A0C7-7FE1EEAD64B1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28028</TotalTime>
  <Application>LibreOffice/24.2.7.2$Linux_X86_64 LibreOffice_project/420$Build-2</Application>
  <AppVersion>15.0000</AppVersion>
  <Words>679</Words>
  <Paragraphs>114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2018-03-07T03:10:24Z</dcterms:created>
  <dc:creator>Kürşat İNCE</dc:creator>
  <dc:description/>
  <dc:language>en-US</dc:language>
  <cp:lastModifiedBy/>
  <cp:lastPrinted>2023-10-30T20:42:30Z</cp:lastPrinted>
  <dcterms:modified xsi:type="dcterms:W3CDTF">2025-09-12T23:16:17Z</dcterms:modified>
  <cp:revision>686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16</vt:i4>
  </property>
  <property fmtid="{D5CDD505-2E9C-101B-9397-08002B2CF9AE}" pid="5" name="bjClsUserRVM">
    <vt:lpwstr>[]</vt:lpwstr>
  </property>
  <property fmtid="{D5CDD505-2E9C-101B-9397-08002B2CF9AE}" pid="6" name="bjDocumentLabelXML">
    <vt:lpwstr>&lt;?xml version="1.0" encoding="us-ascii"?&gt;&lt;sisl xmlns:xsi="http://www.w3.org/2001/XMLSchema-instance" xmlns:xsd="http://www.w3.org/2001/XMLSchema" sislVersion="0" policy="753fb180-a0f1-47ee-bb6b-5956a4b631ac" origin="userSelected" xmlns="http://www.boldonj</vt:lpwstr>
  </property>
  <property fmtid="{D5CDD505-2E9C-101B-9397-08002B2CF9AE}" pid="7" name="bjDocumentLabelXML-0">
    <vt:lpwstr>ames.com/2008/01/sie/internal/label"&gt;&lt;element uid="id_classification_nonbusiness" value="" /&gt;&lt;element uid="3a9ec6f0-1d56-47f3-b78c-2cd80822a847" value="" /&gt;&lt;/sisl&gt;</vt:lpwstr>
  </property>
  <property fmtid="{D5CDD505-2E9C-101B-9397-08002B2CF9AE}" pid="8" name="bjDocumentSecurityLabel">
    <vt:lpwstr>TASNİF DIŞI</vt:lpwstr>
  </property>
  <property fmtid="{D5CDD505-2E9C-101B-9397-08002B2CF9AE}" pid="9" name="bjSaver">
    <vt:lpwstr>f8PkN1uJXJwqI9alO3CYacUW7PVwbe+w</vt:lpwstr>
  </property>
  <property fmtid="{D5CDD505-2E9C-101B-9397-08002B2CF9AE}" pid="10" name="docIndexRef">
    <vt:lpwstr>3c4ade84-1b77-4958-b253-7a1280122afc</vt:lpwstr>
  </property>
</Properties>
</file>