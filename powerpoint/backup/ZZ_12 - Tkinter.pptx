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2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2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7330D0F-9B28-4C3C-84B3-5EE9B566526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ftr" idx="25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E022F6-35B0-44A9-A9F0-931596C167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ftr" idx="27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568089-F784-46D0-B41B-3419BD5B2E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ftr" idx="29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150947-AD87-4B78-8DDE-EC28863B71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31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57E412-B608-4765-847D-EBD3153872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ftr" idx="33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F1A1F3-F124-4F9C-BE1D-44BC08C7B1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ftr" idx="35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A6CCCC-DABA-4B8E-B74A-BFDD54D4240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ftr" idx="37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76CD72-9464-4D66-A4DA-1994A1951E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ftr" idx="39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FD5636-C51A-48BA-A963-D23E87F123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ftr" idx="41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60D559-9F0B-49AE-86D7-18782DBE8F6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ftr" idx="43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4EE5D4-FE0A-4444-8CDC-D07032F3F5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ftr" idx="45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29F618-5B24-4558-80DF-C0A1B8CF23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ftr" idx="47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CEB2A1-3434-43CA-8570-E21BCAB1F7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ftr" idx="49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833D47-09CE-4418-8C57-44800D38BF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1B93C3-1D4F-44F9-B7E4-6867D4DD4D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163469-BFB3-42CD-AD0F-9E9FE4F934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1D3595B-C8FD-427E-A2A2-14428F009A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13108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26200" y="1107000"/>
            <a:ext cx="513108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AD5A761-9E9A-44DE-AF9A-68F280F75B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C365C84-807A-4C46-8450-5FA5D645E3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07FEE54-C470-4758-9ADF-CD3B5026D1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A9F099C-6F8C-402D-9D57-BC1B6E4A5D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F859BF-2214-4F17-AA6D-1EA22AC333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F70FBC-A95F-42AB-93D9-499A7BF7581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42B0B2-071E-406B-AF95-C384F7F3C8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103760"/>
            <a:ext cx="5181120" cy="50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103760"/>
            <a:ext cx="5181120" cy="50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3EAA7C-96E3-4658-9439-E741BFBD79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70A2DE-C817-4C18-AFA6-A63E17A28A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C05C6F-C064-4744-A322-E5B9B1887D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91680" y="183600"/>
            <a:ext cx="10515240" cy="39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30" spc="-1" strike="noStrike">
                <a:solidFill>
                  <a:srgbClr val="e30613"/>
                </a:solidFill>
                <a:latin typeface="Tahoma"/>
                <a:ea typeface="Tahoma"/>
              </a:rPr>
              <a:t>Click to edit Master title style</a:t>
            </a:r>
            <a:endParaRPr b="0" lang="en-US" sz="36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391680" y="924120"/>
            <a:ext cx="11406960" cy="515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39AD24-95F4-43D3-B3C2-FD42BEEBE01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341000" y="1252800"/>
            <a:ext cx="9143640" cy="299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4988" lnSpcReduction="10000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ENG 346</a:t>
            </a:r>
            <a:br>
              <a:rPr sz="6000"/>
            </a:b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Data Structures and Algorithms for Artificial Intelligence</a:t>
            </a:r>
            <a:br>
              <a:rPr sz="6000"/>
            </a:b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Tkinter</a:t>
            </a:r>
            <a:endParaRPr b="0" lang="en-US" sz="4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496520" y="4462200"/>
            <a:ext cx="9143640" cy="100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Dr. Mehmet PEKMEZCİ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mpekmezci@gtu.edu.tr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c00000"/>
                </a:solidFill>
                <a:latin typeface="Times New Roman"/>
              </a:rPr>
              <a:t>What widgets TKinter provide?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190880"/>
            <a:ext cx="10515240" cy="49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7432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tk_optionMenu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panedwindow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progressbar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radiobutton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scale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scrollbar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separator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sizegrip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spinbox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text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27432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treeview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7774200" y="1107000"/>
            <a:ext cx="2433600" cy="56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button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canvas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checkbutton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combobox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entry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frame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label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labelframe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listbox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menu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menubutton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message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notebook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rgbClr val="c00000"/>
                </a:solidFill>
                <a:latin typeface="Times New Roman"/>
              </a:rPr>
              <a:t>Also…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tk_chooseColor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- pops up a dialog box for the user to select a color.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tk_chooseDirectory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- pops up a dialog box for the user to select a directory.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tk_dialog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- creates a modal dialog and waits for a response.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tk_getOpenFile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- pops up a dialog box for the user to select a file to open.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tk_getSaveFile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- pops up a dialog box for the user to select a file to save.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tk_messageBox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- pops up a message window and waits for a user response.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tk_popup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- posts a popup menu.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toplevel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- creates and manipulates toplevel widgets.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c00000"/>
                </a:solidFill>
                <a:latin typeface="Times New Roman"/>
              </a:rPr>
              <a:t>Tk has three geometry managers: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</a:rPr>
              <a:t>place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 - which positions widgets at absolute locations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</a:rPr>
              <a:t>grid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 - which arranges widgets in a grid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</a:rPr>
              <a:t>pack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 - which packs widgets into a space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c00000"/>
                </a:solidFill>
                <a:latin typeface="Times New Roman"/>
              </a:rPr>
              <a:t>To start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import tkinter as tk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3200" spc="-1" strike="noStrike">
                <a:solidFill>
                  <a:schemeClr val="dk1"/>
                </a:solidFill>
                <a:latin typeface="Calibri"/>
              </a:rPr>
              <a:t>or: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from tkinter import *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8" name="Picture 3" descr=""/>
          <p:cNvPicPr/>
          <p:nvPr/>
        </p:nvPicPr>
        <p:blipFill>
          <a:blip r:embed="rId1"/>
          <a:stretch/>
        </p:blipFill>
        <p:spPr>
          <a:xfrm>
            <a:off x="5362920" y="1219680"/>
            <a:ext cx="6685560" cy="395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c00000"/>
                </a:solidFill>
                <a:latin typeface="Times New Roman"/>
              </a:rPr>
              <a:t>import tkinter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The first widget (window object) that must be set up is the ‘root’ widget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ourier New"/>
              </a:rPr>
              <a:t>root = Tk()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There can only be one root widget in a program.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A top level window is sometimes referred to as a ‘master’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c00000"/>
                </a:solidFill>
                <a:latin typeface="Times New Roman"/>
              </a:rPr>
              <a:t>Then…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Once the root is in place we can use other widgets each has to be instantiated as a child of the root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introlabel = Label(root, text="Hello Tkinter!")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Widgets inside the window are sometimes referred to as ‘slaves’.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Times New Roman"/>
              </a:rPr>
              <a:t>Geometry</a:t>
            </a:r>
            <a:r>
              <a:rPr b="0" lang="en-US" sz="4400" spc="-1" strike="noStrike">
                <a:solidFill>
                  <a:srgbClr val="c00000"/>
                </a:solidFill>
                <a:latin typeface="Times New Roman"/>
              </a:rPr>
              <a:t>…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We need to place the widget in the window.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TK has 3 built-in geometry managers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place()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− This organizes widgets by placing them in a specific position in the parent.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pack()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− This organizes widgets in blocks before placing them in the parent.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grid(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column</a:t>
            </a: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row, sticky</a:t>
            </a: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)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− This organizes widgets in a table-like structure in the parent.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5" name="Picture 3" descr=""/>
          <p:cNvPicPr/>
          <p:nvPr/>
        </p:nvPicPr>
        <p:blipFill>
          <a:blip r:embed="rId1"/>
          <a:stretch/>
        </p:blipFill>
        <p:spPr>
          <a:xfrm>
            <a:off x="7765920" y="1955520"/>
            <a:ext cx="4198320" cy="3272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Place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081440"/>
            <a:ext cx="10515240" cy="512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widget.place( place_options )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anchor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 − The exact spot of widget other options refer to: may be N, E, S, W,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NE, NW, SE, or SW, compass directions indicating the corners and sides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of widget; default is NW (the upper left corner of widget)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bordermode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 − INSIDE (the default) to indicate that other options refer to the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parent's inside (ignoring the parent's border); OUTSIDE otherwise.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height, width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 − Height and width in pixels.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relheight, relwidth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 − Height and width as a float between 0.0 and 1.0, as a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fraction of the height and width of the parent widget.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relx, rely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 − Horizontal and vertical offset as a float between 0.0 and 1.0, as a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fraction of the height and width of the parent widget.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x, y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Tahoma"/>
              </a:rPr>
              <a:t> − Horizontal and vertical offset in pixels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Pack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584360"/>
            <a:ext cx="10515240" cy="411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400" spc="-1" strike="noStrike">
                <a:solidFill>
                  <a:schemeClr val="dk1"/>
                </a:solidFill>
                <a:latin typeface="Times New Roman"/>
              </a:rPr>
              <a:t>widget.pack( pack_options )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expand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 − When set to true, widget expands to fill any space not otherwise used in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     widget's parent.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fill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 − Determines whether widget fills any extra space allocated to it by the packer,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or keeps its own minimal dimensions: NONE (default), X (fill only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horizontally), Y (fill only vertically), or BOTH (fill both horizontally and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vertically).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side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 − Determines which side of the parent widget packs against: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TOP (default), BOTTOM, LEFT, or RIGHT.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Grid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066680"/>
            <a:ext cx="10389600" cy="550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400" spc="-1" strike="noStrike">
                <a:solidFill>
                  <a:schemeClr val="dk1"/>
                </a:solidFill>
                <a:latin typeface="Times New Roman"/>
              </a:rPr>
              <a:t>widget.grid( grid_options )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column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 − The column to put widget in; default 0 (leftmost column).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columnspan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 − How many columns the widget occupies; default 1.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9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padx, pady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 − How many pixels to pad widget, horizontally and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vertically, outside a widget’s borders.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ipadx, ipady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−How many pixels to pad widget, horizontally and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vertically, inside a widget's borders.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row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 − The row to put awidget in; default the first row that is still empty.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rowspan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 − How many rows widget occupies; default 1.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sticky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 − What to do if the cell is larger than widget. By default, a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widget is centered in its cell. Sticky may be the string concatenation of zero 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or more of N, E, S, W, NE, NW, SE, and SW, compass directions indicating the sides and corners of the cell t which widget sticks.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c00000"/>
                </a:solidFill>
                <a:latin typeface="Times New Roman"/>
              </a:rPr>
              <a:t>Then What?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To run the program we must create enter the event loop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root.mainloop()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This will keep the window open until we close it.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c00000"/>
                </a:solidFill>
                <a:latin typeface="Times New Roman"/>
              </a:rPr>
              <a:t>Let’s try this!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https://www.tutorialspoint.com/python3/python_gui_programming.htm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753fb180-a0f1-47ee-bb6b-5956a4b631ac" origin="userSelected">
  <element uid="id_classification_nonbusiness" value=""/>
  <element uid="3a9ec6f0-1d56-47f3-b78c-2cd80822a847" value=""/>
</sisl>
</file>

<file path=customXml/itemProps1.xml><?xml version="1.0" encoding="utf-8"?>
<ds:datastoreItem xmlns:ds="http://schemas.openxmlformats.org/officeDocument/2006/customXml" ds:itemID="{0878DD85-4C53-45C5-A8B4-6125934EF40A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33233</TotalTime>
  <Application>LibreOffice/24.2.7.2$Linux_X86_64 LibreOffice_project/420$Build-2</Application>
  <AppVersion>15.0000</AppVersion>
  <Words>847</Words>
  <Paragraphs>113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2018-03-07T03:10:24Z</dcterms:created>
  <dc:creator>Kürşat İNCE</dc:creator>
  <dc:description/>
  <dc:language>en-US</dc:language>
  <cp:lastModifiedBy/>
  <dcterms:modified xsi:type="dcterms:W3CDTF">2025-08-19T22:37:37Z</dcterms:modified>
  <cp:revision>729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  <property fmtid="{D5CDD505-2E9C-101B-9397-08002B2CF9AE}" pid="5" name="bjClsUserRVM">
    <vt:lpwstr>[]</vt:lpwstr>
  </property>
  <property fmtid="{D5CDD505-2E9C-101B-9397-08002B2CF9AE}" pid="6" name="bjDocumentLabelXML">
    <vt:lpwstr>&lt;?xml version="1.0" encoding="us-ascii"?&gt;&lt;sisl xmlns:xsi="http://www.w3.org/2001/XMLSchema-instance" xmlns:xsd="http://www.w3.org/2001/XMLSchema" sislVersion="0" policy="753fb180-a0f1-47ee-bb6b-5956a4b631ac" origin="userSelected" xmlns="http://www.boldonj</vt:lpwstr>
  </property>
  <property fmtid="{D5CDD505-2E9C-101B-9397-08002B2CF9AE}" pid="7" name="bjDocumentLabelXML-0">
    <vt:lpwstr>ames.com/2008/01/sie/internal/label"&gt;&lt;element uid="id_classification_nonbusiness" value="" /&gt;&lt;element uid="3a9ec6f0-1d56-47f3-b78c-2cd80822a847" value="" /&gt;&lt;/sisl&gt;</vt:lpwstr>
  </property>
  <property fmtid="{D5CDD505-2E9C-101B-9397-08002B2CF9AE}" pid="8" name="bjDocumentSecurityLabel">
    <vt:lpwstr>TASNİF DIŞI</vt:lpwstr>
  </property>
  <property fmtid="{D5CDD505-2E9C-101B-9397-08002B2CF9AE}" pid="9" name="bjSaver">
    <vt:lpwstr>f8PkN1uJXJwqI9alO3CYacUW7PVwbe+w</vt:lpwstr>
  </property>
  <property fmtid="{D5CDD505-2E9C-101B-9397-08002B2CF9AE}" pid="10" name="docIndexRef">
    <vt:lpwstr>3c4ade84-1b77-4958-b253-7a1280122afc</vt:lpwstr>
  </property>
</Properties>
</file>