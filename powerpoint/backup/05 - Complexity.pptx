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1.xml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wmf" ContentType="image/x-wmf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B5B58B9-75DB-4A81-9678-D849B9DAE34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65926A1-4D75-4FCB-AD6D-E38C75C8B8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23"/>
          </p:nvPr>
        </p:nvSpPr>
        <p:spPr>
          <a:xfrm>
            <a:off x="3884760" y="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C3BFF3-9546-4A21-850A-627F94E885C4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A1C2D70-FB7A-4D5A-914F-1FB447DBC03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25"/>
          </p:nvPr>
        </p:nvSpPr>
        <p:spPr>
          <a:xfrm>
            <a:off x="3884760" y="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4DB3BE-11CF-4A28-B0C2-094CC74705CF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FD3870A-1014-4775-82B3-3FB57D2CA8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dt" idx="27"/>
          </p:nvPr>
        </p:nvSpPr>
        <p:spPr>
          <a:xfrm>
            <a:off x="3884760" y="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81D9AA-A4C5-47BC-B651-239C00E754EE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B6F8A9-F67E-4BA0-BC4F-BE1D5D12E5E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dt" idx="29"/>
          </p:nvPr>
        </p:nvSpPr>
        <p:spPr>
          <a:xfrm>
            <a:off x="3884760" y="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CA4E08-83BE-4BFA-8ECD-71491CB7AC2D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6FC05BA-DDCF-4D15-9CBA-E3F92948DC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dt" idx="31"/>
          </p:nvPr>
        </p:nvSpPr>
        <p:spPr>
          <a:xfrm>
            <a:off x="3884760" y="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030EF9-7CC6-4C00-979F-DD054172BE73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C10C6E9-9170-4C9D-8F22-787556A9FF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dt" idx="33"/>
          </p:nvPr>
        </p:nvSpPr>
        <p:spPr>
          <a:xfrm>
            <a:off x="3884760" y="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73694A-1827-4793-BC3D-8730C3CD59C7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769DE54-2FB4-4043-BD38-428D82CDF8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dt" idx="35"/>
          </p:nvPr>
        </p:nvSpPr>
        <p:spPr>
          <a:xfrm>
            <a:off x="3884760" y="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DBA856-3ABD-434F-8420-23750A106B09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776CD08-D2B7-4AA9-A229-99B613466B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37"/>
          </p:nvPr>
        </p:nvSpPr>
        <p:spPr>
          <a:xfrm>
            <a:off x="3884760" y="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C47923-EEE1-4C97-AD7C-262B621D3268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8FE8CDF-1B59-4889-935B-22D9C56209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dt" idx="39"/>
          </p:nvPr>
        </p:nvSpPr>
        <p:spPr>
          <a:xfrm>
            <a:off x="3884760" y="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89C48A-1E48-4C3D-BDBC-60BCCDA44155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6AD5D23-37C0-4B74-8ACC-27E20D25DD2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dt" idx="41"/>
          </p:nvPr>
        </p:nvSpPr>
        <p:spPr>
          <a:xfrm>
            <a:off x="3884760" y="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6BA71B-9EEC-4EDB-A8DC-AC772915768B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749F7BF-5AD0-445B-B96F-DD2478B2D0B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dt" idx="43"/>
          </p:nvPr>
        </p:nvSpPr>
        <p:spPr>
          <a:xfrm>
            <a:off x="3884760" y="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90B1EA-3731-4E79-804A-6EEF0FB9C45B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12.09.2025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107000"/>
            <a:ext cx="10513800" cy="50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4F43EA-4759-4845-A255-5E63B54F28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3800" cy="50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857E2EB-44B8-48A0-81D5-2A0156DF89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4C044FD-88C5-4A96-A5F2-008D35F055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130720" cy="50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25840" y="1107000"/>
            <a:ext cx="5130720" cy="50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126801F-DE4B-4FBB-B019-8D082733B7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37A6AB3-98D3-4F26-BF2A-27F0213FBC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C871653-BAD5-4891-837F-5AC58DE518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200" cy="10123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1CA79A8-41B4-4C24-A5AD-CE92311CA6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200" cy="101232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13800" cy="50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4E24403-C848-425F-9869-0E2A8671A3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200" cy="101232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6BA0A3E-CB4B-49A2-8C18-BB9ED0CA6B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200" cy="101232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5130360" cy="50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25840" y="1107000"/>
            <a:ext cx="5130360" cy="50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2CB412C-C7E0-4140-B7D3-F692B88A587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200" cy="1012320"/>
          </a:xfrm>
          <a:prstGeom prst="rect">
            <a:avLst/>
          </a:prstGeom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3CC6933-83B2-4AC4-AC9F-E19CE9935D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200" cy="101232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CE7049-D6E4-4277-86B3-AFB75181DB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200" cy="10123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mpekmezci@gtu.edu.t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341000" y="1252800"/>
            <a:ext cx="9142200" cy="299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3333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ENG 346</a:t>
            </a:r>
            <a:br>
              <a:rPr sz="6000"/>
            </a:b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Data Structures and Algorithms for Artificial Intelligence</a:t>
            </a:r>
            <a:br>
              <a:rPr sz="6000"/>
            </a:b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Runtime Complexity of the Algorithms</a:t>
            </a:r>
            <a:br>
              <a:rPr sz="4900"/>
            </a:br>
            <a:br>
              <a:rPr sz="4900"/>
            </a:br>
            <a:endParaRPr b="0" lang="en-US" sz="4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496520" y="4462200"/>
            <a:ext cx="9142200" cy="100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Dr. Mehmet PEKMEZCİ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hlinkClick r:id="rId1"/>
              </a:rPr>
              <a:t>mpekmezci@gtu.edu.tr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https://github.com/mehmetpekmezci/GTU-ENG-346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Complexity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3800" cy="50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Time complexity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measures the amount of time (CPU Cycles) an algorithm takes to complete as a function of the input size. It’s a way to estimate the running time of an algorithm.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Big O Notation (O-notation): This is used to describe the upper bound of an algorithm’s running time. It tells you how the runtime scales with the size of the input.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Space complexity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measures the amount of memory (RAM) an algorithm uses as a function of the input size.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Big O Notation (O-notation): Just like time complexity, space complexity can be expressed in Big O notation.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Definitions: Big </a:t>
            </a:r>
            <a:r>
              <a:rPr b="1" lang="el-GR" sz="4400" spc="-1" strike="noStrike">
                <a:solidFill>
                  <a:srgbClr val="c00000"/>
                </a:solidFill>
                <a:latin typeface="Calibri Light"/>
              </a:rPr>
              <a:t>Ο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3800" cy="50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Worst Case Scenario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Upper-bound of a function f(n)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Let f(n) and g(n) be functions mapping positive integers to positive real numbers. We say that f(n) is O(g(n)) if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there is a real constant c &gt; 0 and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an integer constant n0 ≥ 1 such that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f(n) ≤ c g(n), for n ≥ n0.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f(n) is O(g(n))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Picture 3" descr=""/>
          <p:cNvPicPr/>
          <p:nvPr/>
        </p:nvPicPr>
        <p:blipFill>
          <a:blip r:embed="rId1"/>
          <a:stretch/>
        </p:blipFill>
        <p:spPr>
          <a:xfrm>
            <a:off x="6274440" y="3048120"/>
            <a:ext cx="5239800" cy="369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Big </a:t>
            </a:r>
            <a:r>
              <a:rPr b="1" lang="el-GR" sz="4400" spc="-1" strike="noStrike">
                <a:solidFill>
                  <a:srgbClr val="c00000"/>
                </a:solidFill>
                <a:latin typeface="Calibri Light"/>
              </a:rPr>
              <a:t>Ο</a:t>
            </a: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 Rules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3800" cy="50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Simplifications: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If is f(n) a polynomial of degree d, then f(n) is O(n^d), i.e.,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Drop lower-order terms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Drop constant factors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Use the smallest possible class of functions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Say “2n is O(n)” instead of “2n is O(n^2)”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Use the simplest expression of the class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Say “3n + 5 is O(n)” instead of “3n + 5 is O(3n)”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Time Complexity Calculation n</a:t>
            </a:r>
            <a:r>
              <a:rPr b="1" lang="en-US" sz="4400" spc="-1" strike="noStrike" baseline="33000">
                <a:solidFill>
                  <a:srgbClr val="c00000"/>
                </a:solidFill>
                <a:latin typeface="Calibri Light"/>
              </a:rPr>
              <a:t>2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2385000" y="2004840"/>
            <a:ext cx="6301080" cy="233784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2971800" y="4399560"/>
            <a:ext cx="5942880" cy="8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O(N</a:t>
            </a:r>
            <a:r>
              <a:rPr b="1" lang="en-US" sz="3200" spc="-1" strike="noStrike" baseline="33000">
                <a:solidFill>
                  <a:srgbClr val="000000"/>
                </a:solidFill>
                <a:latin typeface="Arial"/>
              </a:rPr>
              <a:t>2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) = (100)</a:t>
            </a:r>
            <a:r>
              <a:rPr b="1" lang="en-US" sz="3200" spc="-1" strike="noStrike" baseline="33000">
                <a:solidFill>
                  <a:srgbClr val="000000"/>
                </a:solidFill>
                <a:latin typeface="Arial"/>
              </a:rPr>
              <a:t>2 =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10000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Time Complexity Calculation 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200400" y="4800600"/>
            <a:ext cx="5942880" cy="8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O(N) = (100)</a:t>
            </a:r>
            <a:r>
              <a:rPr b="1" lang="en-US" sz="3200" spc="-1" strike="noStrike" baseline="33000">
                <a:solidFill>
                  <a:srgbClr val="000000"/>
                </a:solidFill>
                <a:latin typeface="Arial"/>
              </a:rPr>
              <a:t> =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100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1143000" y="1371600"/>
            <a:ext cx="8597520" cy="319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Time Complexity Calculation log(n)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7772400" y="1741320"/>
            <a:ext cx="4342680" cy="8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O(log</a:t>
            </a:r>
            <a:r>
              <a:rPr b="1" lang="en-US" sz="24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(N)) = log</a:t>
            </a:r>
            <a:r>
              <a:rPr b="1" lang="en-US" sz="24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(100)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7772400" y="1143000"/>
            <a:ext cx="4114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Binary Search Algorithm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181440" y="1143000"/>
            <a:ext cx="7213320" cy="52570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7772400" y="2620440"/>
            <a:ext cx="4114080" cy="28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MASTER THEOREM :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(Complexity for Recursive Algos.)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T(N) = aT(N/b) + f(N)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a = recursive call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b = divided sub problems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f(N)= complexity of one  loop/call step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T(N) = T(N/2) + O(1)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→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Apply the rule in theorem.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Basics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5" name="Table 3"/>
          <p:cNvGraphicFramePr/>
          <p:nvPr/>
        </p:nvGraphicFramePr>
        <p:xfrm>
          <a:off x="229680" y="1098720"/>
          <a:ext cx="11657880" cy="5258520"/>
        </p:xfrm>
        <a:graphic>
          <a:graphicData uri="http://schemas.openxmlformats.org/drawingml/2006/table">
            <a:tbl>
              <a:tblPr/>
              <a:tblGrid>
                <a:gridCol w="2314800"/>
                <a:gridCol w="1879920"/>
                <a:gridCol w="3748680"/>
                <a:gridCol w="3714840"/>
              </a:tblGrid>
              <a:tr h="39024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tr-TR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Name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tr-TR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Function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tr-TR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Relation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1" lang="tr-TR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Example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noFill/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52884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Constant Time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f(n) = 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Does not depend on input size.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Accessing array elements.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</a:tr>
              <a:tr h="75780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Logarithmic Time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f(n) = log 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Running time increases logarithmically with the input size.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Binary search.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68868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Linear Time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f(n) = 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Running time increases linearly with the input size.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Iterating through an array or list.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</a:tr>
              <a:tr h="75780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Linearithmic Time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f(n) = n log 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The running time grows slower than O(n^2) but faster than O(n).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Efficient sorting algorithms like quicksort and mergesort.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5780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Quadratic Time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f(n) = n^2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Running time grows proportionally to the square of the input size.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Algorithms with nested loops, such as selection sor tor bubble sort.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</a:tr>
              <a:tr h="68868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Polynomial Time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f(n) = n^k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Running time is a polynomial function of the input size.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Algorithms with “k” nested loops.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68868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Exponential Time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f(n) = 2^n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Running times that grow very rapidly with the input size.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N-P complete problems, such as traveling salesman.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4472c4"/>
                      </a:solidFill>
                      <a:prstDash val="solid"/>
                    </a:lnL>
                    <a:lnR w="6480">
                      <a:solidFill>
                        <a:srgbClr val="4472c4"/>
                      </a:solidFill>
                      <a:prstDash val="solid"/>
                    </a:lnR>
                    <a:lnT w="6480">
                      <a:solidFill>
                        <a:srgbClr val="4472c4"/>
                      </a:solidFill>
                      <a:prstDash val="solid"/>
                    </a:lnT>
                    <a:lnB w="6480">
                      <a:solidFill>
                        <a:srgbClr val="4472c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Growth Rates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Picture 2" descr="https://miro.medium.com/v2/resize:fit:1400/1*U4dZWeXgNNrYaedRCuzTIg.png"/>
          <p:cNvPicPr/>
          <p:nvPr/>
        </p:nvPicPr>
        <p:blipFill>
          <a:blip r:embed="rId1"/>
          <a:stretch/>
        </p:blipFill>
        <p:spPr>
          <a:xfrm>
            <a:off x="2714400" y="1450440"/>
            <a:ext cx="6761520" cy="500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Examples: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3800" cy="50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7n-2 is O(n)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3n</a:t>
            </a:r>
            <a:r>
              <a:rPr b="0" lang="en-US" sz="2800" spc="-1" strike="noStrike" baseline="30000">
                <a:solidFill>
                  <a:schemeClr val="dk1"/>
                </a:solidFill>
                <a:latin typeface="Calibri"/>
              </a:rPr>
              <a:t>3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+ 20n</a:t>
            </a:r>
            <a:r>
              <a:rPr b="0" lang="en-US" sz="2800" spc="-1" strike="noStrike" baseline="30000">
                <a:solidFill>
                  <a:schemeClr val="dk1"/>
                </a:solidFill>
                <a:latin typeface="Calibri"/>
              </a:rPr>
              <a:t>2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+ 5 is O(n</a:t>
            </a:r>
            <a:r>
              <a:rPr b="0" lang="en-US" sz="2800" spc="-1" strike="noStrike" baseline="30000">
                <a:solidFill>
                  <a:schemeClr val="dk1"/>
                </a:solidFill>
                <a:latin typeface="Calibri"/>
              </a:rPr>
              <a:t>3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3 log n + 5 is O(log n)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Time-Space Complexity Trade-off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3800" cy="50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chemeClr val="dk1"/>
                </a:solidFill>
                <a:uFillTx/>
                <a:latin typeface="Calibri"/>
              </a:rPr>
              <a:t>Time Complexity 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Recalculate the values in each step of computation.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chemeClr val="dk1"/>
                </a:solidFill>
                <a:uFillTx/>
                <a:latin typeface="Calibri"/>
              </a:rPr>
              <a:t>Space Complexity: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Cache the calculated values and use pre-calculated values if possible.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Compressed or Uncompressed data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 Rendering or Stored images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Smaller code or loop unrolling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Lookup tables or Recalculation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Access Times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55000" y="1107000"/>
            <a:ext cx="10513800" cy="50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CPU Speed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= 1  cycle ( 1 cycle = 0.3 ns for a 3GHz CPU)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CPU Register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= 1  cycle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L1 Cache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= 3 cycles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L2 Cache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= 10 cycles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L3 Cache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= 40 cycles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RAM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= 100 cycles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SSD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= 10K cycles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HDD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= 10M cycles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6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Exercises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3800" cy="50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Book: R-3.1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753fb180-a0f1-47ee-bb6b-5956a4b631ac" origin="userSelected">
  <element uid="id_classification_nonbusiness" value=""/>
  <element uid="3a9ec6f0-1d56-47f3-b78c-2cd80822a847" value=""/>
</sisl>
</file>

<file path=customXml/itemProps1.xml><?xml version="1.0" encoding="utf-8"?>
<ds:datastoreItem xmlns:ds="http://schemas.openxmlformats.org/officeDocument/2006/customXml" ds:itemID="{D953F607-DC38-4C2E-8DAE-6698ED9556A8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30554</TotalTime>
  <Application>LibreOffice/24.2.7.2$Linux_X86_64 LibreOffice_project/420$Build-2</Application>
  <AppVersion>15.0000</AppVersion>
  <Words>847</Words>
  <Paragraphs>121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2018-03-07T03:10:24Z</dcterms:created>
  <dc:creator>Kürşat İNCE</dc:creator>
  <dc:description/>
  <dc:language>en-US</dc:language>
  <cp:lastModifiedBy/>
  <cp:lastPrinted>2023-10-30T20:44:06Z</cp:lastPrinted>
  <dcterms:modified xsi:type="dcterms:W3CDTF">2025-09-12T23:15:34Z</dcterms:modified>
  <cp:revision>696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2</vt:i4>
  </property>
  <property fmtid="{D5CDD505-2E9C-101B-9397-08002B2CF9AE}" pid="3" name="Notes">
    <vt:i4>10</vt:i4>
  </property>
  <property fmtid="{D5CDD505-2E9C-101B-9397-08002B2CF9AE}" pid="4" name="PresentationFormat">
    <vt:lpwstr>Widescreen</vt:lpwstr>
  </property>
  <property fmtid="{D5CDD505-2E9C-101B-9397-08002B2CF9AE}" pid="5" name="Slides">
    <vt:i4>12</vt:i4>
  </property>
  <property fmtid="{D5CDD505-2E9C-101B-9397-08002B2CF9AE}" pid="6" name="bjClsUserRVM">
    <vt:lpwstr>[]</vt:lpwstr>
  </property>
  <property fmtid="{D5CDD505-2E9C-101B-9397-08002B2CF9AE}" pid="7" name="bjDocumentLabelXML">
    <vt:lpwstr>&lt;?xml version="1.0" encoding="us-ascii"?&gt;&lt;sisl xmlns:xsi="http://www.w3.org/2001/XMLSchema-instance" xmlns:xsd="http://www.w3.org/2001/XMLSchema" sislVersion="0" policy="753fb180-a0f1-47ee-bb6b-5956a4b631ac" origin="userSelected" xmlns="http://www.boldonj</vt:lpwstr>
  </property>
  <property fmtid="{D5CDD505-2E9C-101B-9397-08002B2CF9AE}" pid="8" name="bjDocumentLabelXML-0">
    <vt:lpwstr>ames.com/2008/01/sie/internal/label"&gt;&lt;element uid="id_classification_nonbusiness" value="" /&gt;&lt;element uid="3a9ec6f0-1d56-47f3-b78c-2cd80822a847" value="" /&gt;&lt;/sisl&gt;</vt:lpwstr>
  </property>
  <property fmtid="{D5CDD505-2E9C-101B-9397-08002B2CF9AE}" pid="9" name="bjDocumentSecurityLabel">
    <vt:lpwstr>TASNİF DIŞI</vt:lpwstr>
  </property>
  <property fmtid="{D5CDD505-2E9C-101B-9397-08002B2CF9AE}" pid="10" name="bjSaver">
    <vt:lpwstr>f8PkN1uJXJwqI9alO3CYacUW7PVwbe+w</vt:lpwstr>
  </property>
  <property fmtid="{D5CDD505-2E9C-101B-9397-08002B2CF9AE}" pid="11" name="docIndexRef">
    <vt:lpwstr>3c4ade84-1b77-4958-b253-7a1280122afc</vt:lpwstr>
  </property>
</Properties>
</file>