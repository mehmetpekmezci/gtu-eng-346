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C111B5F-7170-4E6E-9F29-CE53B3D3F48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ftr" idx="22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2F9F292-CE79-489C-BD13-3823023959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ftr" idx="24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1095C7-7493-4E28-A3B7-A715B1E61D3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ftr" idx="26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5675BB-AAFC-45E9-9596-71744338291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ftr" idx="28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5D66D0-72B8-4E15-B677-293A1D38F54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30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7EDA3D-783B-494D-84A4-F3F9635DDE9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ftr" idx="32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5B6BE4-913B-4FDD-BBAB-97A47C945D3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34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4C6DBF-9CA1-4678-89BA-3E11DCADDC5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36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354501-E0B3-467D-A360-372CBBFDAA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38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A7C3D2-08DE-4A4C-890B-0BDAE6DE205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ftr" idx="40"/>
          </p:nvPr>
        </p:nvSpPr>
        <p:spPr>
          <a:xfrm>
            <a:off x="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2DB9A1-39AF-417A-A06A-40BE52EB7A7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C6BB10-CB4A-43D3-9180-A91A1CF625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5704EA-09B6-4384-A7AC-ACB47BABA3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E4D30E-A430-492B-BBC4-7FC896BBEB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072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5840" y="1107000"/>
            <a:ext cx="513072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8CB941A-B9EA-4205-A9C6-50684C4D2A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6FE4611-BA42-40EE-A2F5-50A01A2F1A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ABA1F6E-51A4-432E-B8A7-76C26894B2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D633A4-4915-4ADE-AB60-672A57A9E3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F724AA-E64D-4519-9394-2193CC9A08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0EBEFA1-90BF-42AE-8734-E5843BC66C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3072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107000"/>
            <a:ext cx="5130720" cy="506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29BE79-0019-4198-A1CA-A01570C0D4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0D6CD7-C19E-4B0C-B549-30A11B5C05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FFFD3D-74A3-43D7-A9EC-3BA3D2A7B5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4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8560" cy="1012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https://docs.python.org/3/library/stdtypes.html#tuple" TargetMode="External"/><Relationship Id="rId3" Type="http://schemas.openxmlformats.org/officeDocument/2006/relationships/hyperlink" Target="https://docs.python.org/3/library/stdtypes.html#dict" TargetMode="External"/><Relationship Id="rId4" Type="http://schemas.openxmlformats.org/officeDocument/2006/relationships/hyperlink" Target="https://numpy.org/doc/stable/reference/generated/numpy.ndarray.html#numpy.ndarray" TargetMode="External"/><Relationship Id="rId5" Type="http://schemas.openxmlformats.org/officeDocument/2006/relationships/hyperlink" Target="https://numpy.org/doc/stable/reference/generated/numpy.arange.html#numpy.arange" TargetMode="External"/><Relationship Id="rId6" Type="http://schemas.openxmlformats.org/officeDocument/2006/relationships/hyperlink" Target="https://docs.python.org/3/library/stdtypes.html#tuple" TargetMode="External"/><Relationship Id="rId7" Type="http://schemas.openxmlformats.org/officeDocument/2006/relationships/hyperlink" Target="https://docs.python.org/3/library/functions.html#float" TargetMode="External"/><Relationship Id="rId8" Type="http://schemas.openxmlformats.org/officeDocument/2006/relationships/hyperlink" Target="https://docs.python.org/3/library/functions.html#int" TargetMode="External"/><Relationship Id="rId9" Type="http://schemas.openxmlformats.org/officeDocument/2006/relationships/hyperlink" Target="https://matplotlib.org/stable/api/_as_gen/matplotlib.figure.Figure.html#matplotlib.figure.Figure" TargetMode="External"/><Relationship Id="rId10" Type="http://schemas.openxmlformats.org/officeDocument/2006/relationships/hyperlink" Target="https://matplotlib.org/stable/api/_as_gen/matplotlib.axes.Axes.html#matplotlib.axes.Axes" TargetMode="External"/><Relationship Id="rId11" Type="http://schemas.openxmlformats.org/officeDocument/2006/relationships/hyperlink" Target="https://matplotlib.org/stable/api/_as_gen/matplotlib.pyplot.subplots.html#matplotlib.pyplot.subplots" TargetMode="External"/><Relationship Id="rId12" Type="http://schemas.openxmlformats.org/officeDocument/2006/relationships/hyperlink" Target="https://docs.python.org/3/library/stdtypes.html#str" TargetMode="External"/><Relationship Id="rId13" Type="http://schemas.openxmlformats.org/officeDocument/2006/relationships/hyperlink" Target="https://docs.python.org/3/library/stdtypes.html#tuple" TargetMode="External"/><Relationship Id="rId14" Type="http://schemas.openxmlformats.org/officeDocument/2006/relationships/hyperlink" Target="https://docs.python.org/3/library/stdtypes.html#dict" TargetMode="External"/><Relationship Id="rId15" Type="http://schemas.openxmlformats.org/officeDocument/2006/relationships/hyperlink" Target="https://docs.python.org/3/library/functions.html#float" TargetMode="External"/><Relationship Id="rId16" Type="http://schemas.openxmlformats.org/officeDocument/2006/relationships/hyperlink" Target="https://docs.python.org/3/library/functions.html#float" TargetMode="External"/><Relationship Id="rId17" Type="http://schemas.openxmlformats.org/officeDocument/2006/relationships/hyperlink" Target="https://docs.python.org/3/library/functions.html#int" TargetMode="External"/><Relationship Id="rId18" Type="http://schemas.openxmlformats.org/officeDocument/2006/relationships/hyperlink" Target="https://matplotlib.org/stable/api/container_api.html#matplotlib.container.BarContainer" TargetMode="External"/><Relationship Id="rId19" Type="http://schemas.openxmlformats.org/officeDocument/2006/relationships/hyperlink" Target="https://matplotlib.org/stable/api/_as_gen/matplotlib.axes.Axes.bar.html#matplotlib.axes.Axes.bar" TargetMode="External"/><Relationship Id="rId20" Type="http://schemas.openxmlformats.org/officeDocument/2006/relationships/hyperlink" Target="https://numpy.org/doc/stable/reference/generated/numpy.ndarray.html#numpy.ndarray" TargetMode="External"/><Relationship Id="rId21" Type="http://schemas.openxmlformats.org/officeDocument/2006/relationships/hyperlink" Target="https://docs.python.org/3/library/functions.html#float" TargetMode="External"/><Relationship Id="rId22" Type="http://schemas.openxmlformats.org/officeDocument/2006/relationships/hyperlink" Target="https://docs.python.org/3/library/stdtypes.html#tuple" TargetMode="External"/><Relationship Id="rId23" Type="http://schemas.openxmlformats.org/officeDocument/2006/relationships/hyperlink" Target="https://docs.python.org/3/library/functions.html#float" TargetMode="External"/><Relationship Id="rId24" Type="http://schemas.openxmlformats.org/officeDocument/2006/relationships/hyperlink" Target="https://docs.python.org/3/library/stdtypes.html#str" TargetMode="External"/><Relationship Id="rId25" Type="http://schemas.openxmlformats.org/officeDocument/2006/relationships/hyperlink" Target="https://matplotlib.org/stable/api/_as_gen/matplotlib.axes.Axes.bar_label.html#matplotlib.axes.Axes.bar_label" TargetMode="External"/><Relationship Id="rId26" Type="http://schemas.openxmlformats.org/officeDocument/2006/relationships/hyperlink" Target="https://matplotlib.org/stable/api/container_api.html#matplotlib.container.BarContainer" TargetMode="External"/><Relationship Id="rId27" Type="http://schemas.openxmlformats.org/officeDocument/2006/relationships/hyperlink" Target="https://docs.python.org/3/library/functions.html#int" TargetMode="External"/><Relationship Id="rId28" Type="http://schemas.openxmlformats.org/officeDocument/2006/relationships/hyperlink" Target="https://matplotlib.org/stable/api/_as_gen/matplotlib.axes.Axes.set_ylabel.html#matplotlib.axes.Axes.set_ylabel" TargetMode="External"/><Relationship Id="rId29" Type="http://schemas.openxmlformats.org/officeDocument/2006/relationships/hyperlink" Target="https://matplotlib.org/stable/api/_as_gen/matplotlib.axes.Axes.set_title.html#matplotlib.axes.Axes.set_title" TargetMode="External"/><Relationship Id="rId30" Type="http://schemas.openxmlformats.org/officeDocument/2006/relationships/hyperlink" Target="https://matplotlib.org/stable/api/_as_gen/matplotlib.axes.Axes.set_xticks.html#matplotlib.axes.Axes.set_xticks" TargetMode="External"/><Relationship Id="rId31" Type="http://schemas.openxmlformats.org/officeDocument/2006/relationships/hyperlink" Target="https://numpy.org/doc/stable/reference/generated/numpy.ndarray.html#numpy.ndarray" TargetMode="External"/><Relationship Id="rId32" Type="http://schemas.openxmlformats.org/officeDocument/2006/relationships/hyperlink" Target="https://docs.python.org/3/library/functions.html#float" TargetMode="External"/><Relationship Id="rId33" Type="http://schemas.openxmlformats.org/officeDocument/2006/relationships/hyperlink" Target="https://docs.python.org/3/library/stdtypes.html#tuple" TargetMode="External"/><Relationship Id="rId34" Type="http://schemas.openxmlformats.org/officeDocument/2006/relationships/hyperlink" Target="https://matplotlib.org/stable/api/_as_gen/matplotlib.axes.Axes.legend.html#matplotlib.axes.Axes.legend" TargetMode="External"/><Relationship Id="rId35" Type="http://schemas.openxmlformats.org/officeDocument/2006/relationships/hyperlink" Target="https://matplotlib.org/stable/api/_as_gen/matplotlib.axes.Axes.set_ylim.html#matplotlib.axes.Axes.set_ylim" TargetMode="External"/><Relationship Id="rId36" Type="http://schemas.openxmlformats.org/officeDocument/2006/relationships/hyperlink" Target="https://matplotlib.org/stable/api/_as_gen/matplotlib.pyplot.show.html#matplotlib.pyplot.show" TargetMode="External"/><Relationship Id="rId37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2560" cy="29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Data Visualizations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2560" cy="100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Visualization Libraries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Matplotlib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https://matplotlib.org/stable/gallery/index.html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Seaborn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https://seaborn.pydata.org/examples/index.html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Plotly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Ggplot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Types of Features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Numerical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Values with numeric types (int, float, etc.).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age, salary, height.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Categorical Features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Features that can take one of a limited number of values.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gender (male, female), color (red, blue, green).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Ordinal Features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Categorical features that have a clear ordering.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T-shirt size (S, M, L, XL).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Binary Features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A special case of categorical features with only two categories.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Examples: is_smoker (yes, no), has_subscription (true, false).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Text Features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Features that contain textual data.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Types of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Line Charts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Display trends.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Scatter Plots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Investigate relationships between two variables.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Bar Charts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Summarize categorical data and compare different categories.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Pie Charts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Illustrate proportions of a whole for categorical variables.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Subplots and Axes :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Multiple plots in one figure.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Histograms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Explore the distribution of individual variables.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Heatmaps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Visualize correlation matrices to understand relationships between variables.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imports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160" cy="50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numpy as np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pandas as pd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matplotlib.pyplot as plt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import seaborn as sns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%matplotlib inline # for Notebooks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57200" y="1071720"/>
            <a:ext cx="4749120" cy="41853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# Data for plotting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= np.arange(0.0, 2.0, 0.01)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 = 1 + np.sin(2 * np.pi * 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fig, ax = plt.subplots()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ax.plot(t, 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ax.set(xlabel='time (s)', ylabel='voltage (mV)',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title='About as simple as it gets, folks')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ax.grid()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fig.savefig("test.png")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5600880" y="1047960"/>
            <a:ext cx="6057000" cy="443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57200" y="1071720"/>
            <a:ext cx="4749120" cy="41853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x1 = np.array([0, 1, 2, 3])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y1 = np.array([3, 8, 1, 10])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x2 = np.array([0, 1, 2, 3])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y2 = np.array([6, 2, 7, 11])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plt.plot(x1, y1, x2, y2)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5715000" y="1047960"/>
            <a:ext cx="5817960" cy="443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6364440" y="1143000"/>
            <a:ext cx="5826960" cy="411408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/>
          <p:nvPr/>
        </p:nvSpPr>
        <p:spPr>
          <a:xfrm>
            <a:off x="192240" y="1007640"/>
            <a:ext cx="6171480" cy="55069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pandas as pd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Load the dataset into a Pandas DataFrame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df = pd.read_csv("HistoricalPrices.csv")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Rename the column to remove an additional space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df = df.rename(columns = {' Open': 'Open', ' High': 'High', ' Low': 'Low', ' Close': 'Close'})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Convert the date column to datetime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df['Date'] = pd.to_datetime(df['Date'])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Sort the dataset in the ascending order of date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df = df.sort_values(by = 'Date')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Extract the date and close price columns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dates = df['Date']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closing_price = df['Close']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Create a line plot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plt.plot(dates, closing_price)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Scatter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6553800" y="2743200"/>
            <a:ext cx="5637600" cy="3980520"/>
          </a:xfrm>
          <a:prstGeom prst="rect">
            <a:avLst/>
          </a:prstGeom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228600" y="1143000"/>
            <a:ext cx="6324480" cy="31615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x = np.array([5,7,8,7,2,17,2,9,4,11,12,9,6])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y = np.array([99,86,87,88,111,86,103,87,94,78,77,85,86])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plt.scatter(x, y, color = 'hotpink')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x = np.array([2,2,8,1,15,8,12,9,7,3,11,4,7,14,12])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y = np.array([100,105,84,105,90,99,90,95,94,100,79,112,91,80,85])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plt.scatter(x, y, color = '#88c999')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Scatter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6230160" y="2514600"/>
            <a:ext cx="5961240" cy="4209120"/>
          </a:xfrm>
          <a:prstGeom prst="rect">
            <a:avLst/>
          </a:prstGeom>
          <a:ln w="0">
            <a:noFill/>
          </a:ln>
        </p:spPr>
      </p:pic>
      <p:sp>
        <p:nvSpPr>
          <p:cNvPr id="78" name=""/>
          <p:cNvSpPr/>
          <p:nvPr/>
        </p:nvSpPr>
        <p:spPr>
          <a:xfrm>
            <a:off x="228600" y="1143000"/>
            <a:ext cx="6324480" cy="31615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x = np.random.randint(100, size=(100))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y = np.random.randint(100, size=(100))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colors = np.random.randint(100, size=(100))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sizes = 10 * np.random.randint(100, size=(100))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plt.scatter(x, y, c=colors, s=sizes, alpha=0.5, cmap='nipy_spectral')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plt.colorbar()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Scatter Plots - 3D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28600" y="1143000"/>
            <a:ext cx="7085880" cy="52088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np.random.seed(19680801) # Fixing random state for reproducibility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def randrange(n, vmin, vmax):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"""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Helper function to make an array of random numbers having shape (n, 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with each number distributed Uniform(vmin, vmax).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"""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return (vmax - vmin)*np.random.rand(n) + vmin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fig = plt.figure()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ax = fig.add_subplot(projection='3d')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n = 100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# For each set of style and range settings, plot n random points in the box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# defined by x in [23, 32], y in [0, 100], z in [zlow, zhigh].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for m, zlow, zhigh in [('o', -50, -25), ('^', -30, -5)]: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xs = randrange(n, 23, 32)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ys = randrange(n, 0, 100)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zs = randrange(n, zlow, zhigh)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ax.scatter(xs, ys, zs, marker=m)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ax.set_xlabel('X Label')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ax.set_ylabel('Y Label')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ax.set_zlabel('Z Label')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plt.show()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7460640" y="1143000"/>
            <a:ext cx="4654440" cy="388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Bar Charts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6622560" y="1371600"/>
            <a:ext cx="5492520" cy="410436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228600" y="1008360"/>
            <a:ext cx="6400080" cy="53218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import matplotlib.pyplot as plt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import numpy as np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"/>
              </a:rPr>
              <a:t>species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("Adelie", "Chinstrap", "Gentoo")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"/>
              </a:rPr>
              <a:t>penguin_means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{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'Bill Depth': (18.35, 18.43, 14.98),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'Bill Length': (38.79, 48.83, 47.50),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'Flipper Length': (189.95, 195.82, 217.19),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4"/>
              </a:rPr>
              <a:t>x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5"/>
              </a:rPr>
              <a:t>np.arange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(len(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6"/>
              </a:rPr>
              <a:t>species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))  # the label locations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7"/>
              </a:rPr>
              <a:t>width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0.25  # the width of the bars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8"/>
              </a:rPr>
              <a:t>multiplier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9"/>
              </a:rPr>
              <a:t>fig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0"/>
              </a:rPr>
              <a:t>ax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1"/>
              </a:rPr>
              <a:t>plt.subplots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(layout='constrained')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for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2"/>
              </a:rPr>
              <a:t>attribute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3"/>
              </a:rPr>
              <a:t>measurement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in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4"/>
              </a:rPr>
              <a:t>penguin_means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.items():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5"/>
              </a:rPr>
              <a:t>offset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6"/>
              </a:rPr>
              <a:t>width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*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7"/>
              </a:rPr>
              <a:t>multiplier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8"/>
              </a:rPr>
              <a:t>rects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=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19"/>
              </a:rPr>
              <a:t>ax.bar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0"/>
              </a:rPr>
              <a:t>x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+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1"/>
              </a:rPr>
              <a:t>offset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2"/>
              </a:rPr>
              <a:t>measurement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3"/>
              </a:rPr>
              <a:t>width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label=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4"/>
              </a:rPr>
              <a:t>attribute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5"/>
              </a:rPr>
              <a:t>ax.bar_label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6"/>
              </a:rPr>
              <a:t>rects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padding=3)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  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7"/>
              </a:rPr>
              <a:t>multiplier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+=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# Add some text for labels, title and custom x-axis tick labels, etc.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8"/>
              </a:rPr>
              <a:t>ax.set_ylabel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('Length (mm)')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29"/>
              </a:rPr>
              <a:t>ax.set_title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('Penguin attributes by species')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0"/>
              </a:rPr>
              <a:t>ax.set_xticks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1"/>
              </a:rPr>
              <a:t>x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 +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2"/>
              </a:rPr>
              <a:t>width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, 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3"/>
              </a:rPr>
              <a:t>species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4"/>
              </a:rPr>
              <a:t>ax.legend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(loc='upper left', ncols=3)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5"/>
              </a:rPr>
              <a:t>ax.set_ylim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(0, 250)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hlinkClick r:id="rId36"/>
              </a:rPr>
              <a:t>plt.show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;Cousine;DejaVu Sans Mono"/>
              </a:rPr>
              <a:t>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Pie Charts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333400" cy="43786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import matplotlib.pyplot as plt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labels = 'Frogs', 'Hogs', 'Dogs', 'Logs'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sizes = [15, 30, 45, 10]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fig, ax = plt.subplots()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ax.pie(sizes, labels=labels)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6278040" y="1258200"/>
            <a:ext cx="5500800" cy="550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Subplots and Axes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5943600" y="1371600"/>
            <a:ext cx="6104520" cy="456156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>
            <a:off x="177480" y="999360"/>
            <a:ext cx="5994000" cy="54842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from matplotlib.patches import Polygon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def f(t):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return np.exp(-t) * np.cos(2*np.pi*t)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t1 = np.arange(0.0, 3.0, 0.01)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ax1 = plt.subplot(212)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ax1.margins(0.05)           # Default margin is 0.05, value 0 means 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ax1.plot(t1, f(t1))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ax2 = plt.subplot(221)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ax2.margins(2, 2)           # Values &gt;0.0 zoom 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ax2.plot(t1, f(t1))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ax2.set_title('Zoomed out')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ax3 = plt.subplot(222)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ax3.margins(x=0, y=-0.25)   # Values in (-0.5, 0.0) zooms in to center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ax3.plot(t1, f(t1))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ax3.set_title('Zoomed in')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Histogram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28600" y="1136160"/>
            <a:ext cx="6857280" cy="52639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from matplotlib import colors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from matplotlib.ticker import PercentFormatter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Create a random number generator with a fixed seed for reproducibility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rng = np.random.default_rng(19680801)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N_points = 100000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n_bins = 20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Generate two normal distributions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dist1 = rng.standard_normal(N_points)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dist2 = 0.4 * rng.standard_normal(N_points) + 5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fig, axs = plt.subplots(1, 2, sharey=True, tight_layout=True)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# We can set the number of bins with the *bins* keyword argument.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axs[0].hist(dist1, bins=n_bins)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axs[1].hist(dist2, bins=n_bins)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7277400" y="1857600"/>
            <a:ext cx="4837680" cy="362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64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Heatmaps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290560" y="228600"/>
            <a:ext cx="6824520" cy="65739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import matplotlib.pyplot as plt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import matplotlib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import matplotlib as mpl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vegetables = ["cucumber", "tomato", "lettuce", "asparagus",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"potato", "wheat", "barley"]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farmers = ["Farmer Joe", "Upland Bros.", "Smith Gardening",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"Agrifun", "Organiculture", "BioGoods Ltd.", "Cornylee Corp."]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harvest = np.array([[0.8, 2.4, 2.5, 3.9, 0.0, 4.0, 0.0],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[2.4, 0.0, 4.0, 1.0, 2.7, 0.0, 0.0],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[1.1, 2.4, 0.8, 4.3, 1.9, 4.4, 0.0],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[0.6, 0.0, 0.3, 0.0, 3.1, 0.0, 0.0],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[0.7, 1.7, 0.6, 2.6, 2.2, 6.2, 0.0],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[1.3, 1.2, 0.0, 0.0, 0.0, 3.2, 5.1],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[0.1, 2.0, 0.0, 1.4, 0.0, 1.9, 6.3]])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fig, ax = plt.subplots()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im = ax.imshow(harvest)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# Show all ticks and label them with the respective list entries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ax.set_xticks(range(len(farmers)), labels=farmers,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rotation=45, ha="right", rotation_mode="anchor")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ax.set_yticks(range(len(vegetables)), labels=vegetables)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# Loop over data dimensions and create text annotations.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for i in range(len(vegetables)):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for j in range(len(farmers)):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text = ax.text(j, i, harvest[i, j],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                     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ha="center", va="center", color="w")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ax.set_title("Harvest of local farmers (in tons/year)")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fig.tight_layout()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plt.show()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0" y="1600200"/>
            <a:ext cx="5289840" cy="402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93BE93E4-33CE-48DC-9737-664AEF639E6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33300</TotalTime>
  <Application>LibreOffice/24.2.7.2$Linux_X86_64 LibreOffice_project/420$Build-2</Application>
  <AppVersion>15.0000</AppVersion>
  <Words>789</Words>
  <Paragraphs>120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2024-05-30T21:18:54Z</cp:lastPrinted>
  <dcterms:modified xsi:type="dcterms:W3CDTF">2025-09-08T06:41:42Z</dcterms:modified>
  <cp:revision>740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20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