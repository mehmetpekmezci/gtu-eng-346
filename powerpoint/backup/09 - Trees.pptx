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_rels/item1.xml.rels" ContentType="application/vnd.openxmlformats-package.relationships+xml"/>
  <Override PartName="/customXml/item1.xml" ContentType="application/xml"/>
  <Override PartName="/customXml/itemProps1.xml" ContentType="application/vnd.openxmlformats-officedocument.customXml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_rels/presentation.xml.rels" ContentType="application/vnd.openxmlformats-package.relationships+xml"/>
  <Override PartName="/ppt/media/image1.png" ContentType="image/png"/>
  <Override PartName="/ppt/media/image2.gif" ContentType="image/gif"/>
  <Override PartName="/ppt/media/image6.png" ContentType="image/png"/>
  <Override PartName="/ppt/media/image3.png" ContentType="image/png"/>
  <Override PartName="/ppt/media/image4.png" ContentType="image/png"/>
  <Override PartName="/ppt/media/image5.png" ContentType="image/png"/>
  <Override PartName="/ppt/media/image7.png" ContentType="image/png"/>
  <Override PartName="/ppt/media/image10.wmf" ContentType="image/x-wmf"/>
  <Override PartName="/ppt/media/image8.png" ContentType="image/png"/>
  <Override PartName="/ppt/media/image11.wmf" ContentType="image/x-wmf"/>
  <Override PartName="/ppt/media/image9.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notesSlides/_rels/notesSlide22.xml.rels" ContentType="application/vnd.openxmlformats-package.relationships+xml"/>
  <Override PartName="/ppt/notesSlides/_rels/notesSlide3.xml.rels" ContentType="application/vnd.openxmlformats-package.relationships+xml"/>
  <Override PartName="/ppt/notesSlides/_rels/notesSlide21.xml.rels" ContentType="application/vnd.openxmlformats-package.relationships+xml"/>
  <Override PartName="/ppt/notesSlides/_rels/notesSlide2.xml.rels" ContentType="application/vnd.openxmlformats-package.relationships+xml"/>
  <Override PartName="/ppt/notesSlides/_rels/notesSlide15.xml.rels" ContentType="application/vnd.openxmlformats-package.relationships+xml"/>
  <Override PartName="/ppt/notesSlides/_rels/notesSlide12.xml.rels" ContentType="application/vnd.openxmlformats-package.relationships+xml"/>
  <Override PartName="/ppt/notesSlides/_rels/notesSlide6.xml.rels" ContentType="application/vnd.openxmlformats-package.relationships+xml"/>
  <Override PartName="/ppt/notesSlides/_rels/notesSlide19.xml.rels" ContentType="application/vnd.openxmlformats-package.relationships+xml"/>
  <Override PartName="/ppt/notesSlides/_rels/notesSlide4.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1" name="PlaceHolder 4"/>
          <p:cNvSpPr>
            <a:spLocks noGrp="1"/>
          </p:cNvSpPr>
          <p:nvPr>
            <p:ph type="dt" idx="19"/>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2" name="PlaceHolder 5"/>
          <p:cNvSpPr>
            <a:spLocks noGrp="1"/>
          </p:cNvSpPr>
          <p:nvPr>
            <p:ph type="ftr" idx="20"/>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 name="PlaceHolder 6"/>
          <p:cNvSpPr>
            <a:spLocks noGrp="1"/>
          </p:cNvSpPr>
          <p:nvPr>
            <p:ph type="sldNum" idx="21"/>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B8CE413E-C884-4AC9-B089-92B93FF1911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Img"/>
          </p:nvPr>
        </p:nvSpPr>
        <p:spPr>
          <a:xfrm>
            <a:off x="685800" y="1143000"/>
            <a:ext cx="5485680" cy="3085560"/>
          </a:xfrm>
          <a:prstGeom prst="rect">
            <a:avLst/>
          </a:prstGeom>
          <a:ln w="0">
            <a:noFill/>
          </a:ln>
        </p:spPr>
      </p:sp>
      <p:sp>
        <p:nvSpPr>
          <p:cNvPr id="40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08" name="PlaceHolder 3"/>
          <p:cNvSpPr>
            <a:spLocks noGrp="1"/>
          </p:cNvSpPr>
          <p:nvPr>
            <p:ph type="hdr"/>
          </p:nvPr>
        </p:nvSpPr>
        <p:spPr>
          <a:xfrm>
            <a:off x="0" y="0"/>
            <a:ext cx="2971080" cy="45792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409" name="PlaceHolder 4"/>
          <p:cNvSpPr>
            <a:spLocks noGrp="1"/>
          </p:cNvSpPr>
          <p:nvPr>
            <p:ph type="ftr" idx="38"/>
          </p:nvPr>
        </p:nvSpPr>
        <p:spPr>
          <a:xfrm>
            <a:off x="0" y="8685360"/>
            <a:ext cx="2971080" cy="45792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410" name="PlaceHolder 5"/>
          <p:cNvSpPr>
            <a:spLocks noGrp="1"/>
          </p:cNvSpPr>
          <p:nvPr>
            <p:ph type="sldNum" idx="39"/>
          </p:nvPr>
        </p:nvSpPr>
        <p:spPr>
          <a:xfrm>
            <a:off x="3884760" y="8685360"/>
            <a:ext cx="2971080" cy="45792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5CF54AEE-5D79-4AFD-9858-047DA717A71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685800" y="1143000"/>
            <a:ext cx="5485680" cy="3085560"/>
          </a:xfrm>
          <a:prstGeom prst="rect">
            <a:avLst/>
          </a:prstGeom>
          <a:ln w="0">
            <a:noFill/>
          </a:ln>
        </p:spPr>
      </p:sp>
      <p:sp>
        <p:nvSpPr>
          <p:cNvPr id="41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13" name="PlaceHolder 3"/>
          <p:cNvSpPr>
            <a:spLocks noGrp="1"/>
          </p:cNvSpPr>
          <p:nvPr>
            <p:ph type="hdr"/>
          </p:nvPr>
        </p:nvSpPr>
        <p:spPr>
          <a:xfrm>
            <a:off x="0" y="0"/>
            <a:ext cx="2971080" cy="45792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414" name="PlaceHolder 4"/>
          <p:cNvSpPr>
            <a:spLocks noGrp="1"/>
          </p:cNvSpPr>
          <p:nvPr>
            <p:ph type="ftr" idx="40"/>
          </p:nvPr>
        </p:nvSpPr>
        <p:spPr>
          <a:xfrm>
            <a:off x="0" y="8685360"/>
            <a:ext cx="2971080" cy="45792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415" name="PlaceHolder 5"/>
          <p:cNvSpPr>
            <a:spLocks noGrp="1"/>
          </p:cNvSpPr>
          <p:nvPr>
            <p:ph type="sldNum" idx="41"/>
          </p:nvPr>
        </p:nvSpPr>
        <p:spPr>
          <a:xfrm>
            <a:off x="3884760" y="8685360"/>
            <a:ext cx="2971080" cy="45792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8F8DF211-47CF-459F-807C-DC0DAAF4C1D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sldImg"/>
          </p:nvPr>
        </p:nvSpPr>
        <p:spPr>
          <a:xfrm>
            <a:off x="685800" y="1143000"/>
            <a:ext cx="5485680" cy="3085560"/>
          </a:xfrm>
          <a:prstGeom prst="rect">
            <a:avLst/>
          </a:prstGeom>
          <a:ln w="0">
            <a:noFill/>
          </a:ln>
        </p:spPr>
      </p:sp>
      <p:sp>
        <p:nvSpPr>
          <p:cNvPr id="41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18" name="PlaceHolder 3"/>
          <p:cNvSpPr>
            <a:spLocks noGrp="1"/>
          </p:cNvSpPr>
          <p:nvPr>
            <p:ph type="hdr"/>
          </p:nvPr>
        </p:nvSpPr>
        <p:spPr>
          <a:xfrm>
            <a:off x="0" y="0"/>
            <a:ext cx="2971080" cy="45792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419" name="PlaceHolder 4"/>
          <p:cNvSpPr>
            <a:spLocks noGrp="1"/>
          </p:cNvSpPr>
          <p:nvPr>
            <p:ph type="ftr" idx="42"/>
          </p:nvPr>
        </p:nvSpPr>
        <p:spPr>
          <a:xfrm>
            <a:off x="0" y="8685360"/>
            <a:ext cx="2971080" cy="45792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420" name="PlaceHolder 5"/>
          <p:cNvSpPr>
            <a:spLocks noGrp="1"/>
          </p:cNvSpPr>
          <p:nvPr>
            <p:ph type="sldNum" idx="43"/>
          </p:nvPr>
        </p:nvSpPr>
        <p:spPr>
          <a:xfrm>
            <a:off x="3884760" y="8685360"/>
            <a:ext cx="2971080" cy="45792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78440F91-9CEE-4152-A2E7-0C47E074950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685800" y="1143000"/>
            <a:ext cx="5485680" cy="3085560"/>
          </a:xfrm>
          <a:prstGeom prst="rect">
            <a:avLst/>
          </a:prstGeom>
          <a:ln w="0">
            <a:noFill/>
          </a:ln>
        </p:spPr>
      </p:sp>
      <p:sp>
        <p:nvSpPr>
          <p:cNvPr id="42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Node: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 fundamental building block of a tree.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Contains data or information.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May have zero or more child nodes.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Edge: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Connects two nodes, representing a relationship between them.</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In a tree, edges depict the hierarchical connection between parent and child nodes.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Root: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topmost node in a tree.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 tree has exactly one root.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All other nodes are descendants of the root.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Parent: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 node in a tree that has one or more child nodes.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node directly above a given node is its parent.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Child: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 node in a tree that has a parent node.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Nodes directly beneath a given node are its children.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Leaf:</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 node in a tree that has no children (i.e., has a degree of 0).</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Located at the "end" of a branch.</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Subtree: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 tree formed by a node and its descendants.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Any node in a tree can be considered the root of a subtree.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Depth of a Node: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length of the path from the root to the node.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root has a depth of 0.</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Height of a Node: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length of the longest path from the node to a leaf.</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Leaves have a height of 0.</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Height of a Tree: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height of the root node, indicating the depth of the deepest node in the tree.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Siblings: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Nodes that share the same parent are called siblings.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p:txBody>
      </p:sp>
      <p:sp>
        <p:nvSpPr>
          <p:cNvPr id="423" name="PlaceHolder 3"/>
          <p:cNvSpPr>
            <a:spLocks noGrp="1"/>
          </p:cNvSpPr>
          <p:nvPr>
            <p:ph type="hdr"/>
          </p:nvPr>
        </p:nvSpPr>
        <p:spPr>
          <a:xfrm>
            <a:off x="0" y="0"/>
            <a:ext cx="2971080" cy="45792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424" name="PlaceHolder 4"/>
          <p:cNvSpPr>
            <a:spLocks noGrp="1"/>
          </p:cNvSpPr>
          <p:nvPr>
            <p:ph type="ftr" idx="44"/>
          </p:nvPr>
        </p:nvSpPr>
        <p:spPr>
          <a:xfrm>
            <a:off x="0" y="8685360"/>
            <a:ext cx="2971080" cy="45792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425" name="PlaceHolder 5"/>
          <p:cNvSpPr>
            <a:spLocks noGrp="1"/>
          </p:cNvSpPr>
          <p:nvPr>
            <p:ph type="sldNum" idx="45"/>
          </p:nvPr>
        </p:nvSpPr>
        <p:spPr>
          <a:xfrm>
            <a:off x="3884760" y="8685360"/>
            <a:ext cx="2971080" cy="45792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78DD0D3F-E87C-4EC5-B4BA-3412D2904EF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Img"/>
          </p:nvPr>
        </p:nvSpPr>
        <p:spPr>
          <a:xfrm>
            <a:off x="685800" y="1143000"/>
            <a:ext cx="5485680" cy="3085560"/>
          </a:xfrm>
          <a:prstGeom prst="rect">
            <a:avLst/>
          </a:prstGeom>
          <a:ln w="0">
            <a:noFill/>
          </a:ln>
        </p:spPr>
      </p:sp>
      <p:sp>
        <p:nvSpPr>
          <p:cNvPr id="42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28" name="PlaceHolder 3"/>
          <p:cNvSpPr>
            <a:spLocks noGrp="1"/>
          </p:cNvSpPr>
          <p:nvPr>
            <p:ph type="hdr"/>
          </p:nvPr>
        </p:nvSpPr>
        <p:spPr>
          <a:xfrm>
            <a:off x="0" y="0"/>
            <a:ext cx="2971080" cy="45792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429" name="PlaceHolder 4"/>
          <p:cNvSpPr>
            <a:spLocks noGrp="1"/>
          </p:cNvSpPr>
          <p:nvPr>
            <p:ph type="ftr" idx="46"/>
          </p:nvPr>
        </p:nvSpPr>
        <p:spPr>
          <a:xfrm>
            <a:off x="0" y="8685360"/>
            <a:ext cx="2971080" cy="45792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430" name="PlaceHolder 5"/>
          <p:cNvSpPr>
            <a:spLocks noGrp="1"/>
          </p:cNvSpPr>
          <p:nvPr>
            <p:ph type="sldNum" idx="47"/>
          </p:nvPr>
        </p:nvSpPr>
        <p:spPr>
          <a:xfrm>
            <a:off x="3884760" y="8685360"/>
            <a:ext cx="2971080" cy="45792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0BBF4EA3-1C99-46A8-9AD6-26E40C4AE3A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Img"/>
          </p:nvPr>
        </p:nvSpPr>
        <p:spPr>
          <a:xfrm>
            <a:off x="685800" y="1143000"/>
            <a:ext cx="5485680" cy="3085560"/>
          </a:xfrm>
          <a:prstGeom prst="rect">
            <a:avLst/>
          </a:prstGeom>
          <a:ln w="0">
            <a:noFill/>
          </a:ln>
        </p:spPr>
      </p:sp>
      <p:sp>
        <p:nvSpPr>
          <p:cNvPr id="43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33" name="PlaceHolder 3"/>
          <p:cNvSpPr>
            <a:spLocks noGrp="1"/>
          </p:cNvSpPr>
          <p:nvPr>
            <p:ph type="hdr"/>
          </p:nvPr>
        </p:nvSpPr>
        <p:spPr>
          <a:xfrm>
            <a:off x="0" y="0"/>
            <a:ext cx="2971080" cy="45792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434" name="PlaceHolder 4"/>
          <p:cNvSpPr>
            <a:spLocks noGrp="1"/>
          </p:cNvSpPr>
          <p:nvPr>
            <p:ph type="ftr" idx="48"/>
          </p:nvPr>
        </p:nvSpPr>
        <p:spPr>
          <a:xfrm>
            <a:off x="0" y="8685360"/>
            <a:ext cx="2971080" cy="45792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435" name="PlaceHolder 5"/>
          <p:cNvSpPr>
            <a:spLocks noGrp="1"/>
          </p:cNvSpPr>
          <p:nvPr>
            <p:ph type="sldNum" idx="49"/>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16EE2E65-1CDD-4805-8475-F4AD5C59753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685800" y="1143000"/>
            <a:ext cx="5485680" cy="3085560"/>
          </a:xfrm>
          <a:prstGeom prst="rect">
            <a:avLst/>
          </a:prstGeom>
          <a:ln w="0">
            <a:noFill/>
          </a:ln>
        </p:spPr>
      </p:sp>
      <p:sp>
        <p:nvSpPr>
          <p:cNvPr id="43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38" name="PlaceHolder 3"/>
          <p:cNvSpPr>
            <a:spLocks noGrp="1"/>
          </p:cNvSpPr>
          <p:nvPr>
            <p:ph type="hdr"/>
          </p:nvPr>
        </p:nvSpPr>
        <p:spPr>
          <a:xfrm>
            <a:off x="0" y="0"/>
            <a:ext cx="2971080" cy="45792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439" name="PlaceHolder 4"/>
          <p:cNvSpPr>
            <a:spLocks noGrp="1"/>
          </p:cNvSpPr>
          <p:nvPr>
            <p:ph type="ftr" idx="50"/>
          </p:nvPr>
        </p:nvSpPr>
        <p:spPr>
          <a:xfrm>
            <a:off x="0" y="8685360"/>
            <a:ext cx="2971080" cy="45792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440" name="PlaceHolder 5"/>
          <p:cNvSpPr>
            <a:spLocks noGrp="1"/>
          </p:cNvSpPr>
          <p:nvPr>
            <p:ph type="sldNum" idx="51"/>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E34B9AF9-7257-4E5A-8B74-AF6B67A598D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sldImg"/>
          </p:nvPr>
        </p:nvSpPr>
        <p:spPr>
          <a:xfrm>
            <a:off x="685800" y="1143000"/>
            <a:ext cx="5485680" cy="3085560"/>
          </a:xfrm>
          <a:prstGeom prst="rect">
            <a:avLst/>
          </a:prstGeom>
          <a:ln w="0">
            <a:noFill/>
          </a:ln>
        </p:spPr>
      </p:sp>
      <p:sp>
        <p:nvSpPr>
          <p:cNvPr id="44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43" name="PlaceHolder 3"/>
          <p:cNvSpPr>
            <a:spLocks noGrp="1"/>
          </p:cNvSpPr>
          <p:nvPr>
            <p:ph type="hdr"/>
          </p:nvPr>
        </p:nvSpPr>
        <p:spPr>
          <a:xfrm>
            <a:off x="0" y="0"/>
            <a:ext cx="2971080" cy="45792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444" name="PlaceHolder 4"/>
          <p:cNvSpPr>
            <a:spLocks noGrp="1"/>
          </p:cNvSpPr>
          <p:nvPr>
            <p:ph type="ftr" idx="52"/>
          </p:nvPr>
        </p:nvSpPr>
        <p:spPr>
          <a:xfrm>
            <a:off x="0" y="8685360"/>
            <a:ext cx="2971080" cy="45792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445" name="PlaceHolder 5"/>
          <p:cNvSpPr>
            <a:spLocks noGrp="1"/>
          </p:cNvSpPr>
          <p:nvPr>
            <p:ph type="sldNum" idx="53"/>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413D7713-5426-4E79-BDEA-B4BFE8BFA8C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685800" y="1143000"/>
            <a:ext cx="5485680" cy="3085560"/>
          </a:xfrm>
          <a:prstGeom prst="rect">
            <a:avLst/>
          </a:prstGeom>
          <a:ln w="0">
            <a:noFill/>
          </a:ln>
        </p:spPr>
      </p:sp>
      <p:sp>
        <p:nvSpPr>
          <p:cNvPr id="44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48" name="PlaceHolder 3"/>
          <p:cNvSpPr>
            <a:spLocks noGrp="1"/>
          </p:cNvSpPr>
          <p:nvPr>
            <p:ph type="hdr"/>
          </p:nvPr>
        </p:nvSpPr>
        <p:spPr>
          <a:xfrm>
            <a:off x="0" y="0"/>
            <a:ext cx="2971080" cy="45792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449" name="PlaceHolder 4"/>
          <p:cNvSpPr>
            <a:spLocks noGrp="1"/>
          </p:cNvSpPr>
          <p:nvPr>
            <p:ph type="ftr" idx="54"/>
          </p:nvPr>
        </p:nvSpPr>
        <p:spPr>
          <a:xfrm>
            <a:off x="0" y="8685360"/>
            <a:ext cx="2971080" cy="45792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450" name="PlaceHolder 5"/>
          <p:cNvSpPr>
            <a:spLocks noGrp="1"/>
          </p:cNvSpPr>
          <p:nvPr>
            <p:ph type="sldNum" idx="55"/>
          </p:nvPr>
        </p:nvSpPr>
        <p:spPr>
          <a:xfrm>
            <a:off x="3884760" y="8685360"/>
            <a:ext cx="2971080" cy="45792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534CEFF2-E9DD-4B42-8994-CD8D2508C73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685800" y="1143000"/>
            <a:ext cx="5485680" cy="3085560"/>
          </a:xfrm>
          <a:prstGeom prst="rect">
            <a:avLst/>
          </a:prstGeom>
          <a:ln w="0">
            <a:noFill/>
          </a:ln>
        </p:spPr>
      </p:sp>
      <p:sp>
        <p:nvSpPr>
          <p:cNvPr id="45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53" name="PlaceHolder 3"/>
          <p:cNvSpPr>
            <a:spLocks noGrp="1"/>
          </p:cNvSpPr>
          <p:nvPr>
            <p:ph type="hdr"/>
          </p:nvPr>
        </p:nvSpPr>
        <p:spPr>
          <a:xfrm>
            <a:off x="0" y="0"/>
            <a:ext cx="2971080" cy="45792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454" name="PlaceHolder 4"/>
          <p:cNvSpPr>
            <a:spLocks noGrp="1"/>
          </p:cNvSpPr>
          <p:nvPr>
            <p:ph type="ftr" idx="56"/>
          </p:nvPr>
        </p:nvSpPr>
        <p:spPr>
          <a:xfrm>
            <a:off x="0" y="8685360"/>
            <a:ext cx="2971080" cy="45792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455" name="PlaceHolder 5"/>
          <p:cNvSpPr>
            <a:spLocks noGrp="1"/>
          </p:cNvSpPr>
          <p:nvPr>
            <p:ph type="sldNum" idx="57"/>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3C74498A-10CC-45DD-811A-A79DE925BA6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4880" cy="6433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 name="PlaceHolder 2"/>
          <p:cNvSpPr>
            <a:spLocks noGrp="1"/>
          </p:cNvSpPr>
          <p:nvPr>
            <p:ph type="subTitle"/>
          </p:nvPr>
        </p:nvSpPr>
        <p:spPr>
          <a:xfrm>
            <a:off x="838080" y="1107000"/>
            <a:ext cx="10514880" cy="50691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9C7E9A95-8CC7-4219-BAD0-BAA5E9F79418}"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4880" cy="6433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 name="PlaceHolder 2"/>
          <p:cNvSpPr>
            <a:spLocks noGrp="1"/>
          </p:cNvSpPr>
          <p:nvPr>
            <p:ph/>
          </p:nvPr>
        </p:nvSpPr>
        <p:spPr>
          <a:xfrm>
            <a:off x="838080" y="1107000"/>
            <a:ext cx="10514880" cy="506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AC3C2DAE-4B3D-4E54-8CE0-1B1FB4D8CD3A}"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E7293987-8DFC-4788-A872-5BBDD36C93F6}"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4880" cy="6433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838080" y="1107000"/>
            <a:ext cx="5131080" cy="506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6226200" y="1107000"/>
            <a:ext cx="5131080" cy="506916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7AD2959D-E42E-4C4F-BC38-9F788331B2DC}"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4880" cy="6433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321C1907-2060-4FF0-B994-255A7F61EC2C}" type="slidenum">
              <a:t>&lt;#&gt;</a:t>
            </a:fld>
          </a:p>
        </p:txBody>
      </p:sp>
      <p:sp>
        <p:nvSpPr>
          <p:cNvPr id="5" name="PlaceHolder 4"/>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2A659B47-4160-4D81-B12D-11C793D6ABFC}"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şlık Slaydı">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TextBox 6"/>
          <p:cNvSpPr/>
          <p:nvPr/>
        </p:nvSpPr>
        <p:spPr>
          <a:xfrm>
            <a:off x="41400" y="6539040"/>
            <a:ext cx="515052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 name="Picture 4" descr="Gebze Technical University"/>
          <p:cNvPicPr/>
          <p:nvPr/>
        </p:nvPicPr>
        <p:blipFill>
          <a:blip r:embed="rId2"/>
          <a:stretch/>
        </p:blipFill>
        <p:spPr>
          <a:xfrm>
            <a:off x="10150560" y="-89640"/>
            <a:ext cx="2159280" cy="1013400"/>
          </a:xfrm>
          <a:prstGeom prst="rect">
            <a:avLst/>
          </a:prstGeom>
          <a:ln w="0">
            <a:noFill/>
          </a:ln>
        </p:spPr>
      </p:pic>
      <p:sp>
        <p:nvSpPr>
          <p:cNvPr id="2" name="PlaceHolder 1"/>
          <p:cNvSpPr>
            <a:spLocks noGrp="1"/>
          </p:cNvSpPr>
          <p:nvPr>
            <p:ph type="title"/>
          </p:nvPr>
        </p:nvSpPr>
        <p:spPr>
          <a:xfrm>
            <a:off x="838080" y="365040"/>
            <a:ext cx="10514880" cy="6433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 name="PlaceHolder 2"/>
          <p:cNvSpPr>
            <a:spLocks noGrp="1"/>
          </p:cNvSpPr>
          <p:nvPr>
            <p:ph type="ftr" idx="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4" name="PlaceHolder 3"/>
          <p:cNvSpPr>
            <a:spLocks noGrp="1"/>
          </p:cNvSpPr>
          <p:nvPr>
            <p:ph type="sldNum" idx="2"/>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119EC5F5-6D55-4F4C-BDC0-413CF2959BD6}" type="slidenum">
              <a:rPr b="0" lang="en-US" sz="1200" spc="-1" strike="noStrike">
                <a:solidFill>
                  <a:schemeClr val="dk1">
                    <a:tint val="75000"/>
                  </a:schemeClr>
                </a:solidFill>
                <a:latin typeface="Calibri"/>
              </a:rPr>
              <a:t>1</a:t>
            </a:fld>
            <a:endParaRPr b="0" lang="en-US" sz="1200" spc="-1" strike="noStrike">
              <a:solidFill>
                <a:srgbClr val="000000"/>
              </a:solidFill>
              <a:latin typeface="Times New Roman"/>
            </a:endParaRPr>
          </a:p>
        </p:txBody>
      </p:sp>
      <p:sp>
        <p:nvSpPr>
          <p:cNvPr id="5" name="PlaceHolder 4"/>
          <p:cNvSpPr>
            <a:spLocks noGrp="1"/>
          </p:cNvSpPr>
          <p:nvPr>
            <p:ph type="dt" idx="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 </a:t>
            </a:r>
            <a:endParaRPr b="0" lang="en-US" sz="1400" spc="-1" strike="noStrike">
              <a:solidFill>
                <a:srgbClr val="000000"/>
              </a:solidFill>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TextBox 6"/>
          <p:cNvSpPr/>
          <p:nvPr/>
        </p:nvSpPr>
        <p:spPr>
          <a:xfrm>
            <a:off x="41400" y="6539040"/>
            <a:ext cx="515052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0" name="Picture 4" descr="Gebze Technical University"/>
          <p:cNvPicPr/>
          <p:nvPr/>
        </p:nvPicPr>
        <p:blipFill>
          <a:blip r:embed="rId2"/>
          <a:stretch/>
        </p:blipFill>
        <p:spPr>
          <a:xfrm>
            <a:off x="10150560" y="-89640"/>
            <a:ext cx="2159280" cy="1013400"/>
          </a:xfrm>
          <a:prstGeom prst="rect">
            <a:avLst/>
          </a:prstGeom>
          <a:ln w="0">
            <a:noFill/>
          </a:ln>
        </p:spPr>
      </p:pic>
      <p:sp>
        <p:nvSpPr>
          <p:cNvPr id="11" name="PlaceHolder 1"/>
          <p:cNvSpPr>
            <a:spLocks noGrp="1"/>
          </p:cNvSpPr>
          <p:nvPr>
            <p:ph type="title"/>
          </p:nvPr>
        </p:nvSpPr>
        <p:spPr>
          <a:xfrm>
            <a:off x="838080" y="365040"/>
            <a:ext cx="10514880" cy="6433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 name="PlaceHolder 2"/>
          <p:cNvSpPr>
            <a:spLocks noGrp="1"/>
          </p:cNvSpPr>
          <p:nvPr>
            <p:ph type="body"/>
          </p:nvPr>
        </p:nvSpPr>
        <p:spPr>
          <a:xfrm>
            <a:off x="838080" y="1107000"/>
            <a:ext cx="10514880" cy="506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 name="PlaceHolder 3"/>
          <p:cNvSpPr>
            <a:spLocks noGrp="1"/>
          </p:cNvSpPr>
          <p:nvPr>
            <p:ph type="ftr" idx="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 name="PlaceHolder 4"/>
          <p:cNvSpPr>
            <a:spLocks noGrp="1"/>
          </p:cNvSpPr>
          <p:nvPr>
            <p:ph type="sldNum" idx="5"/>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AB4540E-9320-4087-A066-F93C3F631F3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5" name="PlaceHolder 5"/>
          <p:cNvSpPr>
            <a:spLocks noGrp="1"/>
          </p:cNvSpPr>
          <p:nvPr>
            <p:ph type="dt" idx="6"/>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TextBox 6"/>
          <p:cNvSpPr/>
          <p:nvPr/>
        </p:nvSpPr>
        <p:spPr>
          <a:xfrm>
            <a:off x="41400" y="6539040"/>
            <a:ext cx="515052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9" name="Picture 4" descr="Gebze Technical University"/>
          <p:cNvPicPr/>
          <p:nvPr/>
        </p:nvPicPr>
        <p:blipFill>
          <a:blip r:embed="rId2"/>
          <a:stretch/>
        </p:blipFill>
        <p:spPr>
          <a:xfrm>
            <a:off x="10150560" y="-89640"/>
            <a:ext cx="2159280" cy="1013400"/>
          </a:xfrm>
          <a:prstGeom prst="rect">
            <a:avLst/>
          </a:prstGeom>
          <a:ln w="0">
            <a:noFill/>
          </a:ln>
        </p:spPr>
      </p:pic>
      <p:sp>
        <p:nvSpPr>
          <p:cNvPr id="20" name="PlaceHolder 1"/>
          <p:cNvSpPr>
            <a:spLocks noGrp="1"/>
          </p:cNvSpPr>
          <p:nvPr>
            <p:ph type="ftr" idx="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1" name="PlaceHolder 2"/>
          <p:cNvSpPr>
            <a:spLocks noGrp="1"/>
          </p:cNvSpPr>
          <p:nvPr>
            <p:ph type="sldNum" idx="8"/>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B44D880-2967-400F-AAB2-5006679B47F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2" name="PlaceHolder 3"/>
          <p:cNvSpPr>
            <a:spLocks noGrp="1"/>
          </p:cNvSpPr>
          <p:nvPr>
            <p:ph type="dt" idx="9"/>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TextBox 6"/>
          <p:cNvSpPr/>
          <p:nvPr/>
        </p:nvSpPr>
        <p:spPr>
          <a:xfrm>
            <a:off x="41400" y="6539040"/>
            <a:ext cx="515052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24" name="Picture 4" descr="Gebze Technical University"/>
          <p:cNvPicPr/>
          <p:nvPr/>
        </p:nvPicPr>
        <p:blipFill>
          <a:blip r:embed="rId2"/>
          <a:stretch/>
        </p:blipFill>
        <p:spPr>
          <a:xfrm>
            <a:off x="10150560" y="-89640"/>
            <a:ext cx="2159280" cy="1013400"/>
          </a:xfrm>
          <a:prstGeom prst="rect">
            <a:avLst/>
          </a:prstGeom>
          <a:ln w="0">
            <a:noFill/>
          </a:ln>
        </p:spPr>
      </p:pic>
      <p:sp>
        <p:nvSpPr>
          <p:cNvPr id="25" name="PlaceHolder 1"/>
          <p:cNvSpPr>
            <a:spLocks noGrp="1"/>
          </p:cNvSpPr>
          <p:nvPr>
            <p:ph type="title"/>
          </p:nvPr>
        </p:nvSpPr>
        <p:spPr>
          <a:xfrm>
            <a:off x="838080" y="365040"/>
            <a:ext cx="10514880" cy="6433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 name="PlaceHolder 2"/>
          <p:cNvSpPr>
            <a:spLocks noGrp="1"/>
          </p:cNvSpPr>
          <p:nvPr>
            <p:ph type="body"/>
          </p:nvPr>
        </p:nvSpPr>
        <p:spPr>
          <a:xfrm>
            <a:off x="838080" y="1107000"/>
            <a:ext cx="5130720" cy="506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3"/>
          <p:cNvSpPr>
            <a:spLocks noGrp="1"/>
          </p:cNvSpPr>
          <p:nvPr>
            <p:ph type="body"/>
          </p:nvPr>
        </p:nvSpPr>
        <p:spPr>
          <a:xfrm>
            <a:off x="6226200" y="1107000"/>
            <a:ext cx="5130720" cy="50691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4"/>
          <p:cNvSpPr>
            <a:spLocks noGrp="1"/>
          </p:cNvSpPr>
          <p:nvPr>
            <p:ph type="ftr" idx="1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9" name="PlaceHolder 5"/>
          <p:cNvSpPr>
            <a:spLocks noGrp="1"/>
          </p:cNvSpPr>
          <p:nvPr>
            <p:ph type="sldNum" idx="11"/>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9EDDC40-6915-42AF-A5FA-F67CBC062A8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0" name="PlaceHolder 6"/>
          <p:cNvSpPr>
            <a:spLocks noGrp="1"/>
          </p:cNvSpPr>
          <p:nvPr>
            <p:ph type="dt" idx="12"/>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TextBox 6"/>
          <p:cNvSpPr/>
          <p:nvPr/>
        </p:nvSpPr>
        <p:spPr>
          <a:xfrm>
            <a:off x="41400" y="6539040"/>
            <a:ext cx="515052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35" name="Picture 4" descr="Gebze Technical University"/>
          <p:cNvPicPr/>
          <p:nvPr/>
        </p:nvPicPr>
        <p:blipFill>
          <a:blip r:embed="rId2"/>
          <a:stretch/>
        </p:blipFill>
        <p:spPr>
          <a:xfrm>
            <a:off x="10150560" y="-89640"/>
            <a:ext cx="2159280" cy="1013400"/>
          </a:xfrm>
          <a:prstGeom prst="rect">
            <a:avLst/>
          </a:prstGeom>
          <a:ln w="0">
            <a:noFill/>
          </a:ln>
        </p:spPr>
      </p:pic>
      <p:sp>
        <p:nvSpPr>
          <p:cNvPr id="36" name="PlaceHolder 1"/>
          <p:cNvSpPr>
            <a:spLocks noGrp="1"/>
          </p:cNvSpPr>
          <p:nvPr>
            <p:ph type="title"/>
          </p:nvPr>
        </p:nvSpPr>
        <p:spPr>
          <a:xfrm>
            <a:off x="838080" y="365040"/>
            <a:ext cx="10514880" cy="6433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 name="PlaceHolder 2"/>
          <p:cNvSpPr>
            <a:spLocks noGrp="1"/>
          </p:cNvSpPr>
          <p:nvPr>
            <p:ph type="ftr" idx="1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8" name="PlaceHolder 3"/>
          <p:cNvSpPr>
            <a:spLocks noGrp="1"/>
          </p:cNvSpPr>
          <p:nvPr>
            <p:ph type="sldNum" idx="14"/>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894D779-F7D0-4EA1-8731-DA90F53D808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9" name="PlaceHolder 4"/>
          <p:cNvSpPr>
            <a:spLocks noGrp="1"/>
          </p:cNvSpPr>
          <p:nvPr>
            <p:ph type="dt" idx="15"/>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TextBox 6"/>
          <p:cNvSpPr/>
          <p:nvPr/>
        </p:nvSpPr>
        <p:spPr>
          <a:xfrm>
            <a:off x="41400" y="6539040"/>
            <a:ext cx="515052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42" name="Picture 4" descr="Gebze Technical University"/>
          <p:cNvPicPr/>
          <p:nvPr/>
        </p:nvPicPr>
        <p:blipFill>
          <a:blip r:embed="rId2"/>
          <a:stretch/>
        </p:blipFill>
        <p:spPr>
          <a:xfrm>
            <a:off x="10150560" y="-89640"/>
            <a:ext cx="2159280" cy="1013400"/>
          </a:xfrm>
          <a:prstGeom prst="rect">
            <a:avLst/>
          </a:prstGeom>
          <a:ln w="0">
            <a:noFill/>
          </a:ln>
        </p:spPr>
      </p:pic>
      <p:sp>
        <p:nvSpPr>
          <p:cNvPr id="43" name="PlaceHolder 1"/>
          <p:cNvSpPr>
            <a:spLocks noGrp="1"/>
          </p:cNvSpPr>
          <p:nvPr>
            <p:ph type="ftr" idx="1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2"/>
          <p:cNvSpPr>
            <a:spLocks noGrp="1"/>
          </p:cNvSpPr>
          <p:nvPr>
            <p:ph type="sldNum" idx="17"/>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670CA02-3624-4252-B09D-FAA8DECBC74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5" name="PlaceHolder 3"/>
          <p:cNvSpPr>
            <a:spLocks noGrp="1"/>
          </p:cNvSpPr>
          <p:nvPr>
            <p:ph type="dt" idx="18"/>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TextBox 6"/>
          <p:cNvSpPr/>
          <p:nvPr/>
        </p:nvSpPr>
        <p:spPr>
          <a:xfrm>
            <a:off x="41400" y="6539040"/>
            <a:ext cx="515052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47" name="Picture 4" descr="Gebze Technical University"/>
          <p:cNvPicPr/>
          <p:nvPr/>
        </p:nvPicPr>
        <p:blipFill>
          <a:blip r:embed="rId2"/>
          <a:stretch/>
        </p:blipFill>
        <p:spPr>
          <a:xfrm>
            <a:off x="10150560" y="-89640"/>
            <a:ext cx="2159280" cy="101340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1" r:id="rId3"/>
  </p:sldLayoutIdLst>
</p:sldMaster>
</file>

<file path=ppt/slides/_rels/slide1.xml.rels><?xml version="1.0" encoding="UTF-8"?>
<Relationships xmlns="http://schemas.openxmlformats.org/package/2006/relationships"><Relationship Id="rId1" Type="http://schemas.openxmlformats.org/officeDocument/2006/relationships/hyperlink" Target="mailto:mpekmezci@gtu.edu.tr" TargetMode="External"/><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gif"/><Relationship Id="rId2" Type="http://schemas.openxmlformats.org/officeDocument/2006/relationships/slideLayout" Target="../slideLayouts/slideLayout2.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image" Target="../media/image10.wmf"/><Relationship Id="rId2" Type="http://schemas.openxmlformats.org/officeDocument/2006/relationships/image" Target="../media/image11.wmf"/><Relationship Id="rId3" Type="http://schemas.openxmlformats.org/officeDocument/2006/relationships/slideLayout" Target="../slideLayouts/slideLayout2.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hyperlink" Target="https://www.geeksforgeeks.org/tree-traversals-inorder-preorder-and-postorder/" TargetMode="External"/><Relationship Id="rId2"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hyperlink" Target="https://www.programiz.com/dsa/graph-dfs" TargetMode="External"/><Relationship Id="rId2"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hyperlink" Target="https://www.geeksforgeeks.org/level-order-tree-traversal/" TargetMode="External"/><Relationship Id="rId2"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hyperlink" Target="https://www.programiz.com/dsa/graph-bfs" TargetMode="External"/><Relationship Id="rId2" Type="http://schemas.openxmlformats.org/officeDocument/2006/relationships/slideLayout" Target="../slideLayouts/slideLayout2.xml"/>
</Relationships>
</file>

<file path=ppt/slides/_rels/slide27.xml.rels><?xml version="1.0" encoding="UTF-8"?>
<Relationships xmlns="http://schemas.openxmlformats.org/package/2006/relationships"><Relationship Id="rId1" Type="http://schemas.openxmlformats.org/officeDocument/2006/relationships/hyperlink" Target="https://www.geeksforgeeks.org/lifo-last-in-first-out-approach-in-programming/" TargetMode="External"/><Relationship Id="rId2" Type="http://schemas.openxmlformats.org/officeDocument/2006/relationships/hyperlink" Target="https://www.geeksforgeeks.org/fifo-first-in-first-out-approach-in-programming/" TargetMode="External"/><Relationship Id="rId3"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1341000" y="1252800"/>
            <a:ext cx="9143280" cy="2998440"/>
          </a:xfrm>
          <a:prstGeom prst="rect">
            <a:avLst/>
          </a:prstGeom>
          <a:noFill/>
          <a:ln w="0">
            <a:noFill/>
          </a:ln>
        </p:spPr>
        <p:txBody>
          <a:bodyPr lIns="91440" rIns="91440" tIns="45720" bIns="45720" anchor="b">
            <a:normAutofit fontScale="75000" lnSpcReduction="10000"/>
          </a:bodyPr>
          <a:p>
            <a:pPr indent="0" algn="ctr" defTabSz="914400">
              <a:lnSpc>
                <a:spcPct val="90000"/>
              </a:lnSpc>
              <a:buNone/>
              <a:tabLst>
                <a:tab algn="l" pos="0"/>
              </a:tabLst>
            </a:pPr>
            <a:r>
              <a:rPr b="1" lang="en-US" sz="6000" spc="-1" strike="noStrike">
                <a:solidFill>
                  <a:srgbClr val="c00000"/>
                </a:solidFill>
                <a:latin typeface="Calibri Light"/>
              </a:rPr>
              <a:t>ENG 346</a:t>
            </a:r>
            <a:br>
              <a:rPr sz="6000"/>
            </a:br>
            <a:r>
              <a:rPr b="1" lang="en-US" sz="6000" spc="-1" strike="noStrike">
                <a:solidFill>
                  <a:srgbClr val="c00000"/>
                </a:solidFill>
                <a:latin typeface="Calibri Light"/>
              </a:rPr>
              <a:t>Data Structures and Algorithms for Artificial Intelligence</a:t>
            </a:r>
            <a:br>
              <a:rPr sz="6000"/>
            </a:br>
            <a:r>
              <a:rPr b="1" lang="en-US" sz="4900" spc="-1" strike="noStrike">
                <a:solidFill>
                  <a:schemeClr val="dk1"/>
                </a:solidFill>
                <a:latin typeface="Calibri Light"/>
              </a:rPr>
              <a:t>Trees</a:t>
            </a:r>
            <a:endParaRPr b="0" lang="en-US" sz="4900" spc="-1" strike="noStrike">
              <a:solidFill>
                <a:srgbClr val="000000"/>
              </a:solidFill>
              <a:latin typeface="Arial"/>
            </a:endParaRPr>
          </a:p>
        </p:txBody>
      </p:sp>
      <p:sp>
        <p:nvSpPr>
          <p:cNvPr id="55" name="PlaceHolder 2"/>
          <p:cNvSpPr>
            <a:spLocks noGrp="1"/>
          </p:cNvSpPr>
          <p:nvPr>
            <p:ph type="subTitle"/>
          </p:nvPr>
        </p:nvSpPr>
        <p:spPr>
          <a:xfrm>
            <a:off x="1496520" y="4462200"/>
            <a:ext cx="9143280" cy="1005120"/>
          </a:xfrm>
          <a:prstGeom prst="rect">
            <a:avLst/>
          </a:prstGeom>
          <a:noFill/>
          <a:ln w="0">
            <a:noFill/>
          </a:ln>
        </p:spPr>
        <p:txBody>
          <a:bodyPr lIns="91440" rIns="91440" tIns="45720" bIns="45720" anchor="t">
            <a:noAutofit/>
          </a:bodyPr>
          <a:p>
            <a:pPr indent="0" algn="ctr" defTabSz="914400">
              <a:lnSpc>
                <a:spcPct val="90000"/>
              </a:lnSpc>
              <a:spcBef>
                <a:spcPts val="1001"/>
              </a:spcBef>
              <a:buNone/>
              <a:tabLst>
                <a:tab algn="l" pos="0"/>
              </a:tabLst>
            </a:pPr>
            <a:r>
              <a:rPr b="0" lang="en-US" sz="2400" spc="-1" strike="noStrike">
                <a:solidFill>
                  <a:schemeClr val="dk1"/>
                </a:solidFill>
                <a:latin typeface="Calibri"/>
              </a:rPr>
              <a:t>Dr. Mehmet PEKMEZCİ</a:t>
            </a:r>
            <a:endParaRPr b="0" lang="en-US" sz="2400" spc="-1" strike="noStrike">
              <a:solidFill>
                <a:srgbClr val="000000"/>
              </a:solidFill>
              <a:latin typeface="Arial"/>
            </a:endParaRPr>
          </a:p>
          <a:p>
            <a:pPr indent="0" algn="ctr" defTabSz="914400">
              <a:lnSpc>
                <a:spcPct val="90000"/>
              </a:lnSpc>
              <a:spcBef>
                <a:spcPts val="1001"/>
              </a:spcBef>
              <a:buNone/>
              <a:tabLst>
                <a:tab algn="l" pos="0"/>
              </a:tabLst>
            </a:pPr>
            <a:r>
              <a:rPr b="0" lang="en-US" sz="2400" spc="-1" strike="noStrike">
                <a:solidFill>
                  <a:schemeClr val="dk1"/>
                </a:solidFill>
                <a:latin typeface="Calibri"/>
                <a:hlinkClick r:id="rId1"/>
              </a:rPr>
              <a:t>mpekmezci@gtu.edu.tr</a:t>
            </a:r>
            <a:endParaRPr b="0" lang="en-US" sz="2400" spc="-1" strike="noStrike">
              <a:solidFill>
                <a:srgbClr val="000000"/>
              </a:solidFill>
              <a:latin typeface="Arial"/>
            </a:endParaRPr>
          </a:p>
          <a:p>
            <a:pPr indent="0" algn="ctr" defTabSz="914400">
              <a:lnSpc>
                <a:spcPct val="90000"/>
              </a:lnSpc>
              <a:spcBef>
                <a:spcPts val="1001"/>
              </a:spcBef>
              <a:buNone/>
              <a:tabLst>
                <a:tab algn="l" pos="0"/>
              </a:tabLst>
            </a:pPr>
            <a:r>
              <a:rPr b="0" lang="en-US" sz="2400" spc="-1" strike="noStrike">
                <a:solidFill>
                  <a:schemeClr val="dk1"/>
                </a:solidFill>
                <a:latin typeface="Calibri"/>
              </a:rPr>
              <a:t>https://github.com/mehmetpekmezci/GTU-ENG-346</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Agenda</a:t>
            </a:r>
            <a:endParaRPr b="0" lang="en-US" sz="4400" spc="-1" strike="noStrike">
              <a:solidFill>
                <a:srgbClr val="000000"/>
              </a:solidFill>
              <a:latin typeface="Arial"/>
            </a:endParaRPr>
          </a:p>
        </p:txBody>
      </p:sp>
      <p:sp>
        <p:nvSpPr>
          <p:cNvPr id="57" name="PlaceHolder 2"/>
          <p:cNvSpPr>
            <a:spLocks noGrp="1"/>
          </p:cNvSpPr>
          <p:nvPr>
            <p:ph/>
          </p:nvPr>
        </p:nvSpPr>
        <p:spPr>
          <a:xfrm>
            <a:off x="838080" y="1107000"/>
            <a:ext cx="10514880" cy="5069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Basic Concepts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What is a Tree?</a:t>
            </a:r>
            <a:endParaRPr b="0" lang="en-US" sz="4400" spc="-1" strike="noStrike">
              <a:solidFill>
                <a:srgbClr val="000000"/>
              </a:solidFill>
              <a:latin typeface="Arial"/>
            </a:endParaRPr>
          </a:p>
        </p:txBody>
      </p:sp>
      <p:sp>
        <p:nvSpPr>
          <p:cNvPr id="59" name="PlaceHolder 2"/>
          <p:cNvSpPr>
            <a:spLocks noGrp="1"/>
          </p:cNvSpPr>
          <p:nvPr>
            <p:ph/>
          </p:nvPr>
        </p:nvSpPr>
        <p:spPr>
          <a:xfrm>
            <a:off x="838080" y="1107000"/>
            <a:ext cx="5338440" cy="50691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 </a:t>
            </a:r>
            <a:r>
              <a:rPr b="0" i="1" lang="en-US" sz="2800" spc="-1" strike="noStrike">
                <a:solidFill>
                  <a:schemeClr val="dk1"/>
                </a:solidFill>
                <a:latin typeface="Calibri"/>
              </a:rPr>
              <a:t>tree </a:t>
            </a:r>
            <a:r>
              <a:rPr b="0" lang="en-US" sz="2800" spc="-1" strike="noStrike">
                <a:solidFill>
                  <a:schemeClr val="dk1"/>
                </a:solidFill>
                <a:latin typeface="Calibri"/>
              </a:rPr>
              <a:t>is a </a:t>
            </a:r>
            <a:r>
              <a:rPr b="0" i="1" lang="en-US" sz="2800" spc="-1" strike="noStrike">
                <a:solidFill>
                  <a:schemeClr val="dk1"/>
                </a:solidFill>
                <a:latin typeface="Calibri"/>
              </a:rPr>
              <a:t>hierarchical</a:t>
            </a:r>
            <a:r>
              <a:rPr b="0" lang="en-US" sz="2800" spc="-1" strike="noStrike">
                <a:solidFill>
                  <a:schemeClr val="dk1"/>
                </a:solidFill>
                <a:latin typeface="Calibri"/>
              </a:rPr>
              <a:t> data structure consisting of </a:t>
            </a:r>
            <a:r>
              <a:rPr b="0" i="1" lang="en-US" sz="2800" spc="-1" strike="noStrike">
                <a:solidFill>
                  <a:schemeClr val="dk1"/>
                </a:solidFill>
                <a:latin typeface="Calibri"/>
              </a:rPr>
              <a:t>nodes </a:t>
            </a:r>
            <a:r>
              <a:rPr b="0" lang="en-US" sz="2800" spc="-1" strike="noStrike">
                <a:solidFill>
                  <a:schemeClr val="dk1"/>
                </a:solidFill>
                <a:latin typeface="Calibri"/>
              </a:rPr>
              <a:t>connected by </a:t>
            </a:r>
            <a:r>
              <a:rPr b="0" i="1" lang="en-US" sz="2800" spc="-1" strike="noStrike">
                <a:solidFill>
                  <a:schemeClr val="dk1"/>
                </a:solidFill>
                <a:latin typeface="Calibri"/>
              </a:rPr>
              <a:t>edges</a:t>
            </a:r>
            <a:r>
              <a:rPr b="0" lang="en-US" sz="2800" spc="-1" strike="noStrike">
                <a:solidFill>
                  <a:schemeClr val="dk1"/>
                </a:solidFill>
                <a:latin typeface="Calibri"/>
              </a:rPr>
              <a:t>, with a designated </a:t>
            </a:r>
            <a:r>
              <a:rPr b="0" i="1" lang="en-US" sz="2800" spc="-1" strike="noStrike">
                <a:solidFill>
                  <a:schemeClr val="dk1"/>
                </a:solidFill>
                <a:latin typeface="Calibri"/>
              </a:rPr>
              <a:t>root node </a:t>
            </a:r>
            <a:r>
              <a:rPr b="0" lang="en-US" sz="2800" spc="-1" strike="noStrike">
                <a:solidFill>
                  <a:schemeClr val="dk1"/>
                </a:solidFill>
                <a:latin typeface="Calibri"/>
              </a:rPr>
              <a:t>and </a:t>
            </a:r>
            <a:r>
              <a:rPr b="0" i="1" lang="en-US" sz="2800" spc="-1" strike="noStrike">
                <a:solidFill>
                  <a:schemeClr val="dk1"/>
                </a:solidFill>
                <a:latin typeface="Calibri"/>
              </a:rPr>
              <a:t>branches</a:t>
            </a:r>
            <a:r>
              <a:rPr b="0" lang="en-US" sz="2800" spc="-1" strike="noStrike">
                <a:solidFill>
                  <a:schemeClr val="dk1"/>
                </a:solidFill>
                <a:latin typeface="Calibri"/>
              </a:rPr>
              <a:t> that form a directed acyclic graph.</a:t>
            </a:r>
            <a:endParaRPr b="0" lang="en-US" sz="2800" spc="-1" strike="noStrike">
              <a:solidFill>
                <a:srgbClr val="000000"/>
              </a:solidFill>
              <a:latin typeface="Arial"/>
            </a:endParaRPr>
          </a:p>
        </p:txBody>
      </p:sp>
      <p:pic>
        <p:nvPicPr>
          <p:cNvPr id="60" name="Picture 4" descr="General Tree Definitions and Terminology"/>
          <p:cNvPicPr/>
          <p:nvPr/>
        </p:nvPicPr>
        <p:blipFill>
          <a:blip r:embed="rId1"/>
          <a:stretch/>
        </p:blipFill>
        <p:spPr>
          <a:xfrm>
            <a:off x="6640920" y="1191960"/>
            <a:ext cx="4915440" cy="418716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Definitions</a:t>
            </a:r>
            <a:endParaRPr b="0" lang="en-US" sz="4400" spc="-1" strike="noStrike">
              <a:solidFill>
                <a:srgbClr val="000000"/>
              </a:solidFill>
              <a:latin typeface="Arial"/>
            </a:endParaRPr>
          </a:p>
        </p:txBody>
      </p:sp>
      <p:pic>
        <p:nvPicPr>
          <p:cNvPr id="62" name="Picture 2" descr="https://bournetocode.com/projects/AQA_A_Theory/pages/img/RootedTree.png"/>
          <p:cNvPicPr/>
          <p:nvPr/>
        </p:nvPicPr>
        <p:blipFill>
          <a:blip r:embed="rId1"/>
          <a:stretch/>
        </p:blipFill>
        <p:spPr>
          <a:xfrm>
            <a:off x="2061720" y="1222560"/>
            <a:ext cx="8067960" cy="483156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ftr" idx="22"/>
          </p:nvPr>
        </p:nvSpPr>
        <p:spPr>
          <a:xfrm>
            <a:off x="4038480" y="6356520"/>
            <a:ext cx="4114080" cy="364320"/>
          </a:xfrm>
          <a:prstGeom prst="rect">
            <a:avLst/>
          </a:prstGeom>
          <a:noFill/>
          <a:ln w="0">
            <a:noFill/>
          </a:ln>
        </p:spPr>
        <p:txBody>
          <a:bodyPr lIns="91440" rIns="91440" tIns="45720" bIns="45720" anchor="ctr">
            <a:noAutofit/>
          </a:bodyPr>
          <a:lstStyle>
            <a:lvl1pPr indent="0" algn="ct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ctr" defTabSz="457200">
              <a:lnSpc>
                <a:spcPct val="100000"/>
              </a:lnSpc>
              <a:buNone/>
              <a:tabLst>
                <a:tab algn="l" pos="0"/>
              </a:tabLst>
            </a:pPr>
            <a:r>
              <a:rPr b="0" lang="en-US" sz="1400" spc="-1" strike="noStrike">
                <a:solidFill>
                  <a:schemeClr val="dk1">
                    <a:tint val="75000"/>
                  </a:schemeClr>
                </a:solidFill>
                <a:latin typeface="Tahoma"/>
                <a:ea typeface="MS PGothic"/>
              </a:rPr>
              <a:t>Trees</a:t>
            </a:r>
            <a:endParaRPr b="0" lang="en-US" sz="1400" spc="-1" strike="noStrike">
              <a:solidFill>
                <a:srgbClr val="000000"/>
              </a:solidFill>
              <a:latin typeface="Times New Roman"/>
            </a:endParaRPr>
          </a:p>
        </p:txBody>
      </p:sp>
      <p:sp>
        <p:nvSpPr>
          <p:cNvPr id="64" name="PlaceHolder 2"/>
          <p:cNvSpPr>
            <a:spLocks noGrp="1"/>
          </p:cNvSpPr>
          <p:nvPr>
            <p:ph type="sldNum" idx="23"/>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B8606BBF-2542-403D-BD22-98C5AF67FFD2}" type="slidenum">
              <a:rPr b="0" lang="en-US" sz="1400" spc="-1" strike="noStrike">
                <a:solidFill>
                  <a:schemeClr val="dk1">
                    <a:tint val="75000"/>
                  </a:schemeClr>
                </a:solidFill>
                <a:latin typeface="Tahoma"/>
                <a:ea typeface="MS PGothic"/>
              </a:rPr>
              <a:t>4</a:t>
            </a:fld>
            <a:endParaRPr b="0" lang="en-US" sz="1400" spc="-1" strike="noStrike">
              <a:solidFill>
                <a:srgbClr val="000000"/>
              </a:solidFill>
              <a:latin typeface="Times New Roman"/>
            </a:endParaRPr>
          </a:p>
        </p:txBody>
      </p:sp>
      <p:sp>
        <p:nvSpPr>
          <p:cNvPr id="65" name="AutoShape 28"/>
          <p:cNvSpPr/>
          <p:nvPr/>
        </p:nvSpPr>
        <p:spPr>
          <a:xfrm>
            <a:off x="8677080" y="1791000"/>
            <a:ext cx="2430720" cy="2959560"/>
          </a:xfrm>
          <a:prstGeom prst="triangle">
            <a:avLst>
              <a:gd name="adj" fmla="val 50000"/>
            </a:avLst>
          </a:prstGeom>
          <a:solidFill>
            <a:schemeClr val="accent1">
              <a:lumMod val="60000"/>
              <a:lumOff val="40000"/>
            </a:schemeClr>
          </a:solidFill>
          <a:ln w="9525">
            <a:solidFill>
              <a:srgbClr val="000000"/>
            </a:solidFill>
            <a:miter/>
          </a:ln>
        </p:spPr>
        <p:style>
          <a:lnRef idx="0"/>
          <a:fillRef idx="0"/>
          <a:effectRef idx="0"/>
          <a:fontRef idx="minor"/>
        </p:style>
        <p:txBody>
          <a:bodyPr wrap="none" lIns="90000" rIns="90000" tIns="2065680" bIns="-585720" anchor="b" anchorCtr="1">
            <a:noAutofit/>
          </a:bodyPr>
          <a:p>
            <a:pPr defTabSz="457200">
              <a:lnSpc>
                <a:spcPct val="100000"/>
              </a:lnSpc>
            </a:pPr>
            <a:r>
              <a:rPr b="0" lang="en-US" sz="2400" spc="-1" strike="noStrike">
                <a:solidFill>
                  <a:schemeClr val="dk1"/>
                </a:solidFill>
                <a:latin typeface="Tahoma"/>
                <a:ea typeface="MS PGothic"/>
              </a:rPr>
              <a:t>subtree</a:t>
            </a:r>
            <a:endParaRPr b="0" lang="en-US" sz="2400" spc="-1" strike="noStrike">
              <a:solidFill>
                <a:srgbClr val="000000"/>
              </a:solidFill>
              <a:latin typeface="Arial"/>
            </a:endParaRPr>
          </a:p>
        </p:txBody>
      </p:sp>
      <p:sp>
        <p:nvSpPr>
          <p:cNvPr id="66" name="PlaceHolder 3"/>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Tree Terminology</a:t>
            </a:r>
            <a:endParaRPr b="0" lang="en-US" sz="4400" spc="-1" strike="noStrike">
              <a:solidFill>
                <a:srgbClr val="000000"/>
              </a:solidFill>
              <a:latin typeface="Arial"/>
            </a:endParaRPr>
          </a:p>
        </p:txBody>
      </p:sp>
      <p:sp>
        <p:nvSpPr>
          <p:cNvPr id="67" name="PlaceHolder 4"/>
          <p:cNvSpPr>
            <a:spLocks noGrp="1"/>
          </p:cNvSpPr>
          <p:nvPr>
            <p:ph/>
          </p:nvPr>
        </p:nvSpPr>
        <p:spPr>
          <a:xfrm>
            <a:off x="515880" y="1009080"/>
            <a:ext cx="5526360" cy="53467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Root: node without parent (A)</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Internal node: node with at least one child (A, B, C, F)</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External node (a.k.a. leaf ): node without children (E, I, J, K, G, H, D)</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Ancestors of a node: parent, grandparent, grand-grandparent, etc.</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Depth of a node: number of ancestors</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Height of a tree: maximum depth of any node (3)</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Descendant of a node: child, grandchild, grand-grandchild, etc.</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Subtree: tree consisting of a node and its descendants</a:t>
            </a:r>
            <a:endParaRPr b="0" lang="en-US" sz="2000" spc="-1" strike="noStrike">
              <a:solidFill>
                <a:srgbClr val="000000"/>
              </a:solidFill>
              <a:latin typeface="Arial"/>
            </a:endParaRPr>
          </a:p>
          <a:p>
            <a:pPr indent="0" defTabSz="914400">
              <a:lnSpc>
                <a:spcPct val="90000"/>
              </a:lnSpc>
              <a:spcBef>
                <a:spcPts val="1001"/>
              </a:spcBef>
              <a:buNone/>
              <a:tabLst>
                <a:tab algn="l" pos="0"/>
              </a:tabLst>
            </a:pPr>
            <a:endParaRPr b="0" lang="en-US" sz="2000" spc="-1" strike="noStrike">
              <a:solidFill>
                <a:srgbClr val="000000"/>
              </a:solidFill>
              <a:latin typeface="Arial"/>
            </a:endParaRPr>
          </a:p>
        </p:txBody>
      </p:sp>
      <p:grpSp>
        <p:nvGrpSpPr>
          <p:cNvPr id="68" name="Group 26"/>
          <p:cNvGrpSpPr/>
          <p:nvPr/>
        </p:nvGrpSpPr>
        <p:grpSpPr>
          <a:xfrm>
            <a:off x="6277680" y="1285920"/>
            <a:ext cx="4909680" cy="4282560"/>
            <a:chOff x="6277680" y="1285920"/>
            <a:chExt cx="4909680" cy="4282560"/>
          </a:xfrm>
        </p:grpSpPr>
        <p:sp>
          <p:nvSpPr>
            <p:cNvPr id="69" name="AutoShape 5"/>
            <p:cNvSpPr/>
            <p:nvPr/>
          </p:nvSpPr>
          <p:spPr>
            <a:xfrm>
              <a:off x="8605800" y="1285920"/>
              <a:ext cx="339840" cy="369360"/>
            </a:xfrm>
            <a:prstGeom prst="roundRect">
              <a:avLst>
                <a:gd name="adj" fmla="val 16667"/>
              </a:avLst>
            </a:prstGeom>
            <a:solidFill>
              <a:schemeClr val="accent4">
                <a:lumMod val="20000"/>
                <a:lumOff val="8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A</a:t>
              </a:r>
              <a:endParaRPr b="0" lang="en-US" sz="1600" spc="-1" strike="noStrike">
                <a:solidFill>
                  <a:srgbClr val="000000"/>
                </a:solidFill>
                <a:latin typeface="Arial"/>
              </a:endParaRPr>
            </a:p>
          </p:txBody>
        </p:sp>
        <p:sp>
          <p:nvSpPr>
            <p:cNvPr id="70" name="AutoShape 6"/>
            <p:cNvSpPr/>
            <p:nvPr/>
          </p:nvSpPr>
          <p:spPr>
            <a:xfrm>
              <a:off x="6809760" y="2588040"/>
              <a:ext cx="342720" cy="369360"/>
            </a:xfrm>
            <a:prstGeom prst="roundRect">
              <a:avLst>
                <a:gd name="adj" fmla="val 16667"/>
              </a:avLst>
            </a:prstGeom>
            <a:solidFill>
              <a:schemeClr val="accent4">
                <a:lumMod val="20000"/>
                <a:lumOff val="8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B</a:t>
              </a:r>
              <a:endParaRPr b="0" lang="en-US" sz="1600" spc="-1" strike="noStrike">
                <a:solidFill>
                  <a:srgbClr val="000000"/>
                </a:solidFill>
                <a:latin typeface="Arial"/>
              </a:endParaRPr>
            </a:p>
          </p:txBody>
        </p:sp>
        <p:sp>
          <p:nvSpPr>
            <p:cNvPr id="71" name="AutoShape 7"/>
            <p:cNvSpPr/>
            <p:nvPr/>
          </p:nvSpPr>
          <p:spPr>
            <a:xfrm>
              <a:off x="10827720" y="2588040"/>
              <a:ext cx="359640" cy="369360"/>
            </a:xfrm>
            <a:prstGeom prst="roundRect">
              <a:avLst>
                <a:gd name="adj" fmla="val 16667"/>
              </a:avLst>
            </a:prstGeom>
            <a:solidFill>
              <a:schemeClr val="accent4">
                <a:lumMod val="20000"/>
                <a:lumOff val="8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D</a:t>
              </a:r>
              <a:endParaRPr b="0" lang="en-US" sz="1600" spc="-1" strike="noStrike">
                <a:solidFill>
                  <a:srgbClr val="000000"/>
                </a:solidFill>
                <a:latin typeface="Arial"/>
              </a:endParaRPr>
            </a:p>
          </p:txBody>
        </p:sp>
        <p:sp>
          <p:nvSpPr>
            <p:cNvPr id="72" name="AutoShape 8"/>
            <p:cNvSpPr/>
            <p:nvPr/>
          </p:nvSpPr>
          <p:spPr>
            <a:xfrm>
              <a:off x="9765000" y="2588040"/>
              <a:ext cx="339840" cy="369360"/>
            </a:xfrm>
            <a:prstGeom prst="roundRect">
              <a:avLst>
                <a:gd name="adj" fmla="val 16667"/>
              </a:avLst>
            </a:prstGeom>
            <a:solidFill>
              <a:schemeClr val="accent4">
                <a:lumMod val="20000"/>
                <a:lumOff val="8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C</a:t>
              </a:r>
              <a:endParaRPr b="0" lang="en-US" sz="1600" spc="-1" strike="noStrike">
                <a:solidFill>
                  <a:srgbClr val="000000"/>
                </a:solidFill>
                <a:latin typeface="Arial"/>
              </a:endParaRPr>
            </a:p>
          </p:txBody>
        </p:sp>
        <p:sp>
          <p:nvSpPr>
            <p:cNvPr id="73" name="AutoShape 9"/>
            <p:cNvSpPr/>
            <p:nvPr/>
          </p:nvSpPr>
          <p:spPr>
            <a:xfrm>
              <a:off x="9204480" y="3890160"/>
              <a:ext cx="357840" cy="369360"/>
            </a:xfrm>
            <a:prstGeom prst="roundRect">
              <a:avLst>
                <a:gd name="adj" fmla="val 16667"/>
              </a:avLst>
            </a:prstGeom>
            <a:solidFill>
              <a:schemeClr val="accent4">
                <a:lumMod val="20000"/>
                <a:lumOff val="8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G</a:t>
              </a:r>
              <a:endParaRPr b="0" lang="en-US" sz="1600" spc="-1" strike="noStrike">
                <a:solidFill>
                  <a:srgbClr val="000000"/>
                </a:solidFill>
                <a:latin typeface="Arial"/>
              </a:endParaRPr>
            </a:p>
          </p:txBody>
        </p:sp>
        <p:sp>
          <p:nvSpPr>
            <p:cNvPr id="74" name="AutoShape 10"/>
            <p:cNvSpPr/>
            <p:nvPr/>
          </p:nvSpPr>
          <p:spPr>
            <a:xfrm>
              <a:off x="10308960" y="3890160"/>
              <a:ext cx="361080" cy="369360"/>
            </a:xfrm>
            <a:prstGeom prst="roundRect">
              <a:avLst>
                <a:gd name="adj" fmla="val 16667"/>
              </a:avLst>
            </a:prstGeom>
            <a:solidFill>
              <a:schemeClr val="accent4">
                <a:lumMod val="20000"/>
                <a:lumOff val="8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H</a:t>
              </a:r>
              <a:endParaRPr b="0" lang="en-US" sz="1600" spc="-1" strike="noStrike">
                <a:solidFill>
                  <a:srgbClr val="000000"/>
                </a:solidFill>
                <a:latin typeface="Arial"/>
              </a:endParaRPr>
            </a:p>
          </p:txBody>
        </p:sp>
        <p:sp>
          <p:nvSpPr>
            <p:cNvPr id="75" name="AutoShape 11"/>
            <p:cNvSpPr/>
            <p:nvPr/>
          </p:nvSpPr>
          <p:spPr>
            <a:xfrm>
              <a:off x="6277680" y="3888000"/>
              <a:ext cx="322920" cy="369360"/>
            </a:xfrm>
            <a:prstGeom prst="roundRect">
              <a:avLst>
                <a:gd name="adj" fmla="val 16667"/>
              </a:avLst>
            </a:prstGeom>
            <a:solidFill>
              <a:schemeClr val="accent4">
                <a:lumMod val="20000"/>
                <a:lumOff val="8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E</a:t>
              </a:r>
              <a:endParaRPr b="0" lang="en-US" sz="1600" spc="-1" strike="noStrike">
                <a:solidFill>
                  <a:srgbClr val="000000"/>
                </a:solidFill>
                <a:latin typeface="Arial"/>
              </a:endParaRPr>
            </a:p>
          </p:txBody>
        </p:sp>
        <p:sp>
          <p:nvSpPr>
            <p:cNvPr id="76" name="AutoShape 12"/>
            <p:cNvSpPr/>
            <p:nvPr/>
          </p:nvSpPr>
          <p:spPr>
            <a:xfrm>
              <a:off x="7361640" y="3890520"/>
              <a:ext cx="316080" cy="368640"/>
            </a:xfrm>
            <a:prstGeom prst="roundRect">
              <a:avLst>
                <a:gd name="adj" fmla="val 16667"/>
              </a:avLst>
            </a:prstGeom>
            <a:solidFill>
              <a:schemeClr val="accent4">
                <a:lumMod val="20000"/>
                <a:lumOff val="8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F</a:t>
              </a:r>
              <a:endParaRPr b="0" lang="en-US" sz="1600" spc="-1" strike="noStrike">
                <a:solidFill>
                  <a:srgbClr val="000000"/>
                </a:solidFill>
                <a:latin typeface="Arial"/>
              </a:endParaRPr>
            </a:p>
          </p:txBody>
        </p:sp>
        <p:cxnSp>
          <p:nvCxnSpPr>
            <p:cNvPr id="77" name="AutoShape 13"/>
            <p:cNvCxnSpPr>
              <a:stCxn id="69" idx="2"/>
              <a:endCxn id="70" idx="0"/>
            </p:cNvCxnSpPr>
            <p:nvPr/>
          </p:nvCxnSpPr>
          <p:spPr>
            <a:xfrm flipH="1">
              <a:off x="6981120" y="1655280"/>
              <a:ext cx="1794960" cy="933120"/>
            </a:xfrm>
            <a:prstGeom prst="straightConnector1">
              <a:avLst/>
            </a:prstGeom>
            <a:ln w="19050">
              <a:solidFill>
                <a:srgbClr val="000000"/>
              </a:solidFill>
              <a:round/>
            </a:ln>
          </p:spPr>
        </p:cxnSp>
        <p:cxnSp>
          <p:nvCxnSpPr>
            <p:cNvPr id="78" name="AutoShape 14"/>
            <p:cNvCxnSpPr>
              <a:stCxn id="69" idx="2"/>
              <a:endCxn id="72" idx="0"/>
            </p:cNvCxnSpPr>
            <p:nvPr/>
          </p:nvCxnSpPr>
          <p:spPr>
            <a:xfrm>
              <a:off x="8775720" y="1655280"/>
              <a:ext cx="1159560" cy="933120"/>
            </a:xfrm>
            <a:prstGeom prst="straightConnector1">
              <a:avLst/>
            </a:prstGeom>
            <a:ln w="19050">
              <a:solidFill>
                <a:srgbClr val="000000"/>
              </a:solidFill>
              <a:round/>
            </a:ln>
          </p:spPr>
        </p:cxnSp>
        <p:cxnSp>
          <p:nvCxnSpPr>
            <p:cNvPr id="79" name="AutoShape 15"/>
            <p:cNvCxnSpPr>
              <a:stCxn id="69" idx="2"/>
              <a:endCxn id="71" idx="0"/>
            </p:cNvCxnSpPr>
            <p:nvPr/>
          </p:nvCxnSpPr>
          <p:spPr>
            <a:xfrm>
              <a:off x="8775720" y="1655280"/>
              <a:ext cx="2232000" cy="933120"/>
            </a:xfrm>
            <a:prstGeom prst="straightConnector1">
              <a:avLst/>
            </a:prstGeom>
            <a:ln w="19050">
              <a:solidFill>
                <a:srgbClr val="000000"/>
              </a:solidFill>
              <a:round/>
            </a:ln>
          </p:spPr>
        </p:cxnSp>
        <p:cxnSp>
          <p:nvCxnSpPr>
            <p:cNvPr id="80" name="AutoShape 16"/>
            <p:cNvCxnSpPr>
              <a:stCxn id="72" idx="2"/>
              <a:endCxn id="74" idx="0"/>
            </p:cNvCxnSpPr>
            <p:nvPr/>
          </p:nvCxnSpPr>
          <p:spPr>
            <a:xfrm>
              <a:off x="9934920" y="2957400"/>
              <a:ext cx="554760" cy="933120"/>
            </a:xfrm>
            <a:prstGeom prst="straightConnector1">
              <a:avLst/>
            </a:prstGeom>
            <a:ln w="19050">
              <a:solidFill>
                <a:srgbClr val="000000"/>
              </a:solidFill>
              <a:round/>
            </a:ln>
          </p:spPr>
        </p:cxnSp>
        <p:cxnSp>
          <p:nvCxnSpPr>
            <p:cNvPr id="81" name="AutoShape 17"/>
            <p:cNvCxnSpPr>
              <a:stCxn id="72" idx="2"/>
              <a:endCxn id="73" idx="0"/>
            </p:cNvCxnSpPr>
            <p:nvPr/>
          </p:nvCxnSpPr>
          <p:spPr>
            <a:xfrm flipH="1">
              <a:off x="9383400" y="2957400"/>
              <a:ext cx="551880" cy="933120"/>
            </a:xfrm>
            <a:prstGeom prst="straightConnector1">
              <a:avLst/>
            </a:prstGeom>
            <a:ln w="19050">
              <a:solidFill>
                <a:srgbClr val="000000"/>
              </a:solidFill>
              <a:round/>
            </a:ln>
          </p:spPr>
        </p:cxnSp>
        <p:cxnSp>
          <p:nvCxnSpPr>
            <p:cNvPr id="82" name="AutoShape 18"/>
            <p:cNvCxnSpPr>
              <a:stCxn id="70" idx="2"/>
              <a:endCxn id="76" idx="0"/>
            </p:cNvCxnSpPr>
            <p:nvPr/>
          </p:nvCxnSpPr>
          <p:spPr>
            <a:xfrm>
              <a:off x="6981120" y="2957400"/>
              <a:ext cx="538920" cy="933480"/>
            </a:xfrm>
            <a:prstGeom prst="straightConnector1">
              <a:avLst/>
            </a:prstGeom>
            <a:ln w="19050">
              <a:solidFill>
                <a:srgbClr val="000000"/>
              </a:solidFill>
              <a:round/>
            </a:ln>
          </p:spPr>
        </p:cxnSp>
        <p:cxnSp>
          <p:nvCxnSpPr>
            <p:cNvPr id="83" name="AutoShape 19"/>
            <p:cNvCxnSpPr>
              <a:stCxn id="70" idx="2"/>
              <a:endCxn id="75" idx="0"/>
            </p:cNvCxnSpPr>
            <p:nvPr/>
          </p:nvCxnSpPr>
          <p:spPr>
            <a:xfrm flipH="1">
              <a:off x="6438960" y="2957400"/>
              <a:ext cx="542520" cy="930960"/>
            </a:xfrm>
            <a:prstGeom prst="straightConnector1">
              <a:avLst/>
            </a:prstGeom>
            <a:ln w="19050">
              <a:solidFill>
                <a:srgbClr val="000000"/>
              </a:solidFill>
              <a:round/>
            </a:ln>
          </p:spPr>
        </p:cxnSp>
        <p:sp>
          <p:nvSpPr>
            <p:cNvPr id="84" name="AutoShape 20"/>
            <p:cNvSpPr/>
            <p:nvPr/>
          </p:nvSpPr>
          <p:spPr>
            <a:xfrm>
              <a:off x="6604920" y="5201280"/>
              <a:ext cx="276120" cy="364320"/>
            </a:xfrm>
            <a:prstGeom prst="roundRect">
              <a:avLst>
                <a:gd name="adj" fmla="val 16667"/>
              </a:avLst>
            </a:prstGeom>
            <a:solidFill>
              <a:schemeClr val="accent4">
                <a:lumMod val="20000"/>
                <a:lumOff val="8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I</a:t>
              </a:r>
              <a:endParaRPr b="0" lang="en-US" sz="1600" spc="-1" strike="noStrike">
                <a:solidFill>
                  <a:srgbClr val="000000"/>
                </a:solidFill>
                <a:latin typeface="Arial"/>
              </a:endParaRPr>
            </a:p>
          </p:txBody>
        </p:sp>
        <p:sp>
          <p:nvSpPr>
            <p:cNvPr id="85" name="AutoShape 21"/>
            <p:cNvSpPr/>
            <p:nvPr/>
          </p:nvSpPr>
          <p:spPr>
            <a:xfrm>
              <a:off x="7406640" y="5202360"/>
              <a:ext cx="260640" cy="362160"/>
            </a:xfrm>
            <a:prstGeom prst="roundRect">
              <a:avLst>
                <a:gd name="adj" fmla="val 16667"/>
              </a:avLst>
            </a:prstGeom>
            <a:solidFill>
              <a:schemeClr val="accent4">
                <a:lumMod val="20000"/>
                <a:lumOff val="8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J</a:t>
              </a:r>
              <a:endParaRPr b="0" lang="en-US" sz="1600" spc="-1" strike="noStrike">
                <a:solidFill>
                  <a:srgbClr val="000000"/>
                </a:solidFill>
                <a:latin typeface="Arial"/>
              </a:endParaRPr>
            </a:p>
          </p:txBody>
        </p:sp>
        <p:cxnSp>
          <p:nvCxnSpPr>
            <p:cNvPr id="86" name="AutoShape 22"/>
            <p:cNvCxnSpPr>
              <a:stCxn id="76" idx="2"/>
              <a:endCxn id="85" idx="0"/>
            </p:cNvCxnSpPr>
            <p:nvPr/>
          </p:nvCxnSpPr>
          <p:spPr>
            <a:xfrm>
              <a:off x="7519680" y="4259160"/>
              <a:ext cx="17640" cy="943560"/>
            </a:xfrm>
            <a:prstGeom prst="straightConnector1">
              <a:avLst/>
            </a:prstGeom>
            <a:ln w="19050">
              <a:solidFill>
                <a:srgbClr val="000000"/>
              </a:solidFill>
              <a:round/>
            </a:ln>
          </p:spPr>
        </p:cxnSp>
        <p:cxnSp>
          <p:nvCxnSpPr>
            <p:cNvPr id="87" name="AutoShape 23"/>
            <p:cNvCxnSpPr>
              <a:stCxn id="76" idx="2"/>
              <a:endCxn id="84" idx="0"/>
            </p:cNvCxnSpPr>
            <p:nvPr/>
          </p:nvCxnSpPr>
          <p:spPr>
            <a:xfrm flipH="1">
              <a:off x="6742800" y="4259160"/>
              <a:ext cx="777240" cy="942480"/>
            </a:xfrm>
            <a:prstGeom prst="straightConnector1">
              <a:avLst/>
            </a:prstGeom>
            <a:ln w="19050">
              <a:solidFill>
                <a:srgbClr val="000000"/>
              </a:solidFill>
              <a:round/>
            </a:ln>
          </p:spPr>
        </p:cxnSp>
        <p:sp>
          <p:nvSpPr>
            <p:cNvPr id="88" name="AutoShape 24"/>
            <p:cNvSpPr/>
            <p:nvPr/>
          </p:nvSpPr>
          <p:spPr>
            <a:xfrm>
              <a:off x="8195760" y="5199120"/>
              <a:ext cx="336600" cy="369360"/>
            </a:xfrm>
            <a:prstGeom prst="roundRect">
              <a:avLst>
                <a:gd name="adj" fmla="val 16667"/>
              </a:avLst>
            </a:prstGeom>
            <a:solidFill>
              <a:schemeClr val="accent4">
                <a:lumMod val="20000"/>
                <a:lumOff val="8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K</a:t>
              </a:r>
              <a:endParaRPr b="0" lang="en-US" sz="1600" spc="-1" strike="noStrike">
                <a:solidFill>
                  <a:srgbClr val="000000"/>
                </a:solidFill>
                <a:latin typeface="Arial"/>
              </a:endParaRPr>
            </a:p>
          </p:txBody>
        </p:sp>
        <p:cxnSp>
          <p:nvCxnSpPr>
            <p:cNvPr id="89" name="AutoShape 25"/>
            <p:cNvCxnSpPr>
              <a:stCxn id="76" idx="2"/>
              <a:endCxn id="88" idx="0"/>
            </p:cNvCxnSpPr>
            <p:nvPr/>
          </p:nvCxnSpPr>
          <p:spPr>
            <a:xfrm>
              <a:off x="7519680" y="4259160"/>
              <a:ext cx="844560" cy="940320"/>
            </a:xfrm>
            <a:prstGeom prst="straightConnector1">
              <a:avLst/>
            </a:prstGeom>
            <a:ln w="19050">
              <a:solidFill>
                <a:srgbClr val="000000"/>
              </a:solidFill>
              <a:round/>
            </a:ln>
          </p:spPr>
        </p:cxnSp>
      </p:gr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Applications of Trees</a:t>
            </a:r>
            <a:endParaRPr b="0" lang="en-US" sz="4400" spc="-1" strike="noStrike">
              <a:solidFill>
                <a:srgbClr val="000000"/>
              </a:solidFill>
              <a:latin typeface="Arial"/>
            </a:endParaRPr>
          </a:p>
        </p:txBody>
      </p:sp>
      <p:sp>
        <p:nvSpPr>
          <p:cNvPr id="91" name="PlaceHolder 2"/>
          <p:cNvSpPr>
            <a:spLocks noGrp="1"/>
          </p:cNvSpPr>
          <p:nvPr>
            <p:ph/>
          </p:nvPr>
        </p:nvSpPr>
        <p:spPr>
          <a:xfrm>
            <a:off x="838080" y="1107000"/>
            <a:ext cx="10514880" cy="50691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Organization Charts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Decision Trees in Machine Learning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File Systems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Expression Parsing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DOM Model of Web pages</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92" name="PlaceHolder 1"/>
          <p:cNvSpPr>
            <a:spLocks noGrp="1"/>
          </p:cNvSpPr>
          <p:nvPr>
            <p:ph type="ftr" idx="24"/>
          </p:nvPr>
        </p:nvSpPr>
        <p:spPr>
          <a:xfrm>
            <a:off x="4038480" y="6356520"/>
            <a:ext cx="4114080" cy="364320"/>
          </a:xfrm>
          <a:prstGeom prst="rect">
            <a:avLst/>
          </a:prstGeom>
          <a:noFill/>
          <a:ln w="0">
            <a:noFill/>
          </a:ln>
        </p:spPr>
        <p:txBody>
          <a:bodyPr lIns="91440" rIns="91440" tIns="45720" bIns="45720" anchor="ctr">
            <a:noAutofit/>
          </a:bodyPr>
          <a:lstStyle>
            <a:lvl1pPr indent="0" algn="ct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ctr" defTabSz="457200">
              <a:lnSpc>
                <a:spcPct val="100000"/>
              </a:lnSpc>
              <a:buNone/>
              <a:tabLst>
                <a:tab algn="l" pos="0"/>
              </a:tabLst>
            </a:pPr>
            <a:r>
              <a:rPr b="0" lang="en-US" sz="1400" spc="-1" strike="noStrike">
                <a:solidFill>
                  <a:schemeClr val="dk1">
                    <a:tint val="75000"/>
                  </a:schemeClr>
                </a:solidFill>
                <a:latin typeface="Tahoma"/>
                <a:ea typeface="MS PGothic"/>
              </a:rPr>
              <a:t>Trees</a:t>
            </a:r>
            <a:endParaRPr b="0" lang="en-US" sz="1400" spc="-1" strike="noStrike">
              <a:solidFill>
                <a:srgbClr val="000000"/>
              </a:solidFill>
              <a:latin typeface="Times New Roman"/>
            </a:endParaRPr>
          </a:p>
        </p:txBody>
      </p:sp>
      <p:sp>
        <p:nvSpPr>
          <p:cNvPr id="93" name="PlaceHolder 2"/>
          <p:cNvSpPr>
            <a:spLocks noGrp="1"/>
          </p:cNvSpPr>
          <p:nvPr>
            <p:ph type="sldNum" idx="25"/>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46D66832-9F08-442D-931B-ACA90B19A29F}" type="slidenum">
              <a:rPr b="0" lang="en-US" sz="1400" spc="-1" strike="noStrike">
                <a:solidFill>
                  <a:schemeClr val="dk1">
                    <a:tint val="75000"/>
                  </a:schemeClr>
                </a:solidFill>
                <a:latin typeface="Tahoma"/>
                <a:ea typeface="MS PGothic"/>
              </a:rPr>
              <a:t>6</a:t>
            </a:fld>
            <a:endParaRPr b="0" lang="en-US" sz="1400" spc="-1" strike="noStrike">
              <a:solidFill>
                <a:srgbClr val="000000"/>
              </a:solidFill>
              <a:latin typeface="Times New Roman"/>
            </a:endParaRPr>
          </a:p>
        </p:txBody>
      </p:sp>
      <p:sp>
        <p:nvSpPr>
          <p:cNvPr id="94" name="PlaceHolder 3"/>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Tree ADT</a:t>
            </a:r>
            <a:endParaRPr b="0" lang="en-US" sz="4400" spc="-1" strike="noStrike">
              <a:solidFill>
                <a:srgbClr val="000000"/>
              </a:solidFill>
              <a:latin typeface="Arial"/>
            </a:endParaRPr>
          </a:p>
        </p:txBody>
      </p:sp>
      <p:sp>
        <p:nvSpPr>
          <p:cNvPr id="95" name="PlaceHolder 4"/>
          <p:cNvSpPr>
            <a:spLocks noGrp="1"/>
          </p:cNvSpPr>
          <p:nvPr>
            <p:ph/>
          </p:nvPr>
        </p:nvSpPr>
        <p:spPr>
          <a:xfrm>
            <a:off x="838080" y="1193040"/>
            <a:ext cx="3733200" cy="4647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We use positions to abstract nodes</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Generic methods:</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Integer </a:t>
            </a:r>
            <a:r>
              <a:rPr b="0" lang="en-US" sz="1800" spc="-1" strike="noStrike">
                <a:solidFill>
                  <a:schemeClr val="dk2"/>
                </a:solidFill>
                <a:latin typeface="Calibri"/>
              </a:rPr>
              <a:t>len</a:t>
            </a:r>
            <a:r>
              <a:rPr b="0" lang="en-US" sz="1800" spc="-1" strike="noStrike">
                <a:solidFill>
                  <a:schemeClr val="dk1"/>
                </a:solidFill>
                <a:latin typeface="Calibri"/>
              </a:rPr>
              <a:t>()</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Boolean </a:t>
            </a:r>
            <a:r>
              <a:rPr b="0" lang="en-US" sz="1800" spc="-1" strike="noStrike">
                <a:solidFill>
                  <a:schemeClr val="dk2"/>
                </a:solidFill>
                <a:latin typeface="Calibri"/>
              </a:rPr>
              <a:t>is_empty</a:t>
            </a:r>
            <a:r>
              <a:rPr b="0" lang="en-US" sz="1800" spc="-1" strike="noStrike">
                <a:solidFill>
                  <a:schemeClr val="dk1"/>
                </a:solidFill>
                <a:latin typeface="Calibri"/>
              </a:rPr>
              <a:t>()</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Iterator </a:t>
            </a:r>
            <a:r>
              <a:rPr b="0" lang="en-US" sz="1800" spc="-1" strike="noStrike">
                <a:solidFill>
                  <a:schemeClr val="dk2"/>
                </a:solidFill>
                <a:latin typeface="Calibri"/>
              </a:rPr>
              <a:t>positions</a:t>
            </a:r>
            <a:r>
              <a:rPr b="0" lang="en-US" sz="1800" spc="-1" strike="noStrike">
                <a:solidFill>
                  <a:schemeClr val="dk1"/>
                </a:solidFill>
                <a:latin typeface="Calibri"/>
              </a:rPr>
              <a:t>()</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Iterator </a:t>
            </a:r>
            <a:r>
              <a:rPr b="0" lang="en-US" sz="1800" spc="-1" strike="noStrike">
                <a:solidFill>
                  <a:schemeClr val="dk2"/>
                </a:solidFill>
                <a:latin typeface="Calibri"/>
              </a:rPr>
              <a:t>iter</a:t>
            </a:r>
            <a:r>
              <a:rPr b="0" lang="en-US" sz="1800" spc="-1" strike="noStrike">
                <a:solidFill>
                  <a:schemeClr val="dk1"/>
                </a:solidFill>
                <a:latin typeface="Calibri"/>
              </a:rPr>
              <a:t>()</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Accessor methods:</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position </a:t>
            </a:r>
            <a:r>
              <a:rPr b="0" lang="en-US" sz="1800" spc="-1" strike="noStrike">
                <a:solidFill>
                  <a:schemeClr val="dk2"/>
                </a:solidFill>
                <a:latin typeface="Calibri"/>
              </a:rPr>
              <a:t>root</a:t>
            </a:r>
            <a:r>
              <a:rPr b="0" lang="en-US" sz="1800" spc="-1" strike="noStrike">
                <a:solidFill>
                  <a:schemeClr val="dk1"/>
                </a:solidFill>
                <a:latin typeface="Calibri"/>
              </a:rPr>
              <a:t>()</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position </a:t>
            </a:r>
            <a:r>
              <a:rPr b="0" lang="en-US" sz="1800" spc="-1" strike="noStrike">
                <a:solidFill>
                  <a:schemeClr val="dk2"/>
                </a:solidFill>
                <a:latin typeface="Calibri"/>
              </a:rPr>
              <a:t>parent</a:t>
            </a:r>
            <a:r>
              <a:rPr b="0" lang="en-US" sz="1800" spc="-1" strike="noStrike">
                <a:solidFill>
                  <a:schemeClr val="dk1"/>
                </a:solidFill>
                <a:latin typeface="Calibri"/>
              </a:rPr>
              <a:t>(p)</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Iterator </a:t>
            </a:r>
            <a:r>
              <a:rPr b="0" lang="en-US" sz="1800" spc="-1" strike="noStrike">
                <a:solidFill>
                  <a:schemeClr val="dk2"/>
                </a:solidFill>
                <a:latin typeface="Calibri"/>
              </a:rPr>
              <a:t>children</a:t>
            </a:r>
            <a:r>
              <a:rPr b="0" lang="en-US" sz="1800" spc="-1" strike="noStrike">
                <a:solidFill>
                  <a:schemeClr val="dk1"/>
                </a:solidFill>
                <a:latin typeface="Calibri"/>
              </a:rPr>
              <a:t>(p)</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Integer </a:t>
            </a:r>
            <a:r>
              <a:rPr b="0" lang="en-US" sz="1800" spc="-1" strike="noStrike">
                <a:solidFill>
                  <a:schemeClr val="dk2"/>
                </a:solidFill>
                <a:latin typeface="Calibri"/>
              </a:rPr>
              <a:t>num_children</a:t>
            </a:r>
            <a:r>
              <a:rPr b="0" lang="en-US" sz="1800" spc="-1" strike="noStrike">
                <a:solidFill>
                  <a:schemeClr val="dk1"/>
                </a:solidFill>
                <a:latin typeface="Calibri"/>
              </a:rPr>
              <a:t>(p)</a:t>
            </a:r>
            <a:endParaRPr b="0" lang="en-US" sz="1800" spc="-1" strike="noStrike">
              <a:solidFill>
                <a:srgbClr val="000000"/>
              </a:solidFill>
              <a:latin typeface="Arial"/>
            </a:endParaRPr>
          </a:p>
          <a:p>
            <a:pPr indent="0" defTabSz="914400">
              <a:lnSpc>
                <a:spcPct val="90000"/>
              </a:lnSpc>
              <a:spcBef>
                <a:spcPts val="499"/>
              </a:spcBef>
              <a:buNone/>
              <a:tabLst>
                <a:tab algn="l" pos="0"/>
              </a:tabLst>
            </a:pPr>
            <a:endParaRPr b="0" lang="en-US" sz="1800" spc="-1" strike="noStrike">
              <a:solidFill>
                <a:srgbClr val="000000"/>
              </a:solidFill>
              <a:latin typeface="Arial"/>
            </a:endParaRPr>
          </a:p>
        </p:txBody>
      </p:sp>
      <p:sp>
        <p:nvSpPr>
          <p:cNvPr id="96" name="Rectangle 4"/>
          <p:cNvSpPr/>
          <p:nvPr/>
        </p:nvSpPr>
        <p:spPr>
          <a:xfrm>
            <a:off x="6324480" y="1523880"/>
            <a:ext cx="3733200" cy="464760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400"/>
              </a:spcBef>
              <a:buSzPct val="110077"/>
              <a:buBlip>
                <a:blip r:embed="rId1"/>
              </a:buBlip>
            </a:pPr>
            <a:r>
              <a:rPr b="0" lang="en-US" sz="2000" spc="-1" strike="noStrike">
                <a:solidFill>
                  <a:schemeClr val="dk1"/>
                </a:solidFill>
                <a:latin typeface="Tahoma"/>
                <a:ea typeface="MS PGothic"/>
              </a:rPr>
              <a:t>Query methods:</a:t>
            </a:r>
            <a:endParaRPr b="0" lang="en-US" sz="2000" spc="-1" strike="noStrike">
              <a:solidFill>
                <a:srgbClr val="000000"/>
              </a:solidFill>
              <a:latin typeface="Arial"/>
            </a:endParaRPr>
          </a:p>
          <a:p>
            <a:pPr lvl="1" marL="743040" indent="-285840" defTabSz="457200">
              <a:lnSpc>
                <a:spcPct val="100000"/>
              </a:lnSpc>
              <a:spcBef>
                <a:spcPts val="360"/>
              </a:spcBef>
              <a:buClr>
                <a:srgbClr val="000000"/>
              </a:buClr>
              <a:buSzPct val="60000"/>
              <a:buFont typeface="Wingdings" charset="2"/>
              <a:buChar char=""/>
            </a:pPr>
            <a:r>
              <a:rPr b="0" lang="en-US" sz="1800" spc="-1" strike="noStrike">
                <a:solidFill>
                  <a:schemeClr val="dk1"/>
                </a:solidFill>
                <a:latin typeface="Tahoma"/>
                <a:ea typeface="MS PGothic"/>
              </a:rPr>
              <a:t>Boolean </a:t>
            </a:r>
            <a:r>
              <a:rPr b="0" lang="en-US" sz="1800" spc="-1" strike="noStrike">
                <a:solidFill>
                  <a:schemeClr val="dk2"/>
                </a:solidFill>
                <a:latin typeface="Tahoma"/>
                <a:ea typeface="MS PGothic"/>
              </a:rPr>
              <a:t>is_leaf</a:t>
            </a:r>
            <a:r>
              <a:rPr b="0" lang="en-US" sz="1800" spc="-1" strike="noStrike">
                <a:solidFill>
                  <a:schemeClr val="dk1"/>
                </a:solidFill>
                <a:latin typeface="Tahoma"/>
                <a:ea typeface="MS PGothic"/>
              </a:rPr>
              <a:t>(p)</a:t>
            </a:r>
            <a:endParaRPr b="0" lang="en-US" sz="1800" spc="-1" strike="noStrike">
              <a:solidFill>
                <a:srgbClr val="000000"/>
              </a:solidFill>
              <a:latin typeface="Arial"/>
            </a:endParaRPr>
          </a:p>
          <a:p>
            <a:pPr lvl="1" marL="743040" indent="-285840" defTabSz="457200">
              <a:lnSpc>
                <a:spcPct val="100000"/>
              </a:lnSpc>
              <a:spcBef>
                <a:spcPts val="360"/>
              </a:spcBef>
              <a:buClr>
                <a:srgbClr val="000000"/>
              </a:buClr>
              <a:buSzPct val="60000"/>
              <a:buFont typeface="Wingdings" charset="2"/>
              <a:buChar char=""/>
            </a:pPr>
            <a:r>
              <a:rPr b="0" lang="en-US" sz="1800" spc="-1" strike="noStrike">
                <a:solidFill>
                  <a:schemeClr val="dk1"/>
                </a:solidFill>
                <a:latin typeface="Tahoma"/>
                <a:ea typeface="MS PGothic"/>
              </a:rPr>
              <a:t>Boolean </a:t>
            </a:r>
            <a:r>
              <a:rPr b="0" lang="en-US" sz="1800" spc="-1" strike="noStrike">
                <a:solidFill>
                  <a:schemeClr val="dk2"/>
                </a:solidFill>
                <a:latin typeface="Tahoma"/>
                <a:ea typeface="MS PGothic"/>
              </a:rPr>
              <a:t>is_root</a:t>
            </a:r>
            <a:r>
              <a:rPr b="0" lang="en-US" sz="1800" spc="-1" strike="noStrike">
                <a:solidFill>
                  <a:schemeClr val="dk1"/>
                </a:solidFill>
                <a:latin typeface="Tahoma"/>
                <a:ea typeface="MS PGothic"/>
              </a:rPr>
              <a:t>(p)</a:t>
            </a:r>
            <a:endParaRPr b="0" lang="en-US" sz="1800" spc="-1" strike="noStrike">
              <a:solidFill>
                <a:srgbClr val="000000"/>
              </a:solidFill>
              <a:latin typeface="Arial"/>
            </a:endParaRPr>
          </a:p>
          <a:p>
            <a:pPr marL="343080" indent="-343080" defTabSz="457200">
              <a:lnSpc>
                <a:spcPct val="100000"/>
              </a:lnSpc>
              <a:spcBef>
                <a:spcPts val="400"/>
              </a:spcBef>
              <a:buSzPct val="110077"/>
              <a:buBlip>
                <a:blip r:embed="rId2"/>
              </a:buBlip>
            </a:pPr>
            <a:r>
              <a:rPr b="0" lang="en-US" sz="2000" spc="-1" strike="noStrike">
                <a:solidFill>
                  <a:schemeClr val="dk1"/>
                </a:solidFill>
                <a:latin typeface="Tahoma"/>
                <a:ea typeface="MS PGothic"/>
              </a:rPr>
              <a:t>Update method:</a:t>
            </a:r>
            <a:endParaRPr b="0" lang="en-US" sz="2000" spc="-1" strike="noStrike">
              <a:solidFill>
                <a:srgbClr val="000000"/>
              </a:solidFill>
              <a:latin typeface="Arial"/>
            </a:endParaRPr>
          </a:p>
          <a:p>
            <a:pPr lvl="1" marL="743040" indent="-285840" defTabSz="457200">
              <a:lnSpc>
                <a:spcPct val="100000"/>
              </a:lnSpc>
              <a:spcBef>
                <a:spcPts val="360"/>
              </a:spcBef>
              <a:buClr>
                <a:srgbClr val="000000"/>
              </a:buClr>
              <a:buSzPct val="60000"/>
              <a:buFont typeface="Wingdings" charset="2"/>
              <a:buChar char=""/>
            </a:pPr>
            <a:r>
              <a:rPr b="0" lang="en-US" sz="1800" spc="-1" strike="noStrike">
                <a:solidFill>
                  <a:schemeClr val="dk1"/>
                </a:solidFill>
                <a:latin typeface="Tahoma"/>
                <a:ea typeface="MS PGothic"/>
              </a:rPr>
              <a:t>element </a:t>
            </a:r>
            <a:r>
              <a:rPr b="0" lang="en-US" sz="1800" spc="-1" strike="noStrike">
                <a:solidFill>
                  <a:schemeClr val="dk2"/>
                </a:solidFill>
                <a:latin typeface="Tahoma"/>
                <a:ea typeface="MS PGothic"/>
              </a:rPr>
              <a:t>replace </a:t>
            </a:r>
            <a:r>
              <a:rPr b="0" lang="en-US" sz="1800" spc="-1" strike="noStrike">
                <a:solidFill>
                  <a:schemeClr val="dk1"/>
                </a:solidFill>
                <a:latin typeface="Tahoma"/>
                <a:ea typeface="MS PGothic"/>
              </a:rPr>
              <a:t>(p, o)</a:t>
            </a:r>
            <a:endParaRPr b="0" lang="en-US" sz="1800" spc="-1" strike="noStrike">
              <a:solidFill>
                <a:srgbClr val="000000"/>
              </a:solidFill>
              <a:latin typeface="Arial"/>
            </a:endParaRPr>
          </a:p>
          <a:p>
            <a:pPr marL="343080" indent="-343080" defTabSz="457200">
              <a:lnSpc>
                <a:spcPct val="100000"/>
              </a:lnSpc>
              <a:spcBef>
                <a:spcPts val="400"/>
              </a:spcBef>
              <a:buSzPct val="110077"/>
              <a:buBlip>
                <a:blip r:embed="rId3"/>
              </a:buBlip>
            </a:pPr>
            <a:r>
              <a:rPr b="0" lang="en-US" sz="2000" spc="-1" strike="noStrike">
                <a:solidFill>
                  <a:schemeClr val="dk1"/>
                </a:solidFill>
                <a:latin typeface="Tahoma"/>
                <a:ea typeface="MS PGothic"/>
              </a:rPr>
              <a:t>Additional update methods may be defined by data structures implementing the Tree ADT</a:t>
            </a:r>
            <a:endParaRPr b="0" lang="en-US" sz="2000" spc="-1" strike="noStrike">
              <a:solidFill>
                <a:srgbClr val="000000"/>
              </a:solidFill>
              <a:latin typeface="Arial"/>
            </a:endParaRPr>
          </a:p>
        </p:txBody>
      </p:sp>
      <p:sp>
        <p:nvSpPr>
          <p:cNvPr id="97" name="PlaceHolder 5"/>
          <p:cNvSpPr>
            <a:spLocks noGrp="1"/>
          </p:cNvSpPr>
          <p:nvPr>
            <p:ph type="dt" idx="26"/>
          </p:nvPr>
        </p:nvSpPr>
        <p:spPr>
          <a:xfrm>
            <a:off x="83808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defTabSz="457200">
              <a:lnSpc>
                <a:spcPct val="100000"/>
              </a:lnSpc>
              <a:buNone/>
              <a:tabLst>
                <a:tab algn="l" pos="0"/>
              </a:tabLst>
            </a:pPr>
            <a:r>
              <a:rPr b="0" lang="en-US" sz="1400" spc="-1" strike="noStrike">
                <a:solidFill>
                  <a:schemeClr val="dk1">
                    <a:tint val="75000"/>
                  </a:schemeClr>
                </a:solidFill>
                <a:latin typeface="Tahoma"/>
                <a:ea typeface="MS PGothic"/>
              </a:rPr>
              <a:t>© 2013 Goodrich, Tamassia, Goldwasser</a:t>
            </a:r>
            <a:endParaRPr b="0" lang="en-US" sz="1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Tree ADT</a:t>
            </a:r>
            <a:endParaRPr b="0" lang="en-US" sz="4400" spc="-1" strike="noStrike">
              <a:solidFill>
                <a:srgbClr val="000000"/>
              </a:solidFill>
              <a:latin typeface="Arial"/>
            </a:endParaRPr>
          </a:p>
        </p:txBody>
      </p:sp>
      <p:graphicFrame>
        <p:nvGraphicFramePr>
          <p:cNvPr id="99" name="Content Placeholder 3"/>
          <p:cNvGraphicFramePr/>
          <p:nvPr/>
        </p:nvGraphicFramePr>
        <p:xfrm>
          <a:off x="2313720" y="1760760"/>
          <a:ext cx="8127360" cy="4636800"/>
        </p:xfrm>
        <a:graphic>
          <a:graphicData uri="http://schemas.openxmlformats.org/drawingml/2006/table">
            <a:tbl>
              <a:tblPr/>
              <a:tblGrid>
                <a:gridCol w="2247840"/>
                <a:gridCol w="5879880"/>
              </a:tblGrid>
              <a:tr h="288000">
                <a:tc>
                  <a:txBody>
                    <a:bodyPr anchor="t">
                      <a:noAutofit/>
                    </a:bodyPr>
                    <a:p>
                      <a:pPr algn="ctr" defTabSz="914400">
                        <a:lnSpc>
                          <a:spcPct val="100000"/>
                        </a:lnSpc>
                      </a:pPr>
                      <a:r>
                        <a:rPr b="1" lang="en-US" sz="1800" spc="-1" strike="noStrike">
                          <a:solidFill>
                            <a:schemeClr val="lt1"/>
                          </a:solidFill>
                          <a:latin typeface="Calibri"/>
                        </a:rPr>
                        <a:t>Functions/Operations</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914400">
                        <a:lnSpc>
                          <a:spcPct val="100000"/>
                        </a:lnSpc>
                      </a:pPr>
                      <a:r>
                        <a:rPr b="1" lang="en-US" sz="1800" spc="-1" strike="noStrike">
                          <a:solidFill>
                            <a:schemeClr val="lt1"/>
                          </a:solidFill>
                          <a:latin typeface="Calibri"/>
                        </a:rPr>
                        <a:t>Description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288000">
                <a:tc>
                  <a:txBody>
                    <a:bodyPr anchor="t">
                      <a:noAutofit/>
                    </a:bodyPr>
                    <a:p>
                      <a:pPr defTabSz="914400">
                        <a:lnSpc>
                          <a:spcPct val="100000"/>
                        </a:lnSpc>
                      </a:pPr>
                      <a:r>
                        <a:rPr b="0" lang="en-US" sz="1800" spc="-1" strike="noStrike">
                          <a:solidFill>
                            <a:schemeClr val="dk1"/>
                          </a:solidFill>
                          <a:latin typeface="Calibri"/>
                        </a:rPr>
                        <a:t>p.element()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Data stored in p</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88000">
                <a:tc gridSpan="2">
                  <a:txBody>
                    <a:bodyPr anchor="t">
                      <a:noAutofit/>
                    </a:bodyPr>
                    <a:p>
                      <a:pPr defTabSz="914400">
                        <a:lnSpc>
                          <a:spcPct val="100000"/>
                        </a:lnSpc>
                      </a:pPr>
                      <a:r>
                        <a:rPr b="1" lang="en-US" sz="1800" spc="-1" strike="noStrike">
                          <a:solidFill>
                            <a:schemeClr val="dk1"/>
                          </a:solidFill>
                          <a:latin typeface="Calibri"/>
                        </a:rPr>
                        <a:t>Accessors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496800">
                <a:tc>
                  <a:txBody>
                    <a:bodyPr anchor="t">
                      <a:noAutofit/>
                    </a:bodyPr>
                    <a:p>
                      <a:pPr defTabSz="914400">
                        <a:lnSpc>
                          <a:spcPct val="100000"/>
                        </a:lnSpc>
                        <a:tabLst>
                          <a:tab algn="l" pos="0"/>
                        </a:tabLst>
                      </a:pPr>
                      <a:r>
                        <a:rPr b="0" lang="en-US" sz="1800" spc="-1" strike="noStrike">
                          <a:solidFill>
                            <a:schemeClr val="dk1"/>
                          </a:solidFill>
                          <a:latin typeface="Calibri"/>
                        </a:rPr>
                        <a:t>T.root()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Return the position of the root of the tree.</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None is T is empty.</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88000">
                <a:tc>
                  <a:txBody>
                    <a:bodyPr anchor="t">
                      <a:noAutofit/>
                    </a:bodyPr>
                    <a:p>
                      <a:pPr defTabSz="914400">
                        <a:lnSpc>
                          <a:spcPct val="100000"/>
                        </a:lnSpc>
                        <a:tabLst>
                          <a:tab algn="l" pos="0"/>
                        </a:tabLst>
                      </a:pPr>
                      <a:r>
                        <a:rPr b="0" lang="en-US" sz="1800" spc="-1" strike="noStrike">
                          <a:solidFill>
                            <a:schemeClr val="dk1"/>
                          </a:solidFill>
                          <a:latin typeface="Calibri"/>
                        </a:rPr>
                        <a:t>T.is_root(p)</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True if p is the root, False otherwise.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496800">
                <a:tc>
                  <a:txBody>
                    <a:bodyPr anchor="t">
                      <a:noAutofit/>
                    </a:bodyPr>
                    <a:p>
                      <a:pPr defTabSz="914400">
                        <a:lnSpc>
                          <a:spcPct val="100000"/>
                        </a:lnSpc>
                        <a:tabLst>
                          <a:tab algn="l" pos="0"/>
                        </a:tabLst>
                      </a:pPr>
                      <a:r>
                        <a:rPr b="0" lang="en-US" sz="1800" spc="-1" strike="noStrike">
                          <a:solidFill>
                            <a:schemeClr val="dk1"/>
                          </a:solidFill>
                          <a:latin typeface="Calibri"/>
                        </a:rPr>
                        <a:t>T.parent(p)</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Return the parent of position p.</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None if p is the root.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88000">
                <a:tc>
                  <a:txBody>
                    <a:bodyPr anchor="t">
                      <a:noAutofit/>
                    </a:bodyPr>
                    <a:p>
                      <a:pPr defTabSz="914400">
                        <a:lnSpc>
                          <a:spcPct val="100000"/>
                        </a:lnSpc>
                        <a:tabLst>
                          <a:tab algn="l" pos="0"/>
                        </a:tabLst>
                      </a:pPr>
                      <a:r>
                        <a:rPr b="0" lang="en-US" sz="1800" spc="-1" strike="noStrike">
                          <a:solidFill>
                            <a:schemeClr val="dk1"/>
                          </a:solidFill>
                          <a:latin typeface="Calibri"/>
                        </a:rPr>
                        <a:t>T.children(p)</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Return list of children of position p.</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288000">
                <a:tc>
                  <a:txBody>
                    <a:bodyPr anchor="t">
                      <a:noAutofit/>
                    </a:bodyPr>
                    <a:p>
                      <a:pPr defTabSz="914400">
                        <a:lnSpc>
                          <a:spcPct val="100000"/>
                        </a:lnSpc>
                        <a:tabLst>
                          <a:tab algn="l" pos="0"/>
                        </a:tabLst>
                      </a:pPr>
                      <a:r>
                        <a:rPr b="0" lang="en-US" sz="1800" spc="-1" strike="noStrike">
                          <a:solidFill>
                            <a:schemeClr val="dk1"/>
                          </a:solidFill>
                          <a:latin typeface="Calibri"/>
                        </a:rPr>
                        <a:t>T.num_children(p)</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Number of children of position p.</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88000">
                <a:tc gridSpan="2">
                  <a:txBody>
                    <a:bodyPr anchor="t">
                      <a:noAutofit/>
                    </a:bodyPr>
                    <a:p>
                      <a:pPr defTabSz="914400">
                        <a:lnSpc>
                          <a:spcPct val="100000"/>
                        </a:lnSpc>
                      </a:pPr>
                      <a:r>
                        <a:rPr b="1" lang="en-US" sz="1800" spc="-1" strike="noStrike">
                          <a:solidFill>
                            <a:schemeClr val="dk1"/>
                          </a:solidFill>
                          <a:latin typeface="Calibri"/>
                        </a:rPr>
                        <a:t>Queries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288000">
                <a:tc>
                  <a:txBody>
                    <a:bodyPr anchor="t">
                      <a:noAutofit/>
                    </a:bodyPr>
                    <a:p>
                      <a:pPr defTabSz="914400">
                        <a:lnSpc>
                          <a:spcPct val="100000"/>
                        </a:lnSpc>
                        <a:tabLst>
                          <a:tab algn="l" pos="0"/>
                        </a:tabLst>
                      </a:pPr>
                      <a:r>
                        <a:rPr b="0" lang="en-US" sz="1800" spc="-1" strike="noStrike">
                          <a:solidFill>
                            <a:schemeClr val="dk1"/>
                          </a:solidFill>
                          <a:latin typeface="Calibri"/>
                        </a:rPr>
                        <a:t>T.is_leaf(p)</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True if position p has no children.</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288000">
                <a:tc>
                  <a:txBody>
                    <a:bodyPr anchor="t">
                      <a:noAutofit/>
                    </a:bodyPr>
                    <a:p>
                      <a:pPr defTabSz="914400">
                        <a:lnSpc>
                          <a:spcPct val="100000"/>
                        </a:lnSpc>
                        <a:tabLst>
                          <a:tab algn="l" pos="0"/>
                        </a:tabLst>
                      </a:pPr>
                      <a:r>
                        <a:rPr b="0" lang="en-US" sz="1800" spc="-1" strike="noStrike">
                          <a:solidFill>
                            <a:schemeClr val="dk1"/>
                          </a:solidFill>
                          <a:latin typeface="Calibri"/>
                        </a:rPr>
                        <a:t>T.is_root(p)</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True if position p is the root.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
        <p:nvSpPr>
          <p:cNvPr id="100" name="PlaceHolder 2"/>
          <p:cNvSpPr>
            <a:spLocks noGrp="1"/>
          </p:cNvSpPr>
          <p:nvPr>
            <p:ph/>
          </p:nvPr>
        </p:nvSpPr>
        <p:spPr>
          <a:xfrm>
            <a:off x="838080" y="1107000"/>
            <a:ext cx="10514880" cy="5547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Assume T is a tree, and p is a position (node of the tree).</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Abstract Tree Class</a:t>
            </a:r>
            <a:endParaRPr b="0" lang="en-US" sz="4400" spc="-1" strike="noStrike">
              <a:solidFill>
                <a:srgbClr val="000000"/>
              </a:solidFill>
              <a:latin typeface="Arial"/>
            </a:endParaRPr>
          </a:p>
        </p:txBody>
      </p:sp>
      <p:pic>
        <p:nvPicPr>
          <p:cNvPr id="102" name="Picture 3" descr=""/>
          <p:cNvPicPr/>
          <p:nvPr/>
        </p:nvPicPr>
        <p:blipFill>
          <a:blip r:embed="rId1"/>
          <a:stretch/>
        </p:blipFill>
        <p:spPr>
          <a:xfrm>
            <a:off x="290520" y="1086480"/>
            <a:ext cx="5942880" cy="3977640"/>
          </a:xfrm>
          <a:prstGeom prst="rect">
            <a:avLst/>
          </a:prstGeom>
          <a:ln cap="sq" w="38100">
            <a:solidFill>
              <a:srgbClr val="000000"/>
            </a:solidFill>
            <a:miter/>
          </a:ln>
          <a:effectLst>
            <a:outerShdw algn="tl" blurRad="50760" dir="2700000" dist="37674" rotWithShape="0">
              <a:srgbClr val="808080">
                <a:alpha val="43000"/>
              </a:srgbClr>
            </a:outerShdw>
          </a:effectLst>
        </p:spPr>
      </p:pic>
      <p:pic>
        <p:nvPicPr>
          <p:cNvPr id="103" name="Picture 4" descr=""/>
          <p:cNvPicPr/>
          <p:nvPr/>
        </p:nvPicPr>
        <p:blipFill>
          <a:blip r:embed="rId2"/>
          <a:stretch/>
        </p:blipFill>
        <p:spPr>
          <a:xfrm>
            <a:off x="6350400" y="1086480"/>
            <a:ext cx="5764680" cy="4114080"/>
          </a:xfrm>
          <a:prstGeom prst="rect">
            <a:avLst/>
          </a:prstGeom>
          <a:ln cap="sq" w="38100">
            <a:solidFill>
              <a:srgbClr val="000000"/>
            </a:solidFill>
            <a:miter/>
          </a:ln>
          <a:effectLst>
            <a:outerShdw algn="tl" blurRad="50760" dir="2700000" dist="37674" rotWithShape="0">
              <a:srgbClr val="808080">
                <a:alpha val="43000"/>
              </a:srgbClr>
            </a:outerShdw>
          </a:effectLst>
        </p:spPr>
      </p:pic>
      <p:pic>
        <p:nvPicPr>
          <p:cNvPr id="104" name="Picture 5" descr=""/>
          <p:cNvPicPr/>
          <p:nvPr/>
        </p:nvPicPr>
        <p:blipFill>
          <a:blip r:embed="rId3"/>
          <a:stretch/>
        </p:blipFill>
        <p:spPr>
          <a:xfrm>
            <a:off x="2928240" y="3138120"/>
            <a:ext cx="6996960" cy="3428280"/>
          </a:xfrm>
          <a:prstGeom prst="rect">
            <a:avLst/>
          </a:prstGeom>
          <a:ln cap="sq" w="38100">
            <a:solidFill>
              <a:srgbClr val="000000"/>
            </a:solidFill>
            <a:miter/>
          </a:ln>
          <a:effectLst>
            <a:outerShdw algn="tl" blurRad="50760" dir="2700000" dist="37674" rotWithShape="0">
              <a:srgbClr val="808080">
                <a:alpha val="43000"/>
              </a:srgbClr>
            </a:outerShdw>
          </a:effectLst>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sldNum" idx="27"/>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9411428B-DBD0-475A-A064-088F748D6F12}" type="slidenum">
              <a:rPr b="0" lang="en-US" sz="1400" spc="-1" strike="noStrike">
                <a:solidFill>
                  <a:schemeClr val="dk1">
                    <a:tint val="75000"/>
                  </a:schemeClr>
                </a:solidFill>
                <a:latin typeface="Tahoma"/>
                <a:ea typeface="MS PGothic"/>
              </a:rPr>
              <a:t>9</a:t>
            </a:fld>
            <a:endParaRPr b="0" lang="en-US" sz="1400" spc="-1" strike="noStrike">
              <a:solidFill>
                <a:srgbClr val="000000"/>
              </a:solidFill>
              <a:latin typeface="Times New Roman"/>
            </a:endParaRPr>
          </a:p>
        </p:txBody>
      </p:sp>
      <p:sp>
        <p:nvSpPr>
          <p:cNvPr id="106" name="PlaceHolder 2"/>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Binary Trees</a:t>
            </a:r>
            <a:endParaRPr b="0" lang="en-US" sz="4400" spc="-1" strike="noStrike">
              <a:solidFill>
                <a:srgbClr val="000000"/>
              </a:solidFill>
              <a:latin typeface="Arial"/>
            </a:endParaRPr>
          </a:p>
        </p:txBody>
      </p:sp>
      <p:sp>
        <p:nvSpPr>
          <p:cNvPr id="107" name="PlaceHolder 3"/>
          <p:cNvSpPr>
            <a:spLocks noGrp="1"/>
          </p:cNvSpPr>
          <p:nvPr>
            <p:ph/>
          </p:nvPr>
        </p:nvSpPr>
        <p:spPr>
          <a:xfrm>
            <a:off x="863640" y="1197720"/>
            <a:ext cx="6216120" cy="51577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 binary tree is a tree with the following properties: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ea typeface="ＭＳ Ｐゴシック"/>
              </a:rPr>
              <a:t>Each internal node has at most two children </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ea typeface="ＭＳ Ｐゴシック"/>
              </a:rPr>
              <a:t>The children of a node are an ordered pair</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ea typeface="ＭＳ Ｐゴシック"/>
              </a:rPr>
              <a:t>The children are called left child and right child</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ea typeface="ＭＳ Ｐゴシック"/>
              </a:rPr>
              <a:t>Applications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ea typeface="ＭＳ Ｐゴシック"/>
              </a:rPr>
              <a:t>arithmetic expressions</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ea typeface="ＭＳ Ｐゴシック"/>
              </a:rPr>
              <a:t>decision processes</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ea typeface="ＭＳ Ｐゴシック"/>
              </a:rPr>
              <a:t>searching</a:t>
            </a: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grpSp>
        <p:nvGrpSpPr>
          <p:cNvPr id="108" name="Group 1"/>
          <p:cNvGrpSpPr/>
          <p:nvPr/>
        </p:nvGrpSpPr>
        <p:grpSpPr>
          <a:xfrm>
            <a:off x="7278840" y="1788840"/>
            <a:ext cx="4034520" cy="3786480"/>
            <a:chOff x="7278840" y="1788840"/>
            <a:chExt cx="4034520" cy="3786480"/>
          </a:xfrm>
        </p:grpSpPr>
        <p:sp>
          <p:nvSpPr>
            <p:cNvPr id="109" name="AutoShape 7"/>
            <p:cNvSpPr/>
            <p:nvPr/>
          </p:nvSpPr>
          <p:spPr>
            <a:xfrm>
              <a:off x="9128880" y="1788840"/>
              <a:ext cx="33984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A</a:t>
              </a:r>
              <a:endParaRPr b="0" lang="en-US" sz="1600" spc="-1" strike="noStrike">
                <a:solidFill>
                  <a:srgbClr val="000000"/>
                </a:solidFill>
                <a:latin typeface="Arial"/>
              </a:endParaRPr>
            </a:p>
          </p:txBody>
        </p:sp>
        <p:sp>
          <p:nvSpPr>
            <p:cNvPr id="110" name="AutoShape 8"/>
            <p:cNvSpPr/>
            <p:nvPr/>
          </p:nvSpPr>
          <p:spPr>
            <a:xfrm>
              <a:off x="7911360" y="2926080"/>
              <a:ext cx="34272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B</a:t>
              </a:r>
              <a:endParaRPr b="0" lang="en-US" sz="1600" spc="-1" strike="noStrike">
                <a:solidFill>
                  <a:srgbClr val="000000"/>
                </a:solidFill>
                <a:latin typeface="Arial"/>
              </a:endParaRPr>
            </a:p>
          </p:txBody>
        </p:sp>
        <p:sp>
          <p:nvSpPr>
            <p:cNvPr id="111" name="AutoShape 10"/>
            <p:cNvSpPr/>
            <p:nvPr/>
          </p:nvSpPr>
          <p:spPr>
            <a:xfrm>
              <a:off x="10337760" y="2925720"/>
              <a:ext cx="33984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C</a:t>
              </a:r>
              <a:endParaRPr b="0" lang="en-US" sz="1600" spc="-1" strike="noStrike">
                <a:solidFill>
                  <a:srgbClr val="000000"/>
                </a:solidFill>
                <a:latin typeface="Arial"/>
              </a:endParaRPr>
            </a:p>
          </p:txBody>
        </p:sp>
        <p:sp>
          <p:nvSpPr>
            <p:cNvPr id="112" name="AutoShape 11"/>
            <p:cNvSpPr/>
            <p:nvPr/>
          </p:nvSpPr>
          <p:spPr>
            <a:xfrm>
              <a:off x="9745560" y="4063320"/>
              <a:ext cx="316080" cy="36864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F</a:t>
              </a:r>
              <a:endParaRPr b="0" lang="en-US" sz="1600" spc="-1" strike="noStrike">
                <a:solidFill>
                  <a:srgbClr val="000000"/>
                </a:solidFill>
                <a:latin typeface="Arial"/>
              </a:endParaRPr>
            </a:p>
          </p:txBody>
        </p:sp>
        <p:sp>
          <p:nvSpPr>
            <p:cNvPr id="113" name="AutoShape 12"/>
            <p:cNvSpPr/>
            <p:nvPr/>
          </p:nvSpPr>
          <p:spPr>
            <a:xfrm>
              <a:off x="10955520" y="4062960"/>
              <a:ext cx="35784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G</a:t>
              </a:r>
              <a:endParaRPr b="0" lang="en-US" sz="1600" spc="-1" strike="noStrike">
                <a:solidFill>
                  <a:srgbClr val="000000"/>
                </a:solidFill>
                <a:latin typeface="Arial"/>
              </a:endParaRPr>
            </a:p>
          </p:txBody>
        </p:sp>
        <p:sp>
          <p:nvSpPr>
            <p:cNvPr id="114" name="AutoShape 13"/>
            <p:cNvSpPr/>
            <p:nvPr/>
          </p:nvSpPr>
          <p:spPr>
            <a:xfrm>
              <a:off x="7278840" y="4060800"/>
              <a:ext cx="35964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D</a:t>
              </a:r>
              <a:endParaRPr b="0" lang="en-US" sz="1600" spc="-1" strike="noStrike">
                <a:solidFill>
                  <a:srgbClr val="000000"/>
                </a:solidFill>
                <a:latin typeface="Arial"/>
              </a:endParaRPr>
            </a:p>
          </p:txBody>
        </p:sp>
        <p:sp>
          <p:nvSpPr>
            <p:cNvPr id="115" name="AutoShape 14"/>
            <p:cNvSpPr/>
            <p:nvPr/>
          </p:nvSpPr>
          <p:spPr>
            <a:xfrm>
              <a:off x="8546040" y="4062960"/>
              <a:ext cx="32292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E</a:t>
              </a:r>
              <a:endParaRPr b="0" lang="en-US" sz="1600" spc="-1" strike="noStrike">
                <a:solidFill>
                  <a:srgbClr val="000000"/>
                </a:solidFill>
                <a:latin typeface="Arial"/>
              </a:endParaRPr>
            </a:p>
          </p:txBody>
        </p:sp>
        <p:cxnSp>
          <p:nvCxnSpPr>
            <p:cNvPr id="116" name="AutoShape 15"/>
            <p:cNvCxnSpPr>
              <a:stCxn id="109" idx="2"/>
              <a:endCxn id="110" idx="0"/>
            </p:cNvCxnSpPr>
            <p:nvPr/>
          </p:nvCxnSpPr>
          <p:spPr>
            <a:xfrm flipH="1">
              <a:off x="8083800" y="2220840"/>
              <a:ext cx="1217160" cy="644040"/>
            </a:xfrm>
            <a:prstGeom prst="straightConnector1">
              <a:avLst/>
            </a:prstGeom>
            <a:ln w="19050">
              <a:solidFill>
                <a:srgbClr val="000000"/>
              </a:solidFill>
              <a:round/>
            </a:ln>
          </p:spPr>
        </p:cxnSp>
        <p:cxnSp>
          <p:nvCxnSpPr>
            <p:cNvPr id="117" name="AutoShape 16"/>
            <p:cNvCxnSpPr>
              <a:stCxn id="109" idx="2"/>
              <a:endCxn id="111" idx="0"/>
            </p:cNvCxnSpPr>
            <p:nvPr/>
          </p:nvCxnSpPr>
          <p:spPr>
            <a:xfrm>
              <a:off x="9300240" y="2220840"/>
              <a:ext cx="1209240" cy="642240"/>
            </a:xfrm>
            <a:prstGeom prst="straightConnector1">
              <a:avLst/>
            </a:prstGeom>
            <a:ln w="19050">
              <a:solidFill>
                <a:srgbClr val="000000"/>
              </a:solidFill>
              <a:round/>
            </a:ln>
          </p:spPr>
        </p:cxnSp>
        <p:cxnSp>
          <p:nvCxnSpPr>
            <p:cNvPr id="118" name="AutoShape 18"/>
            <p:cNvCxnSpPr>
              <a:stCxn id="111" idx="2"/>
              <a:endCxn id="113" idx="0"/>
            </p:cNvCxnSpPr>
            <p:nvPr/>
          </p:nvCxnSpPr>
          <p:spPr>
            <a:xfrm>
              <a:off x="10508760" y="3359880"/>
              <a:ext cx="626400" cy="640080"/>
            </a:xfrm>
            <a:prstGeom prst="straightConnector1">
              <a:avLst/>
            </a:prstGeom>
            <a:ln w="19050">
              <a:solidFill>
                <a:srgbClr val="000000"/>
              </a:solidFill>
              <a:round/>
            </a:ln>
          </p:spPr>
        </p:cxnSp>
        <p:cxnSp>
          <p:nvCxnSpPr>
            <p:cNvPr id="119" name="AutoShape 19"/>
            <p:cNvCxnSpPr>
              <a:stCxn id="111" idx="2"/>
              <a:endCxn id="112" idx="0"/>
            </p:cNvCxnSpPr>
            <p:nvPr/>
          </p:nvCxnSpPr>
          <p:spPr>
            <a:xfrm flipH="1">
              <a:off x="9904320" y="3359880"/>
              <a:ext cx="605160" cy="640080"/>
            </a:xfrm>
            <a:prstGeom prst="straightConnector1">
              <a:avLst/>
            </a:prstGeom>
            <a:ln w="19050">
              <a:solidFill>
                <a:srgbClr val="000000"/>
              </a:solidFill>
              <a:round/>
            </a:ln>
          </p:spPr>
        </p:cxnSp>
        <p:cxnSp>
          <p:nvCxnSpPr>
            <p:cNvPr id="120" name="AutoShape 20"/>
            <p:cNvCxnSpPr>
              <a:stCxn id="110" idx="2"/>
              <a:endCxn id="115" idx="0"/>
            </p:cNvCxnSpPr>
            <p:nvPr/>
          </p:nvCxnSpPr>
          <p:spPr>
            <a:xfrm>
              <a:off x="8083800" y="3357720"/>
              <a:ext cx="624600" cy="642240"/>
            </a:xfrm>
            <a:prstGeom prst="straightConnector1">
              <a:avLst/>
            </a:prstGeom>
            <a:ln w="19050">
              <a:solidFill>
                <a:srgbClr val="000000"/>
              </a:solidFill>
              <a:round/>
            </a:ln>
          </p:spPr>
        </p:cxnSp>
        <p:cxnSp>
          <p:nvCxnSpPr>
            <p:cNvPr id="121" name="AutoShape 21"/>
            <p:cNvCxnSpPr>
              <a:stCxn id="110" idx="2"/>
              <a:endCxn id="114" idx="0"/>
            </p:cNvCxnSpPr>
            <p:nvPr/>
          </p:nvCxnSpPr>
          <p:spPr>
            <a:xfrm flipH="1">
              <a:off x="7459920" y="3357720"/>
              <a:ext cx="624600" cy="640440"/>
            </a:xfrm>
            <a:prstGeom prst="straightConnector1">
              <a:avLst/>
            </a:prstGeom>
            <a:ln w="19050">
              <a:solidFill>
                <a:srgbClr val="000000"/>
              </a:solidFill>
              <a:round/>
            </a:ln>
          </p:spPr>
        </p:cxnSp>
        <p:sp>
          <p:nvSpPr>
            <p:cNvPr id="122" name="AutoShape 22"/>
            <p:cNvSpPr/>
            <p:nvPr/>
          </p:nvSpPr>
          <p:spPr>
            <a:xfrm>
              <a:off x="8073000" y="5205960"/>
              <a:ext cx="36108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H</a:t>
              </a:r>
              <a:endParaRPr b="0" lang="en-US" sz="1600" spc="-1" strike="noStrike">
                <a:solidFill>
                  <a:srgbClr val="000000"/>
                </a:solidFill>
                <a:latin typeface="Arial"/>
              </a:endParaRPr>
            </a:p>
          </p:txBody>
        </p:sp>
        <p:cxnSp>
          <p:nvCxnSpPr>
            <p:cNvPr id="123" name="AutoShape 25"/>
            <p:cNvCxnSpPr>
              <a:stCxn id="115" idx="2"/>
              <a:endCxn id="122" idx="0"/>
            </p:cNvCxnSpPr>
            <p:nvPr/>
          </p:nvCxnSpPr>
          <p:spPr>
            <a:xfrm flipH="1">
              <a:off x="8253720" y="4496760"/>
              <a:ext cx="454680" cy="648000"/>
            </a:xfrm>
            <a:prstGeom prst="straightConnector1">
              <a:avLst/>
            </a:prstGeom>
            <a:ln w="19050">
              <a:solidFill>
                <a:srgbClr val="000000"/>
              </a:solidFill>
              <a:round/>
            </a:ln>
          </p:spPr>
        </p:cxnSp>
        <p:sp>
          <p:nvSpPr>
            <p:cNvPr id="124" name="AutoShape 26"/>
            <p:cNvSpPr/>
            <p:nvPr/>
          </p:nvSpPr>
          <p:spPr>
            <a:xfrm>
              <a:off x="8982360" y="5208120"/>
              <a:ext cx="276120" cy="36432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I</a:t>
              </a:r>
              <a:endParaRPr b="0" lang="en-US" sz="1600" spc="-1" strike="noStrike">
                <a:solidFill>
                  <a:srgbClr val="000000"/>
                </a:solidFill>
                <a:latin typeface="Arial"/>
              </a:endParaRPr>
            </a:p>
          </p:txBody>
        </p:sp>
        <p:cxnSp>
          <p:nvCxnSpPr>
            <p:cNvPr id="125" name="AutoShape 27"/>
            <p:cNvCxnSpPr>
              <a:stCxn id="115" idx="2"/>
              <a:endCxn id="124" idx="0"/>
            </p:cNvCxnSpPr>
            <p:nvPr/>
          </p:nvCxnSpPr>
          <p:spPr>
            <a:xfrm>
              <a:off x="8707680" y="4484880"/>
              <a:ext cx="413640" cy="680040"/>
            </a:xfrm>
            <a:prstGeom prst="straightConnector1">
              <a:avLst/>
            </a:prstGeom>
            <a:ln w="19050">
              <a:solidFill>
                <a:srgbClr val="000000"/>
              </a:solidFill>
              <a:round/>
            </a:ln>
          </p:spPr>
        </p:cxnSp>
      </p:gr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Arithmetic Expression Tree</a:t>
            </a:r>
            <a:endParaRPr b="0" lang="en-US" sz="4400" spc="-1" strike="noStrike">
              <a:solidFill>
                <a:srgbClr val="000000"/>
              </a:solidFill>
              <a:latin typeface="Arial"/>
            </a:endParaRPr>
          </a:p>
        </p:txBody>
      </p:sp>
      <p:sp>
        <p:nvSpPr>
          <p:cNvPr id="127" name="PlaceHolder 2"/>
          <p:cNvSpPr>
            <a:spLocks noGrp="1"/>
          </p:cNvSpPr>
          <p:nvPr>
            <p:ph/>
          </p:nvPr>
        </p:nvSpPr>
        <p:spPr>
          <a:xfrm>
            <a:off x="838080" y="1107000"/>
            <a:ext cx="10514880" cy="5069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Binary tree associated with an arithmetic expression</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Internal nodes: operators</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Leaf nodes: operands</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Example: arithmetic expression tree for the expression (2 </a:t>
            </a:r>
            <a:r>
              <a:rPr b="0" lang="en-US" sz="2400" spc="-1" strike="noStrike">
                <a:solidFill>
                  <a:schemeClr val="dk1"/>
                </a:solidFill>
                <a:latin typeface="Symbol"/>
              </a:rPr>
              <a:t> </a:t>
            </a:r>
            <a:r>
              <a:rPr b="0" lang="en-US" sz="2400" spc="-1" strike="noStrike">
                <a:solidFill>
                  <a:schemeClr val="dk1"/>
                </a:solidFill>
                <a:latin typeface="Times New Roman"/>
              </a:rPr>
              <a:t>(</a:t>
            </a:r>
            <a:r>
              <a:rPr b="0" lang="en-US" sz="2400" spc="-1" strike="noStrike">
                <a:solidFill>
                  <a:schemeClr val="dk1"/>
                </a:solidFill>
                <a:latin typeface="Calibri"/>
              </a:rPr>
              <a:t>a </a:t>
            </a:r>
            <a:r>
              <a:rPr b="0" lang="en-US" sz="2400" spc="-1" strike="noStrike">
                <a:solidFill>
                  <a:schemeClr val="dk1"/>
                </a:solidFill>
                <a:latin typeface="Symbol"/>
              </a:rPr>
              <a:t>-</a:t>
            </a:r>
            <a:r>
              <a:rPr b="0" lang="en-US" sz="2400" spc="-1" strike="noStrike">
                <a:solidFill>
                  <a:schemeClr val="dk1"/>
                </a:solidFill>
                <a:latin typeface="Calibri"/>
              </a:rPr>
              <a:t> 1) </a:t>
            </a:r>
            <a:r>
              <a:rPr b="0" lang="en-US" sz="2400" spc="-1" strike="noStrike">
                <a:solidFill>
                  <a:schemeClr val="dk1"/>
                </a:solidFill>
                <a:latin typeface="Symbol"/>
              </a:rPr>
              <a:t>+</a:t>
            </a:r>
            <a:r>
              <a:rPr b="0" lang="en-US" sz="2400" spc="-1" strike="noStrike">
                <a:solidFill>
                  <a:schemeClr val="dk1"/>
                </a:solidFill>
                <a:latin typeface="Calibri"/>
              </a:rPr>
              <a:t> (3 </a:t>
            </a:r>
            <a:r>
              <a:rPr b="0" lang="en-US" sz="2400" spc="-1" strike="noStrike">
                <a:solidFill>
                  <a:schemeClr val="dk1"/>
                </a:solidFill>
                <a:latin typeface="Symbol"/>
              </a:rPr>
              <a:t> </a:t>
            </a:r>
            <a:r>
              <a:rPr b="0" lang="en-US" sz="2400" spc="-1" strike="noStrike">
                <a:solidFill>
                  <a:schemeClr val="dk1"/>
                </a:solidFill>
                <a:latin typeface="Calibri"/>
              </a:rPr>
              <a:t>b))</a:t>
            </a:r>
            <a:endParaRPr b="0" lang="en-US" sz="2400" spc="-1" strike="noStrike">
              <a:solidFill>
                <a:srgbClr val="000000"/>
              </a:solidFill>
              <a:latin typeface="Arial"/>
            </a:endParaRPr>
          </a:p>
        </p:txBody>
      </p:sp>
      <p:sp>
        <p:nvSpPr>
          <p:cNvPr id="128" name="PlaceHolder 3"/>
          <p:cNvSpPr>
            <a:spLocks noGrp="1"/>
          </p:cNvSpPr>
          <p:nvPr>
            <p:ph type="sldNum" idx="28"/>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977A7AF0-477B-4E50-AC7A-DBBAC9D16AD7}" type="slidenum">
              <a:rPr b="0" lang="en-US" sz="1400" spc="-1" strike="noStrike">
                <a:solidFill>
                  <a:schemeClr val="dk1">
                    <a:tint val="75000"/>
                  </a:schemeClr>
                </a:solidFill>
                <a:latin typeface="Tahoma"/>
                <a:ea typeface="MS PGothic"/>
              </a:rPr>
              <a:t>11</a:t>
            </a:fld>
            <a:endParaRPr b="0" lang="en-US" sz="1400" spc="-1" strike="noStrike">
              <a:solidFill>
                <a:srgbClr val="000000"/>
              </a:solidFill>
              <a:latin typeface="Times New Roman"/>
            </a:endParaRPr>
          </a:p>
        </p:txBody>
      </p:sp>
      <p:grpSp>
        <p:nvGrpSpPr>
          <p:cNvPr id="129" name="Group 21"/>
          <p:cNvGrpSpPr/>
          <p:nvPr/>
        </p:nvGrpSpPr>
        <p:grpSpPr>
          <a:xfrm>
            <a:off x="4038480" y="2777760"/>
            <a:ext cx="4728600" cy="3398400"/>
            <a:chOff x="4038480" y="2777760"/>
            <a:chExt cx="4728600" cy="3398400"/>
          </a:xfrm>
        </p:grpSpPr>
        <p:sp>
          <p:nvSpPr>
            <p:cNvPr id="130" name="Oval 4"/>
            <p:cNvSpPr/>
            <p:nvPr/>
          </p:nvSpPr>
          <p:spPr>
            <a:xfrm>
              <a:off x="6665760" y="2777760"/>
              <a:ext cx="524880" cy="565920"/>
            </a:xfrm>
            <a:prstGeom prst="ellipse">
              <a:avLst/>
            </a:prstGeom>
            <a:solidFill>
              <a:schemeClr val="accent4">
                <a:lumMod val="40000"/>
                <a:lumOff val="60000"/>
              </a:schemeClr>
            </a:solidFill>
            <a:ln w="19050">
              <a:solidFill>
                <a:srgbClr val="000000"/>
              </a:solidFill>
              <a:round/>
            </a:ln>
          </p:spPr>
          <p:style>
            <a:lnRef idx="0"/>
            <a:fillRef idx="0"/>
            <a:effectRef idx="0"/>
            <a:fontRef idx="minor"/>
          </p:style>
          <p:txBody>
            <a:bodyPr wrap="none" lIns="0" rIns="0" tIns="0" bIns="45000" anchor="ctr" anchorCtr="1">
              <a:noAutofit/>
            </a:bodyPr>
            <a:p>
              <a:pPr algn="ctr" defTabSz="457200">
                <a:lnSpc>
                  <a:spcPct val="100000"/>
                </a:lnSpc>
              </a:pPr>
              <a:r>
                <a:rPr b="0" lang="en-US" sz="2400" spc="-1" strike="noStrike">
                  <a:solidFill>
                    <a:schemeClr val="dk1"/>
                  </a:solidFill>
                  <a:latin typeface="Symbol"/>
                  <a:ea typeface="MS PGothic"/>
                </a:rPr>
                <a:t>+</a:t>
              </a:r>
              <a:endParaRPr b="0" lang="en-US" sz="2400" spc="-1" strike="noStrike">
                <a:solidFill>
                  <a:srgbClr val="000000"/>
                </a:solidFill>
                <a:latin typeface="Arial"/>
              </a:endParaRPr>
            </a:p>
          </p:txBody>
        </p:sp>
        <p:sp>
          <p:nvSpPr>
            <p:cNvPr id="131" name="Oval 5"/>
            <p:cNvSpPr/>
            <p:nvPr/>
          </p:nvSpPr>
          <p:spPr>
            <a:xfrm>
              <a:off x="7716600" y="3684240"/>
              <a:ext cx="524880" cy="565920"/>
            </a:xfrm>
            <a:prstGeom prst="ellipse">
              <a:avLst/>
            </a:prstGeom>
            <a:solidFill>
              <a:schemeClr val="accent4">
                <a:lumMod val="40000"/>
                <a:lumOff val="60000"/>
              </a:schemeClr>
            </a:solidFill>
            <a:ln w="19050">
              <a:solidFill>
                <a:srgbClr val="000000"/>
              </a:solidFill>
              <a:round/>
            </a:ln>
          </p:spPr>
          <p:style>
            <a:lnRef idx="0"/>
            <a:fillRef idx="0"/>
            <a:effectRef idx="0"/>
            <a:fontRef idx="minor"/>
          </p:style>
          <p:txBody>
            <a:bodyPr wrap="none" lIns="0" rIns="0" tIns="0" bIns="45000" anchor="ctr" anchorCtr="1">
              <a:noAutofit/>
            </a:bodyPr>
            <a:p>
              <a:pPr algn="ctr" defTabSz="457200">
                <a:lnSpc>
                  <a:spcPct val="100000"/>
                </a:lnSpc>
              </a:pPr>
              <a:r>
                <a:rPr b="0" lang="en-US" sz="2400" spc="-1" strike="noStrike">
                  <a:solidFill>
                    <a:schemeClr val="dk1"/>
                  </a:solidFill>
                  <a:latin typeface="Symbol"/>
                  <a:ea typeface="MS PGothic"/>
                </a:rPr>
                <a:t></a:t>
              </a:r>
              <a:endParaRPr b="0" lang="en-US" sz="2400" spc="-1" strike="noStrike">
                <a:solidFill>
                  <a:srgbClr val="000000"/>
                </a:solidFill>
                <a:latin typeface="Arial"/>
              </a:endParaRPr>
            </a:p>
          </p:txBody>
        </p:sp>
        <p:sp>
          <p:nvSpPr>
            <p:cNvPr id="132" name="Oval 6"/>
            <p:cNvSpPr/>
            <p:nvPr/>
          </p:nvSpPr>
          <p:spPr>
            <a:xfrm>
              <a:off x="4564080" y="3684240"/>
              <a:ext cx="524880" cy="565920"/>
            </a:xfrm>
            <a:prstGeom prst="ellipse">
              <a:avLst/>
            </a:prstGeom>
            <a:solidFill>
              <a:schemeClr val="accent4">
                <a:lumMod val="40000"/>
                <a:lumOff val="60000"/>
              </a:schemeClr>
            </a:solidFill>
            <a:ln w="19050">
              <a:solidFill>
                <a:srgbClr val="000000"/>
              </a:solidFill>
              <a:round/>
            </a:ln>
          </p:spPr>
          <p:style>
            <a:lnRef idx="0"/>
            <a:fillRef idx="0"/>
            <a:effectRef idx="0"/>
            <a:fontRef idx="minor"/>
          </p:style>
          <p:txBody>
            <a:bodyPr wrap="none" lIns="0" rIns="0" tIns="0" bIns="45000" anchor="ctr" anchorCtr="1">
              <a:noAutofit/>
            </a:bodyPr>
            <a:p>
              <a:pPr algn="ctr" defTabSz="457200">
                <a:lnSpc>
                  <a:spcPct val="100000"/>
                </a:lnSpc>
              </a:pPr>
              <a:r>
                <a:rPr b="0" lang="en-US" sz="2400" spc="-1" strike="noStrike">
                  <a:solidFill>
                    <a:schemeClr val="dk1"/>
                  </a:solidFill>
                  <a:latin typeface="Symbol"/>
                  <a:ea typeface="MS PGothic"/>
                </a:rPr>
                <a:t></a:t>
              </a:r>
              <a:endParaRPr b="0" lang="en-US" sz="2400" spc="-1" strike="noStrike">
                <a:solidFill>
                  <a:srgbClr val="000000"/>
                </a:solidFill>
                <a:latin typeface="Arial"/>
              </a:endParaRPr>
            </a:p>
          </p:txBody>
        </p:sp>
        <p:sp>
          <p:nvSpPr>
            <p:cNvPr id="133" name="Oval 7"/>
            <p:cNvSpPr/>
            <p:nvPr/>
          </p:nvSpPr>
          <p:spPr>
            <a:xfrm>
              <a:off x="5614920" y="4590720"/>
              <a:ext cx="524880" cy="565920"/>
            </a:xfrm>
            <a:prstGeom prst="ellipse">
              <a:avLst/>
            </a:prstGeom>
            <a:solidFill>
              <a:schemeClr val="accent4">
                <a:lumMod val="40000"/>
                <a:lumOff val="60000"/>
              </a:schemeClr>
            </a:solidFill>
            <a:ln w="19050">
              <a:solidFill>
                <a:srgbClr val="000000"/>
              </a:solidFill>
              <a:round/>
            </a:ln>
          </p:spPr>
          <p:style>
            <a:lnRef idx="0"/>
            <a:fillRef idx="0"/>
            <a:effectRef idx="0"/>
            <a:fontRef idx="minor"/>
          </p:style>
          <p:txBody>
            <a:bodyPr wrap="none" lIns="0" rIns="0" tIns="0" bIns="45000" anchor="ctr" anchorCtr="1">
              <a:noAutofit/>
            </a:bodyPr>
            <a:p>
              <a:pPr algn="ctr" defTabSz="457200">
                <a:lnSpc>
                  <a:spcPct val="100000"/>
                </a:lnSpc>
              </a:pPr>
              <a:r>
                <a:rPr b="0" lang="en-US" sz="2400" spc="-1" strike="noStrike">
                  <a:solidFill>
                    <a:schemeClr val="dk1"/>
                  </a:solidFill>
                  <a:latin typeface="Symbol"/>
                  <a:ea typeface="MS PGothic"/>
                </a:rPr>
                <a:t>-</a:t>
              </a:r>
              <a:endParaRPr b="0" lang="en-US" sz="2400" spc="-1" strike="noStrike">
                <a:solidFill>
                  <a:srgbClr val="000000"/>
                </a:solidFill>
                <a:latin typeface="Arial"/>
              </a:endParaRPr>
            </a:p>
          </p:txBody>
        </p:sp>
        <p:sp>
          <p:nvSpPr>
            <p:cNvPr id="134" name="Rectangle 8"/>
            <p:cNvSpPr/>
            <p:nvPr/>
          </p:nvSpPr>
          <p:spPr>
            <a:xfrm>
              <a:off x="4038480" y="4590720"/>
              <a:ext cx="524880" cy="565920"/>
            </a:xfrm>
            <a:prstGeom prst="rect">
              <a:avLst/>
            </a:prstGeom>
            <a:solidFill>
              <a:schemeClr val="accent1">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2</a:t>
              </a:r>
              <a:endParaRPr b="0" lang="en-US" sz="2400" spc="-1" strike="noStrike">
                <a:solidFill>
                  <a:srgbClr val="000000"/>
                </a:solidFill>
                <a:latin typeface="Arial"/>
              </a:endParaRPr>
            </a:p>
          </p:txBody>
        </p:sp>
        <p:sp>
          <p:nvSpPr>
            <p:cNvPr id="135" name="Rectangle 9"/>
            <p:cNvSpPr/>
            <p:nvPr/>
          </p:nvSpPr>
          <p:spPr>
            <a:xfrm>
              <a:off x="5089320" y="5610240"/>
              <a:ext cx="524880" cy="565920"/>
            </a:xfrm>
            <a:prstGeom prst="rect">
              <a:avLst/>
            </a:prstGeom>
            <a:solidFill>
              <a:schemeClr val="accent1">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a</a:t>
              </a:r>
              <a:endParaRPr b="0" lang="en-US" sz="2400" spc="-1" strike="noStrike">
                <a:solidFill>
                  <a:srgbClr val="000000"/>
                </a:solidFill>
                <a:latin typeface="Arial"/>
              </a:endParaRPr>
            </a:p>
          </p:txBody>
        </p:sp>
        <p:sp>
          <p:nvSpPr>
            <p:cNvPr id="136" name="Rectangle 10"/>
            <p:cNvSpPr/>
            <p:nvPr/>
          </p:nvSpPr>
          <p:spPr>
            <a:xfrm>
              <a:off x="6140520" y="5610240"/>
              <a:ext cx="524880" cy="565920"/>
            </a:xfrm>
            <a:prstGeom prst="rect">
              <a:avLst/>
            </a:prstGeom>
            <a:solidFill>
              <a:schemeClr val="accent1">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1</a:t>
              </a:r>
              <a:endParaRPr b="0" lang="en-US" sz="2400" spc="-1" strike="noStrike">
                <a:solidFill>
                  <a:srgbClr val="000000"/>
                </a:solidFill>
                <a:latin typeface="Arial"/>
              </a:endParaRPr>
            </a:p>
          </p:txBody>
        </p:sp>
        <p:sp>
          <p:nvSpPr>
            <p:cNvPr id="137" name="Rectangle 11"/>
            <p:cNvSpPr/>
            <p:nvPr/>
          </p:nvSpPr>
          <p:spPr>
            <a:xfrm>
              <a:off x="7191360" y="4590720"/>
              <a:ext cx="524880" cy="565920"/>
            </a:xfrm>
            <a:prstGeom prst="rect">
              <a:avLst/>
            </a:prstGeom>
            <a:solidFill>
              <a:schemeClr val="accent1">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3</a:t>
              </a:r>
              <a:endParaRPr b="0" lang="en-US" sz="2400" spc="-1" strike="noStrike">
                <a:solidFill>
                  <a:srgbClr val="000000"/>
                </a:solidFill>
                <a:latin typeface="Arial"/>
              </a:endParaRPr>
            </a:p>
          </p:txBody>
        </p:sp>
        <p:sp>
          <p:nvSpPr>
            <p:cNvPr id="138" name="Rectangle 12"/>
            <p:cNvSpPr/>
            <p:nvPr/>
          </p:nvSpPr>
          <p:spPr>
            <a:xfrm>
              <a:off x="8242200" y="4590720"/>
              <a:ext cx="524880" cy="565920"/>
            </a:xfrm>
            <a:prstGeom prst="rect">
              <a:avLst/>
            </a:prstGeom>
            <a:solidFill>
              <a:schemeClr val="accent1">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b</a:t>
              </a:r>
              <a:endParaRPr b="0" lang="en-US" sz="2400" spc="-1" strike="noStrike">
                <a:solidFill>
                  <a:srgbClr val="000000"/>
                </a:solidFill>
                <a:latin typeface="Arial"/>
              </a:endParaRPr>
            </a:p>
          </p:txBody>
        </p:sp>
        <p:cxnSp>
          <p:nvCxnSpPr>
            <p:cNvPr id="139" name="AutoShape 13"/>
            <p:cNvCxnSpPr>
              <a:stCxn id="130" idx="3"/>
              <a:endCxn id="132" idx="7"/>
            </p:cNvCxnSpPr>
            <p:nvPr/>
          </p:nvCxnSpPr>
          <p:spPr>
            <a:xfrm flipH="1">
              <a:off x="5012640" y="3275640"/>
              <a:ext cx="1730520" cy="477360"/>
            </a:xfrm>
            <a:prstGeom prst="straightConnector1">
              <a:avLst/>
            </a:prstGeom>
            <a:ln w="19050">
              <a:solidFill>
                <a:srgbClr val="000000"/>
              </a:solidFill>
              <a:round/>
            </a:ln>
          </p:spPr>
        </p:cxnSp>
        <p:cxnSp>
          <p:nvCxnSpPr>
            <p:cNvPr id="140" name="AutoShape 14"/>
            <p:cNvCxnSpPr>
              <a:stCxn id="131" idx="1"/>
              <a:endCxn id="130" idx="5"/>
            </p:cNvCxnSpPr>
            <p:nvPr/>
          </p:nvCxnSpPr>
          <p:spPr>
            <a:xfrm flipH="1" flipV="1">
              <a:off x="7114320" y="3275640"/>
              <a:ext cx="679680" cy="477360"/>
            </a:xfrm>
            <a:prstGeom prst="straightConnector1">
              <a:avLst/>
            </a:prstGeom>
            <a:ln w="19050">
              <a:solidFill>
                <a:srgbClr val="000000"/>
              </a:solidFill>
              <a:round/>
            </a:ln>
          </p:spPr>
        </p:cxnSp>
        <p:cxnSp>
          <p:nvCxnSpPr>
            <p:cNvPr id="141" name="AutoShape 15"/>
            <p:cNvCxnSpPr>
              <a:stCxn id="138" idx="0"/>
              <a:endCxn id="131" idx="5"/>
            </p:cNvCxnSpPr>
            <p:nvPr/>
          </p:nvCxnSpPr>
          <p:spPr>
            <a:xfrm flipH="1" flipV="1">
              <a:off x="8165520" y="4182120"/>
              <a:ext cx="339840" cy="394920"/>
            </a:xfrm>
            <a:prstGeom prst="straightConnector1">
              <a:avLst/>
            </a:prstGeom>
            <a:ln w="19050">
              <a:solidFill>
                <a:srgbClr val="000000"/>
              </a:solidFill>
              <a:round/>
            </a:ln>
          </p:spPr>
        </p:cxnSp>
        <p:cxnSp>
          <p:nvCxnSpPr>
            <p:cNvPr id="142" name="AutoShape 16"/>
            <p:cNvCxnSpPr>
              <a:stCxn id="137" idx="0"/>
              <a:endCxn id="131" idx="3"/>
            </p:cNvCxnSpPr>
            <p:nvPr/>
          </p:nvCxnSpPr>
          <p:spPr>
            <a:xfrm flipV="1">
              <a:off x="7453800" y="4182120"/>
              <a:ext cx="340200" cy="394920"/>
            </a:xfrm>
            <a:prstGeom prst="straightConnector1">
              <a:avLst/>
            </a:prstGeom>
            <a:ln w="19050">
              <a:solidFill>
                <a:srgbClr val="000000"/>
              </a:solidFill>
              <a:round/>
            </a:ln>
          </p:spPr>
        </p:cxnSp>
        <p:cxnSp>
          <p:nvCxnSpPr>
            <p:cNvPr id="143" name="AutoShape 17"/>
            <p:cNvCxnSpPr>
              <a:stCxn id="136" idx="0"/>
              <a:endCxn id="133" idx="5"/>
            </p:cNvCxnSpPr>
            <p:nvPr/>
          </p:nvCxnSpPr>
          <p:spPr>
            <a:xfrm flipH="1" flipV="1">
              <a:off x="6063480" y="5088600"/>
              <a:ext cx="340200" cy="508320"/>
            </a:xfrm>
            <a:prstGeom prst="straightConnector1">
              <a:avLst/>
            </a:prstGeom>
            <a:ln w="19050">
              <a:solidFill>
                <a:srgbClr val="000000"/>
              </a:solidFill>
              <a:round/>
            </a:ln>
          </p:spPr>
        </p:cxnSp>
        <p:cxnSp>
          <p:nvCxnSpPr>
            <p:cNvPr id="144" name="AutoShape 18"/>
            <p:cNvCxnSpPr>
              <a:stCxn id="135" idx="0"/>
              <a:endCxn id="133" idx="3"/>
            </p:cNvCxnSpPr>
            <p:nvPr/>
          </p:nvCxnSpPr>
          <p:spPr>
            <a:xfrm flipV="1">
              <a:off x="5352120" y="5088600"/>
              <a:ext cx="339840" cy="508320"/>
            </a:xfrm>
            <a:prstGeom prst="straightConnector1">
              <a:avLst/>
            </a:prstGeom>
            <a:ln w="19050">
              <a:solidFill>
                <a:srgbClr val="000000"/>
              </a:solidFill>
              <a:round/>
            </a:ln>
          </p:spPr>
        </p:cxnSp>
        <p:cxnSp>
          <p:nvCxnSpPr>
            <p:cNvPr id="145" name="AutoShape 19"/>
            <p:cNvCxnSpPr>
              <a:stCxn id="134" idx="0"/>
              <a:endCxn id="132" idx="3"/>
            </p:cNvCxnSpPr>
            <p:nvPr/>
          </p:nvCxnSpPr>
          <p:spPr>
            <a:xfrm flipV="1">
              <a:off x="4301280" y="4182120"/>
              <a:ext cx="339840" cy="394920"/>
            </a:xfrm>
            <a:prstGeom prst="straightConnector1">
              <a:avLst/>
            </a:prstGeom>
            <a:ln w="19050">
              <a:solidFill>
                <a:srgbClr val="000000"/>
              </a:solidFill>
              <a:round/>
            </a:ln>
          </p:spPr>
        </p:cxnSp>
        <p:cxnSp>
          <p:nvCxnSpPr>
            <p:cNvPr id="146" name="AutoShape 20"/>
            <p:cNvCxnSpPr>
              <a:stCxn id="133" idx="1"/>
              <a:endCxn id="132" idx="5"/>
            </p:cNvCxnSpPr>
            <p:nvPr/>
          </p:nvCxnSpPr>
          <p:spPr>
            <a:xfrm flipH="1" flipV="1">
              <a:off x="5012640" y="4182120"/>
              <a:ext cx="679320" cy="477360"/>
            </a:xfrm>
            <a:prstGeom prst="straightConnector1">
              <a:avLst/>
            </a:prstGeom>
            <a:ln w="19050">
              <a:solidFill>
                <a:srgbClr val="000000"/>
              </a:solidFill>
              <a:round/>
            </a:ln>
          </p:spPr>
        </p:cxnSp>
      </p:gr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Decision Tree</a:t>
            </a:r>
            <a:endParaRPr b="0" lang="en-US" sz="4400" spc="-1" strike="noStrike">
              <a:solidFill>
                <a:srgbClr val="000000"/>
              </a:solidFill>
              <a:latin typeface="Arial"/>
            </a:endParaRPr>
          </a:p>
        </p:txBody>
      </p:sp>
      <p:sp>
        <p:nvSpPr>
          <p:cNvPr id="148" name="PlaceHolder 2"/>
          <p:cNvSpPr>
            <a:spLocks noGrp="1"/>
          </p:cNvSpPr>
          <p:nvPr>
            <p:ph/>
          </p:nvPr>
        </p:nvSpPr>
        <p:spPr>
          <a:xfrm>
            <a:off x="838080" y="1107000"/>
            <a:ext cx="5829480" cy="5069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Binary tree associated with a decision process</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Internal nodes: questions with yes/no answer</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Leaf nodes: decisions</a:t>
            </a:r>
            <a:endParaRPr b="0" lang="en-US" sz="2000" spc="-1" strike="noStrike">
              <a:solidFill>
                <a:srgbClr val="000000"/>
              </a:solidFill>
              <a:latin typeface="Arial"/>
            </a:endParaRPr>
          </a:p>
        </p:txBody>
      </p:sp>
      <p:sp>
        <p:nvSpPr>
          <p:cNvPr id="149" name="PlaceHolder 3"/>
          <p:cNvSpPr>
            <a:spLocks noGrp="1"/>
          </p:cNvSpPr>
          <p:nvPr>
            <p:ph type="sldNum" idx="29"/>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BA05BD8D-37B9-4705-8F07-640C947219FD}" type="slidenum">
              <a:rPr b="0" lang="en-US" sz="1400" spc="-1" strike="noStrike">
                <a:solidFill>
                  <a:schemeClr val="dk1">
                    <a:tint val="75000"/>
                  </a:schemeClr>
                </a:solidFill>
                <a:latin typeface="Tahoma"/>
                <a:ea typeface="MS PGothic"/>
              </a:rPr>
              <a:t>12</a:t>
            </a:fld>
            <a:endParaRPr b="0" lang="en-US" sz="1400" spc="-1" strike="noStrike">
              <a:solidFill>
                <a:srgbClr val="000000"/>
              </a:solidFill>
              <a:latin typeface="Times New Roman"/>
            </a:endParaRPr>
          </a:p>
        </p:txBody>
      </p:sp>
      <p:pic>
        <p:nvPicPr>
          <p:cNvPr id="150" name="Picture 2" descr=""/>
          <p:cNvPicPr/>
          <p:nvPr/>
        </p:nvPicPr>
        <p:blipFill>
          <a:blip r:embed="rId1"/>
          <a:stretch/>
        </p:blipFill>
        <p:spPr>
          <a:xfrm>
            <a:off x="7081920" y="480960"/>
            <a:ext cx="3580560" cy="6057360"/>
          </a:xfrm>
          <a:prstGeom prst="rect">
            <a:avLst/>
          </a:prstGeom>
          <a:ln w="0">
            <a:noFill/>
          </a:ln>
        </p:spPr>
      </p:pic>
      <p:sp>
        <p:nvSpPr>
          <p:cNvPr id="151" name="Arrow: Right 3"/>
          <p:cNvSpPr/>
          <p:nvPr/>
        </p:nvSpPr>
        <p:spPr>
          <a:xfrm>
            <a:off x="7345800" y="551520"/>
            <a:ext cx="619200" cy="258480"/>
          </a:xfrm>
          <a:prstGeom prst="rightArrow">
            <a:avLst>
              <a:gd name="adj1" fmla="val 50000"/>
              <a:gd name="adj2" fmla="val 50000"/>
            </a:avLst>
          </a:prstGeom>
          <a:solidFill>
            <a:srgbClr val="ff0000"/>
          </a:solidFill>
          <a:ln>
            <a:solidFill>
              <a:srgbClr val="27435d"/>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2" name="Arrow: Right 4"/>
          <p:cNvSpPr/>
          <p:nvPr/>
        </p:nvSpPr>
        <p:spPr>
          <a:xfrm rot="10800000">
            <a:off x="9972720" y="1862640"/>
            <a:ext cx="619200" cy="258480"/>
          </a:xfrm>
          <a:prstGeom prst="rightArrow">
            <a:avLst>
              <a:gd name="adj1" fmla="val 50000"/>
              <a:gd name="adj2" fmla="val 50000"/>
            </a:avLst>
          </a:prstGeom>
          <a:solidFill>
            <a:srgbClr val="ff0000"/>
          </a:solidFill>
          <a:ln>
            <a:solidFill>
              <a:srgbClr val="27435d"/>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3" name="Arrow: Right 5"/>
          <p:cNvSpPr/>
          <p:nvPr/>
        </p:nvSpPr>
        <p:spPr>
          <a:xfrm>
            <a:off x="7386480" y="3169800"/>
            <a:ext cx="619200" cy="258480"/>
          </a:xfrm>
          <a:prstGeom prst="rightArrow">
            <a:avLst>
              <a:gd name="adj1" fmla="val 50000"/>
              <a:gd name="adj2" fmla="val 50000"/>
            </a:avLst>
          </a:prstGeom>
          <a:solidFill>
            <a:srgbClr val="ff0000"/>
          </a:solidFill>
          <a:ln>
            <a:solidFill>
              <a:srgbClr val="27435d"/>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4" name="Arrow: Right 6"/>
          <p:cNvSpPr/>
          <p:nvPr/>
        </p:nvSpPr>
        <p:spPr>
          <a:xfrm rot="10800000">
            <a:off x="10064160" y="4507200"/>
            <a:ext cx="619200" cy="258480"/>
          </a:xfrm>
          <a:prstGeom prst="rightArrow">
            <a:avLst>
              <a:gd name="adj1" fmla="val 50000"/>
              <a:gd name="adj2" fmla="val 50000"/>
            </a:avLst>
          </a:prstGeom>
          <a:solidFill>
            <a:srgbClr val="ff0000"/>
          </a:solidFill>
          <a:ln>
            <a:solidFill>
              <a:srgbClr val="27435d"/>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timing>
    <p:tnLst>
      <p:par>
        <p:cTn id="7" dur="indefinite" restart="never" nodeType="tmRoot">
          <p:childTnLst>
            <p:seq>
              <p:cTn id="8" dur="indefinite" nodeType="mainSeq">
                <p:childTnLst>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151"/>
                                        </p:tgtEl>
                                        <p:attrNameLst>
                                          <p:attrName>style.visibility</p:attrName>
                                        </p:attrNameLst>
                                      </p:cBhvr>
                                      <p:to>
                                        <p:strVal val="visible"/>
                                      </p:to>
                                    </p:set>
                                  </p:childTnLst>
                                </p:cTn>
                              </p:par>
                              <p:par>
                                <p:cTn id="13" nodeType="withEffect" fill="hold" presetClass="entr" presetID="1">
                                  <p:stCondLst>
                                    <p:cond delay="0"/>
                                  </p:stCondLst>
                                  <p:childTnLst>
                                    <p:set>
                                      <p:cBhvr>
                                        <p:cTn id="14" dur="1" fill="hold">
                                          <p:stCondLst>
                                            <p:cond delay="0"/>
                                          </p:stCondLst>
                                        </p:cTn>
                                        <p:tgtEl>
                                          <p:spTgt spid="153"/>
                                        </p:tgtEl>
                                        <p:attrNameLst>
                                          <p:attrName>style.visibility</p:attrName>
                                        </p:attrNameLst>
                                      </p:cBhvr>
                                      <p:to>
                                        <p:strVal val="visible"/>
                                      </p:to>
                                    </p:set>
                                  </p:childTnLst>
                                </p:cTn>
                              </p:par>
                              <p:par>
                                <p:cTn id="15" nodeType="withEffect" fill="hold" presetClass="entr" presetID="1">
                                  <p:stCondLst>
                                    <p:cond delay="0"/>
                                  </p:stCondLst>
                                  <p:childTnLst>
                                    <p:set>
                                      <p:cBhvr>
                                        <p:cTn id="16" dur="1" fill="hold">
                                          <p:stCondLst>
                                            <p:cond delay="0"/>
                                          </p:stCondLst>
                                        </p:cTn>
                                        <p:tgtEl>
                                          <p:spTgt spid="152"/>
                                        </p:tgtEl>
                                        <p:attrNameLst>
                                          <p:attrName>style.visibility</p:attrName>
                                        </p:attrNameLst>
                                      </p:cBhvr>
                                      <p:to>
                                        <p:strVal val="visible"/>
                                      </p:to>
                                    </p:set>
                                  </p:childTnLst>
                                </p:cTn>
                              </p:par>
                              <p:par>
                                <p:cTn id="17" nodeType="withEffect" fill="hold" presetClass="entr" presetID="1">
                                  <p:stCondLst>
                                    <p:cond delay="0"/>
                                  </p:stCondLst>
                                  <p:childTnLst>
                                    <p:set>
                                      <p:cBhvr>
                                        <p:cTn id="18"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Searching</a:t>
            </a:r>
            <a:endParaRPr b="0" lang="en-US" sz="4400" spc="-1" strike="noStrike">
              <a:solidFill>
                <a:srgbClr val="000000"/>
              </a:solidFill>
              <a:latin typeface="Arial"/>
            </a:endParaRPr>
          </a:p>
        </p:txBody>
      </p:sp>
      <p:sp>
        <p:nvSpPr>
          <p:cNvPr id="156" name="PlaceHolder 2"/>
          <p:cNvSpPr>
            <a:spLocks noGrp="1"/>
          </p:cNvSpPr>
          <p:nvPr>
            <p:ph/>
          </p:nvPr>
        </p:nvSpPr>
        <p:spPr>
          <a:xfrm>
            <a:off x="838080" y="1107000"/>
            <a:ext cx="5015520" cy="5069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Binary search tree</a:t>
            </a:r>
            <a:endParaRPr b="0" lang="en-US" sz="2800" spc="-1" strike="noStrike">
              <a:solidFill>
                <a:srgbClr val="000000"/>
              </a:solidFill>
              <a:latin typeface="Arial"/>
            </a:endParaRPr>
          </a:p>
        </p:txBody>
      </p:sp>
      <p:pic>
        <p:nvPicPr>
          <p:cNvPr id="157" name="Picture 2" descr=""/>
          <p:cNvPicPr/>
          <p:nvPr/>
        </p:nvPicPr>
        <p:blipFill>
          <a:blip r:embed="rId1"/>
          <a:stretch/>
        </p:blipFill>
        <p:spPr>
          <a:xfrm>
            <a:off x="6337440" y="1144440"/>
            <a:ext cx="5280120" cy="456804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Binary Tree ADT</a:t>
            </a:r>
            <a:endParaRPr b="0" lang="en-US" sz="4400" spc="-1" strike="noStrike">
              <a:solidFill>
                <a:srgbClr val="000000"/>
              </a:solidFill>
              <a:latin typeface="Arial"/>
            </a:endParaRPr>
          </a:p>
        </p:txBody>
      </p:sp>
      <p:sp>
        <p:nvSpPr>
          <p:cNvPr id="159" name="PlaceHolder 2"/>
          <p:cNvSpPr>
            <a:spLocks noGrp="1"/>
          </p:cNvSpPr>
          <p:nvPr>
            <p:ph/>
          </p:nvPr>
        </p:nvSpPr>
        <p:spPr>
          <a:xfrm>
            <a:off x="838080" y="1107000"/>
            <a:ext cx="10514880" cy="5069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Binary Tree ADT extends the Tree ADT, i.e., it inherits all the methods of the Tree ADT</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Additional methods: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position </a:t>
            </a:r>
            <a:r>
              <a:rPr b="0" lang="en-US" sz="2400" spc="-1" strike="noStrike">
                <a:solidFill>
                  <a:schemeClr val="dk2"/>
                </a:solidFill>
                <a:latin typeface="Calibri"/>
              </a:rPr>
              <a:t>left</a:t>
            </a:r>
            <a:r>
              <a:rPr b="0" lang="en-US" sz="2400" spc="-1" strike="noStrike">
                <a:solidFill>
                  <a:schemeClr val="dk1"/>
                </a:solidFill>
                <a:latin typeface="Calibri"/>
              </a:rPr>
              <a:t>(p)</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position </a:t>
            </a:r>
            <a:r>
              <a:rPr b="0" lang="en-US" sz="2400" spc="-1" strike="noStrike">
                <a:solidFill>
                  <a:schemeClr val="dk2"/>
                </a:solidFill>
                <a:latin typeface="Calibri"/>
              </a:rPr>
              <a:t>right</a:t>
            </a:r>
            <a:r>
              <a:rPr b="0" lang="en-US" sz="2400" spc="-1" strike="noStrike">
                <a:solidFill>
                  <a:schemeClr val="dk1"/>
                </a:solidFill>
                <a:latin typeface="Calibri"/>
              </a:rPr>
              <a:t>(p)</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position </a:t>
            </a:r>
            <a:r>
              <a:rPr b="0" lang="en-US" sz="2400" spc="-1" strike="noStrike">
                <a:solidFill>
                  <a:schemeClr val="dk2"/>
                </a:solidFill>
                <a:latin typeface="Calibri"/>
              </a:rPr>
              <a:t>sibling</a:t>
            </a:r>
            <a:r>
              <a:rPr b="0" lang="en-US" sz="2400" spc="-1" strike="noStrike">
                <a:solidFill>
                  <a:schemeClr val="dk1"/>
                </a:solidFill>
                <a:latin typeface="Calibri"/>
              </a:rPr>
              <a:t>(p)</a:t>
            </a:r>
            <a:endParaRPr b="0" lang="en-US" sz="2400" spc="-1" strike="noStrike">
              <a:solidFill>
                <a:srgbClr val="000000"/>
              </a:solidFill>
              <a:latin typeface="Arial"/>
            </a:endParaRPr>
          </a:p>
        </p:txBody>
      </p:sp>
      <p:sp>
        <p:nvSpPr>
          <p:cNvPr id="160" name="PlaceHolder 3"/>
          <p:cNvSpPr>
            <a:spLocks noGrp="1"/>
          </p:cNvSpPr>
          <p:nvPr>
            <p:ph type="dt" idx="30"/>
          </p:nvPr>
        </p:nvSpPr>
        <p:spPr>
          <a:xfrm>
            <a:off x="838080" y="6356520"/>
            <a:ext cx="2742480" cy="36432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defTabSz="457200">
              <a:lnSpc>
                <a:spcPct val="100000"/>
              </a:lnSpc>
              <a:buNone/>
              <a:tabLst>
                <a:tab algn="l" pos="0"/>
              </a:tabLst>
            </a:pPr>
            <a:r>
              <a:rPr b="0" lang="en-US" sz="1400" spc="-1" strike="noStrike">
                <a:solidFill>
                  <a:schemeClr val="dk1">
                    <a:tint val="75000"/>
                  </a:schemeClr>
                </a:solidFill>
                <a:latin typeface="Tahoma"/>
                <a:ea typeface="MS PGothic"/>
              </a:rPr>
              <a:t>© 2013 Goodrich, Tamassia, Goldwasser</a:t>
            </a:r>
            <a:endParaRPr b="0" lang="en-US" sz="1400" spc="-1" strike="noStrike">
              <a:solidFill>
                <a:srgbClr val="000000"/>
              </a:solidFill>
              <a:latin typeface="Times New Roman"/>
            </a:endParaRPr>
          </a:p>
        </p:txBody>
      </p:sp>
      <p:sp>
        <p:nvSpPr>
          <p:cNvPr id="161" name="PlaceHolder 4"/>
          <p:cNvSpPr>
            <a:spLocks noGrp="1"/>
          </p:cNvSpPr>
          <p:nvPr>
            <p:ph type="ftr" idx="31"/>
          </p:nvPr>
        </p:nvSpPr>
        <p:spPr>
          <a:xfrm>
            <a:off x="4038480" y="6356520"/>
            <a:ext cx="4114080" cy="364320"/>
          </a:xfrm>
          <a:prstGeom prst="rect">
            <a:avLst/>
          </a:prstGeom>
          <a:noFill/>
          <a:ln w="0">
            <a:noFill/>
          </a:ln>
        </p:spPr>
        <p:txBody>
          <a:bodyPr lIns="91440" rIns="91440" tIns="45720" bIns="45720" anchor="ctr">
            <a:noAutofit/>
          </a:bodyPr>
          <a:lstStyle>
            <a:lvl1pPr indent="0" algn="ct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ctr" defTabSz="457200">
              <a:lnSpc>
                <a:spcPct val="100000"/>
              </a:lnSpc>
              <a:buNone/>
              <a:tabLst>
                <a:tab algn="l" pos="0"/>
              </a:tabLst>
            </a:pPr>
            <a:r>
              <a:rPr b="0" lang="en-US" sz="1400" spc="-1" strike="noStrike">
                <a:solidFill>
                  <a:schemeClr val="dk1">
                    <a:tint val="75000"/>
                  </a:schemeClr>
                </a:solidFill>
                <a:latin typeface="Tahoma"/>
                <a:ea typeface="MS PGothic"/>
              </a:rPr>
              <a:t>Trees</a:t>
            </a:r>
            <a:endParaRPr b="0" lang="en-US" sz="1400" spc="-1" strike="noStrike">
              <a:solidFill>
                <a:srgbClr val="000000"/>
              </a:solidFill>
              <a:latin typeface="Times New Roman"/>
            </a:endParaRPr>
          </a:p>
        </p:txBody>
      </p:sp>
      <p:sp>
        <p:nvSpPr>
          <p:cNvPr id="162" name="PlaceHolder 5"/>
          <p:cNvSpPr>
            <a:spLocks noGrp="1"/>
          </p:cNvSpPr>
          <p:nvPr>
            <p:ph type="sldNum" idx="32"/>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D671AAED-8175-41E3-9CCA-88158DEBE2FA}" type="slidenum">
              <a:rPr b="0" lang="en-US" sz="1400" spc="-1" strike="noStrike">
                <a:solidFill>
                  <a:schemeClr val="dk1">
                    <a:tint val="75000"/>
                  </a:schemeClr>
                </a:solidFill>
                <a:latin typeface="Tahoma"/>
                <a:ea typeface="MS PGothic"/>
              </a:rPr>
              <a:t>14</a:t>
            </a:fld>
            <a:endParaRPr b="0" lang="en-US" sz="1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Abstract BinaryTree Class</a:t>
            </a:r>
            <a:endParaRPr b="0" lang="en-US" sz="4400" spc="-1" strike="noStrike">
              <a:solidFill>
                <a:srgbClr val="000000"/>
              </a:solidFill>
              <a:latin typeface="Arial"/>
            </a:endParaRPr>
          </a:p>
        </p:txBody>
      </p:sp>
      <p:pic>
        <p:nvPicPr>
          <p:cNvPr id="164" name="Content Placeholder 14" descr=""/>
          <p:cNvPicPr/>
          <p:nvPr/>
        </p:nvPicPr>
        <p:blipFill>
          <a:blip r:embed="rId1"/>
          <a:stretch/>
        </p:blipFill>
        <p:spPr>
          <a:xfrm>
            <a:off x="540360" y="1207080"/>
            <a:ext cx="5686200" cy="3724560"/>
          </a:xfrm>
          <a:prstGeom prst="rect">
            <a:avLst/>
          </a:prstGeom>
          <a:ln w="0">
            <a:noFill/>
          </a:ln>
        </p:spPr>
      </p:pic>
      <p:pic>
        <p:nvPicPr>
          <p:cNvPr id="165" name="Picture 16" descr=""/>
          <p:cNvPicPr/>
          <p:nvPr/>
        </p:nvPicPr>
        <p:blipFill>
          <a:blip r:embed="rId2"/>
          <a:stretch/>
        </p:blipFill>
        <p:spPr>
          <a:xfrm>
            <a:off x="6081120" y="2679120"/>
            <a:ext cx="5750280" cy="378864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Preorder Traversal</a:t>
            </a:r>
            <a:endParaRPr b="0" lang="en-US" sz="4400" spc="-1" strike="noStrike">
              <a:solidFill>
                <a:srgbClr val="000000"/>
              </a:solidFill>
              <a:latin typeface="Arial"/>
            </a:endParaRPr>
          </a:p>
        </p:txBody>
      </p:sp>
      <p:sp>
        <p:nvSpPr>
          <p:cNvPr id="167" name="PlaceHolder 2"/>
          <p:cNvSpPr>
            <a:spLocks noGrp="1"/>
          </p:cNvSpPr>
          <p:nvPr>
            <p:ph/>
          </p:nvPr>
        </p:nvSpPr>
        <p:spPr>
          <a:xfrm>
            <a:off x="838080" y="1107000"/>
            <a:ext cx="7331040" cy="50691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 traversal visits the nodes of a tree in a systematic manner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 a preorder traversal, a node is visited before its descendants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Application: print a structured document</a:t>
            </a:r>
            <a:endParaRPr b="0" lang="en-US" sz="2800" spc="-1" strike="noStrike">
              <a:solidFill>
                <a:srgbClr val="000000"/>
              </a:solidFill>
              <a:latin typeface="Arial"/>
            </a:endParaRPr>
          </a:p>
        </p:txBody>
      </p:sp>
      <p:sp>
        <p:nvSpPr>
          <p:cNvPr id="168" name="PlaceHolder 3"/>
          <p:cNvSpPr>
            <a:spLocks noGrp="1"/>
          </p:cNvSpPr>
          <p:nvPr>
            <p:ph type="sldNum" idx="33"/>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4C975ECC-D6EC-417E-A922-BB8271F4914E}" type="slidenum">
              <a:rPr b="0" lang="en-US" sz="1400" spc="-1" strike="noStrike">
                <a:solidFill>
                  <a:schemeClr val="dk1">
                    <a:tint val="75000"/>
                  </a:schemeClr>
                </a:solidFill>
                <a:latin typeface="Tahoma"/>
                <a:ea typeface="MS PGothic"/>
              </a:rPr>
              <a:t>16</a:t>
            </a:fld>
            <a:endParaRPr b="0" lang="en-US" sz="1400" spc="-1" strike="noStrike">
              <a:solidFill>
                <a:srgbClr val="000000"/>
              </a:solidFill>
              <a:latin typeface="Times New Roman"/>
            </a:endParaRPr>
          </a:p>
        </p:txBody>
      </p:sp>
      <p:sp>
        <p:nvSpPr>
          <p:cNvPr id="169" name="AutoShape 5"/>
          <p:cNvSpPr/>
          <p:nvPr/>
        </p:nvSpPr>
        <p:spPr>
          <a:xfrm>
            <a:off x="5261400" y="3664800"/>
            <a:ext cx="192636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Make Money Fast!</a:t>
            </a:r>
            <a:endParaRPr b="0" lang="en-US" sz="1600" spc="-1" strike="noStrike">
              <a:solidFill>
                <a:srgbClr val="000000"/>
              </a:solidFill>
              <a:latin typeface="Arial"/>
            </a:endParaRPr>
          </a:p>
        </p:txBody>
      </p:sp>
      <p:sp>
        <p:nvSpPr>
          <p:cNvPr id="170" name="AutoShape 6"/>
          <p:cNvSpPr/>
          <p:nvPr/>
        </p:nvSpPr>
        <p:spPr>
          <a:xfrm>
            <a:off x="2608200" y="4579200"/>
            <a:ext cx="155268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1. Motivations</a:t>
            </a:r>
            <a:endParaRPr b="0" lang="en-US" sz="1600" spc="-1" strike="noStrike">
              <a:solidFill>
                <a:srgbClr val="000000"/>
              </a:solidFill>
              <a:latin typeface="Arial"/>
            </a:endParaRPr>
          </a:p>
        </p:txBody>
      </p:sp>
      <p:sp>
        <p:nvSpPr>
          <p:cNvPr id="171" name="AutoShape 7"/>
          <p:cNvSpPr/>
          <p:nvPr/>
        </p:nvSpPr>
        <p:spPr>
          <a:xfrm>
            <a:off x="8855280" y="4579200"/>
            <a:ext cx="126324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References</a:t>
            </a:r>
            <a:endParaRPr b="0" lang="en-US" sz="1600" spc="-1" strike="noStrike">
              <a:solidFill>
                <a:srgbClr val="000000"/>
              </a:solidFill>
              <a:latin typeface="Arial"/>
            </a:endParaRPr>
          </a:p>
        </p:txBody>
      </p:sp>
      <p:sp>
        <p:nvSpPr>
          <p:cNvPr id="172" name="AutoShape 8"/>
          <p:cNvSpPr/>
          <p:nvPr/>
        </p:nvSpPr>
        <p:spPr>
          <a:xfrm>
            <a:off x="6678720" y="4579200"/>
            <a:ext cx="127548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2. Methods</a:t>
            </a:r>
            <a:endParaRPr b="0" lang="en-US" sz="1600" spc="-1" strike="noStrike">
              <a:solidFill>
                <a:srgbClr val="000000"/>
              </a:solidFill>
              <a:latin typeface="Arial"/>
            </a:endParaRPr>
          </a:p>
        </p:txBody>
      </p:sp>
      <p:sp>
        <p:nvSpPr>
          <p:cNvPr id="173" name="AutoShape 9"/>
          <p:cNvSpPr/>
          <p:nvPr/>
        </p:nvSpPr>
        <p:spPr>
          <a:xfrm>
            <a:off x="5219280" y="5350320"/>
            <a:ext cx="1088640" cy="63972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2.1 Stock</a:t>
            </a:r>
            <a:br>
              <a:rPr sz="1600"/>
            </a:br>
            <a:r>
              <a:rPr b="0" lang="en-US" sz="1600" spc="-1" strike="noStrike">
                <a:solidFill>
                  <a:schemeClr val="dk1"/>
                </a:solidFill>
                <a:latin typeface="Tahoma"/>
                <a:ea typeface="MS PGothic"/>
              </a:rPr>
              <a:t>Fraud</a:t>
            </a:r>
            <a:endParaRPr b="0" lang="en-US" sz="1600" spc="-1" strike="noStrike">
              <a:solidFill>
                <a:srgbClr val="000000"/>
              </a:solidFill>
              <a:latin typeface="Arial"/>
            </a:endParaRPr>
          </a:p>
        </p:txBody>
      </p:sp>
      <p:sp>
        <p:nvSpPr>
          <p:cNvPr id="174" name="AutoShape 10"/>
          <p:cNvSpPr/>
          <p:nvPr/>
        </p:nvSpPr>
        <p:spPr>
          <a:xfrm>
            <a:off x="6771960" y="5350320"/>
            <a:ext cx="1099080" cy="63972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2.2 Ponzi</a:t>
            </a:r>
            <a:br>
              <a:rPr sz="1600"/>
            </a:br>
            <a:r>
              <a:rPr b="0" lang="en-US" sz="1600" spc="-1" strike="noStrike">
                <a:solidFill>
                  <a:schemeClr val="dk1"/>
                </a:solidFill>
                <a:latin typeface="Tahoma"/>
                <a:ea typeface="MS PGothic"/>
              </a:rPr>
              <a:t>Scheme</a:t>
            </a:r>
            <a:endParaRPr b="0" lang="en-US" sz="1600" spc="-1" strike="noStrike">
              <a:solidFill>
                <a:srgbClr val="000000"/>
              </a:solidFill>
              <a:latin typeface="Arial"/>
            </a:endParaRPr>
          </a:p>
        </p:txBody>
      </p:sp>
      <p:sp>
        <p:nvSpPr>
          <p:cNvPr id="175" name="AutoShape 11"/>
          <p:cNvSpPr/>
          <p:nvPr/>
        </p:nvSpPr>
        <p:spPr>
          <a:xfrm>
            <a:off x="2087280" y="5485680"/>
            <a:ext cx="113076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1.1 Greed</a:t>
            </a:r>
            <a:endParaRPr b="0" lang="en-US" sz="1600" spc="-1" strike="noStrike">
              <a:solidFill>
                <a:srgbClr val="000000"/>
              </a:solidFill>
              <a:latin typeface="Arial"/>
            </a:endParaRPr>
          </a:p>
        </p:txBody>
      </p:sp>
      <p:sp>
        <p:nvSpPr>
          <p:cNvPr id="176" name="AutoShape 12"/>
          <p:cNvSpPr/>
          <p:nvPr/>
        </p:nvSpPr>
        <p:spPr>
          <a:xfrm>
            <a:off x="3596040" y="5485680"/>
            <a:ext cx="118872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1.2 Avidity</a:t>
            </a:r>
            <a:endParaRPr b="0" lang="en-US" sz="1600" spc="-1" strike="noStrike">
              <a:solidFill>
                <a:srgbClr val="000000"/>
              </a:solidFill>
              <a:latin typeface="Arial"/>
            </a:endParaRPr>
          </a:p>
        </p:txBody>
      </p:sp>
      <p:cxnSp>
        <p:nvCxnSpPr>
          <p:cNvPr id="177" name="AutoShape 13"/>
          <p:cNvCxnSpPr>
            <a:stCxn id="169" idx="2"/>
            <a:endCxn id="170" idx="0"/>
          </p:cNvCxnSpPr>
          <p:nvPr/>
        </p:nvCxnSpPr>
        <p:spPr>
          <a:xfrm flipH="1">
            <a:off x="3385080" y="4051080"/>
            <a:ext cx="2840760" cy="511920"/>
          </a:xfrm>
          <a:prstGeom prst="straightConnector1">
            <a:avLst/>
          </a:prstGeom>
          <a:ln w="19050">
            <a:solidFill>
              <a:srgbClr val="000000"/>
            </a:solidFill>
            <a:round/>
          </a:ln>
        </p:spPr>
      </p:cxnSp>
      <p:cxnSp>
        <p:nvCxnSpPr>
          <p:cNvPr id="178" name="AutoShape 14"/>
          <p:cNvCxnSpPr>
            <a:stCxn id="169" idx="2"/>
            <a:endCxn id="172" idx="0"/>
          </p:cNvCxnSpPr>
          <p:nvPr/>
        </p:nvCxnSpPr>
        <p:spPr>
          <a:xfrm>
            <a:off x="6225120" y="4051080"/>
            <a:ext cx="1092960" cy="511920"/>
          </a:xfrm>
          <a:prstGeom prst="straightConnector1">
            <a:avLst/>
          </a:prstGeom>
          <a:ln w="19050">
            <a:solidFill>
              <a:srgbClr val="000000"/>
            </a:solidFill>
            <a:round/>
          </a:ln>
        </p:spPr>
      </p:cxnSp>
      <p:cxnSp>
        <p:nvCxnSpPr>
          <p:cNvPr id="179" name="AutoShape 15"/>
          <p:cNvCxnSpPr>
            <a:stCxn id="169" idx="2"/>
            <a:endCxn id="171" idx="0"/>
          </p:cNvCxnSpPr>
          <p:nvPr/>
        </p:nvCxnSpPr>
        <p:spPr>
          <a:xfrm>
            <a:off x="6225120" y="4051080"/>
            <a:ext cx="3263040" cy="511920"/>
          </a:xfrm>
          <a:prstGeom prst="straightConnector1">
            <a:avLst/>
          </a:prstGeom>
          <a:ln w="19050">
            <a:solidFill>
              <a:srgbClr val="000000"/>
            </a:solidFill>
            <a:round/>
          </a:ln>
        </p:spPr>
      </p:cxnSp>
      <p:cxnSp>
        <p:nvCxnSpPr>
          <p:cNvPr id="180" name="AutoShape 16"/>
          <p:cNvCxnSpPr>
            <a:stCxn id="172" idx="2"/>
            <a:endCxn id="174" idx="0"/>
          </p:cNvCxnSpPr>
          <p:nvPr/>
        </p:nvCxnSpPr>
        <p:spPr>
          <a:xfrm>
            <a:off x="7317360" y="4965480"/>
            <a:ext cx="5400" cy="369000"/>
          </a:xfrm>
          <a:prstGeom prst="straightConnector1">
            <a:avLst/>
          </a:prstGeom>
          <a:ln w="19050">
            <a:solidFill>
              <a:srgbClr val="000000"/>
            </a:solidFill>
            <a:round/>
          </a:ln>
        </p:spPr>
      </p:cxnSp>
      <p:cxnSp>
        <p:nvCxnSpPr>
          <p:cNvPr id="181" name="AutoShape 17"/>
          <p:cNvCxnSpPr>
            <a:stCxn id="172" idx="2"/>
            <a:endCxn id="173" idx="0"/>
          </p:cNvCxnSpPr>
          <p:nvPr/>
        </p:nvCxnSpPr>
        <p:spPr>
          <a:xfrm flipH="1">
            <a:off x="5763240" y="4965480"/>
            <a:ext cx="1554840" cy="369000"/>
          </a:xfrm>
          <a:prstGeom prst="straightConnector1">
            <a:avLst/>
          </a:prstGeom>
          <a:ln w="19050">
            <a:solidFill>
              <a:srgbClr val="000000"/>
            </a:solidFill>
            <a:round/>
          </a:ln>
        </p:spPr>
      </p:cxnSp>
      <p:cxnSp>
        <p:nvCxnSpPr>
          <p:cNvPr id="182" name="AutoShape 18"/>
          <p:cNvCxnSpPr>
            <a:stCxn id="170" idx="2"/>
            <a:endCxn id="176" idx="0"/>
          </p:cNvCxnSpPr>
          <p:nvPr/>
        </p:nvCxnSpPr>
        <p:spPr>
          <a:xfrm>
            <a:off x="3385080" y="4965480"/>
            <a:ext cx="805680" cy="504000"/>
          </a:xfrm>
          <a:prstGeom prst="straightConnector1">
            <a:avLst/>
          </a:prstGeom>
          <a:ln w="19050">
            <a:solidFill>
              <a:srgbClr val="000000"/>
            </a:solidFill>
            <a:round/>
          </a:ln>
        </p:spPr>
      </p:cxnSp>
      <p:cxnSp>
        <p:nvCxnSpPr>
          <p:cNvPr id="183" name="AutoShape 19"/>
          <p:cNvCxnSpPr>
            <a:stCxn id="170" idx="2"/>
            <a:endCxn id="175" idx="0"/>
          </p:cNvCxnSpPr>
          <p:nvPr/>
        </p:nvCxnSpPr>
        <p:spPr>
          <a:xfrm flipH="1">
            <a:off x="2653200" y="4965480"/>
            <a:ext cx="732600" cy="504000"/>
          </a:xfrm>
          <a:prstGeom prst="straightConnector1">
            <a:avLst/>
          </a:prstGeom>
          <a:ln w="19050">
            <a:solidFill>
              <a:srgbClr val="000000"/>
            </a:solidFill>
            <a:round/>
          </a:ln>
        </p:spPr>
      </p:cxnSp>
      <p:sp>
        <p:nvSpPr>
          <p:cNvPr id="184" name="AutoShape 27"/>
          <p:cNvSpPr/>
          <p:nvPr/>
        </p:nvSpPr>
        <p:spPr>
          <a:xfrm>
            <a:off x="8164800" y="5348880"/>
            <a:ext cx="1055160" cy="63972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2.3 Bank</a:t>
            </a:r>
            <a:br>
              <a:rPr sz="1600"/>
            </a:br>
            <a:r>
              <a:rPr b="0" lang="en-US" sz="1600" spc="-1" strike="noStrike">
                <a:solidFill>
                  <a:schemeClr val="dk1"/>
                </a:solidFill>
                <a:latin typeface="Tahoma"/>
                <a:ea typeface="MS PGothic"/>
              </a:rPr>
              <a:t>Robbery</a:t>
            </a:r>
            <a:endParaRPr b="0" lang="en-US" sz="1600" spc="-1" strike="noStrike">
              <a:solidFill>
                <a:srgbClr val="000000"/>
              </a:solidFill>
              <a:latin typeface="Arial"/>
            </a:endParaRPr>
          </a:p>
        </p:txBody>
      </p:sp>
      <p:cxnSp>
        <p:nvCxnSpPr>
          <p:cNvPr id="185" name="AutoShape 28"/>
          <p:cNvCxnSpPr>
            <a:stCxn id="172" idx="2"/>
            <a:endCxn id="184" idx="0"/>
          </p:cNvCxnSpPr>
          <p:nvPr/>
        </p:nvCxnSpPr>
        <p:spPr>
          <a:xfrm>
            <a:off x="7317360" y="4965480"/>
            <a:ext cx="1375560" cy="367560"/>
          </a:xfrm>
          <a:prstGeom prst="straightConnector1">
            <a:avLst/>
          </a:prstGeom>
          <a:ln w="19050">
            <a:solidFill>
              <a:srgbClr val="000000"/>
            </a:solidFill>
            <a:round/>
          </a:ln>
        </p:spPr>
      </p:cxnSp>
      <p:sp>
        <p:nvSpPr>
          <p:cNvPr id="186" name="Text Box 29"/>
          <p:cNvSpPr/>
          <p:nvPr/>
        </p:nvSpPr>
        <p:spPr>
          <a:xfrm>
            <a:off x="4911480" y="3429000"/>
            <a:ext cx="324360" cy="394560"/>
          </a:xfrm>
          <a:prstGeom prst="rect">
            <a:avLst/>
          </a:prstGeom>
          <a:solidFill>
            <a:schemeClr val="accent1">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1</a:t>
            </a:r>
            <a:endParaRPr b="0" lang="en-US" sz="2000" spc="-1" strike="noStrike">
              <a:solidFill>
                <a:srgbClr val="000000"/>
              </a:solidFill>
              <a:latin typeface="Arial"/>
            </a:endParaRPr>
          </a:p>
        </p:txBody>
      </p:sp>
      <p:sp>
        <p:nvSpPr>
          <p:cNvPr id="187" name="Text Box 30"/>
          <p:cNvSpPr/>
          <p:nvPr/>
        </p:nvSpPr>
        <p:spPr>
          <a:xfrm>
            <a:off x="3119400" y="4108320"/>
            <a:ext cx="324360" cy="394560"/>
          </a:xfrm>
          <a:prstGeom prst="rect">
            <a:avLst/>
          </a:prstGeom>
          <a:solidFill>
            <a:schemeClr val="accent1">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2</a:t>
            </a:r>
            <a:endParaRPr b="0" lang="en-US" sz="2000" spc="-1" strike="noStrike">
              <a:solidFill>
                <a:srgbClr val="000000"/>
              </a:solidFill>
              <a:latin typeface="Arial"/>
            </a:endParaRPr>
          </a:p>
        </p:txBody>
      </p:sp>
      <p:sp>
        <p:nvSpPr>
          <p:cNvPr id="188" name="Text Box 31"/>
          <p:cNvSpPr/>
          <p:nvPr/>
        </p:nvSpPr>
        <p:spPr>
          <a:xfrm>
            <a:off x="2455560" y="5118120"/>
            <a:ext cx="324360" cy="394560"/>
          </a:xfrm>
          <a:prstGeom prst="rect">
            <a:avLst/>
          </a:prstGeom>
          <a:solidFill>
            <a:schemeClr val="accent1">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3</a:t>
            </a:r>
            <a:endParaRPr b="0" lang="en-US" sz="2000" spc="-1" strike="noStrike">
              <a:solidFill>
                <a:srgbClr val="000000"/>
              </a:solidFill>
              <a:latin typeface="Arial"/>
            </a:endParaRPr>
          </a:p>
        </p:txBody>
      </p:sp>
      <p:sp>
        <p:nvSpPr>
          <p:cNvPr id="189" name="Text Box 32"/>
          <p:cNvSpPr/>
          <p:nvPr/>
        </p:nvSpPr>
        <p:spPr>
          <a:xfrm>
            <a:off x="6465600" y="4241880"/>
            <a:ext cx="324360" cy="394560"/>
          </a:xfrm>
          <a:prstGeom prst="rect">
            <a:avLst/>
          </a:prstGeom>
          <a:solidFill>
            <a:schemeClr val="accent1">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5</a:t>
            </a:r>
            <a:endParaRPr b="0" lang="en-US" sz="2000" spc="-1" strike="noStrike">
              <a:solidFill>
                <a:srgbClr val="000000"/>
              </a:solidFill>
              <a:latin typeface="Arial"/>
            </a:endParaRPr>
          </a:p>
        </p:txBody>
      </p:sp>
      <p:sp>
        <p:nvSpPr>
          <p:cNvPr id="190" name="Text Box 33"/>
          <p:cNvSpPr/>
          <p:nvPr/>
        </p:nvSpPr>
        <p:spPr>
          <a:xfrm>
            <a:off x="4055760" y="5118120"/>
            <a:ext cx="324360" cy="394560"/>
          </a:xfrm>
          <a:prstGeom prst="rect">
            <a:avLst/>
          </a:prstGeom>
          <a:solidFill>
            <a:schemeClr val="accent1">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4</a:t>
            </a:r>
            <a:endParaRPr b="0" lang="en-US" sz="2000" spc="-1" strike="noStrike">
              <a:solidFill>
                <a:srgbClr val="000000"/>
              </a:solidFill>
              <a:latin typeface="Arial"/>
            </a:endParaRPr>
          </a:p>
        </p:txBody>
      </p:sp>
      <p:sp>
        <p:nvSpPr>
          <p:cNvPr id="191" name="Text Box 34"/>
          <p:cNvSpPr/>
          <p:nvPr/>
        </p:nvSpPr>
        <p:spPr>
          <a:xfrm>
            <a:off x="5360760" y="4984920"/>
            <a:ext cx="324360" cy="394560"/>
          </a:xfrm>
          <a:prstGeom prst="rect">
            <a:avLst/>
          </a:prstGeom>
          <a:solidFill>
            <a:schemeClr val="accent1">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6</a:t>
            </a:r>
            <a:endParaRPr b="0" lang="en-US" sz="2000" spc="-1" strike="noStrike">
              <a:solidFill>
                <a:srgbClr val="000000"/>
              </a:solidFill>
              <a:latin typeface="Arial"/>
            </a:endParaRPr>
          </a:p>
        </p:txBody>
      </p:sp>
      <p:sp>
        <p:nvSpPr>
          <p:cNvPr id="192" name="Text Box 35"/>
          <p:cNvSpPr/>
          <p:nvPr/>
        </p:nvSpPr>
        <p:spPr>
          <a:xfrm>
            <a:off x="6960960" y="4984920"/>
            <a:ext cx="324360" cy="394560"/>
          </a:xfrm>
          <a:prstGeom prst="rect">
            <a:avLst/>
          </a:prstGeom>
          <a:solidFill>
            <a:schemeClr val="accent1">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7</a:t>
            </a:r>
            <a:endParaRPr b="0" lang="en-US" sz="2000" spc="-1" strike="noStrike">
              <a:solidFill>
                <a:srgbClr val="000000"/>
              </a:solidFill>
              <a:latin typeface="Arial"/>
            </a:endParaRPr>
          </a:p>
        </p:txBody>
      </p:sp>
      <p:sp>
        <p:nvSpPr>
          <p:cNvPr id="193" name="Text Box 36"/>
          <p:cNvSpPr/>
          <p:nvPr/>
        </p:nvSpPr>
        <p:spPr>
          <a:xfrm>
            <a:off x="8561160" y="4984920"/>
            <a:ext cx="324360" cy="394560"/>
          </a:xfrm>
          <a:prstGeom prst="rect">
            <a:avLst/>
          </a:prstGeom>
          <a:solidFill>
            <a:schemeClr val="accent1">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8</a:t>
            </a:r>
            <a:endParaRPr b="0" lang="en-US" sz="2000" spc="-1" strike="noStrike">
              <a:solidFill>
                <a:srgbClr val="000000"/>
              </a:solidFill>
              <a:latin typeface="Arial"/>
            </a:endParaRPr>
          </a:p>
        </p:txBody>
      </p:sp>
      <p:sp>
        <p:nvSpPr>
          <p:cNvPr id="194" name="Text Box 37"/>
          <p:cNvSpPr/>
          <p:nvPr/>
        </p:nvSpPr>
        <p:spPr>
          <a:xfrm>
            <a:off x="9361080" y="4241880"/>
            <a:ext cx="324360" cy="394560"/>
          </a:xfrm>
          <a:prstGeom prst="rect">
            <a:avLst/>
          </a:prstGeom>
          <a:solidFill>
            <a:schemeClr val="accent1">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9</a:t>
            </a:r>
            <a:endParaRPr b="0" lang="en-US" sz="2000" spc="-1" strike="noStrike">
              <a:solidFill>
                <a:srgbClr val="000000"/>
              </a:solidFill>
              <a:latin typeface="Arial"/>
            </a:endParaRPr>
          </a:p>
        </p:txBody>
      </p:sp>
      <p:sp>
        <p:nvSpPr>
          <p:cNvPr id="195" name="Text Box 38"/>
          <p:cNvSpPr/>
          <p:nvPr/>
        </p:nvSpPr>
        <p:spPr>
          <a:xfrm>
            <a:off x="8422560" y="1339200"/>
            <a:ext cx="3351960" cy="1588320"/>
          </a:xfrm>
          <a:prstGeom prst="rect">
            <a:avLst/>
          </a:prstGeom>
          <a:noFill/>
          <a:ln w="9525">
            <a:solidFill>
              <a:srgbClr val="000000"/>
            </a:solidFill>
            <a:miter/>
          </a:ln>
        </p:spPr>
        <p:style>
          <a:lnRef idx="0"/>
          <a:fillRef idx="0"/>
          <a:effectRef idx="0"/>
          <a:fontRef idx="minor"/>
        </p:style>
        <p:txBody>
          <a:bodyPr lIns="90000" rIns="90000" tIns="45000" bIns="45000" anchor="t">
            <a:spAutoFit/>
          </a:bodyPr>
          <a:p>
            <a:pPr defTabSz="457200">
              <a:lnSpc>
                <a:spcPct val="90000"/>
              </a:lnSpc>
              <a:spcBef>
                <a:spcPts val="479"/>
              </a:spcBef>
            </a:pPr>
            <a:r>
              <a:rPr b="1" lang="en-US" sz="2400" spc="-1" strike="noStrike">
                <a:solidFill>
                  <a:srgbClr val="000000"/>
                </a:solidFill>
                <a:latin typeface="Times New Roman"/>
                <a:ea typeface="MS PGothic"/>
              </a:rPr>
              <a:t>Algorithm</a:t>
            </a:r>
            <a:r>
              <a:rPr b="0" lang="en-US" sz="2400" spc="-1" strike="noStrike">
                <a:solidFill>
                  <a:schemeClr val="dk1"/>
                </a:solidFill>
                <a:latin typeface="Times New Roman"/>
                <a:ea typeface="MS PGothic"/>
              </a:rPr>
              <a:t> </a:t>
            </a:r>
            <a:r>
              <a:rPr b="1" i="1" lang="en-US" sz="2400" spc="-1" strike="noStrike">
                <a:solidFill>
                  <a:schemeClr val="dk2"/>
                </a:solidFill>
                <a:latin typeface="Times New Roman"/>
                <a:ea typeface="MS PGothic"/>
              </a:rPr>
              <a:t>preOrder</a:t>
            </a:r>
            <a:r>
              <a:rPr b="0" lang="en-US" sz="2400" spc="-1" strike="noStrike">
                <a:solidFill>
                  <a:schemeClr val="dk2"/>
                </a:solidFill>
                <a:latin typeface="Times New Roman"/>
                <a:ea typeface="MS PGothic"/>
              </a:rPr>
              <a:t>(</a:t>
            </a:r>
            <a:r>
              <a:rPr b="1" i="1" lang="en-US" sz="2400" spc="-1" strike="noStrike">
                <a:solidFill>
                  <a:schemeClr val="dk2"/>
                </a:solidFill>
                <a:latin typeface="Times New Roman"/>
                <a:ea typeface="MS PGothic"/>
              </a:rPr>
              <a:t>v</a:t>
            </a:r>
            <a:r>
              <a:rPr b="0" lang="en-US" sz="2400" spc="-1" strike="noStrike">
                <a:solidFill>
                  <a:schemeClr val="dk2"/>
                </a:solidFill>
                <a:latin typeface="Times New Roman"/>
                <a:ea typeface="MS PGothic"/>
              </a:rPr>
              <a:t>)</a:t>
            </a:r>
            <a:endParaRPr b="0" lang="en-US" sz="2400" spc="-1" strike="noStrike">
              <a:solidFill>
                <a:srgbClr val="000000"/>
              </a:solidFill>
              <a:latin typeface="Arial"/>
            </a:endParaRPr>
          </a:p>
          <a:p>
            <a:pPr marL="457200" defTabSz="457200">
              <a:lnSpc>
                <a:spcPct val="90000"/>
              </a:lnSpc>
              <a:spcBef>
                <a:spcPts val="479"/>
              </a:spcBef>
            </a:pPr>
            <a:r>
              <a:rPr b="1" i="1" lang="en-US" sz="2400" spc="-1" strike="noStrike">
                <a:solidFill>
                  <a:schemeClr val="accent2"/>
                </a:solidFill>
                <a:latin typeface="Times New Roman"/>
                <a:ea typeface="MS PGothic"/>
              </a:rPr>
              <a:t>visit</a:t>
            </a:r>
            <a:r>
              <a:rPr b="0" lang="en-US" sz="2400" spc="-1" strike="noStrike">
                <a:solidFill>
                  <a:schemeClr val="accent2"/>
                </a:solidFill>
                <a:latin typeface="Times New Roman"/>
                <a:ea typeface="MS PGothic"/>
              </a:rPr>
              <a:t>(</a:t>
            </a:r>
            <a:r>
              <a:rPr b="1" i="1" lang="en-US" sz="2400" spc="-1" strike="noStrike">
                <a:solidFill>
                  <a:schemeClr val="accent2"/>
                </a:solidFill>
                <a:latin typeface="Times New Roman"/>
                <a:ea typeface="MS PGothic"/>
              </a:rPr>
              <a:t>v</a:t>
            </a:r>
            <a:r>
              <a:rPr b="0" lang="en-US" sz="2400" spc="-1" strike="noStrike">
                <a:solidFill>
                  <a:schemeClr val="accent2"/>
                </a:solidFill>
                <a:latin typeface="Times New Roman"/>
                <a:ea typeface="MS PGothic"/>
              </a:rPr>
              <a:t>)</a:t>
            </a:r>
            <a:endParaRPr b="0" lang="en-US" sz="2400" spc="-1" strike="noStrike">
              <a:solidFill>
                <a:srgbClr val="000000"/>
              </a:solidFill>
              <a:latin typeface="Arial"/>
            </a:endParaRPr>
          </a:p>
          <a:p>
            <a:pPr marL="457200" defTabSz="457200">
              <a:lnSpc>
                <a:spcPct val="90000"/>
              </a:lnSpc>
              <a:spcBef>
                <a:spcPts val="479"/>
              </a:spcBef>
            </a:pPr>
            <a:r>
              <a:rPr b="1" lang="en-US" sz="2400" spc="-1" strike="noStrike">
                <a:solidFill>
                  <a:srgbClr val="000000"/>
                </a:solidFill>
                <a:latin typeface="Times New Roman"/>
                <a:ea typeface="MS PGothic"/>
              </a:rPr>
              <a:t>for</a:t>
            </a:r>
            <a:r>
              <a:rPr b="0" lang="en-US" sz="2400" spc="-1" strike="noStrike">
                <a:solidFill>
                  <a:srgbClr val="000000"/>
                </a:solidFill>
                <a:latin typeface="Times New Roman"/>
                <a:ea typeface="MS PGothic"/>
              </a:rPr>
              <a:t> </a:t>
            </a:r>
            <a:r>
              <a:rPr b="1" lang="en-US" sz="2400" spc="-1" strike="noStrike">
                <a:solidFill>
                  <a:srgbClr val="000000"/>
                </a:solidFill>
                <a:latin typeface="Times New Roman"/>
                <a:ea typeface="MS PGothic"/>
              </a:rPr>
              <a:t>each</a:t>
            </a:r>
            <a:r>
              <a:rPr b="0" lang="en-US" sz="2400" spc="-1" strike="noStrike">
                <a:solidFill>
                  <a:schemeClr val="dk1"/>
                </a:solidFill>
                <a:latin typeface="Times New Roman"/>
                <a:ea typeface="MS PGothic"/>
              </a:rPr>
              <a:t> </a:t>
            </a:r>
            <a:r>
              <a:rPr b="0" lang="en-US" sz="2400" spc="-1" strike="noStrike">
                <a:solidFill>
                  <a:schemeClr val="accent2"/>
                </a:solidFill>
                <a:latin typeface="Times New Roman"/>
                <a:ea typeface="MS PGothic"/>
              </a:rPr>
              <a:t>child </a:t>
            </a:r>
            <a:r>
              <a:rPr b="1" i="1" lang="en-US" sz="2400" spc="-1" strike="noStrike">
                <a:solidFill>
                  <a:schemeClr val="accent2"/>
                </a:solidFill>
                <a:latin typeface="Times New Roman"/>
                <a:ea typeface="MS PGothic"/>
              </a:rPr>
              <a:t>w</a:t>
            </a:r>
            <a:r>
              <a:rPr b="0" lang="en-US" sz="2400" spc="-1" strike="noStrike">
                <a:solidFill>
                  <a:schemeClr val="accent2"/>
                </a:solidFill>
                <a:latin typeface="Times New Roman"/>
                <a:ea typeface="MS PGothic"/>
              </a:rPr>
              <a:t> of </a:t>
            </a:r>
            <a:r>
              <a:rPr b="1" i="1" lang="en-US" sz="2400" spc="-1" strike="noStrike">
                <a:solidFill>
                  <a:schemeClr val="accent2"/>
                </a:solidFill>
                <a:latin typeface="Times New Roman"/>
                <a:ea typeface="MS PGothic"/>
              </a:rPr>
              <a:t>v</a:t>
            </a:r>
            <a:endParaRPr b="0" lang="en-US" sz="2400" spc="-1" strike="noStrike">
              <a:solidFill>
                <a:srgbClr val="000000"/>
              </a:solidFill>
              <a:latin typeface="Arial"/>
            </a:endParaRPr>
          </a:p>
          <a:p>
            <a:pPr marL="457200" defTabSz="457200">
              <a:lnSpc>
                <a:spcPct val="90000"/>
              </a:lnSpc>
              <a:spcBef>
                <a:spcPts val="479"/>
              </a:spcBef>
            </a:pPr>
            <a:r>
              <a:rPr b="1" i="1" lang="en-US" sz="2400" spc="-1" strike="noStrike">
                <a:solidFill>
                  <a:schemeClr val="accent2"/>
                </a:solidFill>
                <a:latin typeface="Times New Roman"/>
                <a:ea typeface="MS PGothic"/>
              </a:rPr>
              <a:t>	</a:t>
            </a:r>
            <a:r>
              <a:rPr b="1" i="1" lang="en-US" sz="2400" spc="-1" strike="noStrike">
                <a:solidFill>
                  <a:schemeClr val="accent2"/>
                </a:solidFill>
                <a:latin typeface="Times New Roman"/>
                <a:ea typeface="MS PGothic"/>
              </a:rPr>
              <a:t>preorder</a:t>
            </a:r>
            <a:r>
              <a:rPr b="0" lang="en-US" sz="2400" spc="-1" strike="noStrike">
                <a:solidFill>
                  <a:schemeClr val="accent2"/>
                </a:solidFill>
                <a:latin typeface="Times New Roman"/>
                <a:ea typeface="MS PGothic"/>
              </a:rPr>
              <a:t> (</a:t>
            </a:r>
            <a:r>
              <a:rPr b="1" i="1" lang="en-US" sz="2400" spc="-1" strike="noStrike">
                <a:solidFill>
                  <a:schemeClr val="accent2"/>
                </a:solidFill>
                <a:latin typeface="Times New Roman"/>
                <a:ea typeface="MS PGothic"/>
              </a:rPr>
              <a:t>w</a:t>
            </a:r>
            <a:r>
              <a:rPr b="0" lang="en-US" sz="2400" spc="-1" strike="noStrike">
                <a:solidFill>
                  <a:schemeClr val="accent2"/>
                </a:solidFill>
                <a:latin typeface="Times New Roman"/>
                <a:ea typeface="MS PGothic"/>
              </a:rPr>
              <a: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9" dur="indefinite" restart="never" nodeType="tmRoot">
          <p:childTnLst>
            <p:seq>
              <p:cTn id="20" dur="indefinite" nodeType="mainSeq">
                <p:childTnLst>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18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18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nodeType="clickEffect" fill="hold" presetClass="entr" presetID="1">
                                  <p:stCondLst>
                                    <p:cond delay="0"/>
                                  </p:stCondLst>
                                  <p:childTnLst>
                                    <p:set>
                                      <p:cBhvr>
                                        <p:cTn id="32" dur="1" fill="hold">
                                          <p:stCondLst>
                                            <p:cond delay="0"/>
                                          </p:stCondLst>
                                        </p:cTn>
                                        <p:tgtEl>
                                          <p:spTgt spid="18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nodeType="clickEffect" fill="hold" presetClass="entr" presetID="1">
                                  <p:stCondLst>
                                    <p:cond delay="0"/>
                                  </p:stCondLst>
                                  <p:childTnLst>
                                    <p:set>
                                      <p:cBhvr>
                                        <p:cTn id="36" dur="1" fill="hold">
                                          <p:stCondLst>
                                            <p:cond delay="0"/>
                                          </p:stCondLst>
                                        </p:cTn>
                                        <p:tgtEl>
                                          <p:spTgt spid="19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1">
                                  <p:stCondLst>
                                    <p:cond delay="0"/>
                                  </p:stCondLst>
                                  <p:childTnLst>
                                    <p:set>
                                      <p:cBhvr>
                                        <p:cTn id="40" dur="1" fill="hold">
                                          <p:stCondLst>
                                            <p:cond delay="0"/>
                                          </p:stCondLst>
                                        </p:cTn>
                                        <p:tgtEl>
                                          <p:spTgt spid="18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nodeType="clickEffect" fill="hold" presetClass="entr" presetID="1">
                                  <p:stCondLst>
                                    <p:cond delay="0"/>
                                  </p:stCondLst>
                                  <p:childTnLst>
                                    <p:set>
                                      <p:cBhvr>
                                        <p:cTn id="44" dur="1" fill="hold">
                                          <p:stCondLst>
                                            <p:cond delay="0"/>
                                          </p:stCondLst>
                                        </p:cTn>
                                        <p:tgtEl>
                                          <p:spTgt spid="19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nodeType="clickEffect" fill="hold" presetClass="entr" presetID="1">
                                  <p:stCondLst>
                                    <p:cond delay="0"/>
                                  </p:stCondLst>
                                  <p:childTnLst>
                                    <p:set>
                                      <p:cBhvr>
                                        <p:cTn id="48" dur="1" fill="hold">
                                          <p:stCondLst>
                                            <p:cond delay="0"/>
                                          </p:stCondLst>
                                        </p:cTn>
                                        <p:tgtEl>
                                          <p:spTgt spid="19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nodeType="clickEffect" fill="hold" presetClass="entr" presetID="1">
                                  <p:stCondLst>
                                    <p:cond delay="0"/>
                                  </p:stCondLst>
                                  <p:childTnLst>
                                    <p:set>
                                      <p:cBhvr>
                                        <p:cTn id="52" dur="1" fill="hold">
                                          <p:stCondLst>
                                            <p:cond delay="0"/>
                                          </p:stCondLst>
                                        </p:cTn>
                                        <p:tgtEl>
                                          <p:spTgt spid="19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Postorder Traversal</a:t>
            </a:r>
            <a:endParaRPr b="0" lang="en-US" sz="4400" spc="-1" strike="noStrike">
              <a:solidFill>
                <a:srgbClr val="000000"/>
              </a:solidFill>
              <a:latin typeface="Arial"/>
            </a:endParaRPr>
          </a:p>
        </p:txBody>
      </p:sp>
      <p:sp>
        <p:nvSpPr>
          <p:cNvPr id="197" name="PlaceHolder 2"/>
          <p:cNvSpPr>
            <a:spLocks noGrp="1"/>
          </p:cNvSpPr>
          <p:nvPr>
            <p:ph/>
          </p:nvPr>
        </p:nvSpPr>
        <p:spPr>
          <a:xfrm>
            <a:off x="838080" y="1107000"/>
            <a:ext cx="7168320" cy="50691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 a postorder traversal, a node is visited after its descendants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Application: compute space used by files in a directory and its subdirectories</a:t>
            </a:r>
            <a:endParaRPr b="0" lang="en-US" sz="2800" spc="-1" strike="noStrike">
              <a:solidFill>
                <a:srgbClr val="000000"/>
              </a:solidFill>
              <a:latin typeface="Arial"/>
            </a:endParaRPr>
          </a:p>
        </p:txBody>
      </p:sp>
      <p:sp>
        <p:nvSpPr>
          <p:cNvPr id="198" name="PlaceHolder 3"/>
          <p:cNvSpPr>
            <a:spLocks noGrp="1"/>
          </p:cNvSpPr>
          <p:nvPr>
            <p:ph type="sldNum" idx="34"/>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D01A278B-124E-4FF6-BF1C-013B87A12225}" type="slidenum">
              <a:rPr b="0" lang="en-US" sz="1400" spc="-1" strike="noStrike">
                <a:solidFill>
                  <a:schemeClr val="dk1">
                    <a:tint val="75000"/>
                  </a:schemeClr>
                </a:solidFill>
                <a:latin typeface="Tahoma"/>
                <a:ea typeface="MS PGothic"/>
              </a:rPr>
              <a:t>17</a:t>
            </a:fld>
            <a:endParaRPr b="0" lang="en-US" sz="1400" spc="-1" strike="noStrike">
              <a:solidFill>
                <a:srgbClr val="000000"/>
              </a:solidFill>
              <a:latin typeface="Times New Roman"/>
            </a:endParaRPr>
          </a:p>
        </p:txBody>
      </p:sp>
      <p:sp>
        <p:nvSpPr>
          <p:cNvPr id="199" name="Text Box 1028"/>
          <p:cNvSpPr/>
          <p:nvPr/>
        </p:nvSpPr>
        <p:spPr>
          <a:xfrm>
            <a:off x="8201160" y="1250280"/>
            <a:ext cx="3351960" cy="1588320"/>
          </a:xfrm>
          <a:prstGeom prst="rect">
            <a:avLst/>
          </a:prstGeom>
          <a:noFill/>
          <a:ln w="9525">
            <a:solidFill>
              <a:srgbClr val="000000"/>
            </a:solidFill>
            <a:miter/>
          </a:ln>
        </p:spPr>
        <p:style>
          <a:lnRef idx="0"/>
          <a:fillRef idx="0"/>
          <a:effectRef idx="0"/>
          <a:fontRef idx="minor"/>
        </p:style>
        <p:txBody>
          <a:bodyPr lIns="90000" rIns="90000" tIns="45000" bIns="45000" anchor="t">
            <a:spAutoFit/>
          </a:bodyPr>
          <a:p>
            <a:pPr defTabSz="457200">
              <a:lnSpc>
                <a:spcPct val="90000"/>
              </a:lnSpc>
              <a:spcBef>
                <a:spcPts val="479"/>
              </a:spcBef>
            </a:pPr>
            <a:r>
              <a:rPr b="1" lang="en-US" sz="2400" spc="-1" strike="noStrike">
                <a:solidFill>
                  <a:srgbClr val="000000"/>
                </a:solidFill>
                <a:latin typeface="Times New Roman"/>
                <a:ea typeface="MS PGothic"/>
              </a:rPr>
              <a:t>Algorithm</a:t>
            </a:r>
            <a:r>
              <a:rPr b="0" lang="en-US" sz="2400" spc="-1" strike="noStrike">
                <a:solidFill>
                  <a:schemeClr val="dk1"/>
                </a:solidFill>
                <a:latin typeface="Times New Roman"/>
                <a:ea typeface="MS PGothic"/>
              </a:rPr>
              <a:t> </a:t>
            </a:r>
            <a:r>
              <a:rPr b="1" i="1" lang="en-US" sz="2400" spc="-1" strike="noStrike">
                <a:solidFill>
                  <a:schemeClr val="dk2"/>
                </a:solidFill>
                <a:latin typeface="Times New Roman"/>
                <a:ea typeface="MS PGothic"/>
              </a:rPr>
              <a:t>postOrder</a:t>
            </a:r>
            <a:r>
              <a:rPr b="0" lang="en-US" sz="2400" spc="-1" strike="noStrike">
                <a:solidFill>
                  <a:schemeClr val="dk2"/>
                </a:solidFill>
                <a:latin typeface="Times New Roman"/>
                <a:ea typeface="MS PGothic"/>
              </a:rPr>
              <a:t>(</a:t>
            </a:r>
            <a:r>
              <a:rPr b="1" i="1" lang="en-US" sz="2400" spc="-1" strike="noStrike">
                <a:solidFill>
                  <a:schemeClr val="dk2"/>
                </a:solidFill>
                <a:latin typeface="Times New Roman"/>
                <a:ea typeface="MS PGothic"/>
              </a:rPr>
              <a:t>v</a:t>
            </a:r>
            <a:r>
              <a:rPr b="0" lang="en-US" sz="2400" spc="-1" strike="noStrike">
                <a:solidFill>
                  <a:schemeClr val="dk2"/>
                </a:solidFill>
                <a:latin typeface="Times New Roman"/>
                <a:ea typeface="MS PGothic"/>
              </a:rPr>
              <a:t>)</a:t>
            </a:r>
            <a:endParaRPr b="0" lang="en-US" sz="2400" spc="-1" strike="noStrike">
              <a:solidFill>
                <a:srgbClr val="000000"/>
              </a:solidFill>
              <a:latin typeface="Arial"/>
            </a:endParaRPr>
          </a:p>
          <a:p>
            <a:pPr marL="457200" defTabSz="457200">
              <a:lnSpc>
                <a:spcPct val="90000"/>
              </a:lnSpc>
              <a:spcBef>
                <a:spcPts val="479"/>
              </a:spcBef>
            </a:pPr>
            <a:r>
              <a:rPr b="1" lang="en-US" sz="2400" spc="-1" strike="noStrike">
                <a:solidFill>
                  <a:srgbClr val="000000"/>
                </a:solidFill>
                <a:latin typeface="Times New Roman"/>
                <a:ea typeface="MS PGothic"/>
              </a:rPr>
              <a:t>for</a:t>
            </a:r>
            <a:r>
              <a:rPr b="0" lang="en-US" sz="2400" spc="-1" strike="noStrike">
                <a:solidFill>
                  <a:srgbClr val="000000"/>
                </a:solidFill>
                <a:latin typeface="Times New Roman"/>
                <a:ea typeface="MS PGothic"/>
              </a:rPr>
              <a:t> </a:t>
            </a:r>
            <a:r>
              <a:rPr b="1" lang="en-US" sz="2400" spc="-1" strike="noStrike">
                <a:solidFill>
                  <a:srgbClr val="000000"/>
                </a:solidFill>
                <a:latin typeface="Times New Roman"/>
                <a:ea typeface="MS PGothic"/>
              </a:rPr>
              <a:t>each</a:t>
            </a:r>
            <a:r>
              <a:rPr b="0" lang="en-US" sz="2400" spc="-1" strike="noStrike">
                <a:solidFill>
                  <a:schemeClr val="dk1"/>
                </a:solidFill>
                <a:latin typeface="Times New Roman"/>
                <a:ea typeface="MS PGothic"/>
              </a:rPr>
              <a:t> </a:t>
            </a:r>
            <a:r>
              <a:rPr b="0" lang="en-US" sz="2400" spc="-1" strike="noStrike">
                <a:solidFill>
                  <a:schemeClr val="accent2"/>
                </a:solidFill>
                <a:latin typeface="Times New Roman"/>
                <a:ea typeface="MS PGothic"/>
              </a:rPr>
              <a:t>child </a:t>
            </a:r>
            <a:r>
              <a:rPr b="1" i="1" lang="en-US" sz="2400" spc="-1" strike="noStrike">
                <a:solidFill>
                  <a:schemeClr val="accent2"/>
                </a:solidFill>
                <a:latin typeface="Times New Roman"/>
                <a:ea typeface="MS PGothic"/>
              </a:rPr>
              <a:t>w</a:t>
            </a:r>
            <a:r>
              <a:rPr b="0" lang="en-US" sz="2400" spc="-1" strike="noStrike">
                <a:solidFill>
                  <a:schemeClr val="accent2"/>
                </a:solidFill>
                <a:latin typeface="Times New Roman"/>
                <a:ea typeface="MS PGothic"/>
              </a:rPr>
              <a:t> of </a:t>
            </a:r>
            <a:r>
              <a:rPr b="1" i="1" lang="en-US" sz="2400" spc="-1" strike="noStrike">
                <a:solidFill>
                  <a:schemeClr val="accent2"/>
                </a:solidFill>
                <a:latin typeface="Times New Roman"/>
                <a:ea typeface="MS PGothic"/>
              </a:rPr>
              <a:t>v</a:t>
            </a:r>
            <a:endParaRPr b="0" lang="en-US" sz="2400" spc="-1" strike="noStrike">
              <a:solidFill>
                <a:srgbClr val="000000"/>
              </a:solidFill>
              <a:latin typeface="Arial"/>
            </a:endParaRPr>
          </a:p>
          <a:p>
            <a:pPr marL="457200" defTabSz="457200">
              <a:lnSpc>
                <a:spcPct val="90000"/>
              </a:lnSpc>
              <a:spcBef>
                <a:spcPts val="479"/>
              </a:spcBef>
            </a:pPr>
            <a:r>
              <a:rPr b="1" i="1" lang="en-US" sz="2400" spc="-1" strike="noStrike">
                <a:solidFill>
                  <a:schemeClr val="accent2"/>
                </a:solidFill>
                <a:latin typeface="Times New Roman"/>
                <a:ea typeface="MS PGothic"/>
              </a:rPr>
              <a:t>	</a:t>
            </a:r>
            <a:r>
              <a:rPr b="1" i="1" lang="en-US" sz="2400" spc="-1" strike="noStrike">
                <a:solidFill>
                  <a:schemeClr val="accent2"/>
                </a:solidFill>
                <a:latin typeface="Times New Roman"/>
                <a:ea typeface="MS PGothic"/>
              </a:rPr>
              <a:t>postOrder</a:t>
            </a:r>
            <a:r>
              <a:rPr b="0" lang="en-US" sz="2400" spc="-1" strike="noStrike">
                <a:solidFill>
                  <a:schemeClr val="accent2"/>
                </a:solidFill>
                <a:latin typeface="Times New Roman"/>
                <a:ea typeface="MS PGothic"/>
              </a:rPr>
              <a:t> (</a:t>
            </a:r>
            <a:r>
              <a:rPr b="1" i="1" lang="en-US" sz="2400" spc="-1" strike="noStrike">
                <a:solidFill>
                  <a:schemeClr val="accent2"/>
                </a:solidFill>
                <a:latin typeface="Times New Roman"/>
                <a:ea typeface="MS PGothic"/>
              </a:rPr>
              <a:t>w</a:t>
            </a:r>
            <a:r>
              <a:rPr b="0" lang="en-US" sz="2400" spc="-1" strike="noStrike">
                <a:solidFill>
                  <a:schemeClr val="accent2"/>
                </a:solidFill>
                <a:latin typeface="Times New Roman"/>
                <a:ea typeface="MS PGothic"/>
              </a:rPr>
              <a:t>)</a:t>
            </a:r>
            <a:endParaRPr b="0" lang="en-US" sz="2400" spc="-1" strike="noStrike">
              <a:solidFill>
                <a:srgbClr val="000000"/>
              </a:solidFill>
              <a:latin typeface="Arial"/>
            </a:endParaRPr>
          </a:p>
          <a:p>
            <a:pPr marL="457200" defTabSz="457200">
              <a:lnSpc>
                <a:spcPct val="90000"/>
              </a:lnSpc>
              <a:spcBef>
                <a:spcPts val="479"/>
              </a:spcBef>
            </a:pPr>
            <a:r>
              <a:rPr b="1" i="1" lang="en-US" sz="2400" spc="-1" strike="noStrike">
                <a:solidFill>
                  <a:schemeClr val="accent2"/>
                </a:solidFill>
                <a:latin typeface="Times New Roman"/>
                <a:ea typeface="MS PGothic"/>
              </a:rPr>
              <a:t>visit</a:t>
            </a:r>
            <a:r>
              <a:rPr b="0" lang="en-US" sz="2400" spc="-1" strike="noStrike">
                <a:solidFill>
                  <a:schemeClr val="accent2"/>
                </a:solidFill>
                <a:latin typeface="Times New Roman"/>
                <a:ea typeface="MS PGothic"/>
              </a:rPr>
              <a:t>(</a:t>
            </a:r>
            <a:r>
              <a:rPr b="1" i="1" lang="en-US" sz="2400" spc="-1" strike="noStrike">
                <a:solidFill>
                  <a:schemeClr val="accent2"/>
                </a:solidFill>
                <a:latin typeface="Times New Roman"/>
                <a:ea typeface="MS PGothic"/>
              </a:rPr>
              <a:t>v</a:t>
            </a:r>
            <a:r>
              <a:rPr b="0" lang="en-US" sz="2400" spc="-1" strike="noStrike">
                <a:solidFill>
                  <a:schemeClr val="accent2"/>
                </a:solidFill>
                <a:latin typeface="Times New Roman"/>
                <a:ea typeface="MS PGothic"/>
              </a:rPr>
              <a:t>)</a:t>
            </a:r>
            <a:endParaRPr b="0" lang="en-US" sz="2400" spc="-1" strike="noStrike">
              <a:solidFill>
                <a:srgbClr val="000000"/>
              </a:solidFill>
              <a:latin typeface="Arial"/>
            </a:endParaRPr>
          </a:p>
        </p:txBody>
      </p:sp>
      <p:sp>
        <p:nvSpPr>
          <p:cNvPr id="200" name="AutoShape 1029"/>
          <p:cNvSpPr/>
          <p:nvPr/>
        </p:nvSpPr>
        <p:spPr>
          <a:xfrm>
            <a:off x="6097320" y="3243960"/>
            <a:ext cx="71316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cs16/</a:t>
            </a:r>
            <a:endParaRPr b="0" lang="en-US" sz="1600" spc="-1" strike="noStrike">
              <a:solidFill>
                <a:srgbClr val="000000"/>
              </a:solidFill>
              <a:latin typeface="Arial"/>
            </a:endParaRPr>
          </a:p>
        </p:txBody>
      </p:sp>
      <p:sp>
        <p:nvSpPr>
          <p:cNvPr id="201" name="AutoShape 1030"/>
          <p:cNvSpPr/>
          <p:nvPr/>
        </p:nvSpPr>
        <p:spPr>
          <a:xfrm>
            <a:off x="2907360" y="4158000"/>
            <a:ext cx="1410120" cy="37008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homeworks/</a:t>
            </a:r>
            <a:endParaRPr b="0" lang="en-US" sz="1600" spc="-1" strike="noStrike">
              <a:solidFill>
                <a:srgbClr val="000000"/>
              </a:solidFill>
              <a:latin typeface="Arial"/>
            </a:endParaRPr>
          </a:p>
        </p:txBody>
      </p:sp>
      <p:sp>
        <p:nvSpPr>
          <p:cNvPr id="202" name="AutoShape 1031"/>
          <p:cNvSpPr/>
          <p:nvPr/>
        </p:nvSpPr>
        <p:spPr>
          <a:xfrm>
            <a:off x="9219240" y="4023360"/>
            <a:ext cx="992520" cy="63972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todo.txt</a:t>
            </a:r>
            <a:br>
              <a:rPr sz="1600"/>
            </a:br>
            <a:r>
              <a:rPr b="0" lang="en-US" sz="1600" spc="-1" strike="noStrike">
                <a:solidFill>
                  <a:schemeClr val="dk1"/>
                </a:solidFill>
                <a:latin typeface="Tahoma"/>
                <a:ea typeface="MS PGothic"/>
              </a:rPr>
              <a:t>1K</a:t>
            </a:r>
            <a:endParaRPr b="0" lang="en-US" sz="1600" spc="-1" strike="noStrike">
              <a:solidFill>
                <a:srgbClr val="000000"/>
              </a:solidFill>
              <a:latin typeface="Arial"/>
            </a:endParaRPr>
          </a:p>
        </p:txBody>
      </p:sp>
      <p:sp>
        <p:nvSpPr>
          <p:cNvPr id="203" name="AutoShape 1032"/>
          <p:cNvSpPr/>
          <p:nvPr/>
        </p:nvSpPr>
        <p:spPr>
          <a:xfrm>
            <a:off x="6935760" y="4158360"/>
            <a:ext cx="1217520" cy="36936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programs/</a:t>
            </a:r>
            <a:endParaRPr b="0" lang="en-US" sz="1600" spc="-1" strike="noStrike">
              <a:solidFill>
                <a:srgbClr val="000000"/>
              </a:solidFill>
              <a:latin typeface="Arial"/>
            </a:endParaRPr>
          </a:p>
        </p:txBody>
      </p:sp>
      <p:sp>
        <p:nvSpPr>
          <p:cNvPr id="204" name="AutoShape 1033"/>
          <p:cNvSpPr/>
          <p:nvPr/>
        </p:nvSpPr>
        <p:spPr>
          <a:xfrm>
            <a:off x="5441040" y="5074200"/>
            <a:ext cx="1100520" cy="63972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DDR.java</a:t>
            </a:r>
            <a:br>
              <a:rPr sz="1600"/>
            </a:br>
            <a:r>
              <a:rPr b="0" lang="en-US" sz="1600" spc="-1" strike="noStrike">
                <a:solidFill>
                  <a:schemeClr val="dk1"/>
                </a:solidFill>
                <a:latin typeface="Tahoma"/>
                <a:ea typeface="MS PGothic"/>
              </a:rPr>
              <a:t>10K</a:t>
            </a:r>
            <a:endParaRPr b="0" lang="en-US" sz="1600" spc="-1" strike="noStrike">
              <a:solidFill>
                <a:srgbClr val="000000"/>
              </a:solidFill>
              <a:latin typeface="Arial"/>
            </a:endParaRPr>
          </a:p>
        </p:txBody>
      </p:sp>
      <p:sp>
        <p:nvSpPr>
          <p:cNvPr id="205" name="AutoShape 1034"/>
          <p:cNvSpPr/>
          <p:nvPr/>
        </p:nvSpPr>
        <p:spPr>
          <a:xfrm>
            <a:off x="6908400" y="5074200"/>
            <a:ext cx="1288080" cy="63972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Stocks.java</a:t>
            </a:r>
            <a:br>
              <a:rPr sz="1600"/>
            </a:br>
            <a:r>
              <a:rPr b="0" lang="en-US" sz="1600" spc="-1" strike="noStrike">
                <a:solidFill>
                  <a:schemeClr val="dk1"/>
                </a:solidFill>
                <a:latin typeface="Tahoma"/>
                <a:ea typeface="MS PGothic"/>
              </a:rPr>
              <a:t>25K</a:t>
            </a:r>
            <a:endParaRPr b="0" lang="en-US" sz="1600" spc="-1" strike="noStrike">
              <a:solidFill>
                <a:srgbClr val="000000"/>
              </a:solidFill>
              <a:latin typeface="Arial"/>
            </a:endParaRPr>
          </a:p>
        </p:txBody>
      </p:sp>
      <p:sp>
        <p:nvSpPr>
          <p:cNvPr id="206" name="AutoShape 1035"/>
          <p:cNvSpPr/>
          <p:nvPr/>
        </p:nvSpPr>
        <p:spPr>
          <a:xfrm>
            <a:off x="2393280" y="5074200"/>
            <a:ext cx="974520" cy="63972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h1c.doc</a:t>
            </a:r>
            <a:br>
              <a:rPr sz="1600"/>
            </a:br>
            <a:r>
              <a:rPr b="0" lang="en-US" sz="1600" spc="-1" strike="noStrike">
                <a:solidFill>
                  <a:schemeClr val="dk1"/>
                </a:solidFill>
                <a:latin typeface="Tahoma"/>
                <a:ea typeface="MS PGothic"/>
              </a:rPr>
              <a:t>3K</a:t>
            </a:r>
            <a:endParaRPr b="0" lang="en-US" sz="1600" spc="-1" strike="noStrike">
              <a:solidFill>
                <a:srgbClr val="000000"/>
              </a:solidFill>
              <a:latin typeface="Arial"/>
            </a:endParaRPr>
          </a:p>
        </p:txBody>
      </p:sp>
      <p:sp>
        <p:nvSpPr>
          <p:cNvPr id="207" name="AutoShape 1036"/>
          <p:cNvSpPr/>
          <p:nvPr/>
        </p:nvSpPr>
        <p:spPr>
          <a:xfrm>
            <a:off x="3867480" y="5074200"/>
            <a:ext cx="1100880" cy="63972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h1nc.doc</a:t>
            </a:r>
            <a:br>
              <a:rPr sz="1600"/>
            </a:br>
            <a:r>
              <a:rPr b="0" lang="en-US" sz="1600" spc="-1" strike="noStrike">
                <a:solidFill>
                  <a:schemeClr val="dk1"/>
                </a:solidFill>
                <a:latin typeface="Tahoma"/>
                <a:ea typeface="MS PGothic"/>
              </a:rPr>
              <a:t>2K</a:t>
            </a:r>
            <a:endParaRPr b="0" lang="en-US" sz="1600" spc="-1" strike="noStrike">
              <a:solidFill>
                <a:srgbClr val="000000"/>
              </a:solidFill>
              <a:latin typeface="Arial"/>
            </a:endParaRPr>
          </a:p>
        </p:txBody>
      </p:sp>
      <p:cxnSp>
        <p:nvCxnSpPr>
          <p:cNvPr id="208" name="AutoShape 1037"/>
          <p:cNvCxnSpPr>
            <a:stCxn id="200" idx="2"/>
            <a:endCxn id="201" idx="0"/>
          </p:cNvCxnSpPr>
          <p:nvPr/>
        </p:nvCxnSpPr>
        <p:spPr>
          <a:xfrm flipH="1">
            <a:off x="3612960" y="3630600"/>
            <a:ext cx="2842200" cy="511560"/>
          </a:xfrm>
          <a:prstGeom prst="straightConnector1">
            <a:avLst/>
          </a:prstGeom>
          <a:ln w="19050">
            <a:solidFill>
              <a:srgbClr val="000000"/>
            </a:solidFill>
            <a:round/>
          </a:ln>
        </p:spPr>
      </p:cxnSp>
      <p:cxnSp>
        <p:nvCxnSpPr>
          <p:cNvPr id="209" name="AutoShape 1038"/>
          <p:cNvCxnSpPr>
            <a:stCxn id="200" idx="2"/>
            <a:endCxn id="203" idx="0"/>
          </p:cNvCxnSpPr>
          <p:nvPr/>
        </p:nvCxnSpPr>
        <p:spPr>
          <a:xfrm>
            <a:off x="6454440" y="3630600"/>
            <a:ext cx="1091520" cy="511560"/>
          </a:xfrm>
          <a:prstGeom prst="straightConnector1">
            <a:avLst/>
          </a:prstGeom>
          <a:ln w="19050">
            <a:solidFill>
              <a:srgbClr val="000000"/>
            </a:solidFill>
            <a:round/>
          </a:ln>
        </p:spPr>
      </p:cxnSp>
      <p:cxnSp>
        <p:nvCxnSpPr>
          <p:cNvPr id="210" name="AutoShape 1039"/>
          <p:cNvCxnSpPr>
            <a:stCxn id="200" idx="2"/>
            <a:endCxn id="202" idx="0"/>
          </p:cNvCxnSpPr>
          <p:nvPr/>
        </p:nvCxnSpPr>
        <p:spPr>
          <a:xfrm>
            <a:off x="6454440" y="3630600"/>
            <a:ext cx="3261600" cy="376920"/>
          </a:xfrm>
          <a:prstGeom prst="straightConnector1">
            <a:avLst/>
          </a:prstGeom>
          <a:ln w="19050">
            <a:solidFill>
              <a:srgbClr val="000000"/>
            </a:solidFill>
            <a:round/>
          </a:ln>
        </p:spPr>
      </p:cxnSp>
      <p:cxnSp>
        <p:nvCxnSpPr>
          <p:cNvPr id="211" name="AutoShape 1040"/>
          <p:cNvCxnSpPr>
            <a:stCxn id="203" idx="2"/>
            <a:endCxn id="205" idx="0"/>
          </p:cNvCxnSpPr>
          <p:nvPr/>
        </p:nvCxnSpPr>
        <p:spPr>
          <a:xfrm>
            <a:off x="7545240" y="4545000"/>
            <a:ext cx="8640" cy="513360"/>
          </a:xfrm>
          <a:prstGeom prst="straightConnector1">
            <a:avLst/>
          </a:prstGeom>
          <a:ln w="19050">
            <a:solidFill>
              <a:srgbClr val="000000"/>
            </a:solidFill>
            <a:round/>
          </a:ln>
        </p:spPr>
      </p:cxnSp>
      <p:cxnSp>
        <p:nvCxnSpPr>
          <p:cNvPr id="212" name="AutoShape 1041"/>
          <p:cNvCxnSpPr>
            <a:stCxn id="203" idx="2"/>
            <a:endCxn id="204" idx="0"/>
          </p:cNvCxnSpPr>
          <p:nvPr/>
        </p:nvCxnSpPr>
        <p:spPr>
          <a:xfrm flipH="1">
            <a:off x="5991120" y="4545000"/>
            <a:ext cx="1554840" cy="513360"/>
          </a:xfrm>
          <a:prstGeom prst="straightConnector1">
            <a:avLst/>
          </a:prstGeom>
          <a:ln w="19050">
            <a:solidFill>
              <a:srgbClr val="000000"/>
            </a:solidFill>
            <a:round/>
          </a:ln>
        </p:spPr>
      </p:cxnSp>
      <p:cxnSp>
        <p:nvCxnSpPr>
          <p:cNvPr id="213" name="AutoShape 1042"/>
          <p:cNvCxnSpPr>
            <a:stCxn id="201" idx="2"/>
            <a:endCxn id="207" idx="0"/>
          </p:cNvCxnSpPr>
          <p:nvPr/>
        </p:nvCxnSpPr>
        <p:spPr>
          <a:xfrm>
            <a:off x="3612960" y="4545000"/>
            <a:ext cx="805680" cy="513360"/>
          </a:xfrm>
          <a:prstGeom prst="straightConnector1">
            <a:avLst/>
          </a:prstGeom>
          <a:ln w="19050">
            <a:solidFill>
              <a:srgbClr val="000000"/>
            </a:solidFill>
            <a:round/>
          </a:ln>
        </p:spPr>
      </p:cxnSp>
      <p:cxnSp>
        <p:nvCxnSpPr>
          <p:cNvPr id="214" name="AutoShape 1043"/>
          <p:cNvCxnSpPr>
            <a:stCxn id="201" idx="2"/>
            <a:endCxn id="206" idx="0"/>
          </p:cNvCxnSpPr>
          <p:nvPr/>
        </p:nvCxnSpPr>
        <p:spPr>
          <a:xfrm flipH="1">
            <a:off x="2881080" y="4545000"/>
            <a:ext cx="732600" cy="513360"/>
          </a:xfrm>
          <a:prstGeom prst="straightConnector1">
            <a:avLst/>
          </a:prstGeom>
          <a:ln w="19050">
            <a:solidFill>
              <a:srgbClr val="000000"/>
            </a:solidFill>
            <a:round/>
          </a:ln>
        </p:spPr>
      </p:cxnSp>
      <p:sp>
        <p:nvSpPr>
          <p:cNvPr id="215" name="AutoShape 1044"/>
          <p:cNvSpPr/>
          <p:nvPr/>
        </p:nvSpPr>
        <p:spPr>
          <a:xfrm>
            <a:off x="8551440" y="5072400"/>
            <a:ext cx="1248480" cy="639720"/>
          </a:xfrm>
          <a:prstGeom prst="roundRect">
            <a:avLst>
              <a:gd name="adj" fmla="val 16667"/>
            </a:avLst>
          </a:prstGeom>
          <a:solidFill>
            <a:schemeClr val="accent4">
              <a:lumMod val="40000"/>
              <a:lumOff val="60000"/>
            </a:schemeClr>
          </a:solidFill>
          <a:ln w="19050">
            <a:solidFill>
              <a:srgbClr val="000000"/>
            </a:solidFill>
            <a:round/>
          </a:ln>
        </p:spPr>
        <p:style>
          <a:lnRef idx="0"/>
          <a:fillRef idx="0"/>
          <a:effectRef idx="0"/>
          <a:fontRef idx="minor"/>
        </p:style>
        <p:txBody>
          <a:bodyPr wrap="none" lIns="90000" rIns="90000" tIns="45000" bIns="45000" anchor="ctr">
            <a:spAutoFit/>
          </a:bodyPr>
          <a:p>
            <a:pPr defTabSz="457200">
              <a:lnSpc>
                <a:spcPct val="100000"/>
              </a:lnSpc>
            </a:pPr>
            <a:r>
              <a:rPr b="0" lang="en-US" sz="1600" spc="-1" strike="noStrike">
                <a:solidFill>
                  <a:schemeClr val="dk1"/>
                </a:solidFill>
                <a:latin typeface="Tahoma"/>
                <a:ea typeface="MS PGothic"/>
              </a:rPr>
              <a:t>Robot.java</a:t>
            </a:r>
            <a:br>
              <a:rPr sz="1600"/>
            </a:br>
            <a:r>
              <a:rPr b="0" lang="en-US" sz="1600" spc="-1" strike="noStrike">
                <a:solidFill>
                  <a:schemeClr val="dk1"/>
                </a:solidFill>
                <a:latin typeface="Tahoma"/>
                <a:ea typeface="MS PGothic"/>
              </a:rPr>
              <a:t>20K</a:t>
            </a:r>
            <a:endParaRPr b="0" lang="en-US" sz="1600" spc="-1" strike="noStrike">
              <a:solidFill>
                <a:srgbClr val="000000"/>
              </a:solidFill>
              <a:latin typeface="Arial"/>
            </a:endParaRPr>
          </a:p>
        </p:txBody>
      </p:sp>
      <p:cxnSp>
        <p:nvCxnSpPr>
          <p:cNvPr id="216" name="AutoShape 1045"/>
          <p:cNvCxnSpPr>
            <a:stCxn id="203" idx="2"/>
            <a:endCxn id="215" idx="0"/>
          </p:cNvCxnSpPr>
          <p:nvPr/>
        </p:nvCxnSpPr>
        <p:spPr>
          <a:xfrm>
            <a:off x="7545240" y="4545000"/>
            <a:ext cx="1631160" cy="511560"/>
          </a:xfrm>
          <a:prstGeom prst="straightConnector1">
            <a:avLst/>
          </a:prstGeom>
          <a:ln w="19050">
            <a:solidFill>
              <a:srgbClr val="000000"/>
            </a:solidFill>
            <a:round/>
          </a:ln>
        </p:spPr>
      </p:cxnSp>
      <p:sp>
        <p:nvSpPr>
          <p:cNvPr id="217" name="Text Box 1046"/>
          <p:cNvSpPr/>
          <p:nvPr/>
        </p:nvSpPr>
        <p:spPr>
          <a:xfrm>
            <a:off x="5745600" y="3008160"/>
            <a:ext cx="324360" cy="394560"/>
          </a:xfrm>
          <a:prstGeom prst="rect">
            <a:avLst/>
          </a:prstGeom>
          <a:solidFill>
            <a:schemeClr val="tx2">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9</a:t>
            </a:r>
            <a:endParaRPr b="0" lang="en-US" sz="2000" spc="-1" strike="noStrike">
              <a:solidFill>
                <a:srgbClr val="000000"/>
              </a:solidFill>
              <a:latin typeface="Arial"/>
            </a:endParaRPr>
          </a:p>
        </p:txBody>
      </p:sp>
      <p:sp>
        <p:nvSpPr>
          <p:cNvPr id="218" name="Text Box 1047"/>
          <p:cNvSpPr/>
          <p:nvPr/>
        </p:nvSpPr>
        <p:spPr>
          <a:xfrm>
            <a:off x="3413520" y="3821040"/>
            <a:ext cx="324360" cy="394560"/>
          </a:xfrm>
          <a:prstGeom prst="rect">
            <a:avLst/>
          </a:prstGeom>
          <a:solidFill>
            <a:schemeClr val="tx2">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3</a:t>
            </a:r>
            <a:endParaRPr b="0" lang="en-US" sz="2000" spc="-1" strike="noStrike">
              <a:solidFill>
                <a:srgbClr val="000000"/>
              </a:solidFill>
              <a:latin typeface="Arial"/>
            </a:endParaRPr>
          </a:p>
        </p:txBody>
      </p:sp>
      <p:sp>
        <p:nvSpPr>
          <p:cNvPr id="219" name="Text Box 1048"/>
          <p:cNvSpPr/>
          <p:nvPr/>
        </p:nvSpPr>
        <p:spPr>
          <a:xfrm>
            <a:off x="2680200" y="4697280"/>
            <a:ext cx="324360" cy="394560"/>
          </a:xfrm>
          <a:prstGeom prst="rect">
            <a:avLst/>
          </a:prstGeom>
          <a:solidFill>
            <a:schemeClr val="tx2">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1</a:t>
            </a:r>
            <a:endParaRPr b="0" lang="en-US" sz="2000" spc="-1" strike="noStrike">
              <a:solidFill>
                <a:srgbClr val="000000"/>
              </a:solidFill>
              <a:latin typeface="Arial"/>
            </a:endParaRPr>
          </a:p>
        </p:txBody>
      </p:sp>
      <p:sp>
        <p:nvSpPr>
          <p:cNvPr id="220" name="Text Box 1049"/>
          <p:cNvSpPr/>
          <p:nvPr/>
        </p:nvSpPr>
        <p:spPr>
          <a:xfrm>
            <a:off x="6736320" y="3821040"/>
            <a:ext cx="324360" cy="394560"/>
          </a:xfrm>
          <a:prstGeom prst="rect">
            <a:avLst/>
          </a:prstGeom>
          <a:solidFill>
            <a:schemeClr val="tx2">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7</a:t>
            </a:r>
            <a:endParaRPr b="0" lang="en-US" sz="2000" spc="-1" strike="noStrike">
              <a:solidFill>
                <a:srgbClr val="000000"/>
              </a:solidFill>
              <a:latin typeface="Arial"/>
            </a:endParaRPr>
          </a:p>
        </p:txBody>
      </p:sp>
      <p:sp>
        <p:nvSpPr>
          <p:cNvPr id="221" name="Text Box 1050"/>
          <p:cNvSpPr/>
          <p:nvPr/>
        </p:nvSpPr>
        <p:spPr>
          <a:xfrm>
            <a:off x="4280400" y="4697280"/>
            <a:ext cx="324360" cy="394560"/>
          </a:xfrm>
          <a:prstGeom prst="rect">
            <a:avLst/>
          </a:prstGeom>
          <a:solidFill>
            <a:schemeClr val="tx2">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2</a:t>
            </a:r>
            <a:endParaRPr b="0" lang="en-US" sz="2000" spc="-1" strike="noStrike">
              <a:solidFill>
                <a:srgbClr val="000000"/>
              </a:solidFill>
              <a:latin typeface="Arial"/>
            </a:endParaRPr>
          </a:p>
        </p:txBody>
      </p:sp>
      <p:sp>
        <p:nvSpPr>
          <p:cNvPr id="222" name="Text Box 1051"/>
          <p:cNvSpPr/>
          <p:nvPr/>
        </p:nvSpPr>
        <p:spPr>
          <a:xfrm>
            <a:off x="5585400" y="4684680"/>
            <a:ext cx="324360" cy="394560"/>
          </a:xfrm>
          <a:prstGeom prst="rect">
            <a:avLst/>
          </a:prstGeom>
          <a:solidFill>
            <a:schemeClr val="tx2">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4</a:t>
            </a:r>
            <a:endParaRPr b="0" lang="en-US" sz="2000" spc="-1" strike="noStrike">
              <a:solidFill>
                <a:srgbClr val="000000"/>
              </a:solidFill>
              <a:latin typeface="Arial"/>
            </a:endParaRPr>
          </a:p>
        </p:txBody>
      </p:sp>
      <p:sp>
        <p:nvSpPr>
          <p:cNvPr id="223" name="Text Box 1052"/>
          <p:cNvSpPr/>
          <p:nvPr/>
        </p:nvSpPr>
        <p:spPr>
          <a:xfrm>
            <a:off x="7185600" y="4684680"/>
            <a:ext cx="324360" cy="394560"/>
          </a:xfrm>
          <a:prstGeom prst="rect">
            <a:avLst/>
          </a:prstGeom>
          <a:solidFill>
            <a:schemeClr val="tx2">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5</a:t>
            </a:r>
            <a:endParaRPr b="0" lang="en-US" sz="2000" spc="-1" strike="noStrike">
              <a:solidFill>
                <a:srgbClr val="000000"/>
              </a:solidFill>
              <a:latin typeface="Arial"/>
            </a:endParaRPr>
          </a:p>
        </p:txBody>
      </p:sp>
      <p:sp>
        <p:nvSpPr>
          <p:cNvPr id="224" name="Text Box 1053"/>
          <p:cNvSpPr/>
          <p:nvPr/>
        </p:nvSpPr>
        <p:spPr>
          <a:xfrm>
            <a:off x="9041400" y="4684680"/>
            <a:ext cx="324360" cy="394560"/>
          </a:xfrm>
          <a:prstGeom prst="rect">
            <a:avLst/>
          </a:prstGeom>
          <a:solidFill>
            <a:schemeClr val="tx2">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6</a:t>
            </a:r>
            <a:endParaRPr b="0" lang="en-US" sz="2000" spc="-1" strike="noStrike">
              <a:solidFill>
                <a:srgbClr val="000000"/>
              </a:solidFill>
              <a:latin typeface="Arial"/>
            </a:endParaRPr>
          </a:p>
        </p:txBody>
      </p:sp>
      <p:sp>
        <p:nvSpPr>
          <p:cNvPr id="225" name="Text Box 1054"/>
          <p:cNvSpPr/>
          <p:nvPr/>
        </p:nvSpPr>
        <p:spPr>
          <a:xfrm>
            <a:off x="9585720" y="3618000"/>
            <a:ext cx="324360" cy="394560"/>
          </a:xfrm>
          <a:prstGeom prst="rect">
            <a:avLst/>
          </a:prstGeom>
          <a:solidFill>
            <a:schemeClr val="tx2">
              <a:lumMod val="40000"/>
              <a:lumOff val="6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8</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57" dur="indefinite" restart="never" nodeType="tmRoot">
          <p:childTnLst>
            <p:seq>
              <p:cTn id="58" dur="indefinite" nodeType="mainSeq">
                <p:childTnLst>
                  <p:par>
                    <p:cTn id="59" fill="hold">
                      <p:stCondLst>
                        <p:cond delay="indefinite"/>
                      </p:stCondLst>
                      <p:childTnLst>
                        <p:par>
                          <p:cTn id="60" fill="hold">
                            <p:stCondLst>
                              <p:cond delay="0"/>
                            </p:stCondLst>
                            <p:childTnLst>
                              <p:par>
                                <p:cTn id="61" nodeType="clickEffect" fill="hold" presetClass="entr" presetID="1">
                                  <p:stCondLst>
                                    <p:cond delay="0"/>
                                  </p:stCondLst>
                                  <p:childTnLst>
                                    <p:set>
                                      <p:cBhvr>
                                        <p:cTn id="62" dur="1" fill="hold">
                                          <p:stCondLst>
                                            <p:cond delay="0"/>
                                          </p:stCondLst>
                                        </p:cTn>
                                        <p:tgtEl>
                                          <p:spTgt spid="2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nodeType="clickEffect" fill="hold" presetClass="entr" presetID="1">
                                  <p:stCondLst>
                                    <p:cond delay="0"/>
                                  </p:stCondLst>
                                  <p:childTnLst>
                                    <p:set>
                                      <p:cBhvr>
                                        <p:cTn id="66" dur="1" fill="hold">
                                          <p:stCondLst>
                                            <p:cond delay="0"/>
                                          </p:stCondLst>
                                        </p:cTn>
                                        <p:tgtEl>
                                          <p:spTgt spid="22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nodeType="clickEffect" fill="hold" presetClass="entr" presetID="1">
                                  <p:stCondLst>
                                    <p:cond delay="0"/>
                                  </p:stCondLst>
                                  <p:childTnLst>
                                    <p:set>
                                      <p:cBhvr>
                                        <p:cTn id="70" dur="1" fill="hold">
                                          <p:stCondLst>
                                            <p:cond delay="0"/>
                                          </p:stCondLst>
                                        </p:cTn>
                                        <p:tgtEl>
                                          <p:spTgt spid="2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nodeType="clickEffect" fill="hold" presetClass="entr" presetID="1">
                                  <p:stCondLst>
                                    <p:cond delay="0"/>
                                  </p:stCondLst>
                                  <p:childTnLst>
                                    <p:set>
                                      <p:cBhvr>
                                        <p:cTn id="74" dur="1" fill="hold">
                                          <p:stCondLst>
                                            <p:cond delay="0"/>
                                          </p:stCondLst>
                                        </p:cTn>
                                        <p:tgtEl>
                                          <p:spTgt spid="22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nodeType="clickEffect" fill="hold" presetClass="entr" presetID="1">
                                  <p:stCondLst>
                                    <p:cond delay="0"/>
                                  </p:stCondLst>
                                  <p:childTnLst>
                                    <p:set>
                                      <p:cBhvr>
                                        <p:cTn id="78" dur="1" fill="hold">
                                          <p:stCondLst>
                                            <p:cond delay="0"/>
                                          </p:stCondLst>
                                        </p:cTn>
                                        <p:tgtEl>
                                          <p:spTgt spid="22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nodeType="clickEffect" fill="hold" presetClass="entr" presetID="1">
                                  <p:stCondLst>
                                    <p:cond delay="0"/>
                                  </p:stCondLst>
                                  <p:childTnLst>
                                    <p:set>
                                      <p:cBhvr>
                                        <p:cTn id="82" dur="1" fill="hold">
                                          <p:stCondLst>
                                            <p:cond delay="0"/>
                                          </p:stCondLst>
                                        </p:cTn>
                                        <p:tgtEl>
                                          <p:spTgt spid="22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nodeType="clickEffect" fill="hold" presetClass="entr" presetID="1">
                                  <p:stCondLst>
                                    <p:cond delay="0"/>
                                  </p:stCondLst>
                                  <p:childTnLst>
                                    <p:set>
                                      <p:cBhvr>
                                        <p:cTn id="86" dur="1" fill="hold">
                                          <p:stCondLst>
                                            <p:cond delay="0"/>
                                          </p:stCondLst>
                                        </p:cTn>
                                        <p:tgtEl>
                                          <p:spTgt spid="22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nodeType="clickEffect" fill="hold" presetClass="entr" presetID="1">
                                  <p:stCondLst>
                                    <p:cond delay="0"/>
                                  </p:stCondLst>
                                  <p:childTnLst>
                                    <p:set>
                                      <p:cBhvr>
                                        <p:cTn id="90" dur="1" fill="hold">
                                          <p:stCondLst>
                                            <p:cond delay="0"/>
                                          </p:stCondLst>
                                        </p:cTn>
                                        <p:tgtEl>
                                          <p:spTgt spid="22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nodeType="clickEffect" fill="hold" presetClass="entr" presetID="1">
                                  <p:stCondLst>
                                    <p:cond delay="0"/>
                                  </p:stCondLst>
                                  <p:childTnLst>
                                    <p:set>
                                      <p:cBhvr>
                                        <p:cTn id="94" dur="1" fill="hold">
                                          <p:stCondLst>
                                            <p:cond delay="0"/>
                                          </p:stCondLst>
                                        </p:cTn>
                                        <p:tgtEl>
                                          <p:spTgt spid="2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Inorder Traversal</a:t>
            </a:r>
            <a:endParaRPr b="0" lang="en-US" sz="4400" spc="-1" strike="noStrike">
              <a:solidFill>
                <a:srgbClr val="000000"/>
              </a:solidFill>
              <a:latin typeface="Arial"/>
            </a:endParaRPr>
          </a:p>
        </p:txBody>
      </p:sp>
      <p:sp>
        <p:nvSpPr>
          <p:cNvPr id="227" name="PlaceHolder 2"/>
          <p:cNvSpPr>
            <a:spLocks noGrp="1"/>
          </p:cNvSpPr>
          <p:nvPr>
            <p:ph/>
          </p:nvPr>
        </p:nvSpPr>
        <p:spPr>
          <a:xfrm>
            <a:off x="838080" y="1107000"/>
            <a:ext cx="6432120" cy="50691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 an inorder traversal a node is visited after its left subtree and before its right subtree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Application: draw a binary tree</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x(v) = inorder rank of v</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y(v) = depth of v</a:t>
            </a:r>
            <a:endParaRPr b="0" lang="en-US" sz="2400" spc="-1" strike="noStrike">
              <a:solidFill>
                <a:srgbClr val="000000"/>
              </a:solidFill>
              <a:latin typeface="Arial"/>
            </a:endParaRPr>
          </a:p>
        </p:txBody>
      </p:sp>
      <p:sp>
        <p:nvSpPr>
          <p:cNvPr id="228" name="PlaceHolder 3"/>
          <p:cNvSpPr>
            <a:spLocks noGrp="1"/>
          </p:cNvSpPr>
          <p:nvPr>
            <p:ph type="sldNum" idx="35"/>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4DE2A366-BBA3-4858-8943-12A461577B6F}" type="slidenum">
              <a:rPr b="0" lang="en-US" sz="1400" spc="-1" strike="noStrike">
                <a:solidFill>
                  <a:schemeClr val="dk1">
                    <a:tint val="75000"/>
                  </a:schemeClr>
                </a:solidFill>
                <a:latin typeface="Tahoma"/>
                <a:ea typeface="MS PGothic"/>
              </a:rPr>
              <a:t>18</a:t>
            </a:fld>
            <a:endParaRPr b="0" lang="en-US" sz="1400" spc="-1" strike="noStrike">
              <a:solidFill>
                <a:srgbClr val="000000"/>
              </a:solidFill>
              <a:latin typeface="Times New Roman"/>
            </a:endParaRPr>
          </a:p>
        </p:txBody>
      </p:sp>
      <p:sp>
        <p:nvSpPr>
          <p:cNvPr id="229" name="Text Box 4"/>
          <p:cNvSpPr/>
          <p:nvPr/>
        </p:nvSpPr>
        <p:spPr>
          <a:xfrm>
            <a:off x="7432200" y="1188360"/>
            <a:ext cx="4190400" cy="2368080"/>
          </a:xfrm>
          <a:prstGeom prst="rect">
            <a:avLst/>
          </a:prstGeom>
          <a:noFill/>
          <a:ln w="9525">
            <a:solidFill>
              <a:srgbClr val="000000"/>
            </a:solidFill>
            <a:miter/>
          </a:ln>
        </p:spPr>
        <p:style>
          <a:lnRef idx="0"/>
          <a:fillRef idx="0"/>
          <a:effectRef idx="0"/>
          <a:fontRef idx="minor"/>
        </p:style>
        <p:txBody>
          <a:bodyPr lIns="90000" rIns="90000" tIns="45000" bIns="45000" anchor="t">
            <a:spAutoFit/>
          </a:bodyPr>
          <a:p>
            <a:pPr defTabSz="457200">
              <a:lnSpc>
                <a:spcPct val="90000"/>
              </a:lnSpc>
              <a:spcBef>
                <a:spcPts val="479"/>
              </a:spcBef>
            </a:pPr>
            <a:r>
              <a:rPr b="1" lang="en-US" sz="2400" spc="-1" strike="noStrike">
                <a:solidFill>
                  <a:srgbClr val="000000"/>
                </a:solidFill>
                <a:latin typeface="Times New Roman"/>
                <a:ea typeface="MS PGothic"/>
              </a:rPr>
              <a:t>Algorithm</a:t>
            </a:r>
            <a:r>
              <a:rPr b="0" lang="en-US" sz="2400" spc="-1" strike="noStrike">
                <a:solidFill>
                  <a:schemeClr val="dk1"/>
                </a:solidFill>
                <a:latin typeface="Times New Roman"/>
                <a:ea typeface="MS PGothic"/>
              </a:rPr>
              <a:t> </a:t>
            </a:r>
            <a:r>
              <a:rPr b="1" i="1" lang="en-US" sz="2400" spc="-1" strike="noStrike">
                <a:solidFill>
                  <a:schemeClr val="dk2"/>
                </a:solidFill>
                <a:latin typeface="Times New Roman"/>
                <a:ea typeface="MS PGothic"/>
              </a:rPr>
              <a:t>inOrder</a:t>
            </a:r>
            <a:r>
              <a:rPr b="0" lang="en-US" sz="2400" spc="-1" strike="noStrike">
                <a:solidFill>
                  <a:schemeClr val="dk2"/>
                </a:solidFill>
                <a:latin typeface="Times New Roman"/>
                <a:ea typeface="MS PGothic"/>
              </a:rPr>
              <a:t>(</a:t>
            </a:r>
            <a:r>
              <a:rPr b="1" i="1" lang="en-US" sz="2400" spc="-1" strike="noStrike">
                <a:solidFill>
                  <a:schemeClr val="dk2"/>
                </a:solidFill>
                <a:latin typeface="Times New Roman"/>
                <a:ea typeface="MS PGothic"/>
              </a:rPr>
              <a:t>v</a:t>
            </a:r>
            <a:r>
              <a:rPr b="0" lang="en-US" sz="2400" spc="-1" strike="noStrike">
                <a:solidFill>
                  <a:schemeClr val="dk2"/>
                </a:solidFill>
                <a:latin typeface="Times New Roman"/>
                <a:ea typeface="MS PGothic"/>
              </a:rPr>
              <a:t>)</a:t>
            </a:r>
            <a:endParaRPr b="0" lang="en-US" sz="2400" spc="-1" strike="noStrike">
              <a:solidFill>
                <a:srgbClr val="000000"/>
              </a:solidFill>
              <a:latin typeface="Arial"/>
            </a:endParaRPr>
          </a:p>
          <a:p>
            <a:pPr marL="457200" defTabSz="457200">
              <a:lnSpc>
                <a:spcPct val="90000"/>
              </a:lnSpc>
              <a:spcBef>
                <a:spcPts val="479"/>
              </a:spcBef>
            </a:pPr>
            <a:r>
              <a:rPr b="1" lang="en-US" sz="2400" spc="-1" strike="noStrike">
                <a:solidFill>
                  <a:srgbClr val="000000"/>
                </a:solidFill>
                <a:latin typeface="Times New Roman"/>
                <a:ea typeface="MS PGothic"/>
              </a:rPr>
              <a:t>if</a:t>
            </a:r>
            <a:r>
              <a:rPr b="0" lang="en-US" sz="2400" spc="-1" strike="noStrike">
                <a:solidFill>
                  <a:schemeClr val="dk2"/>
                </a:solidFill>
                <a:latin typeface="Times New Roman"/>
                <a:ea typeface="MS PGothic"/>
              </a:rPr>
              <a:t> </a:t>
            </a:r>
            <a:r>
              <a:rPr b="1" i="1" lang="en-US" sz="2400" spc="-1" strike="noStrike">
                <a:solidFill>
                  <a:schemeClr val="accent2"/>
                </a:solidFill>
                <a:latin typeface="Times New Roman"/>
                <a:ea typeface="MS PGothic"/>
              </a:rPr>
              <a:t>v </a:t>
            </a:r>
            <a:r>
              <a:rPr b="1" lang="en-US" sz="2400" spc="-1" strike="noStrike">
                <a:solidFill>
                  <a:srgbClr val="800000"/>
                </a:solidFill>
                <a:latin typeface="Times New Roman"/>
                <a:ea typeface="MS PGothic"/>
              </a:rPr>
              <a:t>has a left child</a:t>
            </a:r>
            <a:endParaRPr b="0" lang="en-US" sz="2400" spc="-1" strike="noStrike">
              <a:solidFill>
                <a:srgbClr val="000000"/>
              </a:solidFill>
              <a:latin typeface="Arial"/>
            </a:endParaRPr>
          </a:p>
          <a:p>
            <a:pPr marL="914400" defTabSz="457200">
              <a:lnSpc>
                <a:spcPct val="90000"/>
              </a:lnSpc>
              <a:spcBef>
                <a:spcPts val="479"/>
              </a:spcBef>
            </a:pPr>
            <a:r>
              <a:rPr b="1" i="1" lang="en-US" sz="2400" spc="-1" strike="noStrike">
                <a:solidFill>
                  <a:schemeClr val="accent2"/>
                </a:solidFill>
                <a:latin typeface="Times New Roman"/>
                <a:ea typeface="MS PGothic"/>
              </a:rPr>
              <a:t>inOrder</a:t>
            </a:r>
            <a:r>
              <a:rPr b="0" lang="en-US" sz="2400" spc="-1" strike="noStrike">
                <a:solidFill>
                  <a:schemeClr val="accent2"/>
                </a:solidFill>
                <a:latin typeface="Times New Roman"/>
                <a:ea typeface="MS PGothic"/>
              </a:rPr>
              <a:t> (</a:t>
            </a:r>
            <a:r>
              <a:rPr b="1" i="1" lang="en-US" sz="2400" spc="-1" strike="noStrike">
                <a:solidFill>
                  <a:schemeClr val="accent2"/>
                </a:solidFill>
                <a:latin typeface="Times New Roman"/>
                <a:ea typeface="MS PGothic"/>
              </a:rPr>
              <a:t>left </a:t>
            </a:r>
            <a:r>
              <a:rPr b="0" lang="en-US" sz="2400" spc="-1" strike="noStrike">
                <a:solidFill>
                  <a:schemeClr val="accent2"/>
                </a:solidFill>
                <a:latin typeface="Times New Roman"/>
                <a:ea typeface="MS PGothic"/>
              </a:rPr>
              <a:t>(</a:t>
            </a:r>
            <a:r>
              <a:rPr b="1" i="1" lang="en-US" sz="2400" spc="-1" strike="noStrike">
                <a:solidFill>
                  <a:schemeClr val="accent2"/>
                </a:solidFill>
                <a:latin typeface="Times New Roman"/>
                <a:ea typeface="MS PGothic"/>
              </a:rPr>
              <a:t>v</a:t>
            </a:r>
            <a:r>
              <a:rPr b="0" lang="en-US" sz="2400" spc="-1" strike="noStrike">
                <a:solidFill>
                  <a:schemeClr val="accent2"/>
                </a:solidFill>
                <a:latin typeface="Times New Roman"/>
                <a:ea typeface="MS PGothic"/>
              </a:rPr>
              <a:t>))</a:t>
            </a:r>
            <a:endParaRPr b="0" lang="en-US" sz="2400" spc="-1" strike="noStrike">
              <a:solidFill>
                <a:srgbClr val="000000"/>
              </a:solidFill>
              <a:latin typeface="Arial"/>
            </a:endParaRPr>
          </a:p>
          <a:p>
            <a:pPr marL="457200" defTabSz="457200">
              <a:lnSpc>
                <a:spcPct val="90000"/>
              </a:lnSpc>
              <a:spcBef>
                <a:spcPts val="479"/>
              </a:spcBef>
            </a:pPr>
            <a:r>
              <a:rPr b="1" i="1" lang="en-US" sz="2400" spc="-1" strike="noStrike">
                <a:solidFill>
                  <a:schemeClr val="accent2"/>
                </a:solidFill>
                <a:latin typeface="Times New Roman"/>
                <a:ea typeface="MS PGothic"/>
              </a:rPr>
              <a:t>visit</a:t>
            </a:r>
            <a:r>
              <a:rPr b="0" lang="en-US" sz="2400" spc="-1" strike="noStrike">
                <a:solidFill>
                  <a:schemeClr val="accent2"/>
                </a:solidFill>
                <a:latin typeface="Times New Roman"/>
                <a:ea typeface="MS PGothic"/>
              </a:rPr>
              <a:t>(</a:t>
            </a:r>
            <a:r>
              <a:rPr b="1" i="1" lang="en-US" sz="2400" spc="-1" strike="noStrike">
                <a:solidFill>
                  <a:schemeClr val="accent2"/>
                </a:solidFill>
                <a:latin typeface="Times New Roman"/>
                <a:ea typeface="MS PGothic"/>
              </a:rPr>
              <a:t>v</a:t>
            </a:r>
            <a:r>
              <a:rPr b="0" lang="en-US" sz="2400" spc="-1" strike="noStrike">
                <a:solidFill>
                  <a:schemeClr val="accent2"/>
                </a:solidFill>
                <a:latin typeface="Times New Roman"/>
                <a:ea typeface="MS PGothic"/>
              </a:rPr>
              <a:t>)</a:t>
            </a:r>
            <a:endParaRPr b="0" lang="en-US" sz="2400" spc="-1" strike="noStrike">
              <a:solidFill>
                <a:srgbClr val="000000"/>
              </a:solidFill>
              <a:latin typeface="Arial"/>
            </a:endParaRPr>
          </a:p>
          <a:p>
            <a:pPr marL="457200" defTabSz="457200">
              <a:lnSpc>
                <a:spcPct val="90000"/>
              </a:lnSpc>
              <a:spcBef>
                <a:spcPts val="479"/>
              </a:spcBef>
            </a:pPr>
            <a:r>
              <a:rPr b="1" lang="en-US" sz="2400" spc="-1" strike="noStrike">
                <a:solidFill>
                  <a:srgbClr val="000000"/>
                </a:solidFill>
                <a:latin typeface="Times New Roman"/>
                <a:ea typeface="MS PGothic"/>
              </a:rPr>
              <a:t>if</a:t>
            </a:r>
            <a:r>
              <a:rPr b="0" lang="en-US" sz="2400" spc="-1" strike="noStrike">
                <a:solidFill>
                  <a:schemeClr val="dk2"/>
                </a:solidFill>
                <a:latin typeface="Times New Roman"/>
                <a:ea typeface="MS PGothic"/>
              </a:rPr>
              <a:t> </a:t>
            </a:r>
            <a:r>
              <a:rPr b="1" i="1" lang="en-US" sz="2400" spc="-1" strike="noStrike">
                <a:solidFill>
                  <a:schemeClr val="accent2"/>
                </a:solidFill>
                <a:latin typeface="Times New Roman"/>
                <a:ea typeface="MS PGothic"/>
              </a:rPr>
              <a:t>v </a:t>
            </a:r>
            <a:r>
              <a:rPr b="1" lang="en-US" sz="2400" spc="-1" strike="noStrike">
                <a:solidFill>
                  <a:srgbClr val="800000"/>
                </a:solidFill>
                <a:latin typeface="Times New Roman"/>
                <a:ea typeface="MS PGothic"/>
              </a:rPr>
              <a:t>has a right child</a:t>
            </a:r>
            <a:endParaRPr b="0" lang="en-US" sz="2400" spc="-1" strike="noStrike">
              <a:solidFill>
                <a:srgbClr val="000000"/>
              </a:solidFill>
              <a:latin typeface="Arial"/>
            </a:endParaRPr>
          </a:p>
          <a:p>
            <a:pPr marL="914400" defTabSz="457200">
              <a:lnSpc>
                <a:spcPct val="90000"/>
              </a:lnSpc>
              <a:spcBef>
                <a:spcPts val="479"/>
              </a:spcBef>
            </a:pPr>
            <a:r>
              <a:rPr b="1" i="1" lang="en-US" sz="2400" spc="-1" strike="noStrike">
                <a:solidFill>
                  <a:schemeClr val="accent2"/>
                </a:solidFill>
                <a:latin typeface="Times New Roman"/>
                <a:ea typeface="MS PGothic"/>
              </a:rPr>
              <a:t>inOrder</a:t>
            </a:r>
            <a:r>
              <a:rPr b="0" lang="en-US" sz="2400" spc="-1" strike="noStrike">
                <a:solidFill>
                  <a:schemeClr val="accent2"/>
                </a:solidFill>
                <a:latin typeface="Times New Roman"/>
                <a:ea typeface="MS PGothic"/>
              </a:rPr>
              <a:t> (</a:t>
            </a:r>
            <a:r>
              <a:rPr b="1" i="1" lang="en-US" sz="2400" spc="-1" strike="noStrike">
                <a:solidFill>
                  <a:schemeClr val="accent2"/>
                </a:solidFill>
                <a:latin typeface="Times New Roman"/>
                <a:ea typeface="MS PGothic"/>
              </a:rPr>
              <a:t>right </a:t>
            </a:r>
            <a:r>
              <a:rPr b="0" lang="en-US" sz="2400" spc="-1" strike="noStrike">
                <a:solidFill>
                  <a:schemeClr val="accent2"/>
                </a:solidFill>
                <a:latin typeface="Times New Roman"/>
                <a:ea typeface="MS PGothic"/>
              </a:rPr>
              <a:t>(</a:t>
            </a:r>
            <a:r>
              <a:rPr b="1" i="1" lang="en-US" sz="2400" spc="-1" strike="noStrike">
                <a:solidFill>
                  <a:schemeClr val="accent2"/>
                </a:solidFill>
                <a:latin typeface="Times New Roman"/>
                <a:ea typeface="MS PGothic"/>
              </a:rPr>
              <a:t>v</a:t>
            </a:r>
            <a:r>
              <a:rPr b="0" lang="en-US" sz="2400" spc="-1" strike="noStrike">
                <a:solidFill>
                  <a:schemeClr val="accent2"/>
                </a:solidFill>
                <a:latin typeface="Times New Roman"/>
                <a:ea typeface="MS PGothic"/>
              </a:rPr>
              <a:t>))</a:t>
            </a:r>
            <a:endParaRPr b="0" lang="en-US" sz="2400" spc="-1" strike="noStrike">
              <a:solidFill>
                <a:srgbClr val="000000"/>
              </a:solidFill>
              <a:latin typeface="Arial"/>
            </a:endParaRPr>
          </a:p>
        </p:txBody>
      </p:sp>
      <p:grpSp>
        <p:nvGrpSpPr>
          <p:cNvPr id="230" name="Group 5"/>
          <p:cNvGrpSpPr/>
          <p:nvPr/>
        </p:nvGrpSpPr>
        <p:grpSpPr>
          <a:xfrm>
            <a:off x="4255920" y="3465000"/>
            <a:ext cx="4463640" cy="2711520"/>
            <a:chOff x="4255920" y="3465000"/>
            <a:chExt cx="4463640" cy="2711520"/>
          </a:xfrm>
        </p:grpSpPr>
        <p:sp>
          <p:nvSpPr>
            <p:cNvPr id="231" name="Oval 6"/>
            <p:cNvSpPr/>
            <p:nvPr/>
          </p:nvSpPr>
          <p:spPr>
            <a:xfrm>
              <a:off x="6736320" y="3465000"/>
              <a:ext cx="495360" cy="451440"/>
            </a:xfrm>
            <a:prstGeom prst="ellipse">
              <a:avLst/>
            </a:prstGeom>
            <a:solidFill>
              <a:schemeClr val="accent4">
                <a:lumMod val="40000"/>
                <a:lumOff val="60000"/>
              </a:schemeClr>
            </a:solidFill>
            <a:ln w="19050">
              <a:solidFill>
                <a:srgbClr val="000000"/>
              </a:solidFill>
              <a:round/>
            </a:ln>
          </p:spPr>
          <p:style>
            <a:lnRef idx="0"/>
            <a:fillRef idx="0"/>
            <a:effectRef idx="0"/>
            <a:fontRef idx="minor"/>
          </p:style>
          <p:txBody>
            <a:bodyPr wrap="none" lIns="0" rIns="0" tIns="0" bIns="45000" anchor="ctr" anchorCtr="1">
              <a:noAutofit/>
            </a:bodyPr>
            <a:p>
              <a:pPr defTabSz="457200">
                <a:lnSpc>
                  <a:spcPct val="100000"/>
                </a:lnSpc>
              </a:pPr>
              <a:endParaRPr b="0" lang="en-US" sz="2400" spc="-1" strike="noStrike">
                <a:solidFill>
                  <a:schemeClr val="dk1"/>
                </a:solidFill>
                <a:latin typeface="Symbol"/>
                <a:ea typeface="MS PGothic"/>
              </a:endParaRPr>
            </a:p>
          </p:txBody>
        </p:sp>
        <p:sp>
          <p:nvSpPr>
            <p:cNvPr id="232" name="Oval 7"/>
            <p:cNvSpPr/>
            <p:nvPr/>
          </p:nvSpPr>
          <p:spPr>
            <a:xfrm>
              <a:off x="7728120" y="4188240"/>
              <a:ext cx="495360" cy="451440"/>
            </a:xfrm>
            <a:prstGeom prst="ellipse">
              <a:avLst/>
            </a:prstGeom>
            <a:solidFill>
              <a:schemeClr val="accent4">
                <a:lumMod val="40000"/>
                <a:lumOff val="60000"/>
              </a:schemeClr>
            </a:solidFill>
            <a:ln w="19050">
              <a:solidFill>
                <a:srgbClr val="000000"/>
              </a:solidFill>
              <a:round/>
            </a:ln>
          </p:spPr>
          <p:style>
            <a:lnRef idx="0"/>
            <a:fillRef idx="0"/>
            <a:effectRef idx="0"/>
            <a:fontRef idx="minor"/>
          </p:style>
          <p:txBody>
            <a:bodyPr wrap="none" lIns="0" rIns="0" tIns="0" bIns="45000" anchor="ctr" anchorCtr="1">
              <a:noAutofit/>
            </a:bodyPr>
            <a:p>
              <a:pPr defTabSz="457200">
                <a:lnSpc>
                  <a:spcPct val="100000"/>
                </a:lnSpc>
              </a:pPr>
              <a:endParaRPr b="0" lang="en-US" sz="2400" spc="-1" strike="noStrike">
                <a:solidFill>
                  <a:schemeClr val="dk1"/>
                </a:solidFill>
                <a:latin typeface="Symbol"/>
                <a:ea typeface="MS PGothic"/>
              </a:endParaRPr>
            </a:p>
          </p:txBody>
        </p:sp>
        <p:sp>
          <p:nvSpPr>
            <p:cNvPr id="233" name="Oval 8"/>
            <p:cNvSpPr/>
            <p:nvPr/>
          </p:nvSpPr>
          <p:spPr>
            <a:xfrm>
              <a:off x="4752000" y="4188240"/>
              <a:ext cx="495360" cy="451440"/>
            </a:xfrm>
            <a:prstGeom prst="ellipse">
              <a:avLst/>
            </a:prstGeom>
            <a:solidFill>
              <a:schemeClr val="accent4">
                <a:lumMod val="40000"/>
                <a:lumOff val="60000"/>
              </a:schemeClr>
            </a:solidFill>
            <a:ln w="19050">
              <a:solidFill>
                <a:srgbClr val="000000"/>
              </a:solidFill>
              <a:round/>
            </a:ln>
          </p:spPr>
          <p:style>
            <a:lnRef idx="0"/>
            <a:fillRef idx="0"/>
            <a:effectRef idx="0"/>
            <a:fontRef idx="minor"/>
          </p:style>
          <p:txBody>
            <a:bodyPr wrap="none" lIns="0" rIns="0" tIns="0" bIns="45000" anchor="ctr" anchorCtr="1">
              <a:noAutofit/>
            </a:bodyPr>
            <a:p>
              <a:pPr defTabSz="457200">
                <a:lnSpc>
                  <a:spcPct val="100000"/>
                </a:lnSpc>
              </a:pPr>
              <a:endParaRPr b="0" lang="en-US" sz="2400" spc="-1" strike="noStrike">
                <a:solidFill>
                  <a:schemeClr val="dk1"/>
                </a:solidFill>
                <a:latin typeface="Symbol"/>
                <a:ea typeface="MS PGothic"/>
              </a:endParaRPr>
            </a:p>
          </p:txBody>
        </p:sp>
        <p:sp>
          <p:nvSpPr>
            <p:cNvPr id="234" name="Oval 9"/>
            <p:cNvSpPr/>
            <p:nvPr/>
          </p:nvSpPr>
          <p:spPr>
            <a:xfrm>
              <a:off x="5744160" y="4911480"/>
              <a:ext cx="495360" cy="451440"/>
            </a:xfrm>
            <a:prstGeom prst="ellipse">
              <a:avLst/>
            </a:prstGeom>
            <a:solidFill>
              <a:schemeClr val="accent4">
                <a:lumMod val="40000"/>
                <a:lumOff val="60000"/>
              </a:schemeClr>
            </a:solidFill>
            <a:ln w="19050">
              <a:solidFill>
                <a:srgbClr val="000000"/>
              </a:solidFill>
              <a:round/>
            </a:ln>
          </p:spPr>
          <p:style>
            <a:lnRef idx="0"/>
            <a:fillRef idx="0"/>
            <a:effectRef idx="0"/>
            <a:fontRef idx="minor"/>
          </p:style>
          <p:txBody>
            <a:bodyPr wrap="none" lIns="0" rIns="0" tIns="0" bIns="45000" anchor="ctr" anchorCtr="1">
              <a:noAutofit/>
            </a:bodyPr>
            <a:p>
              <a:pPr defTabSz="457200">
                <a:lnSpc>
                  <a:spcPct val="100000"/>
                </a:lnSpc>
              </a:pPr>
              <a:endParaRPr b="0" lang="en-US" sz="2400" spc="-1" strike="noStrike">
                <a:solidFill>
                  <a:schemeClr val="dk1"/>
                </a:solidFill>
                <a:latin typeface="Symbol"/>
                <a:ea typeface="MS PGothic"/>
              </a:endParaRPr>
            </a:p>
          </p:txBody>
        </p:sp>
        <p:sp>
          <p:nvSpPr>
            <p:cNvPr id="235" name="Rectangle 10"/>
            <p:cNvSpPr/>
            <p:nvPr/>
          </p:nvSpPr>
          <p:spPr>
            <a:xfrm>
              <a:off x="4255920" y="4911480"/>
              <a:ext cx="495360" cy="451440"/>
            </a:xfrm>
            <a:prstGeom prst="rect">
              <a:avLst/>
            </a:prstGeom>
            <a:solidFill>
              <a:schemeClr val="accent4">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36" name="Rectangle 11"/>
            <p:cNvSpPr/>
            <p:nvPr/>
          </p:nvSpPr>
          <p:spPr>
            <a:xfrm>
              <a:off x="5248080" y="5725080"/>
              <a:ext cx="495360" cy="451440"/>
            </a:xfrm>
            <a:prstGeom prst="rect">
              <a:avLst/>
            </a:prstGeom>
            <a:solidFill>
              <a:schemeClr val="accent4">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37" name="Rectangle 12"/>
            <p:cNvSpPr/>
            <p:nvPr/>
          </p:nvSpPr>
          <p:spPr>
            <a:xfrm>
              <a:off x="6240240" y="5725080"/>
              <a:ext cx="495360" cy="451440"/>
            </a:xfrm>
            <a:prstGeom prst="rect">
              <a:avLst/>
            </a:prstGeom>
            <a:solidFill>
              <a:schemeClr val="accent4">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38" name="Rectangle 13"/>
            <p:cNvSpPr/>
            <p:nvPr/>
          </p:nvSpPr>
          <p:spPr>
            <a:xfrm>
              <a:off x="7232040" y="4911480"/>
              <a:ext cx="495360" cy="451440"/>
            </a:xfrm>
            <a:prstGeom prst="rect">
              <a:avLst/>
            </a:prstGeom>
            <a:solidFill>
              <a:schemeClr val="accent4">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39" name="Rectangle 14"/>
            <p:cNvSpPr/>
            <p:nvPr/>
          </p:nvSpPr>
          <p:spPr>
            <a:xfrm>
              <a:off x="8224200" y="4911480"/>
              <a:ext cx="495360" cy="451440"/>
            </a:xfrm>
            <a:prstGeom prst="rect">
              <a:avLst/>
            </a:prstGeom>
            <a:solidFill>
              <a:schemeClr val="accent4">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240" name="AutoShape 15"/>
            <p:cNvCxnSpPr>
              <a:stCxn id="231" idx="3"/>
              <a:endCxn id="233" idx="7"/>
            </p:cNvCxnSpPr>
            <p:nvPr/>
          </p:nvCxnSpPr>
          <p:spPr>
            <a:xfrm flipH="1">
              <a:off x="5175720" y="3862080"/>
              <a:ext cx="1633320" cy="381240"/>
            </a:xfrm>
            <a:prstGeom prst="straightConnector1">
              <a:avLst/>
            </a:prstGeom>
            <a:ln w="19050">
              <a:solidFill>
                <a:srgbClr val="000000"/>
              </a:solidFill>
              <a:round/>
            </a:ln>
          </p:spPr>
        </p:cxnSp>
        <p:cxnSp>
          <p:nvCxnSpPr>
            <p:cNvPr id="241" name="AutoShape 16"/>
            <p:cNvCxnSpPr>
              <a:stCxn id="232" idx="1"/>
              <a:endCxn id="231" idx="5"/>
            </p:cNvCxnSpPr>
            <p:nvPr/>
          </p:nvCxnSpPr>
          <p:spPr>
            <a:xfrm flipH="1" flipV="1">
              <a:off x="7159680" y="3862080"/>
              <a:ext cx="641520" cy="381240"/>
            </a:xfrm>
            <a:prstGeom prst="straightConnector1">
              <a:avLst/>
            </a:prstGeom>
            <a:ln w="19050">
              <a:solidFill>
                <a:srgbClr val="000000"/>
              </a:solidFill>
              <a:round/>
            </a:ln>
          </p:spPr>
        </p:cxnSp>
        <p:cxnSp>
          <p:nvCxnSpPr>
            <p:cNvPr id="242" name="AutoShape 17"/>
            <p:cNvCxnSpPr>
              <a:stCxn id="239" idx="0"/>
              <a:endCxn id="232" idx="5"/>
            </p:cNvCxnSpPr>
            <p:nvPr/>
          </p:nvCxnSpPr>
          <p:spPr>
            <a:xfrm flipH="1" flipV="1">
              <a:off x="8151840" y="4585320"/>
              <a:ext cx="321120" cy="315360"/>
            </a:xfrm>
            <a:prstGeom prst="straightConnector1">
              <a:avLst/>
            </a:prstGeom>
            <a:ln w="19050">
              <a:solidFill>
                <a:srgbClr val="000000"/>
              </a:solidFill>
              <a:round/>
            </a:ln>
          </p:spPr>
        </p:cxnSp>
        <p:cxnSp>
          <p:nvCxnSpPr>
            <p:cNvPr id="243" name="AutoShape 18"/>
            <p:cNvCxnSpPr>
              <a:stCxn id="238" idx="0"/>
              <a:endCxn id="232" idx="3"/>
            </p:cNvCxnSpPr>
            <p:nvPr/>
          </p:nvCxnSpPr>
          <p:spPr>
            <a:xfrm flipV="1">
              <a:off x="7480080" y="4585320"/>
              <a:ext cx="321120" cy="315360"/>
            </a:xfrm>
            <a:prstGeom prst="straightConnector1">
              <a:avLst/>
            </a:prstGeom>
            <a:ln w="19050">
              <a:solidFill>
                <a:srgbClr val="000000"/>
              </a:solidFill>
              <a:round/>
            </a:ln>
          </p:spPr>
        </p:cxnSp>
        <p:cxnSp>
          <p:nvCxnSpPr>
            <p:cNvPr id="244" name="AutoShape 19"/>
            <p:cNvCxnSpPr>
              <a:stCxn id="237" idx="0"/>
              <a:endCxn id="234" idx="5"/>
            </p:cNvCxnSpPr>
            <p:nvPr/>
          </p:nvCxnSpPr>
          <p:spPr>
            <a:xfrm flipH="1" flipV="1">
              <a:off x="6167520" y="5308560"/>
              <a:ext cx="321120" cy="405720"/>
            </a:xfrm>
            <a:prstGeom prst="straightConnector1">
              <a:avLst/>
            </a:prstGeom>
            <a:ln w="19050">
              <a:solidFill>
                <a:srgbClr val="000000"/>
              </a:solidFill>
              <a:round/>
            </a:ln>
          </p:spPr>
        </p:cxnSp>
        <p:cxnSp>
          <p:nvCxnSpPr>
            <p:cNvPr id="245" name="AutoShape 20"/>
            <p:cNvCxnSpPr>
              <a:stCxn id="236" idx="0"/>
              <a:endCxn id="234" idx="3"/>
            </p:cNvCxnSpPr>
            <p:nvPr/>
          </p:nvCxnSpPr>
          <p:spPr>
            <a:xfrm flipV="1">
              <a:off x="5496120" y="5308560"/>
              <a:ext cx="320760" cy="405720"/>
            </a:xfrm>
            <a:prstGeom prst="straightConnector1">
              <a:avLst/>
            </a:prstGeom>
            <a:ln w="19050">
              <a:solidFill>
                <a:srgbClr val="000000"/>
              </a:solidFill>
              <a:round/>
            </a:ln>
          </p:spPr>
        </p:cxnSp>
        <p:cxnSp>
          <p:nvCxnSpPr>
            <p:cNvPr id="246" name="AutoShape 21"/>
            <p:cNvCxnSpPr>
              <a:stCxn id="235" idx="0"/>
              <a:endCxn id="233" idx="3"/>
            </p:cNvCxnSpPr>
            <p:nvPr/>
          </p:nvCxnSpPr>
          <p:spPr>
            <a:xfrm flipV="1">
              <a:off x="4503960" y="4585320"/>
              <a:ext cx="321120" cy="315360"/>
            </a:xfrm>
            <a:prstGeom prst="straightConnector1">
              <a:avLst/>
            </a:prstGeom>
            <a:ln w="19050">
              <a:solidFill>
                <a:srgbClr val="000000"/>
              </a:solidFill>
              <a:round/>
            </a:ln>
          </p:spPr>
        </p:cxnSp>
        <p:cxnSp>
          <p:nvCxnSpPr>
            <p:cNvPr id="247" name="AutoShape 22"/>
            <p:cNvCxnSpPr>
              <a:stCxn id="234" idx="1"/>
              <a:endCxn id="233" idx="5"/>
            </p:cNvCxnSpPr>
            <p:nvPr/>
          </p:nvCxnSpPr>
          <p:spPr>
            <a:xfrm flipH="1" flipV="1">
              <a:off x="5175720" y="4585320"/>
              <a:ext cx="641160" cy="381240"/>
            </a:xfrm>
            <a:prstGeom prst="straightConnector1">
              <a:avLst/>
            </a:prstGeom>
            <a:ln w="19050">
              <a:solidFill>
                <a:srgbClr val="000000"/>
              </a:solidFill>
              <a:round/>
            </a:ln>
          </p:spPr>
        </p:cxnSp>
      </p:grpSp>
      <p:sp>
        <p:nvSpPr>
          <p:cNvPr id="248" name="Text Box 23"/>
          <p:cNvSpPr/>
          <p:nvPr/>
        </p:nvSpPr>
        <p:spPr>
          <a:xfrm>
            <a:off x="4796280" y="5748480"/>
            <a:ext cx="418680" cy="394560"/>
          </a:xfrm>
          <a:prstGeom prst="rect">
            <a:avLst/>
          </a:prstGeom>
          <a:solidFill>
            <a:schemeClr val="accent1">
              <a:lumMod val="60000"/>
              <a:lumOff val="40000"/>
            </a:schemeClr>
          </a:solid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2"/>
                </a:solidFill>
                <a:latin typeface="Tahoma"/>
                <a:ea typeface="MS PGothic"/>
              </a:rPr>
              <a:t>3</a:t>
            </a:r>
            <a:endParaRPr b="0" lang="en-US" sz="2000" spc="-1" strike="noStrike">
              <a:solidFill>
                <a:srgbClr val="000000"/>
              </a:solidFill>
              <a:latin typeface="Arial"/>
            </a:endParaRPr>
          </a:p>
        </p:txBody>
      </p:sp>
      <p:sp>
        <p:nvSpPr>
          <p:cNvPr id="249" name="Text Box 24"/>
          <p:cNvSpPr/>
          <p:nvPr/>
        </p:nvSpPr>
        <p:spPr>
          <a:xfrm>
            <a:off x="3828960" y="4956480"/>
            <a:ext cx="418680" cy="394560"/>
          </a:xfrm>
          <a:prstGeom prst="rect">
            <a:avLst/>
          </a:prstGeom>
          <a:solidFill>
            <a:schemeClr val="accent1">
              <a:lumMod val="60000"/>
              <a:lumOff val="40000"/>
            </a:schemeClr>
          </a:solid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2"/>
                </a:solidFill>
                <a:latin typeface="Tahoma"/>
                <a:ea typeface="MS PGothic"/>
              </a:rPr>
              <a:t>1</a:t>
            </a:r>
            <a:endParaRPr b="0" lang="en-US" sz="2000" spc="-1" strike="noStrike">
              <a:solidFill>
                <a:srgbClr val="000000"/>
              </a:solidFill>
              <a:latin typeface="Arial"/>
            </a:endParaRPr>
          </a:p>
        </p:txBody>
      </p:sp>
      <p:sp>
        <p:nvSpPr>
          <p:cNvPr id="250" name="Text Box 25"/>
          <p:cNvSpPr/>
          <p:nvPr/>
        </p:nvSpPr>
        <p:spPr>
          <a:xfrm>
            <a:off x="4285080" y="4221360"/>
            <a:ext cx="418680" cy="394560"/>
          </a:xfrm>
          <a:prstGeom prst="rect">
            <a:avLst/>
          </a:prstGeom>
          <a:solidFill>
            <a:schemeClr val="accent1">
              <a:lumMod val="60000"/>
              <a:lumOff val="40000"/>
            </a:schemeClr>
          </a:solid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2"/>
                </a:solidFill>
                <a:latin typeface="Tahoma"/>
                <a:ea typeface="MS PGothic"/>
              </a:rPr>
              <a:t>2</a:t>
            </a:r>
            <a:endParaRPr b="0" lang="en-US" sz="2000" spc="-1" strike="noStrike">
              <a:solidFill>
                <a:srgbClr val="000000"/>
              </a:solidFill>
              <a:latin typeface="Arial"/>
            </a:endParaRPr>
          </a:p>
        </p:txBody>
      </p:sp>
      <p:sp>
        <p:nvSpPr>
          <p:cNvPr id="251" name="Text Box 26"/>
          <p:cNvSpPr/>
          <p:nvPr/>
        </p:nvSpPr>
        <p:spPr>
          <a:xfrm>
            <a:off x="6789240" y="5713560"/>
            <a:ext cx="418680" cy="394560"/>
          </a:xfrm>
          <a:prstGeom prst="rect">
            <a:avLst/>
          </a:prstGeom>
          <a:solidFill>
            <a:schemeClr val="accent1">
              <a:lumMod val="60000"/>
              <a:lumOff val="40000"/>
            </a:schemeClr>
          </a:solid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2"/>
                </a:solidFill>
                <a:latin typeface="Tahoma"/>
                <a:ea typeface="MS PGothic"/>
              </a:rPr>
              <a:t>5</a:t>
            </a:r>
            <a:endParaRPr b="0" lang="en-US" sz="2000" spc="-1" strike="noStrike">
              <a:solidFill>
                <a:srgbClr val="000000"/>
              </a:solidFill>
              <a:latin typeface="Arial"/>
            </a:endParaRPr>
          </a:p>
        </p:txBody>
      </p:sp>
      <p:sp>
        <p:nvSpPr>
          <p:cNvPr id="252" name="Text Box 27"/>
          <p:cNvSpPr/>
          <p:nvPr/>
        </p:nvSpPr>
        <p:spPr>
          <a:xfrm>
            <a:off x="6373800" y="3393720"/>
            <a:ext cx="324360" cy="394560"/>
          </a:xfrm>
          <a:prstGeom prst="rect">
            <a:avLst/>
          </a:prstGeom>
          <a:solidFill>
            <a:schemeClr val="accent1">
              <a:lumMod val="60000"/>
              <a:lumOff val="40000"/>
            </a:schemeClr>
          </a:solid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6</a:t>
            </a:r>
            <a:endParaRPr b="0" lang="en-US" sz="2000" spc="-1" strike="noStrike">
              <a:solidFill>
                <a:srgbClr val="000000"/>
              </a:solidFill>
              <a:latin typeface="Arial"/>
            </a:endParaRPr>
          </a:p>
        </p:txBody>
      </p:sp>
      <p:sp>
        <p:nvSpPr>
          <p:cNvPr id="253" name="Text Box 28"/>
          <p:cNvSpPr/>
          <p:nvPr/>
        </p:nvSpPr>
        <p:spPr>
          <a:xfrm>
            <a:off x="6798960" y="4937400"/>
            <a:ext cx="418680" cy="394560"/>
          </a:xfrm>
          <a:prstGeom prst="rect">
            <a:avLst/>
          </a:prstGeom>
          <a:solidFill>
            <a:schemeClr val="accent1">
              <a:lumMod val="60000"/>
              <a:lumOff val="40000"/>
            </a:schemeClr>
          </a:solid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2"/>
                </a:solidFill>
                <a:latin typeface="Tahoma"/>
                <a:ea typeface="MS PGothic"/>
              </a:rPr>
              <a:t>7</a:t>
            </a:r>
            <a:endParaRPr b="0" lang="en-US" sz="2000" spc="-1" strike="noStrike">
              <a:solidFill>
                <a:srgbClr val="000000"/>
              </a:solidFill>
              <a:latin typeface="Arial"/>
            </a:endParaRPr>
          </a:p>
        </p:txBody>
      </p:sp>
      <p:sp>
        <p:nvSpPr>
          <p:cNvPr id="254" name="Text Box 29"/>
          <p:cNvSpPr/>
          <p:nvPr/>
        </p:nvSpPr>
        <p:spPr>
          <a:xfrm>
            <a:off x="8731800" y="4937400"/>
            <a:ext cx="418680" cy="394560"/>
          </a:xfrm>
          <a:prstGeom prst="rect">
            <a:avLst/>
          </a:prstGeom>
          <a:solidFill>
            <a:schemeClr val="accent1">
              <a:lumMod val="60000"/>
              <a:lumOff val="40000"/>
            </a:schemeClr>
          </a:solid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2"/>
                </a:solidFill>
                <a:latin typeface="Tahoma"/>
                <a:ea typeface="MS PGothic"/>
              </a:rPr>
              <a:t>9</a:t>
            </a:r>
            <a:endParaRPr b="0" lang="en-US" sz="2000" spc="-1" strike="noStrike">
              <a:solidFill>
                <a:srgbClr val="000000"/>
              </a:solidFill>
              <a:latin typeface="Arial"/>
            </a:endParaRPr>
          </a:p>
        </p:txBody>
      </p:sp>
      <p:sp>
        <p:nvSpPr>
          <p:cNvPr id="255" name="Text Box 30"/>
          <p:cNvSpPr/>
          <p:nvPr/>
        </p:nvSpPr>
        <p:spPr>
          <a:xfrm>
            <a:off x="8280720" y="4209840"/>
            <a:ext cx="418680" cy="394560"/>
          </a:xfrm>
          <a:prstGeom prst="rect">
            <a:avLst/>
          </a:prstGeom>
          <a:solidFill>
            <a:schemeClr val="accent1">
              <a:lumMod val="60000"/>
              <a:lumOff val="40000"/>
            </a:schemeClr>
          </a:solid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2"/>
                </a:solidFill>
                <a:latin typeface="Tahoma"/>
                <a:ea typeface="MS PGothic"/>
              </a:rPr>
              <a:t>8</a:t>
            </a:r>
            <a:endParaRPr b="0" lang="en-US" sz="2000" spc="-1" strike="noStrike">
              <a:solidFill>
                <a:srgbClr val="000000"/>
              </a:solidFill>
              <a:latin typeface="Arial"/>
            </a:endParaRPr>
          </a:p>
        </p:txBody>
      </p:sp>
      <p:sp>
        <p:nvSpPr>
          <p:cNvPr id="256" name="Text Box 31"/>
          <p:cNvSpPr/>
          <p:nvPr/>
        </p:nvSpPr>
        <p:spPr>
          <a:xfrm>
            <a:off x="5337720" y="4937400"/>
            <a:ext cx="418680" cy="394560"/>
          </a:xfrm>
          <a:prstGeom prst="rect">
            <a:avLst/>
          </a:prstGeom>
          <a:solidFill>
            <a:schemeClr val="accent1">
              <a:lumMod val="60000"/>
              <a:lumOff val="40000"/>
            </a:schemeClr>
          </a:solid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2"/>
                </a:solidFill>
                <a:latin typeface="Tahoma"/>
                <a:ea typeface="MS PGothic"/>
              </a:rPr>
              <a:t>4</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95" dur="indefinite" restart="never" nodeType="tmRoot">
          <p:childTnLst>
            <p:seq>
              <p:cTn id="96" dur="indefinite" nodeType="mainSeq">
                <p:childTnLst>
                  <p:par>
                    <p:cTn id="97" fill="hold">
                      <p:stCondLst>
                        <p:cond delay="indefinite"/>
                      </p:stCondLst>
                      <p:childTnLst>
                        <p:par>
                          <p:cTn id="98" fill="hold">
                            <p:stCondLst>
                              <p:cond delay="0"/>
                            </p:stCondLst>
                            <p:childTnLst>
                              <p:par>
                                <p:cTn id="99" nodeType="clickEffect" fill="hold" presetClass="entr" presetID="1">
                                  <p:stCondLst>
                                    <p:cond delay="0"/>
                                  </p:stCondLst>
                                  <p:childTnLst>
                                    <p:set>
                                      <p:cBhvr>
                                        <p:cTn id="100" dur="1" fill="hold">
                                          <p:stCondLst>
                                            <p:cond delay="0"/>
                                          </p:stCondLst>
                                        </p:cTn>
                                        <p:tgtEl>
                                          <p:spTgt spid="249"/>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nodeType="clickEffect" fill="hold" presetClass="entr" presetID="1">
                                  <p:stCondLst>
                                    <p:cond delay="0"/>
                                  </p:stCondLst>
                                  <p:childTnLst>
                                    <p:set>
                                      <p:cBhvr>
                                        <p:cTn id="104" dur="1" fill="hold">
                                          <p:stCondLst>
                                            <p:cond delay="0"/>
                                          </p:stCondLst>
                                        </p:cTn>
                                        <p:tgtEl>
                                          <p:spTgt spid="250"/>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nodeType="clickEffect" fill="hold" presetClass="entr" presetID="1">
                                  <p:stCondLst>
                                    <p:cond delay="0"/>
                                  </p:stCondLst>
                                  <p:childTnLst>
                                    <p:set>
                                      <p:cBhvr>
                                        <p:cTn id="108" dur="1" fill="hold">
                                          <p:stCondLst>
                                            <p:cond delay="0"/>
                                          </p:stCondLst>
                                        </p:cTn>
                                        <p:tgtEl>
                                          <p:spTgt spid="248"/>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nodeType="clickEffect" fill="hold" presetClass="entr" presetID="1">
                                  <p:stCondLst>
                                    <p:cond delay="0"/>
                                  </p:stCondLst>
                                  <p:childTnLst>
                                    <p:set>
                                      <p:cBhvr>
                                        <p:cTn id="112" dur="1" fill="hold">
                                          <p:stCondLst>
                                            <p:cond delay="0"/>
                                          </p:stCondLst>
                                        </p:cTn>
                                        <p:tgtEl>
                                          <p:spTgt spid="256"/>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nodeType="clickEffect" fill="hold" presetClass="entr" presetID="1">
                                  <p:stCondLst>
                                    <p:cond delay="0"/>
                                  </p:stCondLst>
                                  <p:childTnLst>
                                    <p:set>
                                      <p:cBhvr>
                                        <p:cTn id="116" dur="1" fill="hold">
                                          <p:stCondLst>
                                            <p:cond delay="0"/>
                                          </p:stCondLst>
                                        </p:cTn>
                                        <p:tgtEl>
                                          <p:spTgt spid="251"/>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nodeType="clickEffect" fill="hold" presetClass="entr" presetID="1">
                                  <p:stCondLst>
                                    <p:cond delay="0"/>
                                  </p:stCondLst>
                                  <p:childTnLst>
                                    <p:set>
                                      <p:cBhvr>
                                        <p:cTn id="120" dur="1" fill="hold">
                                          <p:stCondLst>
                                            <p:cond delay="0"/>
                                          </p:stCondLst>
                                        </p:cTn>
                                        <p:tgtEl>
                                          <p:spTgt spid="252"/>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nodeType="clickEffect" fill="hold" presetClass="entr" presetID="1">
                                  <p:stCondLst>
                                    <p:cond delay="0"/>
                                  </p:stCondLst>
                                  <p:childTnLst>
                                    <p:set>
                                      <p:cBhvr>
                                        <p:cTn id="124" dur="1" fill="hold">
                                          <p:stCondLst>
                                            <p:cond delay="0"/>
                                          </p:stCondLst>
                                        </p:cTn>
                                        <p:tgtEl>
                                          <p:spTgt spid="253"/>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nodeType="clickEffect" fill="hold" presetClass="entr" presetID="1">
                                  <p:stCondLst>
                                    <p:cond delay="0"/>
                                  </p:stCondLst>
                                  <p:childTnLst>
                                    <p:set>
                                      <p:cBhvr>
                                        <p:cTn id="128" dur="1" fill="hold">
                                          <p:stCondLst>
                                            <p:cond delay="0"/>
                                          </p:stCondLst>
                                        </p:cTn>
                                        <p:tgtEl>
                                          <p:spTgt spid="255"/>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nodeType="clickEffect" fill="hold" presetClass="entr" presetID="1">
                                  <p:stCondLst>
                                    <p:cond delay="0"/>
                                  </p:stCondLst>
                                  <p:childTnLst>
                                    <p:set>
                                      <p:cBhvr>
                                        <p:cTn id="132"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Linked Structure for Trees</a:t>
            </a:r>
            <a:endParaRPr b="0" lang="en-US" sz="4400" spc="-1" strike="noStrike">
              <a:solidFill>
                <a:srgbClr val="000000"/>
              </a:solidFill>
              <a:latin typeface="Arial"/>
            </a:endParaRPr>
          </a:p>
        </p:txBody>
      </p:sp>
      <p:sp>
        <p:nvSpPr>
          <p:cNvPr id="258" name="PlaceHolder 2"/>
          <p:cNvSpPr>
            <a:spLocks noGrp="1"/>
          </p:cNvSpPr>
          <p:nvPr>
            <p:ph/>
          </p:nvPr>
        </p:nvSpPr>
        <p:spPr>
          <a:xfrm>
            <a:off x="838080" y="1107000"/>
            <a:ext cx="5930280" cy="50691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A node is represented by an object storing</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Element</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Parent node</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Sequence of children nodes</a:t>
            </a:r>
            <a:endParaRPr b="0" lang="en-US" sz="2000" spc="-1" strike="noStrike">
              <a:solidFill>
                <a:srgbClr val="000000"/>
              </a:solidFill>
              <a:latin typeface="Arial"/>
            </a:endParaRPr>
          </a:p>
        </p:txBody>
      </p:sp>
      <p:sp>
        <p:nvSpPr>
          <p:cNvPr id="259" name="PlaceHolder 3"/>
          <p:cNvSpPr>
            <a:spLocks noGrp="1"/>
          </p:cNvSpPr>
          <p:nvPr>
            <p:ph type="sldNum" idx="36"/>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B7280D0D-5E0C-4C48-A6CC-BBFD4D6C65A8}" type="slidenum">
              <a:rPr b="0" lang="en-US" sz="1400" spc="-1" strike="noStrike">
                <a:solidFill>
                  <a:schemeClr val="dk1">
                    <a:tint val="75000"/>
                  </a:schemeClr>
                </a:solidFill>
                <a:latin typeface="Tahoma"/>
                <a:ea typeface="MS PGothic"/>
              </a:rPr>
              <a:t>19</a:t>
            </a:fld>
            <a:endParaRPr b="0" lang="en-US" sz="1400" spc="-1" strike="noStrike">
              <a:solidFill>
                <a:srgbClr val="000000"/>
              </a:solidFill>
              <a:latin typeface="Times New Roman"/>
            </a:endParaRPr>
          </a:p>
        </p:txBody>
      </p:sp>
      <p:grpSp>
        <p:nvGrpSpPr>
          <p:cNvPr id="260" name="Group 110"/>
          <p:cNvGrpSpPr/>
          <p:nvPr/>
        </p:nvGrpSpPr>
        <p:grpSpPr>
          <a:xfrm>
            <a:off x="6981840" y="1316160"/>
            <a:ext cx="1028160" cy="342360"/>
            <a:chOff x="6981840" y="1316160"/>
            <a:chExt cx="1028160" cy="342360"/>
          </a:xfrm>
        </p:grpSpPr>
        <p:sp>
          <p:nvSpPr>
            <p:cNvPr id="261" name="Rectangle 76"/>
            <p:cNvSpPr/>
            <p:nvPr/>
          </p:nvSpPr>
          <p:spPr>
            <a:xfrm>
              <a:off x="6981840" y="1316160"/>
              <a:ext cx="342360" cy="342360"/>
            </a:xfrm>
            <a:prstGeom prst="rect">
              <a:avLst/>
            </a:prstGeom>
            <a:solidFill>
              <a:schemeClr val="accent1"/>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62" name="Rectangle 77"/>
            <p:cNvSpPr/>
            <p:nvPr/>
          </p:nvSpPr>
          <p:spPr>
            <a:xfrm>
              <a:off x="7667640" y="1316160"/>
              <a:ext cx="342360" cy="342360"/>
            </a:xfrm>
            <a:prstGeom prst="rect">
              <a:avLst/>
            </a:prstGeom>
            <a:solidFill>
              <a:schemeClr val="accent1"/>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63" name="Rectangle 109"/>
            <p:cNvSpPr/>
            <p:nvPr/>
          </p:nvSpPr>
          <p:spPr>
            <a:xfrm>
              <a:off x="7324560" y="1316160"/>
              <a:ext cx="342360" cy="342360"/>
            </a:xfrm>
            <a:prstGeom prst="rect">
              <a:avLst/>
            </a:prstGeom>
            <a:solidFill>
              <a:schemeClr val="accent1"/>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Symbol"/>
                  <a:ea typeface="MS PGothic"/>
                </a:rPr>
                <a:t></a:t>
              </a:r>
              <a:endParaRPr b="0" lang="en-US" sz="2400" spc="-1" strike="noStrike">
                <a:solidFill>
                  <a:srgbClr val="ffffff"/>
                </a:solidFill>
                <a:latin typeface="Arial"/>
              </a:endParaRPr>
            </a:p>
          </p:txBody>
        </p:sp>
      </p:grpSp>
      <p:sp>
        <p:nvSpPr>
          <p:cNvPr id="264" name="Oval 7"/>
          <p:cNvSpPr/>
          <p:nvPr/>
        </p:nvSpPr>
        <p:spPr>
          <a:xfrm>
            <a:off x="3646440" y="3178800"/>
            <a:ext cx="500760" cy="499320"/>
          </a:xfrm>
          <a:prstGeom prst="ellipse">
            <a:avLst/>
          </a:prstGeom>
          <a:solidFill>
            <a:schemeClr val="accent4">
              <a:lumMod val="40000"/>
              <a:lumOff val="60000"/>
            </a:schemeClr>
          </a:solidFill>
          <a:ln w="19050">
            <a:solidFill>
              <a:srgbClr val="000000"/>
            </a:solidFill>
            <a:round/>
          </a:ln>
        </p:spPr>
        <p:style>
          <a:lnRef idx="0"/>
          <a:fillRef idx="0"/>
          <a:effectRef idx="0"/>
          <a:fontRef idx="minor"/>
        </p:style>
        <p:txBody>
          <a:bodyPr wrap="none" lIns="0" rIns="0" tIns="0" bIns="45000" anchor="ctr" anchorCtr="1">
            <a:noAutofit/>
          </a:bodyPr>
          <a:p>
            <a:pPr defTabSz="457200">
              <a:lnSpc>
                <a:spcPct val="100000"/>
              </a:lnSpc>
            </a:pPr>
            <a:r>
              <a:rPr b="0" lang="en-US" sz="2400" spc="-1" strike="noStrike">
                <a:solidFill>
                  <a:schemeClr val="dk2"/>
                </a:solidFill>
                <a:latin typeface="Tahoma"/>
                <a:ea typeface="MS PGothic"/>
              </a:rPr>
              <a:t>B</a:t>
            </a:r>
            <a:endParaRPr b="0" lang="en-US" sz="2400" spc="-1" strike="noStrike">
              <a:solidFill>
                <a:srgbClr val="000000"/>
              </a:solidFill>
              <a:latin typeface="Arial"/>
            </a:endParaRPr>
          </a:p>
        </p:txBody>
      </p:sp>
      <p:sp>
        <p:nvSpPr>
          <p:cNvPr id="265" name="Oval 8"/>
          <p:cNvSpPr/>
          <p:nvPr/>
        </p:nvSpPr>
        <p:spPr>
          <a:xfrm>
            <a:off x="3654360" y="3994920"/>
            <a:ext cx="500760" cy="499320"/>
          </a:xfrm>
          <a:prstGeom prst="ellipse">
            <a:avLst/>
          </a:prstGeom>
          <a:solidFill>
            <a:schemeClr val="accent4">
              <a:lumMod val="40000"/>
              <a:lumOff val="60000"/>
            </a:schemeClr>
          </a:solidFill>
          <a:ln w="19050">
            <a:solidFill>
              <a:srgbClr val="000000"/>
            </a:solidFill>
            <a:round/>
          </a:ln>
        </p:spPr>
        <p:style>
          <a:lnRef idx="0"/>
          <a:fillRef idx="0"/>
          <a:effectRef idx="0"/>
          <a:fontRef idx="minor"/>
        </p:style>
        <p:txBody>
          <a:bodyPr wrap="none" lIns="0" rIns="0" tIns="0" bIns="45000" anchor="ctr" anchorCtr="1">
            <a:noAutofit/>
          </a:bodyPr>
          <a:p>
            <a:pPr defTabSz="457200">
              <a:lnSpc>
                <a:spcPct val="100000"/>
              </a:lnSpc>
            </a:pPr>
            <a:r>
              <a:rPr b="0" lang="en-US" sz="2400" spc="-1" strike="noStrike">
                <a:solidFill>
                  <a:schemeClr val="dk2"/>
                </a:solidFill>
                <a:latin typeface="Tahoma"/>
                <a:ea typeface="MS PGothic"/>
              </a:rPr>
              <a:t>D</a:t>
            </a:r>
            <a:endParaRPr b="0" lang="en-US" sz="2400" spc="-1" strike="noStrike">
              <a:solidFill>
                <a:srgbClr val="000000"/>
              </a:solidFill>
              <a:latin typeface="Arial"/>
            </a:endParaRPr>
          </a:p>
        </p:txBody>
      </p:sp>
      <p:sp>
        <p:nvSpPr>
          <p:cNvPr id="266" name="Rectangle 9"/>
          <p:cNvSpPr/>
          <p:nvPr/>
        </p:nvSpPr>
        <p:spPr>
          <a:xfrm>
            <a:off x="2508120" y="3994920"/>
            <a:ext cx="499320" cy="499320"/>
          </a:xfrm>
          <a:prstGeom prst="rect">
            <a:avLst/>
          </a:prstGeom>
          <a:solidFill>
            <a:schemeClr val="accent4">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2"/>
                </a:solidFill>
                <a:latin typeface="Tahoma"/>
                <a:ea typeface="MS PGothic"/>
              </a:rPr>
              <a:t>A</a:t>
            </a:r>
            <a:endParaRPr b="0" lang="en-US" sz="2400" spc="-1" strike="noStrike">
              <a:solidFill>
                <a:srgbClr val="000000"/>
              </a:solidFill>
              <a:latin typeface="Arial"/>
            </a:endParaRPr>
          </a:p>
        </p:txBody>
      </p:sp>
      <p:sp>
        <p:nvSpPr>
          <p:cNvPr id="267" name="Rectangle 10"/>
          <p:cNvSpPr/>
          <p:nvPr/>
        </p:nvSpPr>
        <p:spPr>
          <a:xfrm>
            <a:off x="3171960" y="4855320"/>
            <a:ext cx="499320" cy="499320"/>
          </a:xfrm>
          <a:prstGeom prst="rect">
            <a:avLst/>
          </a:prstGeom>
          <a:solidFill>
            <a:schemeClr val="accent4">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2"/>
                </a:solidFill>
                <a:latin typeface="Tahoma"/>
                <a:ea typeface="MS PGothic"/>
              </a:rPr>
              <a:t>C</a:t>
            </a:r>
            <a:endParaRPr b="0" lang="en-US" sz="2400" spc="-1" strike="noStrike">
              <a:solidFill>
                <a:srgbClr val="000000"/>
              </a:solidFill>
              <a:latin typeface="Arial"/>
            </a:endParaRPr>
          </a:p>
        </p:txBody>
      </p:sp>
      <p:sp>
        <p:nvSpPr>
          <p:cNvPr id="268" name="Rectangle 11"/>
          <p:cNvSpPr/>
          <p:nvPr/>
        </p:nvSpPr>
        <p:spPr>
          <a:xfrm>
            <a:off x="4173480" y="4855320"/>
            <a:ext cx="499320" cy="499320"/>
          </a:xfrm>
          <a:prstGeom prst="rect">
            <a:avLst/>
          </a:prstGeom>
          <a:solidFill>
            <a:schemeClr val="accent4">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2"/>
                </a:solidFill>
                <a:latin typeface="Tahoma"/>
                <a:ea typeface="MS PGothic"/>
              </a:rPr>
              <a:t>E</a:t>
            </a:r>
            <a:endParaRPr b="0" lang="en-US" sz="2400" spc="-1" strike="noStrike">
              <a:solidFill>
                <a:srgbClr val="000000"/>
              </a:solidFill>
              <a:latin typeface="Arial"/>
            </a:endParaRPr>
          </a:p>
        </p:txBody>
      </p:sp>
      <p:cxnSp>
        <p:nvCxnSpPr>
          <p:cNvPr id="269" name="AutoShape 18"/>
          <p:cNvCxnSpPr>
            <a:stCxn id="268" idx="0"/>
            <a:endCxn id="265" idx="5"/>
          </p:cNvCxnSpPr>
          <p:nvPr/>
        </p:nvCxnSpPr>
        <p:spPr>
          <a:xfrm flipH="1" flipV="1">
            <a:off x="4082760" y="4431240"/>
            <a:ext cx="342000" cy="415080"/>
          </a:xfrm>
          <a:prstGeom prst="straightConnector1">
            <a:avLst/>
          </a:prstGeom>
          <a:ln w="19050">
            <a:solidFill>
              <a:srgbClr val="000000"/>
            </a:solidFill>
            <a:round/>
          </a:ln>
        </p:spPr>
      </p:cxnSp>
      <p:cxnSp>
        <p:nvCxnSpPr>
          <p:cNvPr id="270" name="AutoShape 19"/>
          <p:cNvCxnSpPr>
            <a:stCxn id="267" idx="0"/>
            <a:endCxn id="265" idx="3"/>
          </p:cNvCxnSpPr>
          <p:nvPr/>
        </p:nvCxnSpPr>
        <p:spPr>
          <a:xfrm flipV="1">
            <a:off x="3422520" y="4431240"/>
            <a:ext cx="305640" cy="415080"/>
          </a:xfrm>
          <a:prstGeom prst="straightConnector1">
            <a:avLst/>
          </a:prstGeom>
          <a:ln w="19050">
            <a:solidFill>
              <a:srgbClr val="000000"/>
            </a:solidFill>
            <a:round/>
          </a:ln>
        </p:spPr>
      </p:cxnSp>
      <p:cxnSp>
        <p:nvCxnSpPr>
          <p:cNvPr id="271" name="AutoShape 20"/>
          <p:cNvCxnSpPr>
            <a:stCxn id="266" idx="0"/>
            <a:endCxn id="264" idx="3"/>
          </p:cNvCxnSpPr>
          <p:nvPr/>
        </p:nvCxnSpPr>
        <p:spPr>
          <a:xfrm flipV="1">
            <a:off x="2759040" y="3615480"/>
            <a:ext cx="960840" cy="370440"/>
          </a:xfrm>
          <a:prstGeom prst="straightConnector1">
            <a:avLst/>
          </a:prstGeom>
          <a:ln w="19050">
            <a:solidFill>
              <a:srgbClr val="000000"/>
            </a:solidFill>
            <a:round/>
          </a:ln>
        </p:spPr>
      </p:cxnSp>
      <p:cxnSp>
        <p:nvCxnSpPr>
          <p:cNvPr id="272" name="AutoShape 21"/>
          <p:cNvCxnSpPr>
            <a:stCxn id="265" idx="0"/>
            <a:endCxn id="264" idx="4"/>
          </p:cNvCxnSpPr>
          <p:nvPr/>
        </p:nvCxnSpPr>
        <p:spPr>
          <a:xfrm flipH="1" flipV="1">
            <a:off x="3897000" y="3688200"/>
            <a:ext cx="8640" cy="297720"/>
          </a:xfrm>
          <a:prstGeom prst="straightConnector1">
            <a:avLst/>
          </a:prstGeom>
          <a:ln w="19050">
            <a:solidFill>
              <a:srgbClr val="000000"/>
            </a:solidFill>
            <a:round/>
          </a:ln>
        </p:spPr>
      </p:cxnSp>
      <p:sp>
        <p:nvSpPr>
          <p:cNvPr id="273" name="Rectangle 38"/>
          <p:cNvSpPr/>
          <p:nvPr/>
        </p:nvSpPr>
        <p:spPr>
          <a:xfrm>
            <a:off x="4761000" y="3996360"/>
            <a:ext cx="499320" cy="499320"/>
          </a:xfrm>
          <a:prstGeom prst="rect">
            <a:avLst/>
          </a:prstGeom>
          <a:solidFill>
            <a:schemeClr val="accent4">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2"/>
                </a:solidFill>
                <a:latin typeface="Tahoma"/>
                <a:ea typeface="MS PGothic"/>
              </a:rPr>
              <a:t>F</a:t>
            </a:r>
            <a:endParaRPr b="0" lang="en-US" sz="2400" spc="-1" strike="noStrike">
              <a:solidFill>
                <a:srgbClr val="000000"/>
              </a:solidFill>
              <a:latin typeface="Arial"/>
            </a:endParaRPr>
          </a:p>
        </p:txBody>
      </p:sp>
      <p:cxnSp>
        <p:nvCxnSpPr>
          <p:cNvPr id="274" name="AutoShape 39"/>
          <p:cNvCxnSpPr>
            <a:stCxn id="273" idx="0"/>
            <a:endCxn id="264" idx="5"/>
          </p:cNvCxnSpPr>
          <p:nvPr/>
        </p:nvCxnSpPr>
        <p:spPr>
          <a:xfrm flipH="1" flipV="1">
            <a:off x="4074840" y="3615480"/>
            <a:ext cx="937440" cy="372240"/>
          </a:xfrm>
          <a:prstGeom prst="straightConnector1">
            <a:avLst/>
          </a:prstGeom>
          <a:ln w="19050">
            <a:solidFill>
              <a:srgbClr val="000000"/>
            </a:solidFill>
            <a:round/>
          </a:ln>
        </p:spPr>
      </p:cxnSp>
      <p:sp>
        <p:nvSpPr>
          <p:cNvPr id="275" name="AutoShape 53"/>
          <p:cNvSpPr/>
          <p:nvPr/>
        </p:nvSpPr>
        <p:spPr>
          <a:xfrm>
            <a:off x="8315280" y="1389240"/>
            <a:ext cx="1370880" cy="415080"/>
          </a:xfrm>
          <a:prstGeom prst="roundRect">
            <a:avLst>
              <a:gd name="adj" fmla="val 16667"/>
            </a:avLst>
          </a:prstGeom>
          <a:no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276" name="AutoShape 54"/>
          <p:cNvCxnSpPr>
            <a:stCxn id="277" idx="2"/>
            <a:endCxn id="278" idx="6"/>
          </p:cNvCxnSpPr>
          <p:nvPr/>
        </p:nvCxnSpPr>
        <p:spPr>
          <a:xfrm flipH="1">
            <a:off x="8697600" y="1596960"/>
            <a:ext cx="607320" cy="720"/>
          </a:xfrm>
          <a:prstGeom prst="straightConnector1">
            <a:avLst/>
          </a:prstGeom>
          <a:ln w="19050">
            <a:solidFill>
              <a:srgbClr val="000000"/>
            </a:solidFill>
            <a:round/>
          </a:ln>
        </p:spPr>
      </p:cxnSp>
      <p:sp>
        <p:nvSpPr>
          <p:cNvPr id="278" name="Oval 55"/>
          <p:cNvSpPr/>
          <p:nvPr/>
        </p:nvSpPr>
        <p:spPr>
          <a:xfrm>
            <a:off x="8377200" y="1441440"/>
            <a:ext cx="312120" cy="31032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79" name="Oval 56"/>
          <p:cNvSpPr/>
          <p:nvPr/>
        </p:nvSpPr>
        <p:spPr>
          <a:xfrm>
            <a:off x="8845560" y="1441440"/>
            <a:ext cx="310320" cy="31032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77" name="Oval 57"/>
          <p:cNvSpPr/>
          <p:nvPr/>
        </p:nvSpPr>
        <p:spPr>
          <a:xfrm>
            <a:off x="9312120" y="1441440"/>
            <a:ext cx="312120" cy="31032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grpSp>
        <p:nvGrpSpPr>
          <p:cNvPr id="280" name="Group 86"/>
          <p:cNvGrpSpPr/>
          <p:nvPr/>
        </p:nvGrpSpPr>
        <p:grpSpPr>
          <a:xfrm>
            <a:off x="9801360" y="4094280"/>
            <a:ext cx="913680" cy="497880"/>
            <a:chOff x="9801360" y="4094280"/>
            <a:chExt cx="913680" cy="497880"/>
          </a:xfrm>
        </p:grpSpPr>
        <p:sp>
          <p:nvSpPr>
            <p:cNvPr id="281" name="AutoShape 70"/>
            <p:cNvSpPr/>
            <p:nvPr/>
          </p:nvSpPr>
          <p:spPr>
            <a:xfrm>
              <a:off x="9801360" y="4094280"/>
              <a:ext cx="913680" cy="497880"/>
            </a:xfrm>
            <a:prstGeom prst="roundRect">
              <a:avLst>
                <a:gd name="adj" fmla="val 16667"/>
              </a:avLst>
            </a:prstGeom>
            <a:no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282" name="AutoShape 71"/>
            <p:cNvCxnSpPr>
              <a:stCxn id="283" idx="2"/>
              <a:endCxn id="284" idx="6"/>
            </p:cNvCxnSpPr>
            <p:nvPr/>
          </p:nvCxnSpPr>
          <p:spPr>
            <a:xfrm flipH="1">
              <a:off x="10185120" y="4343400"/>
              <a:ext cx="137520" cy="720"/>
            </a:xfrm>
            <a:prstGeom prst="straightConnector1">
              <a:avLst/>
            </a:prstGeom>
            <a:ln w="19050">
              <a:solidFill>
                <a:srgbClr val="000000"/>
              </a:solidFill>
              <a:round/>
            </a:ln>
          </p:spPr>
        </p:cxnSp>
        <p:sp>
          <p:nvSpPr>
            <p:cNvPr id="284" name="Oval 72"/>
            <p:cNvSpPr/>
            <p:nvPr/>
          </p:nvSpPr>
          <p:spPr>
            <a:xfrm>
              <a:off x="9863280" y="4187880"/>
              <a:ext cx="312120" cy="31032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83" name="Oval 73"/>
            <p:cNvSpPr/>
            <p:nvPr/>
          </p:nvSpPr>
          <p:spPr>
            <a:xfrm>
              <a:off x="10331280" y="4187880"/>
              <a:ext cx="310320" cy="31032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grpSp>
      <p:cxnSp>
        <p:nvCxnSpPr>
          <p:cNvPr id="285" name="AutoShape 52"/>
          <p:cNvCxnSpPr>
            <a:endCxn id="286" idx="0"/>
          </p:cNvCxnSpPr>
          <p:nvPr/>
        </p:nvCxnSpPr>
        <p:spPr>
          <a:xfrm>
            <a:off x="7134120" y="1468080"/>
            <a:ext cx="14760" cy="457920"/>
          </a:xfrm>
          <a:prstGeom prst="curvedConnector2">
            <a:avLst/>
          </a:prstGeom>
          <a:ln w="19050">
            <a:solidFill>
              <a:srgbClr val="44546a"/>
            </a:solidFill>
            <a:round/>
            <a:headEnd len="med" type="oval" w="med"/>
            <a:tailEnd len="med" type="triangle" w="med"/>
          </a:ln>
        </p:spPr>
      </p:cxnSp>
      <p:sp>
        <p:nvSpPr>
          <p:cNvPr id="286" name="Text Box 87"/>
          <p:cNvSpPr/>
          <p:nvPr/>
        </p:nvSpPr>
        <p:spPr>
          <a:xfrm>
            <a:off x="6976440" y="1925640"/>
            <a:ext cx="3441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B</a:t>
            </a:r>
            <a:endParaRPr b="0" lang="en-US" sz="2000" spc="-1" strike="noStrike">
              <a:solidFill>
                <a:srgbClr val="000000"/>
              </a:solidFill>
              <a:latin typeface="Arial"/>
            </a:endParaRPr>
          </a:p>
        </p:txBody>
      </p:sp>
      <p:cxnSp>
        <p:nvCxnSpPr>
          <p:cNvPr id="287" name="AutoShape 96"/>
          <p:cNvCxnSpPr/>
          <p:nvPr/>
        </p:nvCxnSpPr>
        <p:spPr>
          <a:xfrm>
            <a:off x="7867440" y="1490400"/>
            <a:ext cx="448560" cy="97560"/>
          </a:xfrm>
          <a:prstGeom prst="curvedConnector2">
            <a:avLst/>
          </a:prstGeom>
          <a:ln w="19050">
            <a:solidFill>
              <a:srgbClr val="000000"/>
            </a:solidFill>
            <a:round/>
            <a:headEnd len="med" type="oval" w="med"/>
            <a:tailEnd len="med" type="triangle" w="med"/>
          </a:ln>
        </p:spPr>
      </p:cxnSp>
      <p:sp>
        <p:nvSpPr>
          <p:cNvPr id="288" name="Oval 100"/>
          <p:cNvSpPr/>
          <p:nvPr/>
        </p:nvSpPr>
        <p:spPr>
          <a:xfrm>
            <a:off x="8486640" y="1519200"/>
            <a:ext cx="75600" cy="75600"/>
          </a:xfrm>
          <a:prstGeom prst="ellipse">
            <a:avLst/>
          </a:prstGeom>
          <a:noFill/>
          <a:ln w="0">
            <a:noFill/>
          </a:ln>
        </p:spPr>
        <p:style>
          <a:lnRef idx="0"/>
          <a:fillRef idx="0"/>
          <a:effectRef idx="0"/>
          <a:fontRef idx="minor"/>
        </p:style>
        <p:txBody>
          <a:bodyPr wrap="none" lIns="90000" rIns="90000" tIns="8640" bIns="8640" anchor="ctr">
            <a:noAutofit/>
          </a:bodyPr>
          <a:p>
            <a:pPr defTabSz="457200">
              <a:lnSpc>
                <a:spcPct val="100000"/>
              </a:lnSpc>
            </a:pPr>
            <a:endParaRPr b="0" lang="en-US" sz="2400" spc="-1" strike="noStrike">
              <a:solidFill>
                <a:schemeClr val="dk1"/>
              </a:solidFill>
              <a:latin typeface="Tahoma"/>
              <a:ea typeface="MS PGothic"/>
            </a:endParaRPr>
          </a:p>
        </p:txBody>
      </p:sp>
      <p:sp>
        <p:nvSpPr>
          <p:cNvPr id="289" name="Oval 101"/>
          <p:cNvSpPr/>
          <p:nvPr/>
        </p:nvSpPr>
        <p:spPr>
          <a:xfrm>
            <a:off x="8958240" y="1519200"/>
            <a:ext cx="75600" cy="75600"/>
          </a:xfrm>
          <a:prstGeom prst="ellipse">
            <a:avLst/>
          </a:prstGeom>
          <a:noFill/>
          <a:ln w="0">
            <a:noFill/>
          </a:ln>
        </p:spPr>
        <p:style>
          <a:lnRef idx="0"/>
          <a:fillRef idx="0"/>
          <a:effectRef idx="0"/>
          <a:fontRef idx="minor"/>
        </p:style>
        <p:txBody>
          <a:bodyPr wrap="none" lIns="90000" rIns="90000" tIns="8640" bIns="8640" anchor="ctr">
            <a:noAutofit/>
          </a:bodyPr>
          <a:p>
            <a:pPr defTabSz="457200">
              <a:lnSpc>
                <a:spcPct val="100000"/>
              </a:lnSpc>
            </a:pPr>
            <a:endParaRPr b="0" lang="en-US" sz="2400" spc="-1" strike="noStrike">
              <a:solidFill>
                <a:schemeClr val="dk1"/>
              </a:solidFill>
              <a:latin typeface="Tahoma"/>
              <a:ea typeface="MS PGothic"/>
            </a:endParaRPr>
          </a:p>
        </p:txBody>
      </p:sp>
      <p:sp>
        <p:nvSpPr>
          <p:cNvPr id="290" name="Oval 102"/>
          <p:cNvSpPr/>
          <p:nvPr/>
        </p:nvSpPr>
        <p:spPr>
          <a:xfrm>
            <a:off x="9429840" y="1519200"/>
            <a:ext cx="75600" cy="75600"/>
          </a:xfrm>
          <a:prstGeom prst="ellipse">
            <a:avLst/>
          </a:prstGeom>
          <a:noFill/>
          <a:ln w="0">
            <a:noFill/>
          </a:ln>
        </p:spPr>
        <p:style>
          <a:lnRef idx="0"/>
          <a:fillRef idx="0"/>
          <a:effectRef idx="0"/>
          <a:fontRef idx="minor"/>
        </p:style>
        <p:txBody>
          <a:bodyPr wrap="none" lIns="90000" rIns="90000" tIns="8640" bIns="864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291" name="AutoShape 104"/>
          <p:cNvCxnSpPr>
            <a:stCxn id="289" idx="4"/>
            <a:endCxn id="292" idx="0"/>
          </p:cNvCxnSpPr>
          <p:nvPr/>
        </p:nvCxnSpPr>
        <p:spPr>
          <a:xfrm>
            <a:off x="8996040" y="1595160"/>
            <a:ext cx="812160" cy="988200"/>
          </a:xfrm>
          <a:prstGeom prst="curvedConnector2">
            <a:avLst/>
          </a:prstGeom>
          <a:ln w="19050">
            <a:solidFill>
              <a:srgbClr val="000000"/>
            </a:solidFill>
            <a:round/>
            <a:headEnd len="med" type="oval" w="med"/>
            <a:tailEnd len="med" type="triangle" w="med"/>
          </a:ln>
        </p:spPr>
      </p:cxnSp>
      <p:cxnSp>
        <p:nvCxnSpPr>
          <p:cNvPr id="293" name="AutoShape 105"/>
          <p:cNvCxnSpPr>
            <a:stCxn id="290" idx="4"/>
            <a:endCxn id="294" idx="0"/>
          </p:cNvCxnSpPr>
          <p:nvPr/>
        </p:nvCxnSpPr>
        <p:spPr>
          <a:xfrm>
            <a:off x="9467640" y="1595160"/>
            <a:ext cx="1581840" cy="988200"/>
          </a:xfrm>
          <a:prstGeom prst="curvedConnector2">
            <a:avLst/>
          </a:prstGeom>
          <a:ln w="19050">
            <a:solidFill>
              <a:srgbClr val="000000"/>
            </a:solidFill>
            <a:round/>
            <a:headEnd len="med" type="oval" w="med"/>
            <a:tailEnd len="med" type="triangle" w="med"/>
          </a:ln>
        </p:spPr>
      </p:cxnSp>
      <p:sp>
        <p:nvSpPr>
          <p:cNvPr id="295" name="Rectangle 112"/>
          <p:cNvSpPr/>
          <p:nvPr/>
        </p:nvSpPr>
        <p:spPr>
          <a:xfrm>
            <a:off x="8051760" y="2592360"/>
            <a:ext cx="342360" cy="3423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6" name="Rectangle 113"/>
          <p:cNvSpPr/>
          <p:nvPr/>
        </p:nvSpPr>
        <p:spPr>
          <a:xfrm>
            <a:off x="8737560" y="2592360"/>
            <a:ext cx="342360" cy="3423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Symbol"/>
                <a:ea typeface="MS PGothic"/>
              </a:rPr>
              <a:t></a:t>
            </a:r>
            <a:endParaRPr b="0" lang="en-US" sz="2400" spc="-1" strike="noStrike">
              <a:solidFill>
                <a:srgbClr val="ffffff"/>
              </a:solidFill>
              <a:latin typeface="Arial"/>
            </a:endParaRPr>
          </a:p>
        </p:txBody>
      </p:sp>
      <p:sp>
        <p:nvSpPr>
          <p:cNvPr id="297" name="Rectangle 114"/>
          <p:cNvSpPr/>
          <p:nvPr/>
        </p:nvSpPr>
        <p:spPr>
          <a:xfrm>
            <a:off x="8394840" y="2592360"/>
            <a:ext cx="342360" cy="3423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8" name="Rectangle 116"/>
          <p:cNvSpPr/>
          <p:nvPr/>
        </p:nvSpPr>
        <p:spPr>
          <a:xfrm>
            <a:off x="9293400" y="2592360"/>
            <a:ext cx="342360" cy="342360"/>
          </a:xfrm>
          <a:prstGeom prst="rect">
            <a:avLst/>
          </a:prstGeom>
          <a:solidFill>
            <a:schemeClr val="accent1"/>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9" name="Rectangle 117"/>
          <p:cNvSpPr/>
          <p:nvPr/>
        </p:nvSpPr>
        <p:spPr>
          <a:xfrm>
            <a:off x="9979200" y="2592360"/>
            <a:ext cx="342360" cy="342360"/>
          </a:xfrm>
          <a:prstGeom prst="rect">
            <a:avLst/>
          </a:prstGeom>
          <a:solidFill>
            <a:schemeClr val="accent1"/>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2" name="Rectangle 118"/>
          <p:cNvSpPr/>
          <p:nvPr/>
        </p:nvSpPr>
        <p:spPr>
          <a:xfrm>
            <a:off x="9636120" y="2592360"/>
            <a:ext cx="342360" cy="342360"/>
          </a:xfrm>
          <a:prstGeom prst="rect">
            <a:avLst/>
          </a:prstGeom>
          <a:solidFill>
            <a:schemeClr val="accent1"/>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00" name="Rectangle 120"/>
          <p:cNvSpPr/>
          <p:nvPr/>
        </p:nvSpPr>
        <p:spPr>
          <a:xfrm>
            <a:off x="10534680" y="2592360"/>
            <a:ext cx="342360" cy="3423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01" name="Rectangle 121"/>
          <p:cNvSpPr/>
          <p:nvPr/>
        </p:nvSpPr>
        <p:spPr>
          <a:xfrm>
            <a:off x="11220480" y="2592360"/>
            <a:ext cx="342360" cy="3423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Symbol"/>
                <a:ea typeface="MS PGothic"/>
              </a:rPr>
              <a:t></a:t>
            </a:r>
            <a:endParaRPr b="0" lang="en-US" sz="2400" spc="-1" strike="noStrike">
              <a:solidFill>
                <a:srgbClr val="ffffff"/>
              </a:solidFill>
              <a:latin typeface="Arial"/>
            </a:endParaRPr>
          </a:p>
        </p:txBody>
      </p:sp>
      <p:sp>
        <p:nvSpPr>
          <p:cNvPr id="294" name="Rectangle 122"/>
          <p:cNvSpPr/>
          <p:nvPr/>
        </p:nvSpPr>
        <p:spPr>
          <a:xfrm>
            <a:off x="10877400" y="2592360"/>
            <a:ext cx="342360" cy="3423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02" name="AutoShape 88"/>
          <p:cNvCxnSpPr>
            <a:endCxn id="303" idx="0"/>
          </p:cNvCxnSpPr>
          <p:nvPr/>
        </p:nvCxnSpPr>
        <p:spPr>
          <a:xfrm>
            <a:off x="8229600" y="2754000"/>
            <a:ext cx="141120" cy="438840"/>
          </a:xfrm>
          <a:prstGeom prst="curvedConnector2">
            <a:avLst/>
          </a:prstGeom>
          <a:ln w="19050">
            <a:solidFill>
              <a:srgbClr val="44546a"/>
            </a:solidFill>
            <a:round/>
            <a:headEnd len="med" type="oval" w="med"/>
            <a:tailEnd len="med" type="triangle" w="med"/>
          </a:ln>
        </p:spPr>
      </p:cxnSp>
      <p:sp>
        <p:nvSpPr>
          <p:cNvPr id="303" name="Text Box 89"/>
          <p:cNvSpPr/>
          <p:nvPr/>
        </p:nvSpPr>
        <p:spPr>
          <a:xfrm>
            <a:off x="8199720" y="3192480"/>
            <a:ext cx="34128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A</a:t>
            </a:r>
            <a:endParaRPr b="0" lang="en-US" sz="2000" spc="-1" strike="noStrike">
              <a:solidFill>
                <a:srgbClr val="000000"/>
              </a:solidFill>
              <a:latin typeface="Arial"/>
            </a:endParaRPr>
          </a:p>
        </p:txBody>
      </p:sp>
      <p:cxnSp>
        <p:nvCxnSpPr>
          <p:cNvPr id="304" name="AutoShape 90"/>
          <p:cNvCxnSpPr>
            <a:endCxn id="305" idx="0"/>
          </p:cNvCxnSpPr>
          <p:nvPr/>
        </p:nvCxnSpPr>
        <p:spPr>
          <a:xfrm>
            <a:off x="9478800" y="2754000"/>
            <a:ext cx="138960" cy="438840"/>
          </a:xfrm>
          <a:prstGeom prst="curvedConnector2">
            <a:avLst/>
          </a:prstGeom>
          <a:ln w="19050">
            <a:solidFill>
              <a:srgbClr val="44546a"/>
            </a:solidFill>
            <a:round/>
            <a:headEnd len="med" type="oval" w="med"/>
            <a:tailEnd len="med" type="triangle" w="med"/>
          </a:ln>
        </p:spPr>
      </p:cxnSp>
      <p:sp>
        <p:nvSpPr>
          <p:cNvPr id="305" name="Text Box 91"/>
          <p:cNvSpPr/>
          <p:nvPr/>
        </p:nvSpPr>
        <p:spPr>
          <a:xfrm>
            <a:off x="9434160" y="3192480"/>
            <a:ext cx="3639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D</a:t>
            </a:r>
            <a:endParaRPr b="0" lang="en-US" sz="2000" spc="-1" strike="noStrike">
              <a:solidFill>
                <a:srgbClr val="000000"/>
              </a:solidFill>
              <a:latin typeface="Arial"/>
            </a:endParaRPr>
          </a:p>
        </p:txBody>
      </p:sp>
      <p:sp>
        <p:nvSpPr>
          <p:cNvPr id="306" name="Text Box 93"/>
          <p:cNvSpPr/>
          <p:nvPr/>
        </p:nvSpPr>
        <p:spPr>
          <a:xfrm>
            <a:off x="10687320" y="3192480"/>
            <a:ext cx="3117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F</a:t>
            </a:r>
            <a:endParaRPr b="0" lang="en-US" sz="2000" spc="-1" strike="noStrike">
              <a:solidFill>
                <a:srgbClr val="000000"/>
              </a:solidFill>
              <a:latin typeface="Arial"/>
            </a:endParaRPr>
          </a:p>
        </p:txBody>
      </p:sp>
      <p:cxnSp>
        <p:nvCxnSpPr>
          <p:cNvPr id="307" name="AutoShape 92"/>
          <p:cNvCxnSpPr>
            <a:endCxn id="306" idx="0"/>
          </p:cNvCxnSpPr>
          <p:nvPr/>
        </p:nvCxnSpPr>
        <p:spPr>
          <a:xfrm>
            <a:off x="10706040" y="2754000"/>
            <a:ext cx="138600" cy="438840"/>
          </a:xfrm>
          <a:prstGeom prst="curvedConnector2">
            <a:avLst/>
          </a:prstGeom>
          <a:ln w="19050">
            <a:solidFill>
              <a:srgbClr val="44546a"/>
            </a:solidFill>
            <a:round/>
            <a:headEnd len="med" type="oval" w="med"/>
            <a:tailEnd len="med" type="triangle" w="med"/>
          </a:ln>
        </p:spPr>
      </p:cxnSp>
      <p:sp>
        <p:nvSpPr>
          <p:cNvPr id="308" name="Oval 124"/>
          <p:cNvSpPr/>
          <p:nvPr/>
        </p:nvSpPr>
        <p:spPr>
          <a:xfrm>
            <a:off x="8562960" y="2720880"/>
            <a:ext cx="75600" cy="75600"/>
          </a:xfrm>
          <a:prstGeom prst="ellipse">
            <a:avLst/>
          </a:prstGeom>
          <a:noFill/>
          <a:ln w="0">
            <a:noFill/>
          </a:ln>
        </p:spPr>
        <p:style>
          <a:lnRef idx="0"/>
          <a:fillRef idx="0"/>
          <a:effectRef idx="0"/>
          <a:fontRef idx="minor"/>
        </p:style>
        <p:txBody>
          <a:bodyPr wrap="none" lIns="90000" rIns="90000" tIns="8640" bIns="8640" anchor="ctr">
            <a:noAutofit/>
          </a:bodyPr>
          <a:p>
            <a:pPr defTabSz="457200">
              <a:lnSpc>
                <a:spcPct val="100000"/>
              </a:lnSpc>
            </a:pPr>
            <a:endParaRPr b="0" lang="en-US" sz="2400" spc="-1" strike="noStrike">
              <a:solidFill>
                <a:schemeClr val="dk1"/>
              </a:solidFill>
              <a:latin typeface="Tahoma"/>
              <a:ea typeface="MS PGothic"/>
            </a:endParaRPr>
          </a:p>
        </p:txBody>
      </p:sp>
      <p:sp>
        <p:nvSpPr>
          <p:cNvPr id="309" name="Oval 125"/>
          <p:cNvSpPr/>
          <p:nvPr/>
        </p:nvSpPr>
        <p:spPr>
          <a:xfrm>
            <a:off x="9794880" y="2720880"/>
            <a:ext cx="75600" cy="75600"/>
          </a:xfrm>
          <a:prstGeom prst="ellipse">
            <a:avLst/>
          </a:prstGeom>
          <a:noFill/>
          <a:ln w="0">
            <a:noFill/>
          </a:ln>
        </p:spPr>
        <p:style>
          <a:lnRef idx="0"/>
          <a:fillRef idx="0"/>
          <a:effectRef idx="0"/>
          <a:fontRef idx="minor"/>
        </p:style>
        <p:txBody>
          <a:bodyPr wrap="none" lIns="90000" rIns="90000" tIns="8640" bIns="8640" anchor="ctr">
            <a:noAutofit/>
          </a:bodyPr>
          <a:p>
            <a:pPr defTabSz="457200">
              <a:lnSpc>
                <a:spcPct val="100000"/>
              </a:lnSpc>
            </a:pPr>
            <a:endParaRPr b="0" lang="en-US" sz="2400" spc="-1" strike="noStrike">
              <a:solidFill>
                <a:schemeClr val="dk1"/>
              </a:solidFill>
              <a:latin typeface="Tahoma"/>
              <a:ea typeface="MS PGothic"/>
            </a:endParaRPr>
          </a:p>
        </p:txBody>
      </p:sp>
      <p:sp>
        <p:nvSpPr>
          <p:cNvPr id="310" name="Oval 126"/>
          <p:cNvSpPr/>
          <p:nvPr/>
        </p:nvSpPr>
        <p:spPr>
          <a:xfrm>
            <a:off x="11026800" y="2720880"/>
            <a:ext cx="75600" cy="75600"/>
          </a:xfrm>
          <a:prstGeom prst="ellipse">
            <a:avLst/>
          </a:prstGeom>
          <a:noFill/>
          <a:ln w="0">
            <a:noFill/>
          </a:ln>
        </p:spPr>
        <p:style>
          <a:lnRef idx="0"/>
          <a:fillRef idx="0"/>
          <a:effectRef idx="0"/>
          <a:fontRef idx="minor"/>
        </p:style>
        <p:txBody>
          <a:bodyPr wrap="none" lIns="90000" rIns="90000" tIns="8640" bIns="8640" anchor="ctr">
            <a:noAutofit/>
          </a:bodyPr>
          <a:p>
            <a:pPr defTabSz="457200">
              <a:lnSpc>
                <a:spcPct val="100000"/>
              </a:lnSpc>
            </a:pPr>
            <a:endParaRPr b="0" lang="en-US" sz="2400" spc="-1" strike="noStrike">
              <a:solidFill>
                <a:schemeClr val="dk1"/>
              </a:solidFill>
              <a:latin typeface="Tahoma"/>
              <a:ea typeface="MS PGothic"/>
            </a:endParaRPr>
          </a:p>
        </p:txBody>
      </p:sp>
      <p:sp>
        <p:nvSpPr>
          <p:cNvPr id="311" name="Freeform 129"/>
          <p:cNvSpPr/>
          <p:nvPr/>
        </p:nvSpPr>
        <p:spPr>
          <a:xfrm>
            <a:off x="7791480" y="1668600"/>
            <a:ext cx="916920" cy="1975680"/>
          </a:xfrm>
          <a:custGeom>
            <a:avLst/>
            <a:gdLst>
              <a:gd name="textAreaLeft" fmla="*/ 0 w 916920"/>
              <a:gd name="textAreaRight" fmla="*/ 917640 w 916920"/>
              <a:gd name="textAreaTop" fmla="*/ 0 h 1975680"/>
              <a:gd name="textAreaBottom" fmla="*/ 1976400 h 1975680"/>
            </a:gdLst>
            <a:ahLst/>
            <a:rect l="textAreaLeft" t="textAreaTop" r="textAreaRight" b="textAreaBottom"/>
            <a:pathLst>
              <a:path w="578" h="1245">
                <a:moveTo>
                  <a:pt x="486" y="684"/>
                </a:moveTo>
                <a:cubicBezTo>
                  <a:pt x="492" y="712"/>
                  <a:pt x="517" y="780"/>
                  <a:pt x="528" y="852"/>
                </a:cubicBezTo>
                <a:cubicBezTo>
                  <a:pt x="539" y="924"/>
                  <a:pt x="578" y="1057"/>
                  <a:pt x="552" y="1116"/>
                </a:cubicBezTo>
                <a:cubicBezTo>
                  <a:pt x="526" y="1175"/>
                  <a:pt x="435" y="1218"/>
                  <a:pt x="372" y="1206"/>
                </a:cubicBezTo>
                <a:cubicBezTo>
                  <a:pt x="309" y="1194"/>
                  <a:pt x="236" y="1245"/>
                  <a:pt x="174" y="1044"/>
                </a:cubicBezTo>
                <a:cubicBezTo>
                  <a:pt x="112" y="843"/>
                  <a:pt x="36" y="217"/>
                  <a:pt x="0" y="0"/>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12" name="Freeform 130"/>
          <p:cNvSpPr/>
          <p:nvPr/>
        </p:nvSpPr>
        <p:spPr>
          <a:xfrm>
            <a:off x="7601040" y="1668600"/>
            <a:ext cx="2404440" cy="2158200"/>
          </a:xfrm>
          <a:custGeom>
            <a:avLst/>
            <a:gdLst>
              <a:gd name="textAreaLeft" fmla="*/ 0 w 2404440"/>
              <a:gd name="textAreaRight" fmla="*/ 2405160 w 2404440"/>
              <a:gd name="textAreaTop" fmla="*/ 0 h 2158200"/>
              <a:gd name="textAreaBottom" fmla="*/ 2158920 h 2158200"/>
            </a:gdLst>
            <a:ahLst/>
            <a:rect l="textAreaLeft" t="textAreaTop" r="textAreaRight" b="textAreaBottom"/>
            <a:pathLst>
              <a:path w="1515" h="1360">
                <a:moveTo>
                  <a:pt x="1398" y="684"/>
                </a:moveTo>
                <a:cubicBezTo>
                  <a:pt x="1389" y="779"/>
                  <a:pt x="1515" y="1160"/>
                  <a:pt x="1344" y="1260"/>
                </a:cubicBezTo>
                <a:cubicBezTo>
                  <a:pt x="1173" y="1360"/>
                  <a:pt x="571" y="1350"/>
                  <a:pt x="372" y="1284"/>
                </a:cubicBezTo>
                <a:cubicBezTo>
                  <a:pt x="173" y="1218"/>
                  <a:pt x="212" y="1078"/>
                  <a:pt x="150" y="864"/>
                </a:cubicBezTo>
                <a:cubicBezTo>
                  <a:pt x="88" y="650"/>
                  <a:pt x="31" y="180"/>
                  <a:pt x="0" y="0"/>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13" name="Freeform 131"/>
          <p:cNvSpPr/>
          <p:nvPr/>
        </p:nvSpPr>
        <p:spPr>
          <a:xfrm>
            <a:off x="7383600" y="1677960"/>
            <a:ext cx="3823560" cy="2345760"/>
          </a:xfrm>
          <a:custGeom>
            <a:avLst/>
            <a:gdLst>
              <a:gd name="textAreaLeft" fmla="*/ 0 w 3823560"/>
              <a:gd name="textAreaRight" fmla="*/ 3824280 w 3823560"/>
              <a:gd name="textAreaTop" fmla="*/ 0 h 2345760"/>
              <a:gd name="textAreaBottom" fmla="*/ 2346480 h 2345760"/>
            </a:gdLst>
            <a:ahLst/>
            <a:rect l="textAreaLeft" t="textAreaTop" r="textAreaRight" b="textAreaBottom"/>
            <a:pathLst>
              <a:path w="2409" h="1478">
                <a:moveTo>
                  <a:pt x="2309" y="684"/>
                </a:moveTo>
                <a:cubicBezTo>
                  <a:pt x="2306" y="765"/>
                  <a:pt x="2409" y="1054"/>
                  <a:pt x="2291" y="1170"/>
                </a:cubicBezTo>
                <a:cubicBezTo>
                  <a:pt x="2173" y="1286"/>
                  <a:pt x="1939" y="1367"/>
                  <a:pt x="1601" y="1380"/>
                </a:cubicBezTo>
                <a:cubicBezTo>
                  <a:pt x="1263" y="1393"/>
                  <a:pt x="526" y="1478"/>
                  <a:pt x="263" y="1248"/>
                </a:cubicBezTo>
                <a:cubicBezTo>
                  <a:pt x="0" y="1018"/>
                  <a:pt x="73" y="260"/>
                  <a:pt x="23" y="0"/>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14" name="Rectangle 132"/>
          <p:cNvSpPr/>
          <p:nvPr/>
        </p:nvSpPr>
        <p:spPr>
          <a:xfrm>
            <a:off x="9058320" y="4983120"/>
            <a:ext cx="342360" cy="3423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15" name="Rectangle 133"/>
          <p:cNvSpPr/>
          <p:nvPr/>
        </p:nvSpPr>
        <p:spPr>
          <a:xfrm>
            <a:off x="9744120" y="4983120"/>
            <a:ext cx="342360" cy="3423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Symbol"/>
                <a:ea typeface="MS PGothic"/>
              </a:rPr>
              <a:t></a:t>
            </a:r>
            <a:endParaRPr b="0" lang="en-US" sz="2400" spc="-1" strike="noStrike">
              <a:solidFill>
                <a:srgbClr val="ffffff"/>
              </a:solidFill>
              <a:latin typeface="Arial"/>
            </a:endParaRPr>
          </a:p>
        </p:txBody>
      </p:sp>
      <p:sp>
        <p:nvSpPr>
          <p:cNvPr id="316" name="Rectangle 134"/>
          <p:cNvSpPr/>
          <p:nvPr/>
        </p:nvSpPr>
        <p:spPr>
          <a:xfrm>
            <a:off x="9401040" y="4983120"/>
            <a:ext cx="342360" cy="3423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17" name="Text Box 135"/>
          <p:cNvSpPr/>
          <p:nvPr/>
        </p:nvSpPr>
        <p:spPr>
          <a:xfrm>
            <a:off x="9239760" y="5425920"/>
            <a:ext cx="33984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C</a:t>
            </a:r>
            <a:endParaRPr b="0" lang="en-US" sz="2000" spc="-1" strike="noStrike">
              <a:solidFill>
                <a:srgbClr val="000000"/>
              </a:solidFill>
              <a:latin typeface="Arial"/>
            </a:endParaRPr>
          </a:p>
        </p:txBody>
      </p:sp>
      <p:cxnSp>
        <p:nvCxnSpPr>
          <p:cNvPr id="318" name="AutoShape 136"/>
          <p:cNvCxnSpPr/>
          <p:nvPr/>
        </p:nvCxnSpPr>
        <p:spPr>
          <a:xfrm>
            <a:off x="9229680" y="5144760"/>
            <a:ext cx="140400" cy="362880"/>
          </a:xfrm>
          <a:prstGeom prst="curvedConnector2">
            <a:avLst/>
          </a:prstGeom>
          <a:ln w="19050">
            <a:solidFill>
              <a:srgbClr val="44546a"/>
            </a:solidFill>
            <a:round/>
            <a:headEnd len="med" type="oval" w="med"/>
            <a:tailEnd len="med" type="triangle" w="med"/>
          </a:ln>
        </p:spPr>
      </p:cxnSp>
      <p:sp>
        <p:nvSpPr>
          <p:cNvPr id="319" name="Freeform 140"/>
          <p:cNvSpPr/>
          <p:nvPr/>
        </p:nvSpPr>
        <p:spPr>
          <a:xfrm>
            <a:off x="9987120" y="2744640"/>
            <a:ext cx="289800" cy="1342440"/>
          </a:xfrm>
          <a:custGeom>
            <a:avLst/>
            <a:gdLst>
              <a:gd name="textAreaLeft" fmla="*/ 0 w 289800"/>
              <a:gd name="textAreaRight" fmla="*/ 290520 w 289800"/>
              <a:gd name="textAreaTop" fmla="*/ 0 h 1342440"/>
              <a:gd name="textAreaBottom" fmla="*/ 1343160 h 1342440"/>
            </a:gdLst>
            <a:ahLst/>
            <a:rect l="textAreaLeft" t="textAreaTop" r="textAreaRight" b="textAreaBottom"/>
            <a:pathLst>
              <a:path w="183" h="846">
                <a:moveTo>
                  <a:pt x="93" y="0"/>
                </a:moveTo>
                <a:cubicBezTo>
                  <a:pt x="78" y="40"/>
                  <a:pt x="0" y="149"/>
                  <a:pt x="3" y="240"/>
                </a:cubicBezTo>
                <a:cubicBezTo>
                  <a:pt x="6" y="331"/>
                  <a:pt x="81" y="445"/>
                  <a:pt x="111" y="546"/>
                </a:cubicBezTo>
                <a:cubicBezTo>
                  <a:pt x="141" y="647"/>
                  <a:pt x="168" y="784"/>
                  <a:pt x="183" y="846"/>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20" name="Rectangle 141"/>
          <p:cNvSpPr/>
          <p:nvPr/>
        </p:nvSpPr>
        <p:spPr>
          <a:xfrm>
            <a:off x="10410840" y="4983120"/>
            <a:ext cx="342360" cy="3423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21" name="Rectangle 142"/>
          <p:cNvSpPr/>
          <p:nvPr/>
        </p:nvSpPr>
        <p:spPr>
          <a:xfrm>
            <a:off x="11096640" y="4983120"/>
            <a:ext cx="342360" cy="3423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Symbol"/>
                <a:ea typeface="MS PGothic"/>
              </a:rPr>
              <a:t></a:t>
            </a:r>
            <a:endParaRPr b="0" lang="en-US" sz="2400" spc="-1" strike="noStrike">
              <a:solidFill>
                <a:srgbClr val="ffffff"/>
              </a:solidFill>
              <a:latin typeface="Arial"/>
            </a:endParaRPr>
          </a:p>
        </p:txBody>
      </p:sp>
      <p:sp>
        <p:nvSpPr>
          <p:cNvPr id="322" name="Rectangle 143"/>
          <p:cNvSpPr/>
          <p:nvPr/>
        </p:nvSpPr>
        <p:spPr>
          <a:xfrm>
            <a:off x="10753560" y="4983120"/>
            <a:ext cx="342360" cy="3423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23" name="Text Box 144"/>
          <p:cNvSpPr/>
          <p:nvPr/>
        </p:nvSpPr>
        <p:spPr>
          <a:xfrm>
            <a:off x="10656360" y="5409360"/>
            <a:ext cx="3207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E</a:t>
            </a:r>
            <a:endParaRPr b="0" lang="en-US" sz="2000" spc="-1" strike="noStrike">
              <a:solidFill>
                <a:srgbClr val="000000"/>
              </a:solidFill>
              <a:latin typeface="Arial"/>
            </a:endParaRPr>
          </a:p>
        </p:txBody>
      </p:sp>
      <p:cxnSp>
        <p:nvCxnSpPr>
          <p:cNvPr id="324" name="AutoShape 145"/>
          <p:cNvCxnSpPr/>
          <p:nvPr/>
        </p:nvCxnSpPr>
        <p:spPr>
          <a:xfrm>
            <a:off x="10582200" y="5144760"/>
            <a:ext cx="149760" cy="362880"/>
          </a:xfrm>
          <a:prstGeom prst="curvedConnector2">
            <a:avLst/>
          </a:prstGeom>
          <a:ln w="19050">
            <a:solidFill>
              <a:srgbClr val="44546a"/>
            </a:solidFill>
            <a:round/>
            <a:headEnd len="med" type="oval" w="med"/>
            <a:tailEnd len="med" type="triangle" w="med"/>
          </a:ln>
        </p:spPr>
      </p:cxnSp>
      <p:sp>
        <p:nvSpPr>
          <p:cNvPr id="325" name="Freeform 149"/>
          <p:cNvSpPr/>
          <p:nvPr/>
        </p:nvSpPr>
        <p:spPr>
          <a:xfrm>
            <a:off x="10487160" y="4344840"/>
            <a:ext cx="447120" cy="618480"/>
          </a:xfrm>
          <a:custGeom>
            <a:avLst/>
            <a:gdLst>
              <a:gd name="textAreaLeft" fmla="*/ 0 w 447120"/>
              <a:gd name="textAreaRight" fmla="*/ 447840 w 447120"/>
              <a:gd name="textAreaTop" fmla="*/ 0 h 618480"/>
              <a:gd name="textAreaBottom" fmla="*/ 619200 h 618480"/>
            </a:gdLst>
            <a:ahLst/>
            <a:rect l="textAreaLeft" t="textAreaTop" r="textAreaRight" b="textAreaBottom"/>
            <a:pathLst>
              <a:path w="282" h="390">
                <a:moveTo>
                  <a:pt x="0" y="0"/>
                </a:moveTo>
                <a:cubicBezTo>
                  <a:pt x="9" y="30"/>
                  <a:pt x="15" y="138"/>
                  <a:pt x="54" y="180"/>
                </a:cubicBezTo>
                <a:cubicBezTo>
                  <a:pt x="93" y="222"/>
                  <a:pt x="196" y="217"/>
                  <a:pt x="234" y="252"/>
                </a:cubicBezTo>
                <a:cubicBezTo>
                  <a:pt x="272" y="287"/>
                  <a:pt x="272" y="361"/>
                  <a:pt x="282" y="390"/>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26" name="Freeform 151"/>
          <p:cNvSpPr/>
          <p:nvPr/>
        </p:nvSpPr>
        <p:spPr>
          <a:xfrm>
            <a:off x="9572760" y="4335480"/>
            <a:ext cx="459720" cy="646920"/>
          </a:xfrm>
          <a:custGeom>
            <a:avLst/>
            <a:gdLst>
              <a:gd name="textAreaLeft" fmla="*/ 0 w 459720"/>
              <a:gd name="textAreaRight" fmla="*/ 460440 w 459720"/>
              <a:gd name="textAreaTop" fmla="*/ 0 h 646920"/>
              <a:gd name="textAreaBottom" fmla="*/ 647640 h 646920"/>
            </a:gdLst>
            <a:ahLst/>
            <a:rect l="textAreaLeft" t="textAreaTop" r="textAreaRight" b="textAreaBottom"/>
            <a:pathLst>
              <a:path w="290" h="408">
                <a:moveTo>
                  <a:pt x="288" y="0"/>
                </a:moveTo>
                <a:cubicBezTo>
                  <a:pt x="283" y="29"/>
                  <a:pt x="290" y="138"/>
                  <a:pt x="258" y="174"/>
                </a:cubicBezTo>
                <a:cubicBezTo>
                  <a:pt x="226" y="210"/>
                  <a:pt x="139" y="177"/>
                  <a:pt x="96" y="216"/>
                </a:cubicBezTo>
                <a:cubicBezTo>
                  <a:pt x="53" y="255"/>
                  <a:pt x="20" y="368"/>
                  <a:pt x="0" y="408"/>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27" name="Freeform 159"/>
          <p:cNvSpPr/>
          <p:nvPr/>
        </p:nvSpPr>
        <p:spPr>
          <a:xfrm>
            <a:off x="8528040" y="1592280"/>
            <a:ext cx="129600" cy="999360"/>
          </a:xfrm>
          <a:custGeom>
            <a:avLst/>
            <a:gdLst>
              <a:gd name="textAreaLeft" fmla="*/ 0 w 129600"/>
              <a:gd name="textAreaRight" fmla="*/ 130320 w 129600"/>
              <a:gd name="textAreaTop" fmla="*/ 0 h 999360"/>
              <a:gd name="textAreaBottom" fmla="*/ 1000080 h 999360"/>
            </a:gdLst>
            <a:ahLst/>
            <a:rect l="textAreaLeft" t="textAreaTop" r="textAreaRight" b="textAreaBottom"/>
            <a:pathLst>
              <a:path w="82" h="630">
                <a:moveTo>
                  <a:pt x="10" y="0"/>
                </a:moveTo>
                <a:cubicBezTo>
                  <a:pt x="21" y="37"/>
                  <a:pt x="82" y="153"/>
                  <a:pt x="82" y="222"/>
                </a:cubicBezTo>
                <a:cubicBezTo>
                  <a:pt x="82" y="291"/>
                  <a:pt x="20" y="346"/>
                  <a:pt x="10" y="414"/>
                </a:cubicBezTo>
                <a:cubicBezTo>
                  <a:pt x="0" y="482"/>
                  <a:pt x="20" y="585"/>
                  <a:pt x="22" y="630"/>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28" name="Freeform 160"/>
          <p:cNvSpPr/>
          <p:nvPr/>
        </p:nvSpPr>
        <p:spPr>
          <a:xfrm>
            <a:off x="8817120" y="2916360"/>
            <a:ext cx="866160" cy="2942640"/>
          </a:xfrm>
          <a:custGeom>
            <a:avLst/>
            <a:gdLst>
              <a:gd name="textAreaLeft" fmla="*/ 0 w 866160"/>
              <a:gd name="textAreaRight" fmla="*/ 866880 w 866160"/>
              <a:gd name="textAreaTop" fmla="*/ 0 h 2942640"/>
              <a:gd name="textAreaBottom" fmla="*/ 2943360 h 2942640"/>
            </a:gdLst>
            <a:ahLst/>
            <a:rect l="textAreaLeft" t="textAreaTop" r="textAreaRight" b="textAreaBottom"/>
            <a:pathLst>
              <a:path w="546" h="1854">
                <a:moveTo>
                  <a:pt x="482" y="1404"/>
                </a:moveTo>
                <a:cubicBezTo>
                  <a:pt x="483" y="1467"/>
                  <a:pt x="546" y="1728"/>
                  <a:pt x="488" y="1782"/>
                </a:cubicBezTo>
                <a:cubicBezTo>
                  <a:pt x="430" y="1836"/>
                  <a:pt x="210" y="1854"/>
                  <a:pt x="134" y="1728"/>
                </a:cubicBezTo>
                <a:cubicBezTo>
                  <a:pt x="58" y="1602"/>
                  <a:pt x="0" y="1249"/>
                  <a:pt x="32" y="1026"/>
                </a:cubicBezTo>
                <a:cubicBezTo>
                  <a:pt x="64" y="803"/>
                  <a:pt x="271" y="561"/>
                  <a:pt x="326" y="390"/>
                </a:cubicBezTo>
                <a:cubicBezTo>
                  <a:pt x="381" y="219"/>
                  <a:pt x="354" y="81"/>
                  <a:pt x="362" y="0"/>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29" name="Freeform 161"/>
          <p:cNvSpPr/>
          <p:nvPr/>
        </p:nvSpPr>
        <p:spPr>
          <a:xfrm>
            <a:off x="10172880" y="2935440"/>
            <a:ext cx="1493280" cy="2634480"/>
          </a:xfrm>
          <a:custGeom>
            <a:avLst/>
            <a:gdLst>
              <a:gd name="textAreaLeft" fmla="*/ 0 w 1493280"/>
              <a:gd name="textAreaRight" fmla="*/ 1494000 w 1493280"/>
              <a:gd name="textAreaTop" fmla="*/ 0 h 2634480"/>
              <a:gd name="textAreaBottom" fmla="*/ 2635200 h 2634480"/>
            </a:gdLst>
            <a:ahLst/>
            <a:rect l="textAreaLeft" t="textAreaTop" r="textAreaRight" b="textAreaBottom"/>
            <a:pathLst>
              <a:path w="941" h="1660">
                <a:moveTo>
                  <a:pt x="478" y="1392"/>
                </a:moveTo>
                <a:cubicBezTo>
                  <a:pt x="513" y="1436"/>
                  <a:pt x="614" y="1652"/>
                  <a:pt x="690" y="1656"/>
                </a:cubicBezTo>
                <a:cubicBezTo>
                  <a:pt x="766" y="1660"/>
                  <a:pt x="931" y="1533"/>
                  <a:pt x="936" y="1416"/>
                </a:cubicBezTo>
                <a:cubicBezTo>
                  <a:pt x="941" y="1299"/>
                  <a:pt x="839" y="1095"/>
                  <a:pt x="720" y="954"/>
                </a:cubicBezTo>
                <a:cubicBezTo>
                  <a:pt x="601" y="813"/>
                  <a:pt x="342" y="729"/>
                  <a:pt x="222" y="570"/>
                </a:cubicBezTo>
                <a:cubicBezTo>
                  <a:pt x="102" y="411"/>
                  <a:pt x="46" y="119"/>
                  <a:pt x="0" y="0"/>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4000" spc="-1" strike="noStrike">
                <a:solidFill>
                  <a:srgbClr val="c00000"/>
                </a:solidFill>
                <a:latin typeface="Calibri Light"/>
              </a:rPr>
              <a:t>Linked Structure for Binary Trees</a:t>
            </a:r>
            <a:endParaRPr b="0" lang="en-US" sz="4000" spc="-1" strike="noStrike">
              <a:solidFill>
                <a:srgbClr val="000000"/>
              </a:solidFill>
              <a:latin typeface="Arial"/>
            </a:endParaRPr>
          </a:p>
        </p:txBody>
      </p:sp>
      <p:sp>
        <p:nvSpPr>
          <p:cNvPr id="331" name="PlaceHolder 2"/>
          <p:cNvSpPr>
            <a:spLocks noGrp="1"/>
          </p:cNvSpPr>
          <p:nvPr>
            <p:ph/>
          </p:nvPr>
        </p:nvSpPr>
        <p:spPr>
          <a:xfrm>
            <a:off x="838080" y="1107000"/>
            <a:ext cx="5409360" cy="50691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A node is represented by an object storing</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Element</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Parent node</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Left child node</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Right child node</a:t>
            </a:r>
            <a:endParaRPr b="0" lang="en-US" sz="2000" spc="-1" strike="noStrike">
              <a:solidFill>
                <a:srgbClr val="000000"/>
              </a:solidFill>
              <a:latin typeface="Arial"/>
            </a:endParaRPr>
          </a:p>
        </p:txBody>
      </p:sp>
      <p:sp>
        <p:nvSpPr>
          <p:cNvPr id="332" name="PlaceHolder 3"/>
          <p:cNvSpPr>
            <a:spLocks noGrp="1"/>
          </p:cNvSpPr>
          <p:nvPr>
            <p:ph type="sldNum" idx="37"/>
          </p:nvPr>
        </p:nvSpPr>
        <p:spPr>
          <a:xfrm>
            <a:off x="8610480" y="6356520"/>
            <a:ext cx="274248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AFA2798D-9A83-41FC-BC40-45BB9FAE4FB7}"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
        <p:nvSpPr>
          <p:cNvPr id="333" name="Oval 4"/>
          <p:cNvSpPr/>
          <p:nvPr/>
        </p:nvSpPr>
        <p:spPr>
          <a:xfrm>
            <a:off x="3581280" y="3468600"/>
            <a:ext cx="500760" cy="499320"/>
          </a:xfrm>
          <a:prstGeom prst="ellipse">
            <a:avLst/>
          </a:prstGeom>
          <a:solidFill>
            <a:schemeClr val="accent4">
              <a:lumMod val="40000"/>
              <a:lumOff val="60000"/>
            </a:schemeClr>
          </a:solidFill>
          <a:ln w="19050">
            <a:solidFill>
              <a:srgbClr val="000000"/>
            </a:solidFill>
            <a:round/>
          </a:ln>
        </p:spPr>
        <p:style>
          <a:lnRef idx="0"/>
          <a:fillRef idx="0"/>
          <a:effectRef idx="0"/>
          <a:fontRef idx="minor"/>
        </p:style>
        <p:txBody>
          <a:bodyPr wrap="none" lIns="0" rIns="0" tIns="0" bIns="45000" anchor="ctr" anchorCtr="1">
            <a:noAutofit/>
          </a:bodyPr>
          <a:p>
            <a:pPr defTabSz="457200">
              <a:lnSpc>
                <a:spcPct val="100000"/>
              </a:lnSpc>
            </a:pPr>
            <a:r>
              <a:rPr b="0" lang="en-US" sz="2400" spc="-1" strike="noStrike">
                <a:solidFill>
                  <a:schemeClr val="dk2"/>
                </a:solidFill>
                <a:latin typeface="Tahoma"/>
                <a:ea typeface="MS PGothic"/>
              </a:rPr>
              <a:t>B</a:t>
            </a:r>
            <a:endParaRPr b="0" lang="en-US" sz="2400" spc="-1" strike="noStrike">
              <a:solidFill>
                <a:srgbClr val="000000"/>
              </a:solidFill>
              <a:latin typeface="Arial"/>
            </a:endParaRPr>
          </a:p>
        </p:txBody>
      </p:sp>
      <p:sp>
        <p:nvSpPr>
          <p:cNvPr id="334" name="Oval 5"/>
          <p:cNvSpPr/>
          <p:nvPr/>
        </p:nvSpPr>
        <p:spPr>
          <a:xfrm>
            <a:off x="4456080" y="4208400"/>
            <a:ext cx="500760" cy="499320"/>
          </a:xfrm>
          <a:prstGeom prst="ellipse">
            <a:avLst/>
          </a:prstGeom>
          <a:solidFill>
            <a:schemeClr val="accent4">
              <a:lumMod val="40000"/>
              <a:lumOff val="60000"/>
            </a:schemeClr>
          </a:solidFill>
          <a:ln w="19050">
            <a:solidFill>
              <a:srgbClr val="000000"/>
            </a:solidFill>
            <a:round/>
          </a:ln>
        </p:spPr>
        <p:style>
          <a:lnRef idx="0"/>
          <a:fillRef idx="0"/>
          <a:effectRef idx="0"/>
          <a:fontRef idx="minor"/>
        </p:style>
        <p:txBody>
          <a:bodyPr wrap="none" lIns="0" rIns="0" tIns="0" bIns="45000" anchor="ctr" anchorCtr="1">
            <a:noAutofit/>
          </a:bodyPr>
          <a:p>
            <a:pPr defTabSz="457200">
              <a:lnSpc>
                <a:spcPct val="100000"/>
              </a:lnSpc>
            </a:pPr>
            <a:r>
              <a:rPr b="0" lang="en-US" sz="2400" spc="-1" strike="noStrike">
                <a:solidFill>
                  <a:schemeClr val="dk2"/>
                </a:solidFill>
                <a:latin typeface="Tahoma"/>
                <a:ea typeface="MS PGothic"/>
              </a:rPr>
              <a:t>D</a:t>
            </a:r>
            <a:endParaRPr b="0" lang="en-US" sz="2400" spc="-1" strike="noStrike">
              <a:solidFill>
                <a:srgbClr val="000000"/>
              </a:solidFill>
              <a:latin typeface="Arial"/>
            </a:endParaRPr>
          </a:p>
        </p:txBody>
      </p:sp>
      <p:sp>
        <p:nvSpPr>
          <p:cNvPr id="335" name="Rectangle 6"/>
          <p:cNvSpPr/>
          <p:nvPr/>
        </p:nvSpPr>
        <p:spPr>
          <a:xfrm>
            <a:off x="2743200" y="4154400"/>
            <a:ext cx="499320" cy="499320"/>
          </a:xfrm>
          <a:prstGeom prst="rect">
            <a:avLst/>
          </a:prstGeom>
          <a:solidFill>
            <a:schemeClr val="accent4">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2"/>
                </a:solidFill>
                <a:latin typeface="Tahoma"/>
                <a:ea typeface="MS PGothic"/>
              </a:rPr>
              <a:t>A</a:t>
            </a:r>
            <a:endParaRPr b="0" lang="en-US" sz="2400" spc="-1" strike="noStrike">
              <a:solidFill>
                <a:srgbClr val="000000"/>
              </a:solidFill>
              <a:latin typeface="Arial"/>
            </a:endParaRPr>
          </a:p>
        </p:txBody>
      </p:sp>
      <p:sp>
        <p:nvSpPr>
          <p:cNvPr id="336" name="Rectangle 7"/>
          <p:cNvSpPr/>
          <p:nvPr/>
        </p:nvSpPr>
        <p:spPr>
          <a:xfrm>
            <a:off x="3733920" y="5068800"/>
            <a:ext cx="499320" cy="499320"/>
          </a:xfrm>
          <a:prstGeom prst="rect">
            <a:avLst/>
          </a:prstGeom>
          <a:solidFill>
            <a:schemeClr val="accent4">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2"/>
                </a:solidFill>
                <a:latin typeface="Tahoma"/>
                <a:ea typeface="MS PGothic"/>
              </a:rPr>
              <a:t>C</a:t>
            </a:r>
            <a:endParaRPr b="0" lang="en-US" sz="2400" spc="-1" strike="noStrike">
              <a:solidFill>
                <a:srgbClr val="000000"/>
              </a:solidFill>
              <a:latin typeface="Arial"/>
            </a:endParaRPr>
          </a:p>
        </p:txBody>
      </p:sp>
      <p:sp>
        <p:nvSpPr>
          <p:cNvPr id="337" name="Rectangle 8"/>
          <p:cNvSpPr/>
          <p:nvPr/>
        </p:nvSpPr>
        <p:spPr>
          <a:xfrm>
            <a:off x="5181480" y="5068800"/>
            <a:ext cx="499320" cy="499320"/>
          </a:xfrm>
          <a:prstGeom prst="rect">
            <a:avLst/>
          </a:prstGeom>
          <a:solidFill>
            <a:schemeClr val="accent4">
              <a:lumMod val="40000"/>
              <a:lumOff val="60000"/>
            </a:schemeClr>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2"/>
                </a:solidFill>
                <a:latin typeface="Tahoma"/>
                <a:ea typeface="MS PGothic"/>
              </a:rPr>
              <a:t>E</a:t>
            </a:r>
            <a:endParaRPr b="0" lang="en-US" sz="2400" spc="-1" strike="noStrike">
              <a:solidFill>
                <a:srgbClr val="000000"/>
              </a:solidFill>
              <a:latin typeface="Arial"/>
            </a:endParaRPr>
          </a:p>
        </p:txBody>
      </p:sp>
      <p:cxnSp>
        <p:nvCxnSpPr>
          <p:cNvPr id="338" name="AutoShape 9"/>
          <p:cNvCxnSpPr>
            <a:stCxn id="337" idx="0"/>
            <a:endCxn id="334" idx="5"/>
          </p:cNvCxnSpPr>
          <p:nvPr/>
        </p:nvCxnSpPr>
        <p:spPr>
          <a:xfrm flipH="1" flipV="1">
            <a:off x="4884480" y="4644720"/>
            <a:ext cx="548640" cy="415080"/>
          </a:xfrm>
          <a:prstGeom prst="straightConnector1">
            <a:avLst/>
          </a:prstGeom>
          <a:ln w="19050">
            <a:solidFill>
              <a:srgbClr val="000000"/>
            </a:solidFill>
            <a:round/>
          </a:ln>
        </p:spPr>
      </p:cxnSp>
      <p:cxnSp>
        <p:nvCxnSpPr>
          <p:cNvPr id="339" name="AutoShape 10"/>
          <p:cNvCxnSpPr>
            <a:stCxn id="336" idx="0"/>
            <a:endCxn id="334" idx="3"/>
          </p:cNvCxnSpPr>
          <p:nvPr/>
        </p:nvCxnSpPr>
        <p:spPr>
          <a:xfrm flipV="1">
            <a:off x="3984480" y="4644720"/>
            <a:ext cx="545040" cy="415080"/>
          </a:xfrm>
          <a:prstGeom prst="straightConnector1">
            <a:avLst/>
          </a:prstGeom>
          <a:ln w="19050">
            <a:solidFill>
              <a:srgbClr val="000000"/>
            </a:solidFill>
            <a:round/>
          </a:ln>
        </p:spPr>
      </p:cxnSp>
      <p:cxnSp>
        <p:nvCxnSpPr>
          <p:cNvPr id="340" name="AutoShape 11"/>
          <p:cNvCxnSpPr>
            <a:stCxn id="335" idx="0"/>
            <a:endCxn id="333" idx="3"/>
          </p:cNvCxnSpPr>
          <p:nvPr/>
        </p:nvCxnSpPr>
        <p:spPr>
          <a:xfrm flipV="1">
            <a:off x="2993760" y="3904920"/>
            <a:ext cx="661320" cy="240480"/>
          </a:xfrm>
          <a:prstGeom prst="straightConnector1">
            <a:avLst/>
          </a:prstGeom>
          <a:ln w="19050">
            <a:solidFill>
              <a:srgbClr val="000000"/>
            </a:solidFill>
            <a:round/>
          </a:ln>
        </p:spPr>
      </p:cxnSp>
      <p:cxnSp>
        <p:nvCxnSpPr>
          <p:cNvPr id="341" name="AutoShape 12"/>
          <p:cNvCxnSpPr>
            <a:stCxn id="334" idx="0"/>
            <a:endCxn id="333" idx="5"/>
          </p:cNvCxnSpPr>
          <p:nvPr/>
        </p:nvCxnSpPr>
        <p:spPr>
          <a:xfrm flipH="1" flipV="1">
            <a:off x="4009680" y="3904920"/>
            <a:ext cx="697680" cy="294480"/>
          </a:xfrm>
          <a:prstGeom prst="straightConnector1">
            <a:avLst/>
          </a:prstGeom>
          <a:ln w="19050">
            <a:solidFill>
              <a:srgbClr val="000000"/>
            </a:solidFill>
            <a:round/>
          </a:ln>
        </p:spPr>
      </p:cxnSp>
      <p:grpSp>
        <p:nvGrpSpPr>
          <p:cNvPr id="342" name="Group 78"/>
          <p:cNvGrpSpPr/>
          <p:nvPr/>
        </p:nvGrpSpPr>
        <p:grpSpPr>
          <a:xfrm>
            <a:off x="7885080" y="1133640"/>
            <a:ext cx="1218600" cy="608760"/>
            <a:chOff x="7885080" y="1133640"/>
            <a:chExt cx="1218600" cy="608760"/>
          </a:xfrm>
        </p:grpSpPr>
        <p:sp>
          <p:nvSpPr>
            <p:cNvPr id="343" name="AutoShape 74"/>
            <p:cNvSpPr/>
            <p:nvPr/>
          </p:nvSpPr>
          <p:spPr>
            <a:xfrm>
              <a:off x="7885080" y="1133640"/>
              <a:ext cx="1218600" cy="608760"/>
            </a:xfrm>
            <a:prstGeom prst="roundRect">
              <a:avLst>
                <a:gd name="adj" fmla="val 16667"/>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44" name="Rectangle 75"/>
            <p:cNvSpPr/>
            <p:nvPr/>
          </p:nvSpPr>
          <p:spPr>
            <a:xfrm>
              <a:off x="8190000" y="1133640"/>
              <a:ext cx="608760" cy="608760"/>
            </a:xfrm>
            <a:prstGeom prst="rect">
              <a:avLst/>
            </a:prstGeom>
            <a:solidFill>
              <a:schemeClr val="accent1"/>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45" name="Line 77"/>
            <p:cNvSpPr/>
            <p:nvPr/>
          </p:nvSpPr>
          <p:spPr>
            <a:xfrm>
              <a:off x="8189640" y="1438200"/>
              <a:ext cx="609840" cy="360"/>
            </a:xfrm>
            <a:prstGeom prst="line">
              <a:avLst/>
            </a:prstGeom>
            <a:ln w="1905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grpSp>
      <p:grpSp>
        <p:nvGrpSpPr>
          <p:cNvPr id="346" name="Group 83"/>
          <p:cNvGrpSpPr/>
          <p:nvPr/>
        </p:nvGrpSpPr>
        <p:grpSpPr>
          <a:xfrm>
            <a:off x="6777000" y="2657520"/>
            <a:ext cx="1218600" cy="608760"/>
            <a:chOff x="6777000" y="2657520"/>
            <a:chExt cx="1218600" cy="608760"/>
          </a:xfrm>
        </p:grpSpPr>
        <p:sp>
          <p:nvSpPr>
            <p:cNvPr id="347" name="AutoShape 84"/>
            <p:cNvSpPr/>
            <p:nvPr/>
          </p:nvSpPr>
          <p:spPr>
            <a:xfrm>
              <a:off x="6777000" y="2657520"/>
              <a:ext cx="1218600" cy="608760"/>
            </a:xfrm>
            <a:prstGeom prst="roundRect">
              <a:avLst>
                <a:gd name="adj" fmla="val 16667"/>
              </a:avLst>
            </a:prstGeom>
            <a:solidFill>
              <a:schemeClr val="folHlink"/>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48" name="Rectangle 85"/>
            <p:cNvSpPr/>
            <p:nvPr/>
          </p:nvSpPr>
          <p:spPr>
            <a:xfrm>
              <a:off x="7081920" y="2657520"/>
              <a:ext cx="608760" cy="6087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49" name="Line 86"/>
            <p:cNvSpPr/>
            <p:nvPr/>
          </p:nvSpPr>
          <p:spPr>
            <a:xfrm>
              <a:off x="7081560" y="2962080"/>
              <a:ext cx="609840" cy="360"/>
            </a:xfrm>
            <a:prstGeom prst="line">
              <a:avLst/>
            </a:prstGeom>
            <a:ln w="1905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grpSp>
      <p:sp>
        <p:nvSpPr>
          <p:cNvPr id="350" name="Text Box 87"/>
          <p:cNvSpPr/>
          <p:nvPr/>
        </p:nvSpPr>
        <p:spPr>
          <a:xfrm>
            <a:off x="6699240" y="2763720"/>
            <a:ext cx="4341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000" spc="-1" strike="noStrike">
                <a:solidFill>
                  <a:schemeClr val="dk1"/>
                </a:solidFill>
                <a:latin typeface="Symbol"/>
                <a:ea typeface="MS PGothic"/>
              </a:rPr>
              <a:t></a:t>
            </a:r>
            <a:endParaRPr b="0" lang="en-US" sz="2000" spc="-1" strike="noStrike">
              <a:solidFill>
                <a:srgbClr val="000000"/>
              </a:solidFill>
              <a:latin typeface="Arial"/>
            </a:endParaRPr>
          </a:p>
        </p:txBody>
      </p:sp>
      <p:sp>
        <p:nvSpPr>
          <p:cNvPr id="351" name="Text Box 88"/>
          <p:cNvSpPr/>
          <p:nvPr/>
        </p:nvSpPr>
        <p:spPr>
          <a:xfrm>
            <a:off x="7623360" y="2763720"/>
            <a:ext cx="4341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000" spc="-1" strike="noStrike">
                <a:solidFill>
                  <a:schemeClr val="dk1"/>
                </a:solidFill>
                <a:latin typeface="Symbol"/>
                <a:ea typeface="MS PGothic"/>
              </a:rPr>
              <a:t></a:t>
            </a:r>
            <a:endParaRPr b="0" lang="en-US" sz="2000" spc="-1" strike="noStrike">
              <a:solidFill>
                <a:srgbClr val="000000"/>
              </a:solidFill>
              <a:latin typeface="Arial"/>
            </a:endParaRPr>
          </a:p>
        </p:txBody>
      </p:sp>
      <p:grpSp>
        <p:nvGrpSpPr>
          <p:cNvPr id="352" name="Group 90"/>
          <p:cNvGrpSpPr/>
          <p:nvPr/>
        </p:nvGrpSpPr>
        <p:grpSpPr>
          <a:xfrm>
            <a:off x="9028080" y="2657520"/>
            <a:ext cx="1218600" cy="608760"/>
            <a:chOff x="9028080" y="2657520"/>
            <a:chExt cx="1218600" cy="608760"/>
          </a:xfrm>
        </p:grpSpPr>
        <p:sp>
          <p:nvSpPr>
            <p:cNvPr id="353" name="AutoShape 91"/>
            <p:cNvSpPr/>
            <p:nvPr/>
          </p:nvSpPr>
          <p:spPr>
            <a:xfrm>
              <a:off x="9028080" y="2657520"/>
              <a:ext cx="1218600" cy="608760"/>
            </a:xfrm>
            <a:prstGeom prst="roundRect">
              <a:avLst>
                <a:gd name="adj" fmla="val 16667"/>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54" name="Rectangle 92"/>
            <p:cNvSpPr/>
            <p:nvPr/>
          </p:nvSpPr>
          <p:spPr>
            <a:xfrm>
              <a:off x="9333000" y="2657520"/>
              <a:ext cx="608760" cy="608760"/>
            </a:xfrm>
            <a:prstGeom prst="rect">
              <a:avLst/>
            </a:prstGeom>
            <a:solidFill>
              <a:schemeClr val="accent1"/>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55" name="Line 93"/>
            <p:cNvSpPr/>
            <p:nvPr/>
          </p:nvSpPr>
          <p:spPr>
            <a:xfrm>
              <a:off x="9332640" y="2962080"/>
              <a:ext cx="609840" cy="360"/>
            </a:xfrm>
            <a:prstGeom prst="line">
              <a:avLst/>
            </a:prstGeom>
            <a:ln w="1905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grpSp>
      <p:grpSp>
        <p:nvGrpSpPr>
          <p:cNvPr id="356" name="Group 97"/>
          <p:cNvGrpSpPr/>
          <p:nvPr/>
        </p:nvGrpSpPr>
        <p:grpSpPr>
          <a:xfrm>
            <a:off x="7885080" y="4181400"/>
            <a:ext cx="1218600" cy="608760"/>
            <a:chOff x="7885080" y="4181400"/>
            <a:chExt cx="1218600" cy="608760"/>
          </a:xfrm>
        </p:grpSpPr>
        <p:sp>
          <p:nvSpPr>
            <p:cNvPr id="357" name="AutoShape 98"/>
            <p:cNvSpPr/>
            <p:nvPr/>
          </p:nvSpPr>
          <p:spPr>
            <a:xfrm>
              <a:off x="7885080" y="4181400"/>
              <a:ext cx="1218600" cy="608760"/>
            </a:xfrm>
            <a:prstGeom prst="roundRect">
              <a:avLst>
                <a:gd name="adj" fmla="val 16667"/>
              </a:avLst>
            </a:prstGeom>
            <a:solidFill>
              <a:schemeClr val="folHlink"/>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58" name="Rectangle 99"/>
            <p:cNvSpPr/>
            <p:nvPr/>
          </p:nvSpPr>
          <p:spPr>
            <a:xfrm>
              <a:off x="8190000" y="4181400"/>
              <a:ext cx="608760" cy="6087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59" name="Line 100"/>
            <p:cNvSpPr/>
            <p:nvPr/>
          </p:nvSpPr>
          <p:spPr>
            <a:xfrm>
              <a:off x="8189640" y="4485960"/>
              <a:ext cx="609840" cy="360"/>
            </a:xfrm>
            <a:prstGeom prst="line">
              <a:avLst/>
            </a:prstGeom>
            <a:ln w="1905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grpSp>
      <p:sp>
        <p:nvSpPr>
          <p:cNvPr id="360" name="Text Box 101"/>
          <p:cNvSpPr/>
          <p:nvPr/>
        </p:nvSpPr>
        <p:spPr>
          <a:xfrm>
            <a:off x="7807320" y="4287960"/>
            <a:ext cx="4341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000" spc="-1" strike="noStrike">
                <a:solidFill>
                  <a:schemeClr val="dk1"/>
                </a:solidFill>
                <a:latin typeface="Symbol"/>
                <a:ea typeface="MS PGothic"/>
              </a:rPr>
              <a:t></a:t>
            </a:r>
            <a:endParaRPr b="0" lang="en-US" sz="2000" spc="-1" strike="noStrike">
              <a:solidFill>
                <a:srgbClr val="000000"/>
              </a:solidFill>
              <a:latin typeface="Arial"/>
            </a:endParaRPr>
          </a:p>
        </p:txBody>
      </p:sp>
      <p:sp>
        <p:nvSpPr>
          <p:cNvPr id="361" name="Text Box 102"/>
          <p:cNvSpPr/>
          <p:nvPr/>
        </p:nvSpPr>
        <p:spPr>
          <a:xfrm>
            <a:off x="8731440" y="4287960"/>
            <a:ext cx="4341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000" spc="-1" strike="noStrike">
                <a:solidFill>
                  <a:schemeClr val="dk1"/>
                </a:solidFill>
                <a:latin typeface="Symbol"/>
                <a:ea typeface="MS PGothic"/>
              </a:rPr>
              <a:t></a:t>
            </a:r>
            <a:endParaRPr b="0" lang="en-US" sz="2000" spc="-1" strike="noStrike">
              <a:solidFill>
                <a:srgbClr val="000000"/>
              </a:solidFill>
              <a:latin typeface="Arial"/>
            </a:endParaRPr>
          </a:p>
        </p:txBody>
      </p:sp>
      <p:grpSp>
        <p:nvGrpSpPr>
          <p:cNvPr id="362" name="Group 104"/>
          <p:cNvGrpSpPr/>
          <p:nvPr/>
        </p:nvGrpSpPr>
        <p:grpSpPr>
          <a:xfrm>
            <a:off x="10225080" y="4181400"/>
            <a:ext cx="1218600" cy="608760"/>
            <a:chOff x="10225080" y="4181400"/>
            <a:chExt cx="1218600" cy="608760"/>
          </a:xfrm>
        </p:grpSpPr>
        <p:sp>
          <p:nvSpPr>
            <p:cNvPr id="363" name="AutoShape 105"/>
            <p:cNvSpPr/>
            <p:nvPr/>
          </p:nvSpPr>
          <p:spPr>
            <a:xfrm>
              <a:off x="10225080" y="4181400"/>
              <a:ext cx="1218600" cy="608760"/>
            </a:xfrm>
            <a:prstGeom prst="roundRect">
              <a:avLst>
                <a:gd name="adj" fmla="val 16667"/>
              </a:avLst>
            </a:prstGeom>
            <a:solidFill>
              <a:schemeClr val="folHlink"/>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64" name="Rectangle 106"/>
            <p:cNvSpPr/>
            <p:nvPr/>
          </p:nvSpPr>
          <p:spPr>
            <a:xfrm>
              <a:off x="10530000" y="4181400"/>
              <a:ext cx="608760" cy="608760"/>
            </a:xfrm>
            <a:prstGeom prst="rect">
              <a:avLst/>
            </a:prstGeom>
            <a:solidFill>
              <a:schemeClr val="folHlink"/>
            </a:solid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65" name="Line 107"/>
            <p:cNvSpPr/>
            <p:nvPr/>
          </p:nvSpPr>
          <p:spPr>
            <a:xfrm>
              <a:off x="10529640" y="4485960"/>
              <a:ext cx="609840" cy="360"/>
            </a:xfrm>
            <a:prstGeom prst="line">
              <a:avLst/>
            </a:prstGeom>
            <a:ln w="1905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grpSp>
      <p:sp>
        <p:nvSpPr>
          <p:cNvPr id="366" name="Text Box 108"/>
          <p:cNvSpPr/>
          <p:nvPr/>
        </p:nvSpPr>
        <p:spPr>
          <a:xfrm>
            <a:off x="10147320" y="4287960"/>
            <a:ext cx="4341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000" spc="-1" strike="noStrike">
                <a:solidFill>
                  <a:schemeClr val="dk1"/>
                </a:solidFill>
                <a:latin typeface="Symbol"/>
                <a:ea typeface="MS PGothic"/>
              </a:rPr>
              <a:t></a:t>
            </a:r>
            <a:endParaRPr b="0" lang="en-US" sz="2000" spc="-1" strike="noStrike">
              <a:solidFill>
                <a:srgbClr val="000000"/>
              </a:solidFill>
              <a:latin typeface="Arial"/>
            </a:endParaRPr>
          </a:p>
        </p:txBody>
      </p:sp>
      <p:sp>
        <p:nvSpPr>
          <p:cNvPr id="367" name="Text Box 109"/>
          <p:cNvSpPr/>
          <p:nvPr/>
        </p:nvSpPr>
        <p:spPr>
          <a:xfrm>
            <a:off x="11071440" y="4287960"/>
            <a:ext cx="4341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000" spc="-1" strike="noStrike">
                <a:solidFill>
                  <a:schemeClr val="dk1"/>
                </a:solidFill>
                <a:latin typeface="Symbol"/>
                <a:ea typeface="MS PGothic"/>
              </a:rPr>
              <a:t></a:t>
            </a:r>
            <a:endParaRPr b="0" lang="en-US" sz="2000" spc="-1" strike="noStrike">
              <a:solidFill>
                <a:srgbClr val="000000"/>
              </a:solidFill>
              <a:latin typeface="Arial"/>
            </a:endParaRPr>
          </a:p>
        </p:txBody>
      </p:sp>
      <p:grpSp>
        <p:nvGrpSpPr>
          <p:cNvPr id="368" name="Group 110"/>
          <p:cNvGrpSpPr/>
          <p:nvPr/>
        </p:nvGrpSpPr>
        <p:grpSpPr>
          <a:xfrm>
            <a:off x="8355960" y="1589760"/>
            <a:ext cx="344160" cy="852840"/>
            <a:chOff x="8355960" y="1589760"/>
            <a:chExt cx="344160" cy="852840"/>
          </a:xfrm>
        </p:grpSpPr>
        <p:sp>
          <p:nvSpPr>
            <p:cNvPr id="369" name="Text Box 30"/>
            <p:cNvSpPr/>
            <p:nvPr/>
          </p:nvSpPr>
          <p:spPr>
            <a:xfrm>
              <a:off x="8355960" y="2048040"/>
              <a:ext cx="3441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B</a:t>
              </a:r>
              <a:endParaRPr b="0" lang="en-US" sz="2000" spc="-1" strike="noStrike">
                <a:solidFill>
                  <a:srgbClr val="000000"/>
                </a:solidFill>
                <a:latin typeface="Arial"/>
              </a:endParaRPr>
            </a:p>
          </p:txBody>
        </p:sp>
        <p:cxnSp>
          <p:nvCxnSpPr>
            <p:cNvPr id="370" name="AutoShape 29"/>
            <p:cNvCxnSpPr/>
            <p:nvPr/>
          </p:nvCxnSpPr>
          <p:spPr>
            <a:xfrm>
              <a:off x="8514360" y="1589760"/>
              <a:ext cx="15120" cy="457920"/>
            </a:xfrm>
            <a:prstGeom prst="curvedConnector2">
              <a:avLst/>
            </a:prstGeom>
            <a:ln w="19050">
              <a:solidFill>
                <a:srgbClr val="44546a"/>
              </a:solidFill>
              <a:round/>
              <a:headEnd len="med" type="oval" w="med"/>
              <a:tailEnd len="med" type="triangle" w="med"/>
            </a:ln>
          </p:spPr>
        </p:cxnSp>
      </p:grpSp>
      <p:grpSp>
        <p:nvGrpSpPr>
          <p:cNvPr id="371" name="Group 111"/>
          <p:cNvGrpSpPr/>
          <p:nvPr/>
        </p:nvGrpSpPr>
        <p:grpSpPr>
          <a:xfrm>
            <a:off x="7216560" y="3113640"/>
            <a:ext cx="341280" cy="852840"/>
            <a:chOff x="7216560" y="3113640"/>
            <a:chExt cx="341280" cy="852840"/>
          </a:xfrm>
        </p:grpSpPr>
        <p:sp>
          <p:nvSpPr>
            <p:cNvPr id="372" name="Text Box 112"/>
            <p:cNvSpPr/>
            <p:nvPr/>
          </p:nvSpPr>
          <p:spPr>
            <a:xfrm>
              <a:off x="7216560" y="3571920"/>
              <a:ext cx="34128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A</a:t>
              </a:r>
              <a:endParaRPr b="0" lang="en-US" sz="2000" spc="-1" strike="noStrike">
                <a:solidFill>
                  <a:srgbClr val="000000"/>
                </a:solidFill>
                <a:latin typeface="Arial"/>
              </a:endParaRPr>
            </a:p>
          </p:txBody>
        </p:sp>
        <p:cxnSp>
          <p:nvCxnSpPr>
            <p:cNvPr id="373" name="AutoShape 113"/>
            <p:cNvCxnSpPr/>
            <p:nvPr/>
          </p:nvCxnSpPr>
          <p:spPr>
            <a:xfrm>
              <a:off x="7371360" y="3113640"/>
              <a:ext cx="15120" cy="457920"/>
            </a:xfrm>
            <a:prstGeom prst="curvedConnector2">
              <a:avLst/>
            </a:prstGeom>
            <a:ln w="19050">
              <a:solidFill>
                <a:srgbClr val="44546a"/>
              </a:solidFill>
              <a:round/>
              <a:headEnd len="med" type="oval" w="med"/>
              <a:tailEnd len="med" type="triangle" w="med"/>
            </a:ln>
          </p:spPr>
        </p:cxnSp>
      </p:grpSp>
      <p:grpSp>
        <p:nvGrpSpPr>
          <p:cNvPr id="374" name="Group 114"/>
          <p:cNvGrpSpPr/>
          <p:nvPr/>
        </p:nvGrpSpPr>
        <p:grpSpPr>
          <a:xfrm>
            <a:off x="9489600" y="3113640"/>
            <a:ext cx="363960" cy="852840"/>
            <a:chOff x="9489600" y="3113640"/>
            <a:chExt cx="363960" cy="852840"/>
          </a:xfrm>
        </p:grpSpPr>
        <p:sp>
          <p:nvSpPr>
            <p:cNvPr id="375" name="Text Box 115"/>
            <p:cNvSpPr/>
            <p:nvPr/>
          </p:nvSpPr>
          <p:spPr>
            <a:xfrm>
              <a:off x="9489600" y="3571920"/>
              <a:ext cx="3639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D</a:t>
              </a:r>
              <a:endParaRPr b="0" lang="en-US" sz="2000" spc="-1" strike="noStrike">
                <a:solidFill>
                  <a:srgbClr val="000000"/>
                </a:solidFill>
                <a:latin typeface="Arial"/>
              </a:endParaRPr>
            </a:p>
          </p:txBody>
        </p:sp>
        <p:cxnSp>
          <p:nvCxnSpPr>
            <p:cNvPr id="376" name="AutoShape 116"/>
            <p:cNvCxnSpPr/>
            <p:nvPr/>
          </p:nvCxnSpPr>
          <p:spPr>
            <a:xfrm>
              <a:off x="9657360" y="3113640"/>
              <a:ext cx="15120" cy="457920"/>
            </a:xfrm>
            <a:prstGeom prst="curvedConnector2">
              <a:avLst/>
            </a:prstGeom>
            <a:ln w="19050">
              <a:solidFill>
                <a:srgbClr val="44546a"/>
              </a:solidFill>
              <a:round/>
              <a:headEnd len="med" type="oval" w="med"/>
              <a:tailEnd len="med" type="triangle" w="med"/>
            </a:ln>
          </p:spPr>
        </p:cxnSp>
      </p:grpSp>
      <p:grpSp>
        <p:nvGrpSpPr>
          <p:cNvPr id="377" name="Group 117"/>
          <p:cNvGrpSpPr/>
          <p:nvPr/>
        </p:nvGrpSpPr>
        <p:grpSpPr>
          <a:xfrm>
            <a:off x="8347680" y="4644720"/>
            <a:ext cx="339840" cy="852840"/>
            <a:chOff x="8347680" y="4644720"/>
            <a:chExt cx="339840" cy="852840"/>
          </a:xfrm>
        </p:grpSpPr>
        <p:sp>
          <p:nvSpPr>
            <p:cNvPr id="378" name="Text Box 118"/>
            <p:cNvSpPr/>
            <p:nvPr/>
          </p:nvSpPr>
          <p:spPr>
            <a:xfrm>
              <a:off x="8347680" y="5103000"/>
              <a:ext cx="33984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C</a:t>
              </a:r>
              <a:endParaRPr b="0" lang="en-US" sz="2000" spc="-1" strike="noStrike">
                <a:solidFill>
                  <a:srgbClr val="000000"/>
                </a:solidFill>
                <a:latin typeface="Arial"/>
              </a:endParaRPr>
            </a:p>
          </p:txBody>
        </p:sp>
        <p:cxnSp>
          <p:nvCxnSpPr>
            <p:cNvPr id="379" name="AutoShape 119"/>
            <p:cNvCxnSpPr/>
            <p:nvPr/>
          </p:nvCxnSpPr>
          <p:spPr>
            <a:xfrm>
              <a:off x="8501760" y="4644720"/>
              <a:ext cx="14760" cy="457920"/>
            </a:xfrm>
            <a:prstGeom prst="curvedConnector2">
              <a:avLst/>
            </a:prstGeom>
            <a:ln w="19050">
              <a:solidFill>
                <a:srgbClr val="44546a"/>
              </a:solidFill>
              <a:round/>
              <a:headEnd len="med" type="oval" w="med"/>
              <a:tailEnd len="med" type="triangle" w="med"/>
            </a:ln>
          </p:spPr>
        </p:cxnSp>
      </p:grpSp>
      <p:grpSp>
        <p:nvGrpSpPr>
          <p:cNvPr id="380" name="Group 120"/>
          <p:cNvGrpSpPr/>
          <p:nvPr/>
        </p:nvGrpSpPr>
        <p:grpSpPr>
          <a:xfrm>
            <a:off x="10684800" y="4644720"/>
            <a:ext cx="320760" cy="852840"/>
            <a:chOff x="10684800" y="4644720"/>
            <a:chExt cx="320760" cy="852840"/>
          </a:xfrm>
        </p:grpSpPr>
        <p:sp>
          <p:nvSpPr>
            <p:cNvPr id="381" name="Text Box 121"/>
            <p:cNvSpPr/>
            <p:nvPr/>
          </p:nvSpPr>
          <p:spPr>
            <a:xfrm>
              <a:off x="10684800" y="5103000"/>
              <a:ext cx="3207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E</a:t>
              </a:r>
              <a:endParaRPr b="0" lang="en-US" sz="2000" spc="-1" strike="noStrike">
                <a:solidFill>
                  <a:srgbClr val="000000"/>
                </a:solidFill>
                <a:latin typeface="Arial"/>
              </a:endParaRPr>
            </a:p>
          </p:txBody>
        </p:sp>
        <p:cxnSp>
          <p:nvCxnSpPr>
            <p:cNvPr id="382" name="AutoShape 122"/>
            <p:cNvCxnSpPr/>
            <p:nvPr/>
          </p:nvCxnSpPr>
          <p:spPr>
            <a:xfrm>
              <a:off x="10832040" y="4644720"/>
              <a:ext cx="15120" cy="457920"/>
            </a:xfrm>
            <a:prstGeom prst="curvedConnector2">
              <a:avLst/>
            </a:prstGeom>
            <a:ln w="19050">
              <a:solidFill>
                <a:srgbClr val="44546a"/>
              </a:solidFill>
              <a:round/>
              <a:headEnd len="med" type="oval" w="med"/>
              <a:tailEnd len="med" type="triangle" w="med"/>
            </a:ln>
          </p:spPr>
        </p:cxnSp>
      </p:grpSp>
      <p:sp>
        <p:nvSpPr>
          <p:cNvPr id="383" name="Freeform 124"/>
          <p:cNvSpPr/>
          <p:nvPr/>
        </p:nvSpPr>
        <p:spPr>
          <a:xfrm>
            <a:off x="7230960" y="1743120"/>
            <a:ext cx="1142280" cy="1065960"/>
          </a:xfrm>
          <a:custGeom>
            <a:avLst/>
            <a:gdLst>
              <a:gd name="textAreaLeft" fmla="*/ 0 w 1142280"/>
              <a:gd name="textAreaRight" fmla="*/ 1143000 w 1142280"/>
              <a:gd name="textAreaTop" fmla="*/ 0 h 1065960"/>
              <a:gd name="textAreaBottom" fmla="*/ 1066680 h 1065960"/>
            </a:gdLst>
            <a:ahLst/>
            <a:rect l="textAreaLeft" t="textAreaTop" r="textAreaRight" b="textAreaBottom"/>
            <a:pathLst>
              <a:path w="720" h="672">
                <a:moveTo>
                  <a:pt x="88" y="672"/>
                </a:moveTo>
                <a:cubicBezTo>
                  <a:pt x="44" y="568"/>
                  <a:pt x="0" y="464"/>
                  <a:pt x="88" y="384"/>
                </a:cubicBezTo>
                <a:cubicBezTo>
                  <a:pt x="176" y="304"/>
                  <a:pt x="512" y="256"/>
                  <a:pt x="616" y="192"/>
                </a:cubicBezTo>
                <a:cubicBezTo>
                  <a:pt x="720" y="128"/>
                  <a:pt x="716" y="64"/>
                  <a:pt x="712" y="0"/>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84" name="Freeform 125"/>
          <p:cNvSpPr/>
          <p:nvPr/>
        </p:nvSpPr>
        <p:spPr>
          <a:xfrm flipH="1">
            <a:off x="8646480" y="1743120"/>
            <a:ext cx="1142280" cy="1065960"/>
          </a:xfrm>
          <a:custGeom>
            <a:avLst/>
            <a:gdLst>
              <a:gd name="textAreaLeft" fmla="*/ 360 w 1142280"/>
              <a:gd name="textAreaRight" fmla="*/ 1143360 w 1142280"/>
              <a:gd name="textAreaTop" fmla="*/ 0 h 1065960"/>
              <a:gd name="textAreaBottom" fmla="*/ 1066680 h 1065960"/>
            </a:gdLst>
            <a:ahLst/>
            <a:rect l="textAreaLeft" t="textAreaTop" r="textAreaRight" b="textAreaBottom"/>
            <a:pathLst>
              <a:path w="720" h="672">
                <a:moveTo>
                  <a:pt x="88" y="672"/>
                </a:moveTo>
                <a:cubicBezTo>
                  <a:pt x="44" y="568"/>
                  <a:pt x="0" y="464"/>
                  <a:pt x="88" y="384"/>
                </a:cubicBezTo>
                <a:cubicBezTo>
                  <a:pt x="176" y="304"/>
                  <a:pt x="512" y="256"/>
                  <a:pt x="616" y="192"/>
                </a:cubicBezTo>
                <a:cubicBezTo>
                  <a:pt x="720" y="128"/>
                  <a:pt x="716" y="64"/>
                  <a:pt x="712" y="0"/>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85" name="Freeform 126"/>
          <p:cNvSpPr/>
          <p:nvPr/>
        </p:nvSpPr>
        <p:spPr>
          <a:xfrm flipH="1">
            <a:off x="9808560" y="3267000"/>
            <a:ext cx="1142280" cy="1065960"/>
          </a:xfrm>
          <a:custGeom>
            <a:avLst/>
            <a:gdLst>
              <a:gd name="textAreaLeft" fmla="*/ 360 w 1142280"/>
              <a:gd name="textAreaRight" fmla="*/ 1143360 w 1142280"/>
              <a:gd name="textAreaTop" fmla="*/ 0 h 1065960"/>
              <a:gd name="textAreaBottom" fmla="*/ 1066680 h 1065960"/>
            </a:gdLst>
            <a:ahLst/>
            <a:rect l="textAreaLeft" t="textAreaTop" r="textAreaRight" b="textAreaBottom"/>
            <a:pathLst>
              <a:path w="720" h="672">
                <a:moveTo>
                  <a:pt x="88" y="672"/>
                </a:moveTo>
                <a:cubicBezTo>
                  <a:pt x="44" y="568"/>
                  <a:pt x="0" y="464"/>
                  <a:pt x="88" y="384"/>
                </a:cubicBezTo>
                <a:cubicBezTo>
                  <a:pt x="176" y="304"/>
                  <a:pt x="512" y="256"/>
                  <a:pt x="616" y="192"/>
                </a:cubicBezTo>
                <a:cubicBezTo>
                  <a:pt x="720" y="128"/>
                  <a:pt x="716" y="64"/>
                  <a:pt x="712" y="0"/>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86" name="Freeform 127"/>
          <p:cNvSpPr/>
          <p:nvPr/>
        </p:nvSpPr>
        <p:spPr>
          <a:xfrm>
            <a:off x="8361360" y="3267000"/>
            <a:ext cx="1142280" cy="1065960"/>
          </a:xfrm>
          <a:custGeom>
            <a:avLst/>
            <a:gdLst>
              <a:gd name="textAreaLeft" fmla="*/ 0 w 1142280"/>
              <a:gd name="textAreaRight" fmla="*/ 1143000 w 1142280"/>
              <a:gd name="textAreaTop" fmla="*/ 0 h 1065960"/>
              <a:gd name="textAreaBottom" fmla="*/ 1066680 h 1065960"/>
            </a:gdLst>
            <a:ahLst/>
            <a:rect l="textAreaLeft" t="textAreaTop" r="textAreaRight" b="textAreaBottom"/>
            <a:pathLst>
              <a:path w="720" h="672">
                <a:moveTo>
                  <a:pt x="88" y="672"/>
                </a:moveTo>
                <a:cubicBezTo>
                  <a:pt x="44" y="568"/>
                  <a:pt x="0" y="464"/>
                  <a:pt x="88" y="384"/>
                </a:cubicBezTo>
                <a:cubicBezTo>
                  <a:pt x="176" y="304"/>
                  <a:pt x="512" y="256"/>
                  <a:pt x="616" y="192"/>
                </a:cubicBezTo>
                <a:cubicBezTo>
                  <a:pt x="720" y="128"/>
                  <a:pt x="716" y="64"/>
                  <a:pt x="712" y="0"/>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87" name="Freeform 128"/>
          <p:cNvSpPr/>
          <p:nvPr/>
        </p:nvSpPr>
        <p:spPr>
          <a:xfrm>
            <a:off x="6908760" y="1428840"/>
            <a:ext cx="1108800" cy="1208880"/>
          </a:xfrm>
          <a:custGeom>
            <a:avLst/>
            <a:gdLst>
              <a:gd name="textAreaLeft" fmla="*/ 0 w 1108800"/>
              <a:gd name="textAreaRight" fmla="*/ 1109520 w 1108800"/>
              <a:gd name="textAreaTop" fmla="*/ 0 h 1208880"/>
              <a:gd name="textAreaBottom" fmla="*/ 1209600 h 1208880"/>
            </a:gdLst>
            <a:ahLst/>
            <a:rect l="textAreaLeft" t="textAreaTop" r="textAreaRight" b="textAreaBottom"/>
            <a:pathLst>
              <a:path w="699" h="762">
                <a:moveTo>
                  <a:pt x="699" y="0"/>
                </a:moveTo>
                <a:cubicBezTo>
                  <a:pt x="597" y="41"/>
                  <a:pt x="174" y="119"/>
                  <a:pt x="87" y="246"/>
                </a:cubicBezTo>
                <a:cubicBezTo>
                  <a:pt x="0" y="373"/>
                  <a:pt x="158" y="655"/>
                  <a:pt x="177" y="762"/>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88" name="Freeform 129"/>
          <p:cNvSpPr/>
          <p:nvPr/>
        </p:nvSpPr>
        <p:spPr>
          <a:xfrm flipH="1">
            <a:off x="8970120" y="1438200"/>
            <a:ext cx="1218600" cy="1208880"/>
          </a:xfrm>
          <a:custGeom>
            <a:avLst/>
            <a:gdLst>
              <a:gd name="textAreaLeft" fmla="*/ 360 w 1218600"/>
              <a:gd name="textAreaRight" fmla="*/ 1219680 w 1218600"/>
              <a:gd name="textAreaTop" fmla="*/ 0 h 1208880"/>
              <a:gd name="textAreaBottom" fmla="*/ 1209600 h 1208880"/>
            </a:gdLst>
            <a:ahLst/>
            <a:rect l="textAreaLeft" t="textAreaTop" r="textAreaRight" b="textAreaBottom"/>
            <a:pathLst>
              <a:path w="699" h="762">
                <a:moveTo>
                  <a:pt x="699" y="0"/>
                </a:moveTo>
                <a:cubicBezTo>
                  <a:pt x="597" y="41"/>
                  <a:pt x="174" y="119"/>
                  <a:pt x="87" y="246"/>
                </a:cubicBezTo>
                <a:cubicBezTo>
                  <a:pt x="0" y="373"/>
                  <a:pt x="158" y="655"/>
                  <a:pt x="177" y="762"/>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89" name="Freeform 130"/>
          <p:cNvSpPr/>
          <p:nvPr/>
        </p:nvSpPr>
        <p:spPr>
          <a:xfrm flipH="1">
            <a:off x="10113120" y="2962440"/>
            <a:ext cx="1218600" cy="1208880"/>
          </a:xfrm>
          <a:custGeom>
            <a:avLst/>
            <a:gdLst>
              <a:gd name="textAreaLeft" fmla="*/ 360 w 1218600"/>
              <a:gd name="textAreaRight" fmla="*/ 1219680 w 1218600"/>
              <a:gd name="textAreaTop" fmla="*/ 0 h 1208880"/>
              <a:gd name="textAreaBottom" fmla="*/ 1209600 h 1208880"/>
            </a:gdLst>
            <a:ahLst/>
            <a:rect l="textAreaLeft" t="textAreaTop" r="textAreaRight" b="textAreaBottom"/>
            <a:pathLst>
              <a:path w="699" h="762">
                <a:moveTo>
                  <a:pt x="699" y="0"/>
                </a:moveTo>
                <a:cubicBezTo>
                  <a:pt x="597" y="41"/>
                  <a:pt x="174" y="119"/>
                  <a:pt x="87" y="246"/>
                </a:cubicBezTo>
                <a:cubicBezTo>
                  <a:pt x="0" y="373"/>
                  <a:pt x="158" y="655"/>
                  <a:pt x="177" y="762"/>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90" name="Freeform 131"/>
          <p:cNvSpPr/>
          <p:nvPr/>
        </p:nvSpPr>
        <p:spPr>
          <a:xfrm>
            <a:off x="8056440" y="2962440"/>
            <a:ext cx="1108800" cy="1208880"/>
          </a:xfrm>
          <a:custGeom>
            <a:avLst/>
            <a:gdLst>
              <a:gd name="textAreaLeft" fmla="*/ 0 w 1108800"/>
              <a:gd name="textAreaRight" fmla="*/ 1109520 w 1108800"/>
              <a:gd name="textAreaTop" fmla="*/ 0 h 1208880"/>
              <a:gd name="textAreaBottom" fmla="*/ 1209600 h 1208880"/>
            </a:gdLst>
            <a:ahLst/>
            <a:rect l="textAreaLeft" t="textAreaTop" r="textAreaRight" b="textAreaBottom"/>
            <a:pathLst>
              <a:path w="699" h="762">
                <a:moveTo>
                  <a:pt x="699" y="0"/>
                </a:moveTo>
                <a:cubicBezTo>
                  <a:pt x="597" y="41"/>
                  <a:pt x="174" y="119"/>
                  <a:pt x="87" y="246"/>
                </a:cubicBezTo>
                <a:cubicBezTo>
                  <a:pt x="0" y="373"/>
                  <a:pt x="158" y="655"/>
                  <a:pt x="177" y="762"/>
                </a:cubicBezTo>
              </a:path>
            </a:pathLst>
          </a:custGeom>
          <a:noFill/>
          <a:ln w="19050">
            <a:solidFill>
              <a:srgbClr val="000000"/>
            </a:solidFill>
            <a:round/>
            <a:headEnd len="med" type="oval" w="me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391" name="Text Box 132"/>
          <p:cNvSpPr/>
          <p:nvPr/>
        </p:nvSpPr>
        <p:spPr>
          <a:xfrm>
            <a:off x="8274240" y="1076400"/>
            <a:ext cx="4341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000" spc="-1" strike="noStrike">
                <a:solidFill>
                  <a:schemeClr val="dk1"/>
                </a:solidFill>
                <a:latin typeface="Symbol"/>
                <a:ea typeface="MS PGothic"/>
              </a:rPr>
              <a:t></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392"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Binary Search Trees</a:t>
            </a:r>
            <a:endParaRPr b="0" lang="en-US" sz="4400" spc="-1" strike="noStrike">
              <a:solidFill>
                <a:srgbClr val="000000"/>
              </a:solidFill>
              <a:latin typeface="Arial"/>
            </a:endParaRPr>
          </a:p>
        </p:txBody>
      </p:sp>
      <p:sp>
        <p:nvSpPr>
          <p:cNvPr id="393" name="PlaceHolder 2"/>
          <p:cNvSpPr>
            <a:spLocks noGrp="1"/>
          </p:cNvSpPr>
          <p:nvPr>
            <p:ph/>
          </p:nvPr>
        </p:nvSpPr>
        <p:spPr>
          <a:xfrm>
            <a:off x="838080" y="1107000"/>
            <a:ext cx="10514880" cy="50691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 Binary Search Tree is a binary tree data structure with the following properties: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Binary Tree Structure: It is a binary tree, meaning each node has at most two children: a left child and a right child.</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Ordering Property: For every node n, all nodes in its left subtree have values less than n, and all nodes in its right subtree have values greater than n.</a:t>
            </a: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This property ensures that the tree maintains a specific ordering, making it suitable for efficient searching.</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Tree Traversal</a:t>
            </a:r>
            <a:endParaRPr b="0" lang="en-US" sz="4400" spc="-1" strike="noStrike">
              <a:solidFill>
                <a:srgbClr val="000000"/>
              </a:solidFill>
              <a:latin typeface="Arial"/>
            </a:endParaRPr>
          </a:p>
        </p:txBody>
      </p:sp>
      <p:sp>
        <p:nvSpPr>
          <p:cNvPr id="395" name="PlaceHolder 2"/>
          <p:cNvSpPr>
            <a:spLocks noGrp="1"/>
          </p:cNvSpPr>
          <p:nvPr>
            <p:ph/>
          </p:nvPr>
        </p:nvSpPr>
        <p:spPr>
          <a:xfrm>
            <a:off x="838080" y="1107000"/>
            <a:ext cx="10514880" cy="5069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process of visiting each node in a tree exactly once.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Fundamental for accessing and processing data stored in a tree.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Use cases: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Search / Data retrieval</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Tree operations (insert, delete, update)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Serialization / deserialization of a tree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Backtracking (puzzle, maze solving)</a:t>
            </a: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Depth-First Search</a:t>
            </a:r>
            <a:endParaRPr b="0" lang="en-US" sz="4400" spc="-1" strike="noStrike">
              <a:solidFill>
                <a:srgbClr val="000000"/>
              </a:solidFill>
              <a:latin typeface="Arial"/>
            </a:endParaRPr>
          </a:p>
        </p:txBody>
      </p:sp>
      <p:sp>
        <p:nvSpPr>
          <p:cNvPr id="397" name="PlaceHolder 2"/>
          <p:cNvSpPr>
            <a:spLocks noGrp="1"/>
          </p:cNvSpPr>
          <p:nvPr>
            <p:ph/>
          </p:nvPr>
        </p:nvSpPr>
        <p:spPr>
          <a:xfrm>
            <a:off x="838080" y="1107000"/>
            <a:ext cx="10514880" cy="5069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Traverse a tree such that the deepest node is visited and then backtrack to its parent node if no sibling of that node exists.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Inorder Traversal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Preorder Traversal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Postorder Traversal</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u="sng">
                <a:solidFill>
                  <a:schemeClr val="dk1"/>
                </a:solidFill>
                <a:uFillTx/>
                <a:latin typeface="Calibri"/>
                <a:hlinkClick r:id="rId1"/>
              </a:rPr>
              <a:t>https://www.geeksforgeeks.org/tree-traversals-inorder-preorder-and-postorder/</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a:bodyPr>
          <a:p>
            <a:pPr indent="0" algn="ctr">
              <a:buNone/>
            </a:pPr>
            <a:endParaRPr b="0" lang="en-US" sz="1800" spc="-1" strike="noStrike">
              <a:solidFill>
                <a:srgbClr val="000000"/>
              </a:solidFill>
              <a:latin typeface="Arial"/>
            </a:endParaRPr>
          </a:p>
        </p:txBody>
      </p:sp>
      <p:sp>
        <p:nvSpPr>
          <p:cNvPr id="399" name="PlaceHolder 2"/>
          <p:cNvSpPr>
            <a:spLocks noGrp="1"/>
          </p:cNvSpPr>
          <p:nvPr>
            <p:ph/>
          </p:nvPr>
        </p:nvSpPr>
        <p:spPr>
          <a:xfrm>
            <a:off x="838080" y="1107000"/>
            <a:ext cx="10514880" cy="5069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Application of DFS Algorithm</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For finding the path</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To test if the graph is bipartite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For finding the strongly connected components of a graph</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For detecting cycles in a graph</a:t>
            </a:r>
            <a:endParaRPr b="0" lang="en-US" sz="2400" spc="-1" strike="noStrike">
              <a:solidFill>
                <a:srgbClr val="000000"/>
              </a:solidFill>
              <a:latin typeface="Arial"/>
            </a:endParaRPr>
          </a:p>
          <a:p>
            <a:pPr indent="0" defTabSz="914400">
              <a:lnSpc>
                <a:spcPct val="90000"/>
              </a:lnSpc>
              <a:spcBef>
                <a:spcPts val="499"/>
              </a:spcBef>
              <a:buNone/>
              <a:tabLst>
                <a:tab algn="l" pos="0"/>
              </a:tabLst>
            </a:pP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u="sng">
                <a:solidFill>
                  <a:schemeClr val="dk1"/>
                </a:solidFill>
                <a:uFillTx/>
                <a:latin typeface="Calibri"/>
                <a:hlinkClick r:id="rId1"/>
              </a:rPr>
              <a:t>https://www.programiz.com/dsa/graph-dfs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Breath-First Search</a:t>
            </a:r>
            <a:endParaRPr b="0" lang="en-US" sz="4400" spc="-1" strike="noStrike">
              <a:solidFill>
                <a:srgbClr val="000000"/>
              </a:solidFill>
              <a:latin typeface="Arial"/>
            </a:endParaRPr>
          </a:p>
        </p:txBody>
      </p:sp>
      <p:sp>
        <p:nvSpPr>
          <p:cNvPr id="401" name="PlaceHolder 2"/>
          <p:cNvSpPr>
            <a:spLocks noGrp="1"/>
          </p:cNvSpPr>
          <p:nvPr>
            <p:ph/>
          </p:nvPr>
        </p:nvSpPr>
        <p:spPr>
          <a:xfrm>
            <a:off x="838080" y="1107000"/>
            <a:ext cx="10514880" cy="5069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Traverse a Tree such that all nodes present in the same level are traversed completely before traversing the next level.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Naive solution: find the height of the tree and traversing each level and printing the nodes of that level.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Efficient solution: Use a queue.</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Start at the root node and add it to a queue.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While the queue is not empty, dequeue a node and visit it.</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Enqueue all of its children (if any) into the queue.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Repeat steps 2 and 3 until the queue is empty.</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tr-TR" sz="2800" spc="-1" strike="noStrike" u="sng">
                <a:solidFill>
                  <a:schemeClr val="dk1"/>
                </a:solidFill>
                <a:uFillTx/>
                <a:latin typeface="Calibri"/>
                <a:hlinkClick r:id="rId1"/>
              </a:rPr>
              <a:t>https://www.geeksforgeeks.org/level-order-tree-traversal/</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a:bodyPr>
          <a:p>
            <a:pPr indent="0" algn="ctr">
              <a:buNone/>
            </a:pPr>
            <a:endParaRPr b="0" lang="en-US" sz="1800" spc="-1" strike="noStrike">
              <a:solidFill>
                <a:srgbClr val="000000"/>
              </a:solidFill>
              <a:latin typeface="Arial"/>
            </a:endParaRPr>
          </a:p>
        </p:txBody>
      </p:sp>
      <p:sp>
        <p:nvSpPr>
          <p:cNvPr id="403" name="PlaceHolder 2"/>
          <p:cNvSpPr>
            <a:spLocks noGrp="1"/>
          </p:cNvSpPr>
          <p:nvPr>
            <p:ph/>
          </p:nvPr>
        </p:nvSpPr>
        <p:spPr>
          <a:xfrm>
            <a:off x="838080" y="1107000"/>
            <a:ext cx="10514880" cy="50691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BFS Algorithm Applications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To build index by search index</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For GPS navigation</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Path finding algorithms</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In Ford-Fulkerson algorithm to find maximum flow in a network</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Cycle detection in an undirected graph</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In minimum spanning tree</a:t>
            </a:r>
            <a:endParaRPr b="0" lang="en-US" sz="2400" spc="-1" strike="noStrike">
              <a:solidFill>
                <a:srgbClr val="000000"/>
              </a:solidFill>
              <a:latin typeface="Arial"/>
            </a:endParaRPr>
          </a:p>
          <a:p>
            <a:pPr indent="0" defTabSz="914400">
              <a:lnSpc>
                <a:spcPct val="90000"/>
              </a:lnSpc>
              <a:spcBef>
                <a:spcPts val="499"/>
              </a:spcBef>
              <a:buNone/>
              <a:tabLst>
                <a:tab algn="l" pos="0"/>
              </a:tabLst>
            </a:pP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u="sng">
                <a:solidFill>
                  <a:schemeClr val="dk1"/>
                </a:solidFill>
                <a:uFillTx/>
                <a:latin typeface="Calibri"/>
                <a:hlinkClick r:id="rId1"/>
              </a:rPr>
              <a:t>https://www.programiz.com/dsa/graph-bfs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838080" y="365040"/>
            <a:ext cx="10514880" cy="64332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DFS vs BFS</a:t>
            </a:r>
            <a:endParaRPr b="0" lang="en-US" sz="4400" spc="-1" strike="noStrike">
              <a:solidFill>
                <a:srgbClr val="000000"/>
              </a:solidFill>
              <a:latin typeface="Arial"/>
            </a:endParaRPr>
          </a:p>
        </p:txBody>
      </p:sp>
      <p:graphicFrame>
        <p:nvGraphicFramePr>
          <p:cNvPr id="405" name="Table 3"/>
          <p:cNvGraphicFramePr/>
          <p:nvPr/>
        </p:nvGraphicFramePr>
        <p:xfrm>
          <a:off x="838080" y="1014480"/>
          <a:ext cx="10514880" cy="4977360"/>
        </p:xfrm>
        <a:graphic>
          <a:graphicData uri="http://schemas.openxmlformats.org/drawingml/2006/table">
            <a:tbl>
              <a:tblPr/>
              <a:tblGrid>
                <a:gridCol w="1661400"/>
                <a:gridCol w="4503600"/>
                <a:gridCol w="4350240"/>
              </a:tblGrid>
              <a:tr h="432720">
                <a:tc>
                  <a:txBody>
                    <a:bodyPr lIns="37800" rIns="37800" anchor="b">
                      <a:noAutofit/>
                    </a:bodyPr>
                    <a:p>
                      <a:pPr defTabSz="914400">
                        <a:lnSpc>
                          <a:spcPct val="107000"/>
                        </a:lnSpc>
                        <a:spcAft>
                          <a:spcPts val="799"/>
                        </a:spcAft>
                      </a:pPr>
                      <a:r>
                        <a:rPr b="1" lang="en-US" sz="1600" spc="-1" strike="noStrike">
                          <a:solidFill>
                            <a:schemeClr val="lt1"/>
                          </a:solidFill>
                          <a:latin typeface="Calibri"/>
                        </a:rPr>
                        <a:t> </a:t>
                      </a:r>
                      <a:endParaRPr b="0" lang="en-US" sz="1600" spc="-1" strike="noStrike">
                        <a:solidFill>
                          <a:srgbClr val="ffffff"/>
                        </a:solidFill>
                        <a:latin typeface="Arial"/>
                      </a:endParaRPr>
                    </a:p>
                  </a:txBody>
                  <a:tcPr anchor="b" marL="37800" marR="378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lIns="94680" rIns="94680" anchor="ctr">
                      <a:noAutofit/>
                    </a:bodyPr>
                    <a:p>
                      <a:pPr algn="ctr" defTabSz="914400">
                        <a:lnSpc>
                          <a:spcPct val="107000"/>
                        </a:lnSpc>
                        <a:spcAft>
                          <a:spcPts val="799"/>
                        </a:spcAft>
                      </a:pPr>
                      <a:r>
                        <a:rPr b="1" lang="en-US" sz="1600" spc="-1" strike="noStrike">
                          <a:solidFill>
                            <a:schemeClr val="lt1"/>
                          </a:solidFill>
                          <a:latin typeface="Calibri"/>
                        </a:rPr>
                        <a:t>Depth First Search (DFS)</a:t>
                      </a:r>
                      <a:endParaRPr b="0" lang="en-US" sz="1600" spc="-1" strike="noStrike">
                        <a:solidFill>
                          <a:srgbClr val="ffffff"/>
                        </a:solidFill>
                        <a:latin typeface="Arial"/>
                      </a:endParaRPr>
                    </a:p>
                  </a:txBody>
                  <a:tcPr anchor="ctr" marL="94680" marR="9468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algn="ctr" defTabSz="914400">
                        <a:lnSpc>
                          <a:spcPct val="107000"/>
                        </a:lnSpc>
                        <a:spcAft>
                          <a:spcPts val="799"/>
                        </a:spcAft>
                      </a:pPr>
                      <a:r>
                        <a:rPr b="1" lang="en-US" sz="1600" spc="-1" strike="noStrike">
                          <a:solidFill>
                            <a:schemeClr val="lt1"/>
                          </a:solidFill>
                          <a:latin typeface="Calibri"/>
                        </a:rPr>
                        <a:t>Breadth First Search (BFS)</a:t>
                      </a:r>
                      <a:endParaRPr b="0" lang="en-US" sz="16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432720">
                <a:tc>
                  <a:txBody>
                    <a:bodyPr lIns="37800" rIns="37800" anchor="b">
                      <a:noAutofit/>
                    </a:bodyPr>
                    <a:p>
                      <a:pPr defTabSz="914400">
                        <a:lnSpc>
                          <a:spcPct val="107000"/>
                        </a:lnSpc>
                        <a:spcAft>
                          <a:spcPts val="799"/>
                        </a:spcAft>
                      </a:pPr>
                      <a:r>
                        <a:rPr b="1" lang="en-US" sz="1600" spc="-1" strike="noStrike">
                          <a:solidFill>
                            <a:schemeClr val="lt1"/>
                          </a:solidFill>
                          <a:latin typeface="Calibri"/>
                        </a:rPr>
                        <a:t>Data Structure</a:t>
                      </a:r>
                      <a:endParaRPr b="0" lang="en-US" sz="1600" spc="-1" strike="noStrike">
                        <a:solidFill>
                          <a:srgbClr val="ffffff"/>
                        </a:solidFill>
                        <a:latin typeface="Arial"/>
                      </a:endParaRPr>
                    </a:p>
                  </a:txBody>
                  <a:tcPr anchor="b" marL="37800" marR="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94680" rIns="94680" anchor="ctr">
                      <a:noAutofit/>
                    </a:bodyPr>
                    <a:p>
                      <a:pPr defTabSz="914400">
                        <a:lnSpc>
                          <a:spcPct val="107000"/>
                        </a:lnSpc>
                        <a:spcAft>
                          <a:spcPts val="799"/>
                        </a:spcAft>
                      </a:pPr>
                      <a:r>
                        <a:rPr b="0" lang="en-US" sz="1600" spc="-1" strike="noStrike">
                          <a:solidFill>
                            <a:schemeClr val="dk1"/>
                          </a:solidFill>
                          <a:latin typeface="Calibri"/>
                        </a:rPr>
                        <a:t>DFS uses Stack data structure.</a:t>
                      </a:r>
                      <a:endParaRPr b="0" lang="en-US" sz="1600" spc="-1" strike="noStrike">
                        <a:solidFill>
                          <a:srgbClr val="000000"/>
                        </a:solidFill>
                        <a:latin typeface="Arial"/>
                      </a:endParaRPr>
                    </a:p>
                  </a:txBody>
                  <a:tcPr anchor="ctr" marL="94680" marR="94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7000"/>
                        </a:lnSpc>
                        <a:spcAft>
                          <a:spcPts val="799"/>
                        </a:spcAft>
                      </a:pPr>
                      <a:r>
                        <a:rPr b="0" lang="en-US" sz="1600" spc="-1" strike="noStrike">
                          <a:solidFill>
                            <a:schemeClr val="dk1"/>
                          </a:solidFill>
                          <a:latin typeface="Calibri"/>
                        </a:rPr>
                        <a:t>BFS uses Queue data structure</a:t>
                      </a:r>
                      <a:endParaRPr b="0" lang="en-US" sz="16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1303560">
                <a:tc>
                  <a:txBody>
                    <a:bodyPr lIns="37800" rIns="37800" anchor="b">
                      <a:noAutofit/>
                    </a:bodyPr>
                    <a:p>
                      <a:pPr defTabSz="914400">
                        <a:lnSpc>
                          <a:spcPct val="107000"/>
                        </a:lnSpc>
                        <a:spcAft>
                          <a:spcPts val="799"/>
                        </a:spcAft>
                      </a:pPr>
                      <a:r>
                        <a:rPr b="1" lang="en-US" sz="1600" spc="-1" strike="noStrike">
                          <a:solidFill>
                            <a:schemeClr val="lt1"/>
                          </a:solidFill>
                          <a:latin typeface="Calibri"/>
                        </a:rPr>
                        <a:t>Definition</a:t>
                      </a:r>
                      <a:endParaRPr b="0" lang="en-US" sz="1600" spc="-1" strike="noStrike">
                        <a:solidFill>
                          <a:srgbClr val="ffffff"/>
                        </a:solidFill>
                        <a:latin typeface="Arial"/>
                      </a:endParaRPr>
                    </a:p>
                  </a:txBody>
                  <a:tcPr anchor="b" marL="37800" marR="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94680" rIns="94680" anchor="ctr">
                      <a:noAutofit/>
                    </a:bodyPr>
                    <a:p>
                      <a:pPr defTabSz="914400">
                        <a:lnSpc>
                          <a:spcPct val="107000"/>
                        </a:lnSpc>
                        <a:spcAft>
                          <a:spcPts val="799"/>
                        </a:spcAft>
                      </a:pPr>
                      <a:r>
                        <a:rPr b="0" lang="en-US" sz="1600" spc="-1" strike="noStrike">
                          <a:solidFill>
                            <a:schemeClr val="dk1"/>
                          </a:solidFill>
                          <a:latin typeface="Calibri"/>
                        </a:rPr>
                        <a:t>DFS traversal approach in which the traverse begins at the root node and proceeds through the nodes as far as possible until we reach the node with no unvisited nearby nodes.</a:t>
                      </a:r>
                      <a:endParaRPr b="0" lang="en-US" sz="1600" spc="-1" strike="noStrike">
                        <a:solidFill>
                          <a:srgbClr val="000000"/>
                        </a:solidFill>
                        <a:latin typeface="Arial"/>
                      </a:endParaRPr>
                    </a:p>
                  </a:txBody>
                  <a:tcPr anchor="ctr" marL="94680" marR="94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7000"/>
                        </a:lnSpc>
                        <a:spcAft>
                          <a:spcPts val="799"/>
                        </a:spcAft>
                      </a:pPr>
                      <a:r>
                        <a:rPr b="0" lang="en-US" sz="1600" spc="-1" strike="noStrike">
                          <a:solidFill>
                            <a:schemeClr val="dk1"/>
                          </a:solidFill>
                          <a:latin typeface="Calibri"/>
                        </a:rPr>
                        <a:t>BFS is a traversal approach in which we first walk through all nodes on the same level before moving on to the next level.  </a:t>
                      </a:r>
                      <a:endParaRPr b="0" lang="en-US" sz="16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606960">
                <a:tc>
                  <a:txBody>
                    <a:bodyPr lIns="37800" rIns="37800" anchor="b">
                      <a:noAutofit/>
                    </a:bodyPr>
                    <a:p>
                      <a:pPr defTabSz="914400">
                        <a:lnSpc>
                          <a:spcPct val="107000"/>
                        </a:lnSpc>
                        <a:spcAft>
                          <a:spcPts val="799"/>
                        </a:spcAft>
                      </a:pPr>
                      <a:r>
                        <a:rPr b="1" lang="en-US" sz="1600" spc="-1" strike="noStrike">
                          <a:solidFill>
                            <a:schemeClr val="lt1"/>
                          </a:solidFill>
                          <a:latin typeface="Calibri"/>
                        </a:rPr>
                        <a:t>Conceptual Difference</a:t>
                      </a:r>
                      <a:endParaRPr b="0" lang="en-US" sz="1600" spc="-1" strike="noStrike">
                        <a:solidFill>
                          <a:srgbClr val="ffffff"/>
                        </a:solidFill>
                        <a:latin typeface="Arial"/>
                      </a:endParaRPr>
                    </a:p>
                  </a:txBody>
                  <a:tcPr anchor="b" marL="37800" marR="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94680" rIns="94680" anchor="ctr">
                      <a:noAutofit/>
                    </a:bodyPr>
                    <a:p>
                      <a:pPr defTabSz="914400">
                        <a:lnSpc>
                          <a:spcPct val="107000"/>
                        </a:lnSpc>
                        <a:spcAft>
                          <a:spcPts val="799"/>
                        </a:spcAft>
                      </a:pPr>
                      <a:r>
                        <a:rPr b="0" lang="en-US" sz="1600" spc="-1" strike="noStrike">
                          <a:solidFill>
                            <a:schemeClr val="dk1"/>
                          </a:solidFill>
                          <a:latin typeface="Calibri"/>
                        </a:rPr>
                        <a:t>DFS builds the tree sub-tree by sub-tree.</a:t>
                      </a:r>
                      <a:endParaRPr b="0" lang="en-US" sz="1600" spc="-1" strike="noStrike">
                        <a:solidFill>
                          <a:srgbClr val="000000"/>
                        </a:solidFill>
                        <a:latin typeface="Arial"/>
                      </a:endParaRPr>
                    </a:p>
                  </a:txBody>
                  <a:tcPr anchor="ctr" marL="94680" marR="94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7000"/>
                        </a:lnSpc>
                        <a:spcAft>
                          <a:spcPts val="799"/>
                        </a:spcAft>
                      </a:pPr>
                      <a:r>
                        <a:rPr b="0" lang="en-US" sz="1600" spc="-1" strike="noStrike">
                          <a:solidFill>
                            <a:schemeClr val="dk1"/>
                          </a:solidFill>
                          <a:latin typeface="Calibri"/>
                        </a:rPr>
                        <a:t>BFS builds the tree level by level.</a:t>
                      </a:r>
                      <a:endParaRPr b="0" lang="en-US" sz="16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606960">
                <a:tc>
                  <a:txBody>
                    <a:bodyPr lIns="37800" rIns="37800" anchor="b">
                      <a:noAutofit/>
                    </a:bodyPr>
                    <a:p>
                      <a:pPr defTabSz="914400">
                        <a:lnSpc>
                          <a:spcPct val="107000"/>
                        </a:lnSpc>
                        <a:spcAft>
                          <a:spcPts val="799"/>
                        </a:spcAft>
                      </a:pPr>
                      <a:r>
                        <a:rPr b="1" lang="en-US" sz="1600" spc="-1" strike="noStrike">
                          <a:solidFill>
                            <a:schemeClr val="lt1"/>
                          </a:solidFill>
                          <a:latin typeface="Calibri"/>
                        </a:rPr>
                        <a:t>Approach used</a:t>
                      </a:r>
                      <a:endParaRPr b="0" lang="en-US" sz="1600" spc="-1" strike="noStrike">
                        <a:solidFill>
                          <a:srgbClr val="ffffff"/>
                        </a:solidFill>
                        <a:latin typeface="Arial"/>
                      </a:endParaRPr>
                    </a:p>
                  </a:txBody>
                  <a:tcPr anchor="b" marL="37800" marR="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94680" rIns="94680" anchor="ctr">
                      <a:noAutofit/>
                    </a:bodyPr>
                    <a:p>
                      <a:pPr defTabSz="914400">
                        <a:lnSpc>
                          <a:spcPct val="107000"/>
                        </a:lnSpc>
                        <a:spcAft>
                          <a:spcPts val="799"/>
                        </a:spcAft>
                      </a:pPr>
                      <a:r>
                        <a:rPr b="0" lang="en-US" sz="1600" spc="-1" strike="noStrike">
                          <a:solidFill>
                            <a:schemeClr val="dk1"/>
                          </a:solidFill>
                          <a:latin typeface="Calibri"/>
                        </a:rPr>
                        <a:t>It works on the concept of</a:t>
                      </a:r>
                      <a:r>
                        <a:rPr b="0" lang="en-US" sz="1600" spc="-1" strike="noStrike" u="sng">
                          <a:solidFill>
                            <a:schemeClr val="dk1"/>
                          </a:solidFill>
                          <a:uFillTx/>
                          <a:latin typeface="Calibri"/>
                          <a:hlinkClick r:id="rId1"/>
                        </a:rPr>
                        <a:t> LIFO</a:t>
                      </a:r>
                      <a:r>
                        <a:rPr b="0" lang="en-US" sz="1600" spc="-1" strike="noStrike">
                          <a:solidFill>
                            <a:schemeClr val="dk1"/>
                          </a:solidFill>
                          <a:latin typeface="Calibri"/>
                        </a:rPr>
                        <a:t> (Last In First Out).</a:t>
                      </a:r>
                      <a:endParaRPr b="0" lang="en-US" sz="1600" spc="-1" strike="noStrike">
                        <a:solidFill>
                          <a:srgbClr val="000000"/>
                        </a:solidFill>
                        <a:latin typeface="Arial"/>
                      </a:endParaRPr>
                    </a:p>
                  </a:txBody>
                  <a:tcPr anchor="ctr" marL="94680" marR="94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7000"/>
                        </a:lnSpc>
                        <a:spcAft>
                          <a:spcPts val="799"/>
                        </a:spcAft>
                      </a:pPr>
                      <a:r>
                        <a:rPr b="0" lang="en-US" sz="1600" spc="-1" strike="noStrike">
                          <a:solidFill>
                            <a:schemeClr val="dk1"/>
                          </a:solidFill>
                          <a:latin typeface="Calibri"/>
                        </a:rPr>
                        <a:t>It works on the concept of </a:t>
                      </a:r>
                      <a:r>
                        <a:rPr b="0" lang="en-US" sz="1600" spc="-1" strike="noStrike" u="sng">
                          <a:solidFill>
                            <a:schemeClr val="dk1"/>
                          </a:solidFill>
                          <a:uFillTx/>
                          <a:latin typeface="Calibri"/>
                          <a:hlinkClick r:id="rId2"/>
                        </a:rPr>
                        <a:t>FIFO</a:t>
                      </a:r>
                      <a:r>
                        <a:rPr b="0" lang="en-US" sz="1600" spc="-1" strike="noStrike">
                          <a:solidFill>
                            <a:schemeClr val="dk1"/>
                          </a:solidFill>
                          <a:latin typeface="Calibri"/>
                        </a:rPr>
                        <a:t> (First In First Out). </a:t>
                      </a:r>
                      <a:endParaRPr b="0" lang="en-US" sz="16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606960">
                <a:tc>
                  <a:txBody>
                    <a:bodyPr lIns="37800" rIns="37800" anchor="b">
                      <a:noAutofit/>
                    </a:bodyPr>
                    <a:p>
                      <a:pPr defTabSz="914400">
                        <a:lnSpc>
                          <a:spcPct val="107000"/>
                        </a:lnSpc>
                        <a:spcAft>
                          <a:spcPts val="799"/>
                        </a:spcAft>
                      </a:pPr>
                      <a:r>
                        <a:rPr b="1" lang="en-US" sz="1600" spc="-1" strike="noStrike">
                          <a:solidFill>
                            <a:schemeClr val="lt1"/>
                          </a:solidFill>
                          <a:latin typeface="Calibri"/>
                        </a:rPr>
                        <a:t>Suitable for</a:t>
                      </a:r>
                      <a:endParaRPr b="0" lang="en-US" sz="1600" spc="-1" strike="noStrike">
                        <a:solidFill>
                          <a:srgbClr val="ffffff"/>
                        </a:solidFill>
                        <a:latin typeface="Arial"/>
                      </a:endParaRPr>
                    </a:p>
                  </a:txBody>
                  <a:tcPr anchor="b" marL="37800" marR="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94680" rIns="94680" anchor="ctr">
                      <a:noAutofit/>
                    </a:bodyPr>
                    <a:p>
                      <a:pPr defTabSz="914400">
                        <a:lnSpc>
                          <a:spcPct val="107000"/>
                        </a:lnSpc>
                        <a:spcAft>
                          <a:spcPts val="799"/>
                        </a:spcAft>
                      </a:pPr>
                      <a:r>
                        <a:rPr b="0" lang="en-US" sz="1600" spc="-1" strike="noStrike">
                          <a:solidFill>
                            <a:schemeClr val="dk1"/>
                          </a:solidFill>
                          <a:latin typeface="Calibri"/>
                        </a:rPr>
                        <a:t>DFS is more suitable when there are solutions away from source.</a:t>
                      </a:r>
                      <a:endParaRPr b="0" lang="en-US" sz="1600" spc="-1" strike="noStrike">
                        <a:solidFill>
                          <a:srgbClr val="000000"/>
                        </a:solidFill>
                        <a:latin typeface="Arial"/>
                      </a:endParaRPr>
                    </a:p>
                  </a:txBody>
                  <a:tcPr anchor="ctr" marL="94680" marR="94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7000"/>
                        </a:lnSpc>
                        <a:spcAft>
                          <a:spcPts val="799"/>
                        </a:spcAft>
                      </a:pPr>
                      <a:r>
                        <a:rPr b="0" lang="en-US" sz="1600" spc="-1" strike="noStrike">
                          <a:solidFill>
                            <a:schemeClr val="dk1"/>
                          </a:solidFill>
                          <a:latin typeface="Calibri"/>
                        </a:rPr>
                        <a:t>BFS is more suitable for searching vertices closer to the given source.</a:t>
                      </a:r>
                      <a:endParaRPr b="0" lang="en-US" sz="16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955080">
                <a:tc>
                  <a:txBody>
                    <a:bodyPr lIns="37800" rIns="37800" anchor="b">
                      <a:noAutofit/>
                    </a:bodyPr>
                    <a:p>
                      <a:pPr defTabSz="914400">
                        <a:lnSpc>
                          <a:spcPct val="107000"/>
                        </a:lnSpc>
                        <a:spcAft>
                          <a:spcPts val="799"/>
                        </a:spcAft>
                      </a:pPr>
                      <a:r>
                        <a:rPr b="1" lang="en-US" sz="1600" spc="-1" strike="noStrike">
                          <a:solidFill>
                            <a:schemeClr val="lt1"/>
                          </a:solidFill>
                          <a:latin typeface="Calibri"/>
                        </a:rPr>
                        <a:t>Applications</a:t>
                      </a:r>
                      <a:endParaRPr b="0" lang="en-US" sz="1600" spc="-1" strike="noStrike">
                        <a:solidFill>
                          <a:srgbClr val="ffffff"/>
                        </a:solidFill>
                        <a:latin typeface="Arial"/>
                      </a:endParaRPr>
                    </a:p>
                  </a:txBody>
                  <a:tcPr anchor="b" marL="37800" marR="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94680" rIns="94680" anchor="ctr">
                      <a:noAutofit/>
                    </a:bodyPr>
                    <a:p>
                      <a:pPr defTabSz="914400">
                        <a:lnSpc>
                          <a:spcPct val="107000"/>
                        </a:lnSpc>
                        <a:spcAft>
                          <a:spcPts val="799"/>
                        </a:spcAft>
                      </a:pPr>
                      <a:r>
                        <a:rPr b="0" lang="en-US" sz="1600" spc="-1" strike="noStrike">
                          <a:solidFill>
                            <a:schemeClr val="dk1"/>
                          </a:solidFill>
                          <a:latin typeface="Calibri"/>
                        </a:rPr>
                        <a:t>DFS is used in various applications such as acyclic graphs and finding strongly connected components etc.</a:t>
                      </a:r>
                      <a:endParaRPr b="0" lang="en-US" sz="1600" spc="-1" strike="noStrike">
                        <a:solidFill>
                          <a:srgbClr val="000000"/>
                        </a:solidFill>
                        <a:latin typeface="Arial"/>
                      </a:endParaRPr>
                    </a:p>
                  </a:txBody>
                  <a:tcPr anchor="ctr" marL="94680" marR="94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7000"/>
                        </a:lnSpc>
                        <a:spcAft>
                          <a:spcPts val="799"/>
                        </a:spcAft>
                      </a:pPr>
                      <a:r>
                        <a:rPr b="0" lang="en-US" sz="1600" spc="-1" strike="noStrike">
                          <a:solidFill>
                            <a:schemeClr val="dk1"/>
                          </a:solidFill>
                          <a:latin typeface="Calibri"/>
                        </a:rPr>
                        <a:t>BFS is used in various applications such as bipartite graphs, shortest paths, etc.</a:t>
                      </a:r>
                      <a:endParaRPr b="0" lang="en-US" sz="16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item1.xml><?xml version="1.0" encoding="utf-8"?>
<sisl xmlns:xsi="http://www.w3.org/2001/XMLSchema-instance" xmlns:xsd="http://www.w3.org/2001/XMLSchema" xmlns="http://www.boldonjames.com/2008/01/sie/internal/label" sislVersion="0" policy="753fb180-a0f1-47ee-bb6b-5956a4b631ac" origin="userSelected">
  <element uid="id_classification_nonbusiness" value=""/>
  <element uid="3a9ec6f0-1d56-47f3-b78c-2cd80822a847" value=""/>
</sisl>
</file>

<file path=customXml/itemProps1.xml><?xml version="1.0" encoding="utf-8"?>
<ds:datastoreItem xmlns:ds="http://schemas.openxmlformats.org/officeDocument/2006/customXml" ds:itemID="{93BE93E4-33CE-48DC-9737-664AEF639E69}">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emplate>Office Theme</Template>
  <TotalTime>33093</TotalTime>
  <Application>LibreOffice/24.2.7.2$Linux_X86_64 LibreOffice_project/420$Build-2</Application>
  <AppVersion>15.0000</AppVersion>
  <Words>1852</Words>
  <Paragraphs>382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2018-03-07T03:10:24Z</dcterms:created>
  <dc:creator>Kürşat İNCE</dc:creator>
  <dc:description/>
  <dc:language>en-US</dc:language>
  <cp:lastModifiedBy/>
  <dcterms:modified xsi:type="dcterms:W3CDTF">2025-09-12T23:17:44Z</dcterms:modified>
  <cp:revision>731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3</vt:i4>
  </property>
  <property fmtid="{D5CDD505-2E9C-101B-9397-08002B2CF9AE}" pid="3" name="Notes">
    <vt:i4>10</vt:i4>
  </property>
  <property fmtid="{D5CDD505-2E9C-101B-9397-08002B2CF9AE}" pid="4" name="PresentationFormat">
    <vt:lpwstr>Widescreen</vt:lpwstr>
  </property>
  <property fmtid="{D5CDD505-2E9C-101B-9397-08002B2CF9AE}" pid="5" name="Slides">
    <vt:i4>27</vt:i4>
  </property>
  <property fmtid="{D5CDD505-2E9C-101B-9397-08002B2CF9AE}" pid="6" name="bjClsUserRVM">
    <vt:lpwstr>[]</vt:lpwstr>
  </property>
  <property fmtid="{D5CDD505-2E9C-101B-9397-08002B2CF9AE}" pid="7" name="bjDocumentLabelXML">
    <vt:lpwstr>&lt;?xml version="1.0" encoding="us-ascii"?&gt;&lt;sisl xmlns:xsi="http://www.w3.org/2001/XMLSchema-instance" xmlns:xsd="http://www.w3.org/2001/XMLSchema" sislVersion="0" policy="753fb180-a0f1-47ee-bb6b-5956a4b631ac" origin="userSelected" xmlns="http://www.boldonj</vt:lpwstr>
  </property>
  <property fmtid="{D5CDD505-2E9C-101B-9397-08002B2CF9AE}" pid="8" name="bjDocumentLabelXML-0">
    <vt:lpwstr>ames.com/2008/01/sie/internal/label"&gt;&lt;element uid="id_classification_nonbusiness" value="" /&gt;&lt;element uid="3a9ec6f0-1d56-47f3-b78c-2cd80822a847" value="" /&gt;&lt;/sisl&gt;</vt:lpwstr>
  </property>
  <property fmtid="{D5CDD505-2E9C-101B-9397-08002B2CF9AE}" pid="9" name="bjDocumentSecurityLabel">
    <vt:lpwstr>TASNİF DIŞI</vt:lpwstr>
  </property>
  <property fmtid="{D5CDD505-2E9C-101B-9397-08002B2CF9AE}" pid="10" name="bjSaver">
    <vt:lpwstr>f8PkN1uJXJwqI9alO3CYacUW7PVwbe+w</vt:lpwstr>
  </property>
  <property fmtid="{D5CDD505-2E9C-101B-9397-08002B2CF9AE}" pid="11" name="docIndexRef">
    <vt:lpwstr>3c4ade84-1b77-4958-b253-7a1280122afc</vt:lpwstr>
  </property>
</Properties>
</file>