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1.xml.rels" ContentType="application/vnd.openxmlformats-package.relationships+xml"/>
  <Override PartName="/customXml/item1.xml" ContentType="application/xml"/>
  <Override PartName="/customXml/itemProps1.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_rels/notesSlide19.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1" name="PlaceHolder 4"/>
          <p:cNvSpPr>
            <a:spLocks noGrp="1"/>
          </p:cNvSpPr>
          <p:nvPr>
            <p:ph type="dt" idx="19"/>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5"/>
          <p:cNvSpPr>
            <a:spLocks noGrp="1"/>
          </p:cNvSpPr>
          <p:nvPr>
            <p:ph type="ftr" idx="20"/>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6"/>
          <p:cNvSpPr>
            <a:spLocks noGrp="1"/>
          </p:cNvSpPr>
          <p:nvPr>
            <p:ph type="sldNum" idx="21"/>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34E3E4DA-550E-4BDB-B85E-55AF321F8CD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685800" y="1143000"/>
            <a:ext cx="5485320" cy="3085200"/>
          </a:xfrm>
          <a:prstGeom prst="rect">
            <a:avLst/>
          </a:prstGeom>
          <a:ln w="0">
            <a:noFill/>
          </a:ln>
        </p:spPr>
      </p:sp>
      <p:sp>
        <p:nvSpPr>
          <p:cNvPr id="30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6" name="PlaceHolder 3"/>
          <p:cNvSpPr>
            <a:spLocks noGrp="1"/>
          </p:cNvSpPr>
          <p:nvPr>
            <p:ph type="sldNum" idx="34"/>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C999CDAF-1B3F-46F4-95A0-738FA9E13C7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307" name="PlaceHolder 4"/>
          <p:cNvSpPr>
            <a:spLocks noGrp="1"/>
          </p:cNvSpPr>
          <p:nvPr>
            <p:ph type="dt" idx="35"/>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DA59ED4D-E615-4B7A-BAAD-B387ADBEDEA9}" type="datetime1">
              <a:rPr b="0" lang="tr-TR" sz="1200" spc="-1" strike="noStrike">
                <a:solidFill>
                  <a:srgbClr val="000000"/>
                </a:solidFill>
                <a:latin typeface="Times New Roman"/>
              </a:rPr>
              <a:t>12.09.2025</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685800" y="1143000"/>
            <a:ext cx="5485320" cy="3085200"/>
          </a:xfrm>
          <a:prstGeom prst="rect">
            <a:avLst/>
          </a:prstGeom>
          <a:ln w="0">
            <a:noFill/>
          </a:ln>
        </p:spPr>
      </p:sp>
      <p:sp>
        <p:nvSpPr>
          <p:cNvPr id="30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 name="PlaceHolder 3"/>
          <p:cNvSpPr>
            <a:spLocks noGrp="1"/>
          </p:cNvSpPr>
          <p:nvPr>
            <p:ph type="sldNum" idx="36"/>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2FD7DE9B-1EAA-4CBD-A0BF-225B104C64B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311" name="PlaceHolder 4"/>
          <p:cNvSpPr>
            <a:spLocks noGrp="1"/>
          </p:cNvSpPr>
          <p:nvPr>
            <p:ph type="dt" idx="37"/>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6E7C3D01-024A-45AE-8F21-77625EB3E912}" type="datetime1">
              <a:rPr b="0" lang="tr-TR" sz="1200" spc="-1" strike="noStrike">
                <a:solidFill>
                  <a:srgbClr val="000000"/>
                </a:solidFill>
                <a:latin typeface="Times New Roman"/>
              </a:rPr>
              <a:t>12.09.2025</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5800" y="1143000"/>
            <a:ext cx="5485320" cy="3085200"/>
          </a:xfrm>
          <a:prstGeom prst="rect">
            <a:avLst/>
          </a:prstGeom>
          <a:ln w="0">
            <a:noFill/>
          </a:ln>
        </p:spPr>
      </p:sp>
      <p:sp>
        <p:nvSpPr>
          <p:cNvPr id="31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374151"/>
                </a:solidFill>
                <a:latin typeface="Söhne"/>
              </a:rPr>
              <a:t>An Abstract Data Type (ADT) is a high-level description of a collection of data and the operations that can be performed on that data. It defines a logical model for data organization, independent of any specific programming language or implementation details. In essence, it's a way to specify what a data structure can do without specifying how it should be implemented.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374151"/>
                </a:solidFill>
                <a:latin typeface="Söhne"/>
              </a:rPr>
              <a:t>Abstract data types are important in computer science and software engineering because they allow you to separate the interface (the methods and operations that can be performed) from the underlying implementation. This separation of concerns makes it easier to design, understand, and maintain complex software systems.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374151"/>
                </a:solidFill>
                <a:latin typeface="Söhne"/>
              </a:rPr>
              <a:t>Here are a few key points about abstract data types:</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tabLst>
                <a:tab algn="l" pos="0"/>
              </a:tabLst>
            </a:pPr>
            <a:r>
              <a:rPr b="1" lang="en-US" sz="2000" spc="-1" strike="noStrike">
                <a:solidFill>
                  <a:srgbClr val="374151"/>
                </a:solidFill>
                <a:latin typeface="Söhne"/>
              </a:rPr>
              <a:t>Data Structure Abstraction:</a:t>
            </a:r>
            <a:r>
              <a:rPr b="0" lang="en-US" sz="2000" spc="-1" strike="noStrike">
                <a:solidFill>
                  <a:srgbClr val="374151"/>
                </a:solidFill>
                <a:latin typeface="Söhne"/>
              </a:rPr>
              <a:t> ADTs describe the behavior of a data structure, not its internal details. For example, you can define a stack ADT without specifying whether it's implemented using an array or a linked list.</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tabLst>
                <a:tab algn="l" pos="0"/>
              </a:tabLst>
            </a:pPr>
            <a:r>
              <a:rPr b="1" lang="en-US" sz="2000" spc="-1" strike="noStrike">
                <a:solidFill>
                  <a:srgbClr val="374151"/>
                </a:solidFill>
                <a:latin typeface="Söhne"/>
              </a:rPr>
              <a:t>Operations:</a:t>
            </a:r>
            <a:r>
              <a:rPr b="0" lang="en-US" sz="2000" spc="-1" strike="noStrike">
                <a:solidFill>
                  <a:srgbClr val="374151"/>
                </a:solidFill>
                <a:latin typeface="Söhne"/>
              </a:rPr>
              <a:t> ADTs specify a set of operations that can be performed on the data, such as adding, removing, or accessing elements. These operations are often defined by a contract or interface.</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tabLst>
                <a:tab algn="l" pos="0"/>
              </a:tabLst>
            </a:pPr>
            <a:r>
              <a:rPr b="1" lang="en-US" sz="2000" spc="-1" strike="noStrike">
                <a:solidFill>
                  <a:srgbClr val="374151"/>
                </a:solidFill>
                <a:latin typeface="Söhne"/>
              </a:rPr>
              <a:t>Encapsulation:</a:t>
            </a:r>
            <a:r>
              <a:rPr b="0" lang="en-US" sz="2000" spc="-1" strike="noStrike">
                <a:solidFill>
                  <a:srgbClr val="374151"/>
                </a:solidFill>
                <a:latin typeface="Söhne"/>
              </a:rPr>
              <a:t> ADTs encapsulate the data and operations into a single unit. Users of the ADT can interact with the data structure through its defined interface without needing to know how it's implemented internally.</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tabLst>
                <a:tab algn="l" pos="0"/>
              </a:tabLst>
            </a:pPr>
            <a:r>
              <a:rPr b="1" lang="en-US" sz="2000" spc="-1" strike="noStrike">
                <a:solidFill>
                  <a:srgbClr val="374151"/>
                </a:solidFill>
                <a:latin typeface="Söhne"/>
              </a:rPr>
              <a:t>Reusability:</a:t>
            </a:r>
            <a:r>
              <a:rPr b="0" lang="en-US" sz="2000" spc="-1" strike="noStrike">
                <a:solidFill>
                  <a:srgbClr val="374151"/>
                </a:solidFill>
                <a:latin typeface="Söhne"/>
              </a:rPr>
              <a:t> ADTs promote code reusability because you can implement the same ADT in different programming languages or use existing ADTs in various applications without having to rewrite the core logic.</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p:txBody>
      </p:sp>
      <p:sp>
        <p:nvSpPr>
          <p:cNvPr id="314" name="PlaceHolder 3"/>
          <p:cNvSpPr>
            <a:spLocks noGrp="1"/>
          </p:cNvSpPr>
          <p:nvPr>
            <p:ph type="sldNum" idx="3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DB81AFE-9FFE-47D7-A881-A0D67420292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
        <p:nvSpPr>
          <p:cNvPr id="315" name="PlaceHolder 4"/>
          <p:cNvSpPr>
            <a:spLocks noGrp="1"/>
          </p:cNvSpPr>
          <p:nvPr>
            <p:ph type="dt" idx="39"/>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BD778E7E-5C8B-414E-86BA-C3DF531A5C0C}" type="datetime1">
              <a:rPr b="0" lang="tr-TR" sz="1200" spc="-1" strike="noStrike">
                <a:solidFill>
                  <a:srgbClr val="000000"/>
                </a:solidFill>
                <a:latin typeface="Times New Roman"/>
              </a:rPr>
              <a:t>12.09.2025</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685800" y="1143000"/>
            <a:ext cx="5485320" cy="3085200"/>
          </a:xfrm>
          <a:prstGeom prst="rect">
            <a:avLst/>
          </a:prstGeom>
          <a:ln w="0">
            <a:noFill/>
          </a:ln>
        </p:spPr>
      </p:sp>
      <p:sp>
        <p:nvSpPr>
          <p:cNvPr id="31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https://www.procoding.org/stack-using-array</a:t>
            </a:r>
            <a:endParaRPr b="0" lang="en-US" sz="2000" spc="-1" strike="noStrike">
              <a:solidFill>
                <a:srgbClr val="000000"/>
              </a:solidFill>
              <a:latin typeface="Arial"/>
            </a:endParaRPr>
          </a:p>
        </p:txBody>
      </p:sp>
      <p:sp>
        <p:nvSpPr>
          <p:cNvPr id="318" name="PlaceHolder 3"/>
          <p:cNvSpPr>
            <a:spLocks noGrp="1"/>
          </p:cNvSpPr>
          <p:nvPr>
            <p:ph type="sldNum" idx="4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337713F-01FF-4BE7-A565-1B929902561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
        <p:nvSpPr>
          <p:cNvPr id="319" name="PlaceHolder 4"/>
          <p:cNvSpPr>
            <a:spLocks noGrp="1"/>
          </p:cNvSpPr>
          <p:nvPr>
            <p:ph type="dt" idx="41"/>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EA0E0642-F1AF-4154-ADE8-4781C5F9F9C4}" type="datetime1">
              <a:rPr b="0" lang="tr-TR" sz="1200" spc="-1" strike="noStrike">
                <a:solidFill>
                  <a:srgbClr val="000000"/>
                </a:solidFill>
                <a:latin typeface="Times New Roman"/>
              </a:rPr>
              <a:t>12.09.2025</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5320" cy="3085200"/>
          </a:xfrm>
          <a:prstGeom prst="rect">
            <a:avLst/>
          </a:prstGeom>
          <a:ln w="0">
            <a:noFill/>
          </a:ln>
        </p:spPr>
      </p:sp>
      <p:sp>
        <p:nvSpPr>
          <p:cNvPr id="32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Also: https://www.procoding.org/balanced-brackets-problem</a:t>
            </a:r>
            <a:endParaRPr b="0" lang="en-US" sz="2000" spc="-1" strike="noStrike">
              <a:solidFill>
                <a:srgbClr val="000000"/>
              </a:solidFill>
              <a:latin typeface="Arial"/>
            </a:endParaRPr>
          </a:p>
        </p:txBody>
      </p:sp>
      <p:sp>
        <p:nvSpPr>
          <p:cNvPr id="322" name="PlaceHolder 3"/>
          <p:cNvSpPr>
            <a:spLocks noGrp="1"/>
          </p:cNvSpPr>
          <p:nvPr>
            <p:ph type="sldNum" idx="42"/>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76B058C-7BEB-4B78-ABF9-69830FDA392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
        <p:nvSpPr>
          <p:cNvPr id="323" name="PlaceHolder 4"/>
          <p:cNvSpPr>
            <a:spLocks noGrp="1"/>
          </p:cNvSpPr>
          <p:nvPr>
            <p:ph type="dt" idx="43"/>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12D4E956-E2FA-4FA1-83BF-6E68AD4536B6}" type="datetime1">
              <a:rPr b="0" lang="tr-TR" sz="1200" spc="-1" strike="noStrike">
                <a:solidFill>
                  <a:srgbClr val="000000"/>
                </a:solidFill>
                <a:latin typeface="Times New Roman"/>
              </a:rPr>
              <a:t>12.09.2025</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685800" y="1143000"/>
            <a:ext cx="5485320" cy="3085200"/>
          </a:xfrm>
          <a:prstGeom prst="rect">
            <a:avLst/>
          </a:prstGeom>
          <a:ln w="0">
            <a:noFill/>
          </a:ln>
        </p:spPr>
      </p:sp>
      <p:sp>
        <p:nvSpPr>
          <p:cNvPr id="32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https://www.procoding.org/stack-using-array</a:t>
            </a:r>
            <a:endParaRPr b="0" lang="en-US" sz="2000" spc="-1" strike="noStrike">
              <a:solidFill>
                <a:srgbClr val="000000"/>
              </a:solidFill>
              <a:latin typeface="Arial"/>
            </a:endParaRPr>
          </a:p>
        </p:txBody>
      </p:sp>
      <p:sp>
        <p:nvSpPr>
          <p:cNvPr id="326" name="PlaceHolder 3"/>
          <p:cNvSpPr>
            <a:spLocks noGrp="1"/>
          </p:cNvSpPr>
          <p:nvPr>
            <p:ph type="sldNum" idx="4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3F6326D-C764-4BFC-8F58-1637E0C7C77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
        <p:nvSpPr>
          <p:cNvPr id="327" name="PlaceHolder 4"/>
          <p:cNvSpPr>
            <a:spLocks noGrp="1"/>
          </p:cNvSpPr>
          <p:nvPr>
            <p:ph type="dt" idx="45"/>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E092C6F7-6BD6-48A9-B20C-4C87A6476F31}" type="datetime1">
              <a:rPr b="0" lang="tr-TR" sz="1200" spc="-1" strike="noStrike">
                <a:solidFill>
                  <a:srgbClr val="000000"/>
                </a:solidFill>
                <a:latin typeface="Times New Roman"/>
              </a:rPr>
              <a:t>12.09.2025</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838080" y="1107000"/>
            <a:ext cx="10514520" cy="50688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CE905CD-3FA6-472E-94B5-4FAB212D197C}"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 name="PlaceHolder 2"/>
          <p:cNvSpPr>
            <a:spLocks noGrp="1"/>
          </p:cNvSpPr>
          <p:nvPr>
            <p:ph/>
          </p:nvPr>
        </p:nvSpPr>
        <p:spPr>
          <a:xfrm>
            <a:off x="838080" y="1107000"/>
            <a:ext cx="1051452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0D71C18-C473-442E-85E6-9A1E7A1FC8C9}"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B41E5F93-7A9F-49D3-B308-D8FF0D3D8DDF}"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838080" y="1107000"/>
            <a:ext cx="513108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6226200" y="1107000"/>
            <a:ext cx="513108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F04F946C-0C93-423E-84E2-D2E0653447EB}"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BBD3DE14-7E63-46BC-AEDE-96E852A96E2B}"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4B6872D9-8CD0-4056-9993-0831D6881A5D}"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Slaydı">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 name="Picture 4" descr="Gebze Technical University"/>
          <p:cNvPicPr/>
          <p:nvPr/>
        </p:nvPicPr>
        <p:blipFill>
          <a:blip r:embed="rId2"/>
          <a:stretch/>
        </p:blipFill>
        <p:spPr>
          <a:xfrm>
            <a:off x="10150560" y="-89640"/>
            <a:ext cx="2158920" cy="1013040"/>
          </a:xfrm>
          <a:prstGeom prst="rect">
            <a:avLst/>
          </a:prstGeom>
          <a:ln w="0">
            <a:noFill/>
          </a:ln>
        </p:spPr>
      </p:pic>
      <p:sp>
        <p:nvSpPr>
          <p:cNvPr id="2"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ftr" idx="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3"/>
          <p:cNvSpPr>
            <a:spLocks noGrp="1"/>
          </p:cNvSpPr>
          <p:nvPr>
            <p:ph type="sldNum" idx="2"/>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3A0E97E-353C-49A8-AB8B-5993B89A0C5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 name="PlaceHolder 4"/>
          <p:cNvSpPr>
            <a:spLocks noGrp="1"/>
          </p:cNvSpPr>
          <p:nvPr>
            <p:ph type="dt" idx="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0" name="Picture 4" descr="Gebze Technical University"/>
          <p:cNvPicPr/>
          <p:nvPr/>
        </p:nvPicPr>
        <p:blipFill>
          <a:blip r:embed="rId2"/>
          <a:stretch/>
        </p:blipFill>
        <p:spPr>
          <a:xfrm>
            <a:off x="10150560" y="-89640"/>
            <a:ext cx="2158920" cy="1013040"/>
          </a:xfrm>
          <a:prstGeom prst="rect">
            <a:avLst/>
          </a:prstGeom>
          <a:ln w="0">
            <a:noFill/>
          </a:ln>
        </p:spPr>
      </p:pic>
      <p:sp>
        <p:nvSpPr>
          <p:cNvPr id="11"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 name="PlaceHolder 2"/>
          <p:cNvSpPr>
            <a:spLocks noGrp="1"/>
          </p:cNvSpPr>
          <p:nvPr>
            <p:ph type="body"/>
          </p:nvPr>
        </p:nvSpPr>
        <p:spPr>
          <a:xfrm>
            <a:off x="838080" y="1107000"/>
            <a:ext cx="105145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3"/>
          <p:cNvSpPr>
            <a:spLocks noGrp="1"/>
          </p:cNvSpPr>
          <p:nvPr>
            <p:ph type="ftr" idx="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4"/>
          <p:cNvSpPr>
            <a:spLocks noGrp="1"/>
          </p:cNvSpPr>
          <p:nvPr>
            <p:ph type="sldNum" idx="5"/>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BA24F80-B338-4929-BA07-59DDF3010AE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5" name="PlaceHolder 5"/>
          <p:cNvSpPr>
            <a:spLocks noGrp="1"/>
          </p:cNvSpPr>
          <p:nvPr>
            <p:ph type="dt" idx="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9" name="Picture 4" descr="Gebze Technical University"/>
          <p:cNvPicPr/>
          <p:nvPr/>
        </p:nvPicPr>
        <p:blipFill>
          <a:blip r:embed="rId2"/>
          <a:stretch/>
        </p:blipFill>
        <p:spPr>
          <a:xfrm>
            <a:off x="10150560" y="-89640"/>
            <a:ext cx="2158920" cy="1013040"/>
          </a:xfrm>
          <a:prstGeom prst="rect">
            <a:avLst/>
          </a:prstGeom>
          <a:ln w="0">
            <a:noFill/>
          </a:ln>
        </p:spPr>
      </p:pic>
      <p:sp>
        <p:nvSpPr>
          <p:cNvPr id="20" name="PlaceHolder 1"/>
          <p:cNvSpPr>
            <a:spLocks noGrp="1"/>
          </p:cNvSpPr>
          <p:nvPr>
            <p:ph type="ftr" idx="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8"/>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6F9389F-61FD-4544-BC13-CEB66CC77E5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24" name="Picture 4" descr="Gebze Technical University"/>
          <p:cNvPicPr/>
          <p:nvPr/>
        </p:nvPicPr>
        <p:blipFill>
          <a:blip r:embed="rId2"/>
          <a:stretch/>
        </p:blipFill>
        <p:spPr>
          <a:xfrm>
            <a:off x="10150560" y="-89640"/>
            <a:ext cx="2158920" cy="1013040"/>
          </a:xfrm>
          <a:prstGeom prst="rect">
            <a:avLst/>
          </a:prstGeom>
          <a:ln w="0">
            <a:noFill/>
          </a:ln>
        </p:spPr>
      </p:pic>
      <p:sp>
        <p:nvSpPr>
          <p:cNvPr id="25"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838080" y="1107000"/>
            <a:ext cx="51307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6226200" y="1107000"/>
            <a:ext cx="51307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10"/>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5"/>
          <p:cNvSpPr>
            <a:spLocks noGrp="1"/>
          </p:cNvSpPr>
          <p:nvPr>
            <p:ph type="sldNum" idx="11"/>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4B867D4-32A1-440D-9102-C08DEA94963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0" name="PlaceHolder 6"/>
          <p:cNvSpPr>
            <a:spLocks noGrp="1"/>
          </p:cNvSpPr>
          <p:nvPr>
            <p:ph type="dt" idx="12"/>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35" name="Picture 4" descr="Gebze Technical University"/>
          <p:cNvPicPr/>
          <p:nvPr/>
        </p:nvPicPr>
        <p:blipFill>
          <a:blip r:embed="rId2"/>
          <a:stretch/>
        </p:blipFill>
        <p:spPr>
          <a:xfrm>
            <a:off x="10150560" y="-89640"/>
            <a:ext cx="2158920" cy="1013040"/>
          </a:xfrm>
          <a:prstGeom prst="rect">
            <a:avLst/>
          </a:prstGeom>
          <a:ln w="0">
            <a:noFill/>
          </a:ln>
        </p:spPr>
      </p:pic>
      <p:sp>
        <p:nvSpPr>
          <p:cNvPr id="36"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ftr" idx="1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3"/>
          <p:cNvSpPr>
            <a:spLocks noGrp="1"/>
          </p:cNvSpPr>
          <p:nvPr>
            <p:ph type="sldNum" idx="14"/>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E4D3E3D-418A-416C-939E-A65F60887B7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9" name="PlaceHolder 4"/>
          <p:cNvSpPr>
            <a:spLocks noGrp="1"/>
          </p:cNvSpPr>
          <p:nvPr>
            <p:ph type="dt" idx="15"/>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2" name="Picture 4" descr="Gebze Technical University"/>
          <p:cNvPicPr/>
          <p:nvPr/>
        </p:nvPicPr>
        <p:blipFill>
          <a:blip r:embed="rId2"/>
          <a:stretch/>
        </p:blipFill>
        <p:spPr>
          <a:xfrm>
            <a:off x="10150560" y="-89640"/>
            <a:ext cx="2158920" cy="1013040"/>
          </a:xfrm>
          <a:prstGeom prst="rect">
            <a:avLst/>
          </a:prstGeom>
          <a:ln w="0">
            <a:noFill/>
          </a:ln>
        </p:spPr>
      </p:pic>
      <p:sp>
        <p:nvSpPr>
          <p:cNvPr id="43" name="PlaceHolder 1"/>
          <p:cNvSpPr>
            <a:spLocks noGrp="1"/>
          </p:cNvSpPr>
          <p:nvPr>
            <p:ph type="ftr" idx="1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17"/>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D4F0C4B-C381-4976-9811-4FD43B410E7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18"/>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7" name="Picture 4" descr="Gebze Technical University"/>
          <p:cNvPicPr/>
          <p:nvPr/>
        </p:nvPicPr>
        <p:blipFill>
          <a:blip r:embed="rId2"/>
          <a:stretch/>
        </p:blipFill>
        <p:spPr>
          <a:xfrm>
            <a:off x="10150560" y="-89640"/>
            <a:ext cx="2158920" cy="1013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3"/>
  </p:sldLayoutIdLst>
</p:sldMaster>
</file>

<file path=ppt/slides/_rels/slide1.xml.rels><?xml version="1.0" encoding="UTF-8"?>
<Relationships xmlns="http://schemas.openxmlformats.org/package/2006/relationships"><Relationship Id="rId1" Type="http://schemas.openxmlformats.org/officeDocument/2006/relationships/hyperlink" Target="mailto:mpekmezci@gtu.edu.tr" TargetMode="External"/><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1341000" y="1252800"/>
            <a:ext cx="9142920" cy="2998080"/>
          </a:xfrm>
          <a:prstGeom prst="rect">
            <a:avLst/>
          </a:prstGeom>
          <a:noFill/>
          <a:ln w="0">
            <a:noFill/>
          </a:ln>
        </p:spPr>
        <p:txBody>
          <a:bodyPr lIns="91440" rIns="91440" tIns="45720" bIns="45720" anchor="b">
            <a:normAutofit fontScale="75000" lnSpcReduction="10000"/>
          </a:bodyPr>
          <a:p>
            <a:pPr indent="0" algn="ctr" defTabSz="914400">
              <a:lnSpc>
                <a:spcPct val="90000"/>
              </a:lnSpc>
              <a:buNone/>
              <a:tabLst>
                <a:tab algn="l" pos="0"/>
              </a:tabLst>
            </a:pPr>
            <a:r>
              <a:rPr b="1" lang="en-US" sz="6000" spc="-1" strike="noStrike">
                <a:solidFill>
                  <a:srgbClr val="c00000"/>
                </a:solidFill>
                <a:latin typeface="Calibri Light"/>
              </a:rPr>
              <a:t>ENG 346</a:t>
            </a:r>
            <a:br>
              <a:rPr sz="6000"/>
            </a:br>
            <a:r>
              <a:rPr b="1" lang="en-US" sz="6000" spc="-1" strike="noStrike">
                <a:solidFill>
                  <a:srgbClr val="c00000"/>
                </a:solidFill>
                <a:latin typeface="Calibri Light"/>
              </a:rPr>
              <a:t>Data Structures and Algorithms for Artificial Intelligence</a:t>
            </a:r>
            <a:br>
              <a:rPr sz="6000"/>
            </a:br>
            <a:r>
              <a:rPr b="1" lang="en-US" sz="4900" spc="-1" strike="noStrike">
                <a:solidFill>
                  <a:schemeClr val="dk1"/>
                </a:solidFill>
                <a:latin typeface="Calibri Light"/>
              </a:rPr>
              <a:t>Stacks and Queues</a:t>
            </a:r>
            <a:endParaRPr b="0" lang="en-US" sz="4900" spc="-1" strike="noStrike">
              <a:solidFill>
                <a:srgbClr val="000000"/>
              </a:solidFill>
              <a:latin typeface="Arial"/>
            </a:endParaRPr>
          </a:p>
        </p:txBody>
      </p:sp>
      <p:sp>
        <p:nvSpPr>
          <p:cNvPr id="55" name="PlaceHolder 2"/>
          <p:cNvSpPr>
            <a:spLocks noGrp="1"/>
          </p:cNvSpPr>
          <p:nvPr>
            <p:ph type="subTitle"/>
          </p:nvPr>
        </p:nvSpPr>
        <p:spPr>
          <a:xfrm>
            <a:off x="1496520" y="4462200"/>
            <a:ext cx="9142920" cy="100476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en-US" sz="2400" spc="-1" strike="noStrike">
                <a:solidFill>
                  <a:schemeClr val="dk1"/>
                </a:solidFill>
                <a:latin typeface="Calibri"/>
              </a:rPr>
              <a:t>Dr. Mehmet PEKMEZCİ</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hlinkClick r:id="rId1"/>
              </a:rPr>
              <a:t>mpekmezci@gtu.edu.tr</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rPr>
              <a:t>https://github.com/mehmetpekmezci/GTU-ENG-346</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Agenda</a:t>
            </a:r>
            <a:endParaRPr b="0" lang="en-US" sz="4400" spc="-1" strike="noStrike">
              <a:solidFill>
                <a:srgbClr val="000000"/>
              </a:solidFill>
              <a:latin typeface="Arial"/>
            </a:endParaRPr>
          </a:p>
        </p:txBody>
      </p:sp>
      <p:sp>
        <p:nvSpPr>
          <p:cNvPr id="57"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Abstract Data Types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Stacks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Queues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Abstract Data Types</a:t>
            </a:r>
            <a:endParaRPr b="0" lang="en-US" sz="4400" spc="-1" strike="noStrike">
              <a:solidFill>
                <a:srgbClr val="000000"/>
              </a:solidFill>
              <a:latin typeface="Arial"/>
            </a:endParaRPr>
          </a:p>
        </p:txBody>
      </p:sp>
      <p:sp>
        <p:nvSpPr>
          <p:cNvPr id="59"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High-level description of a collection of data and the operations that can be performed on that data.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Benefits: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Data Structure Abstraction: Behavior of a data structure.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Operations: A set of operations that can be performed on the data.</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Encapsulation: Encapsulate the data and operations into a single unit.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Reusability: Reuse in different applications.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ADTs – continued </a:t>
            </a:r>
            <a:endParaRPr b="0" lang="en-US" sz="4400" spc="-1" strike="noStrike">
              <a:solidFill>
                <a:srgbClr val="000000"/>
              </a:solidFill>
              <a:latin typeface="Arial"/>
            </a:endParaRPr>
          </a:p>
        </p:txBody>
      </p:sp>
      <p:sp>
        <p:nvSpPr>
          <p:cNvPr id="61"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75000"/>
          </a:bodyPr>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List</a:t>
            </a:r>
            <a:r>
              <a:rPr b="0" lang="en-US" sz="2800" spc="-1" strike="noStrike">
                <a:solidFill>
                  <a:schemeClr val="dk1"/>
                </a:solidFill>
                <a:latin typeface="Calibri"/>
              </a:rPr>
              <a:t>: List of elements accessible by positions.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Dictionary</a:t>
            </a:r>
            <a:r>
              <a:rPr b="0" lang="en-US" sz="2800" spc="-1" strike="noStrike">
                <a:solidFill>
                  <a:schemeClr val="dk1"/>
                </a:solidFill>
                <a:latin typeface="Calibri"/>
              </a:rPr>
              <a:t>: Key-value pairs.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Set</a:t>
            </a:r>
            <a:r>
              <a:rPr b="0" lang="en-US" sz="2800" spc="-1" strike="noStrike">
                <a:solidFill>
                  <a:schemeClr val="dk1"/>
                </a:solidFill>
                <a:latin typeface="Calibri"/>
              </a:rPr>
              <a:t>: Collection of distinct elements.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Stack</a:t>
            </a:r>
            <a:r>
              <a:rPr b="0" lang="en-US" sz="2800" spc="-1" strike="noStrike">
                <a:solidFill>
                  <a:schemeClr val="dk1"/>
                </a:solidFill>
                <a:latin typeface="Calibri"/>
              </a:rPr>
              <a:t>: Follows Last-In-First-Out (LIFO) principle.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Queue</a:t>
            </a:r>
            <a:r>
              <a:rPr b="0" lang="en-US" sz="2800" spc="-1" strike="noStrike">
                <a:solidFill>
                  <a:schemeClr val="dk1"/>
                </a:solidFill>
                <a:latin typeface="Calibri"/>
              </a:rPr>
              <a:t>: Follows First-In-First-Out (FIFO) principle.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Graph</a:t>
            </a:r>
            <a:r>
              <a:rPr b="0" lang="en-US" sz="2800" spc="-1" strike="noStrike">
                <a:solidFill>
                  <a:schemeClr val="dk1"/>
                </a:solidFill>
                <a:latin typeface="Calibri"/>
              </a:rPr>
              <a:t>: Vertices and using edges.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Stacks</a:t>
            </a:r>
            <a:endParaRPr b="0" lang="en-US" sz="4400" spc="-1" strike="noStrike">
              <a:solidFill>
                <a:srgbClr val="000000"/>
              </a:solidFill>
              <a:latin typeface="Arial"/>
            </a:endParaRPr>
          </a:p>
        </p:txBody>
      </p:sp>
      <p:sp>
        <p:nvSpPr>
          <p:cNvPr id="63" name="PlaceHolder 2"/>
          <p:cNvSpPr>
            <a:spLocks noGrp="1"/>
          </p:cNvSpPr>
          <p:nvPr>
            <p:ph/>
          </p:nvPr>
        </p:nvSpPr>
        <p:spPr>
          <a:xfrm>
            <a:off x="838080" y="1107000"/>
            <a:ext cx="10514520" cy="1155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Insertions and deletions from the same end of the list.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Follow the last-in first-out scheme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graphicFrame>
        <p:nvGraphicFramePr>
          <p:cNvPr id="64" name="Table 3"/>
          <p:cNvGraphicFramePr/>
          <p:nvPr/>
        </p:nvGraphicFramePr>
        <p:xfrm>
          <a:off x="2031840" y="2687400"/>
          <a:ext cx="8127000" cy="1483200"/>
        </p:xfrm>
        <a:graphic>
          <a:graphicData uri="http://schemas.openxmlformats.org/drawingml/2006/table">
            <a:tbl>
              <a:tblPr/>
              <a:tblGrid>
                <a:gridCol w="4063680"/>
                <a:gridCol w="4063680"/>
              </a:tblGrid>
              <a:tr h="370800">
                <a:tc>
                  <a:txBody>
                    <a:bodyPr anchor="t">
                      <a:noAutofit/>
                    </a:bodyPr>
                    <a:p>
                      <a:pPr algn="ctr" defTabSz="914400">
                        <a:lnSpc>
                          <a:spcPct val="100000"/>
                        </a:lnSpc>
                      </a:pPr>
                      <a:r>
                        <a:rPr b="1" lang="en-US" sz="1800" spc="-1" strike="noStrike">
                          <a:solidFill>
                            <a:schemeClr val="lt1"/>
                          </a:solidFill>
                          <a:latin typeface="Calibri"/>
                        </a:rPr>
                        <a:t>Main Operations</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00000"/>
                        </a:lnSpc>
                      </a:pPr>
                      <a:r>
                        <a:rPr b="1" lang="en-US" sz="1800" spc="-1" strike="noStrike">
                          <a:solidFill>
                            <a:schemeClr val="lt1"/>
                          </a:solidFill>
                          <a:latin typeface="Calibri"/>
                        </a:rPr>
                        <a:t>Auxiliary Operations</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b="0" lang="en-US" sz="1800" spc="-1" strike="noStrike">
                          <a:solidFill>
                            <a:schemeClr val="dk1"/>
                          </a:solidFill>
                          <a:latin typeface="Calibri"/>
                        </a:rPr>
                        <a:t>S.push(item)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item = S.top()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tabLst>
                          <a:tab algn="l" pos="0"/>
                        </a:tabLst>
                      </a:pPr>
                      <a:r>
                        <a:rPr b="0" lang="en-US" sz="1800" spc="-1" strike="noStrike">
                          <a:solidFill>
                            <a:schemeClr val="dk1"/>
                          </a:solidFill>
                          <a:latin typeface="Calibri"/>
                        </a:rPr>
                        <a:t>item = S.pop()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len(S)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endParaRPr b="0" lang="en-US" sz="1800" spc="-1" strike="noStrike">
                        <a:solidFill>
                          <a:schemeClr val="dk1"/>
                        </a:solidFill>
                        <a:latin typeface="Calibri"/>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S.is_empty()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Stacks – continued </a:t>
            </a:r>
            <a:endParaRPr b="0" lang="en-US" sz="4400" spc="-1" strike="noStrike">
              <a:solidFill>
                <a:srgbClr val="000000"/>
              </a:solidFill>
              <a:latin typeface="Arial"/>
            </a:endParaRPr>
          </a:p>
        </p:txBody>
      </p:sp>
      <p:sp>
        <p:nvSpPr>
          <p:cNvPr id="66" name="PlaceHolder 2"/>
          <p:cNvSpPr>
            <a:spLocks noGrp="1"/>
          </p:cNvSpPr>
          <p:nvPr>
            <p:ph/>
          </p:nvPr>
        </p:nvSpPr>
        <p:spPr>
          <a:xfrm>
            <a:off x="838080" y="1107000"/>
            <a:ext cx="10514520" cy="45457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General Applications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Function’s call stack</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Internet Browser history</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Editor undo/redo</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a:t>
            </a:r>
            <a:endParaRPr b="0" lang="en-US" sz="2400" spc="-1" strike="noStrike">
              <a:solidFill>
                <a:srgbClr val="000000"/>
              </a:solidFill>
              <a:latin typeface="Arial"/>
            </a:endParaRPr>
          </a:p>
          <a:p>
            <a:pPr indent="0" defTabSz="914400">
              <a:lnSpc>
                <a:spcPct val="90000"/>
              </a:lnSpc>
              <a:spcBef>
                <a:spcPts val="499"/>
              </a:spcBef>
              <a:buNone/>
              <a:tabLst>
                <a:tab algn="l" pos="0"/>
              </a:tabLst>
            </a:pP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Algorithm design</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Reverse polish notation</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Stacks – Example</a:t>
            </a:r>
            <a:endParaRPr b="0" lang="en-US" sz="4400" spc="-1" strike="noStrike">
              <a:solidFill>
                <a:srgbClr val="000000"/>
              </a:solidFill>
              <a:latin typeface="Arial"/>
            </a:endParaRPr>
          </a:p>
        </p:txBody>
      </p:sp>
      <p:pic>
        <p:nvPicPr>
          <p:cNvPr id="68" name="Picture 2" descr=""/>
          <p:cNvPicPr/>
          <p:nvPr/>
        </p:nvPicPr>
        <p:blipFill>
          <a:blip r:embed="rId1"/>
          <a:stretch/>
        </p:blipFill>
        <p:spPr>
          <a:xfrm>
            <a:off x="3406680" y="1009080"/>
            <a:ext cx="5178600" cy="54982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Array-Based Stack Implementation</a:t>
            </a:r>
            <a:endParaRPr b="0" lang="en-US" sz="4400" spc="-1" strike="noStrike">
              <a:solidFill>
                <a:srgbClr val="000000"/>
              </a:solidFill>
              <a:latin typeface="Arial"/>
            </a:endParaRPr>
          </a:p>
        </p:txBody>
      </p:sp>
      <p:sp>
        <p:nvSpPr>
          <p:cNvPr id="70" name="TextBox 8"/>
          <p:cNvSpPr/>
          <p:nvPr/>
        </p:nvSpPr>
        <p:spPr>
          <a:xfrm>
            <a:off x="3546000" y="1375920"/>
            <a:ext cx="5725080" cy="4968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Consolas"/>
              </a:rPr>
              <a:t>class Stack:</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__init__(self, size=10):</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push(self, data):</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pop(self):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is_empty(self):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top(self):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__len__(self):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display(self):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 – Parenthesis Matching</a:t>
            </a:r>
            <a:endParaRPr b="0" lang="en-US" sz="4400" spc="-1" strike="noStrike">
              <a:solidFill>
                <a:srgbClr val="000000"/>
              </a:solidFill>
              <a:latin typeface="Arial"/>
            </a:endParaRPr>
          </a:p>
        </p:txBody>
      </p:sp>
      <p:sp>
        <p:nvSpPr>
          <p:cNvPr id="72" name="Rectangle 3"/>
          <p:cNvSpPr/>
          <p:nvPr/>
        </p:nvSpPr>
        <p:spPr>
          <a:xfrm>
            <a:off x="2209680" y="1009080"/>
            <a:ext cx="7771320" cy="5482800"/>
          </a:xfrm>
          <a:prstGeom prst="rect">
            <a:avLst/>
          </a:prstGeom>
          <a:noFill/>
          <a:ln w="0">
            <a:noFill/>
          </a:ln>
        </p:spPr>
        <p:style>
          <a:lnRef idx="0"/>
          <a:fillRef idx="0"/>
          <a:effectRef idx="0"/>
          <a:fontRef idx="minor"/>
        </p:style>
        <p:txBody>
          <a:bodyPr lIns="90000" rIns="90000" tIns="45000" bIns="45000" anchor="t">
            <a:noAutofit/>
          </a:bodyPr>
          <a:p>
            <a:pPr marL="228600" indent="-228600" defTabSz="914400">
              <a:lnSpc>
                <a:spcPct val="90000"/>
              </a:lnSpc>
              <a:spcBef>
                <a:spcPts val="1001"/>
              </a:spcBef>
              <a:tabLst>
                <a:tab algn="l" pos="0"/>
              </a:tabLst>
            </a:pPr>
            <a:r>
              <a:rPr b="1" lang="en-US" sz="1600" spc="-1" strike="noStrike">
                <a:solidFill>
                  <a:srgbClr val="0000ff"/>
                </a:solidFill>
                <a:latin typeface="Arial"/>
              </a:rPr>
              <a:t>Algorithm </a:t>
            </a:r>
            <a:r>
              <a:rPr b="0" lang="en-US" sz="1600" spc="-1" strike="noStrike">
                <a:solidFill>
                  <a:srgbClr val="000000"/>
                </a:solidFill>
                <a:latin typeface="Arial"/>
              </a:rPr>
              <a:t>ParenthesisMatching(</a:t>
            </a:r>
            <a:r>
              <a:rPr b="0" i="1" lang="en-US" sz="1600" spc="-1" strike="noStrike">
                <a:solidFill>
                  <a:srgbClr val="000000"/>
                </a:solidFill>
                <a:latin typeface="Arial"/>
              </a:rPr>
              <a:t>X, n</a:t>
            </a:r>
            <a:r>
              <a:rPr b="0" lang="en-US" sz="1600" spc="-1" strike="noStrike">
                <a:solidFill>
                  <a:srgbClr val="000000"/>
                </a:solidFill>
                <a:latin typeface="Arial"/>
              </a:rPr>
              <a:t>):</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i="1" lang="en-US" sz="1600" spc="-1" strike="noStrike">
                <a:solidFill>
                  <a:srgbClr val="0000ff"/>
                </a:solidFill>
                <a:latin typeface="Arial"/>
              </a:rPr>
              <a:t>Input: </a:t>
            </a:r>
            <a:r>
              <a:rPr b="0" lang="en-US" sz="1600" spc="-1" strike="noStrike">
                <a:solidFill>
                  <a:srgbClr val="000000"/>
                </a:solidFill>
                <a:latin typeface="Arial"/>
              </a:rPr>
              <a:t>An array </a:t>
            </a:r>
            <a:r>
              <a:rPr b="0" i="1" lang="en-US" sz="1600" spc="-1" strike="noStrike">
                <a:solidFill>
                  <a:srgbClr val="000000"/>
                </a:solidFill>
                <a:latin typeface="Arial"/>
              </a:rPr>
              <a:t>X </a:t>
            </a:r>
            <a:r>
              <a:rPr b="0" lang="en-US" sz="1600" spc="-1" strike="noStrike">
                <a:solidFill>
                  <a:srgbClr val="000000"/>
                </a:solidFill>
                <a:latin typeface="Arial"/>
              </a:rPr>
              <a:t>of </a:t>
            </a:r>
            <a:r>
              <a:rPr b="0" i="1" lang="en-US" sz="1600" spc="-1" strike="noStrike">
                <a:solidFill>
                  <a:srgbClr val="000000"/>
                </a:solidFill>
                <a:latin typeface="Arial"/>
              </a:rPr>
              <a:t>n </a:t>
            </a:r>
            <a:r>
              <a:rPr b="0" lang="en-US" sz="1600" spc="-1" strike="noStrike">
                <a:solidFill>
                  <a:srgbClr val="000000"/>
                </a:solidFill>
                <a:latin typeface="Arial"/>
              </a:rPr>
              <a:t>tokens, each of which is either a grouping symbol, a</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0" lang="en-US" sz="1600" spc="-1" strike="noStrike">
                <a:solidFill>
                  <a:srgbClr val="000000"/>
                </a:solidFill>
                <a:latin typeface="Arial"/>
              </a:rPr>
              <a:t>variable, an arithmetic operator, or a number</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i="1" lang="en-US" sz="1600" spc="-1" strike="noStrike">
                <a:solidFill>
                  <a:srgbClr val="0000ff"/>
                </a:solidFill>
                <a:latin typeface="Arial"/>
              </a:rPr>
              <a:t>Output: </a:t>
            </a:r>
            <a:r>
              <a:rPr b="1" lang="en-US" sz="1600" spc="-1" strike="noStrike">
                <a:solidFill>
                  <a:srgbClr val="000000"/>
                </a:solidFill>
                <a:latin typeface="Arial"/>
              </a:rPr>
              <a:t>true </a:t>
            </a:r>
            <a:r>
              <a:rPr b="0" lang="en-US" sz="1600" spc="-1" strike="noStrike">
                <a:solidFill>
                  <a:srgbClr val="000000"/>
                </a:solidFill>
                <a:latin typeface="Arial"/>
              </a:rPr>
              <a:t>if and only if all the grouping symbols in </a:t>
            </a:r>
            <a:r>
              <a:rPr b="0" i="1" lang="en-US" sz="1600" spc="-1" strike="noStrike">
                <a:solidFill>
                  <a:srgbClr val="000000"/>
                </a:solidFill>
                <a:latin typeface="Arial"/>
              </a:rPr>
              <a:t>X </a:t>
            </a:r>
            <a:r>
              <a:rPr b="0" lang="en-US" sz="1600" spc="-1" strike="noStrike">
                <a:solidFill>
                  <a:srgbClr val="000000"/>
                </a:solidFill>
                <a:latin typeface="Arial"/>
              </a:rPr>
              <a:t>match</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0" lang="en-US" sz="1600" spc="-1" strike="noStrike">
                <a:solidFill>
                  <a:srgbClr val="000000"/>
                </a:solidFill>
                <a:latin typeface="Arial"/>
              </a:rPr>
              <a:t>Let </a:t>
            </a:r>
            <a:r>
              <a:rPr b="0" i="1" lang="en-US" sz="1600" spc="-1" strike="noStrike">
                <a:solidFill>
                  <a:srgbClr val="000000"/>
                </a:solidFill>
                <a:latin typeface="Arial"/>
              </a:rPr>
              <a:t>S </a:t>
            </a:r>
            <a:r>
              <a:rPr b="0" lang="en-US" sz="1600" spc="-1" strike="noStrike">
                <a:solidFill>
                  <a:srgbClr val="000000"/>
                </a:solidFill>
                <a:latin typeface="Arial"/>
              </a:rPr>
              <a:t>be an empty stack</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for </a:t>
            </a:r>
            <a:r>
              <a:rPr b="0" i="1" lang="en-US" sz="1600" spc="-1" strike="noStrike">
                <a:solidFill>
                  <a:srgbClr val="000000"/>
                </a:solidFill>
                <a:latin typeface="Arial"/>
              </a:rPr>
              <a:t>i=</a:t>
            </a:r>
            <a:r>
              <a:rPr b="0" lang="en-US" sz="1600" spc="-1" strike="noStrike">
                <a:solidFill>
                  <a:srgbClr val="000000"/>
                </a:solidFill>
                <a:latin typeface="Arial"/>
              </a:rPr>
              <a:t>0 to </a:t>
            </a:r>
            <a:r>
              <a:rPr b="0" i="1" lang="en-US" sz="1600" spc="-1" strike="noStrike">
                <a:solidFill>
                  <a:srgbClr val="000000"/>
                </a:solidFill>
                <a:latin typeface="Arial"/>
              </a:rPr>
              <a:t>n-</a:t>
            </a:r>
            <a:r>
              <a:rPr b="0" lang="en-US" sz="1600" spc="-1" strike="noStrike">
                <a:solidFill>
                  <a:srgbClr val="000000"/>
                </a:solidFill>
                <a:latin typeface="Arial"/>
              </a:rPr>
              <a:t>1 </a:t>
            </a:r>
            <a:r>
              <a:rPr b="1" lang="en-US" sz="1600" spc="-1" strike="noStrike">
                <a:solidFill>
                  <a:srgbClr val="000000"/>
                </a:solidFill>
                <a:latin typeface="Arial"/>
              </a:rPr>
              <a:t>do</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	</a:t>
            </a:r>
            <a:r>
              <a:rPr b="1" lang="en-US" sz="1600" spc="-1" strike="noStrike">
                <a:solidFill>
                  <a:srgbClr val="000000"/>
                </a:solidFill>
                <a:latin typeface="Arial"/>
              </a:rPr>
              <a:t>if </a:t>
            </a:r>
            <a:r>
              <a:rPr b="0" i="1" lang="en-US" sz="1600" spc="-1" strike="noStrike">
                <a:solidFill>
                  <a:srgbClr val="000000"/>
                </a:solidFill>
                <a:latin typeface="Arial"/>
              </a:rPr>
              <a:t>X</a:t>
            </a:r>
            <a:r>
              <a:rPr b="0" lang="en-US" sz="1600" spc="-1" strike="noStrike">
                <a:solidFill>
                  <a:srgbClr val="000000"/>
                </a:solidFill>
                <a:latin typeface="Arial"/>
              </a:rPr>
              <a:t>[</a:t>
            </a:r>
            <a:r>
              <a:rPr b="0" i="1" lang="en-US" sz="1600" spc="-1" strike="noStrike">
                <a:solidFill>
                  <a:srgbClr val="000000"/>
                </a:solidFill>
                <a:latin typeface="Arial"/>
              </a:rPr>
              <a:t>i</a:t>
            </a:r>
            <a:r>
              <a:rPr b="0" lang="en-US" sz="1600" spc="-1" strike="noStrike">
                <a:solidFill>
                  <a:srgbClr val="000000"/>
                </a:solidFill>
                <a:latin typeface="Arial"/>
              </a:rPr>
              <a:t>] is an opening grouping symbol </a:t>
            </a:r>
            <a:r>
              <a:rPr b="1" lang="en-US" sz="1600" spc="-1" strike="noStrike">
                <a:solidFill>
                  <a:srgbClr val="000000"/>
                </a:solidFill>
                <a:latin typeface="Arial"/>
              </a:rPr>
              <a:t>then</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0" i="1" lang="en-US" sz="1600" spc="-1" strike="noStrike">
                <a:solidFill>
                  <a:srgbClr val="000000"/>
                </a:solidFill>
                <a:latin typeface="Arial"/>
              </a:rPr>
              <a:t>	</a:t>
            </a:r>
            <a:r>
              <a:rPr b="0" i="1" lang="en-US" sz="1600" spc="-1" strike="noStrike">
                <a:solidFill>
                  <a:srgbClr val="000000"/>
                </a:solidFill>
                <a:latin typeface="Arial"/>
              </a:rPr>
              <a:t>	</a:t>
            </a:r>
            <a:r>
              <a:rPr b="0" i="1" lang="en-US" sz="1600" spc="-1" strike="noStrike">
                <a:solidFill>
                  <a:srgbClr val="000000"/>
                </a:solidFill>
                <a:latin typeface="Arial"/>
              </a:rPr>
              <a:t>S</a:t>
            </a:r>
            <a:r>
              <a:rPr b="0" lang="en-US" sz="1600" spc="-1" strike="noStrike">
                <a:solidFill>
                  <a:srgbClr val="000000"/>
                </a:solidFill>
                <a:latin typeface="Arial"/>
              </a:rPr>
              <a:t>.push(</a:t>
            </a:r>
            <a:r>
              <a:rPr b="0" i="1" lang="en-US" sz="1600" spc="-1" strike="noStrike">
                <a:solidFill>
                  <a:srgbClr val="000000"/>
                </a:solidFill>
                <a:latin typeface="Arial"/>
              </a:rPr>
              <a:t>X</a:t>
            </a:r>
            <a:r>
              <a:rPr b="0" lang="en-US" sz="1600" spc="-1" strike="noStrike">
                <a:solidFill>
                  <a:srgbClr val="000000"/>
                </a:solidFill>
                <a:latin typeface="Arial"/>
              </a:rPr>
              <a:t>[</a:t>
            </a:r>
            <a:r>
              <a:rPr b="0" i="1" lang="en-US" sz="1600" spc="-1" strike="noStrike">
                <a:solidFill>
                  <a:srgbClr val="000000"/>
                </a:solidFill>
                <a:latin typeface="Arial"/>
              </a:rPr>
              <a:t>i</a:t>
            </a:r>
            <a:r>
              <a:rPr b="0" lang="en-US" sz="1600" spc="-1" strike="noStrike">
                <a:solidFill>
                  <a:srgbClr val="000000"/>
                </a:solidFill>
                <a:latin typeface="Arial"/>
              </a:rPr>
              <a:t>])</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	</a:t>
            </a:r>
            <a:r>
              <a:rPr b="1" lang="en-US" sz="1600" spc="-1" strike="noStrike">
                <a:solidFill>
                  <a:srgbClr val="000000"/>
                </a:solidFill>
                <a:latin typeface="Arial"/>
              </a:rPr>
              <a:t>else if </a:t>
            </a:r>
            <a:r>
              <a:rPr b="0" i="1" lang="en-US" sz="1600" spc="-1" strike="noStrike">
                <a:solidFill>
                  <a:srgbClr val="000000"/>
                </a:solidFill>
                <a:latin typeface="Arial"/>
              </a:rPr>
              <a:t>X</a:t>
            </a:r>
            <a:r>
              <a:rPr b="0" lang="en-US" sz="1600" spc="-1" strike="noStrike">
                <a:solidFill>
                  <a:srgbClr val="000000"/>
                </a:solidFill>
                <a:latin typeface="Arial"/>
              </a:rPr>
              <a:t>[</a:t>
            </a:r>
            <a:r>
              <a:rPr b="0" i="1" lang="en-US" sz="1600" spc="-1" strike="noStrike">
                <a:solidFill>
                  <a:srgbClr val="000000"/>
                </a:solidFill>
                <a:latin typeface="Arial"/>
              </a:rPr>
              <a:t>i</a:t>
            </a:r>
            <a:r>
              <a:rPr b="0" lang="en-US" sz="1600" spc="-1" strike="noStrike">
                <a:solidFill>
                  <a:srgbClr val="000000"/>
                </a:solidFill>
                <a:latin typeface="Arial"/>
              </a:rPr>
              <a:t>] is a closing grouping symbol </a:t>
            </a:r>
            <a:r>
              <a:rPr b="1" lang="en-US" sz="1600" spc="-1" strike="noStrike">
                <a:solidFill>
                  <a:srgbClr val="000000"/>
                </a:solidFill>
                <a:latin typeface="Arial"/>
              </a:rPr>
              <a:t>then</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	</a:t>
            </a:r>
            <a:r>
              <a:rPr b="1" lang="en-US" sz="1600" spc="-1" strike="noStrike">
                <a:solidFill>
                  <a:srgbClr val="000000"/>
                </a:solidFill>
                <a:latin typeface="Arial"/>
              </a:rPr>
              <a:t>	</a:t>
            </a:r>
            <a:r>
              <a:rPr b="1" lang="en-US" sz="1600" spc="-1" strike="noStrike">
                <a:solidFill>
                  <a:srgbClr val="000000"/>
                </a:solidFill>
                <a:latin typeface="Arial"/>
              </a:rPr>
              <a:t>if </a:t>
            </a:r>
            <a:r>
              <a:rPr b="0" i="1" lang="en-US" sz="1600" spc="-1" strike="noStrike">
                <a:solidFill>
                  <a:srgbClr val="000000"/>
                </a:solidFill>
                <a:latin typeface="Arial"/>
              </a:rPr>
              <a:t>S</a:t>
            </a:r>
            <a:r>
              <a:rPr b="0" lang="en-US" sz="1600" spc="-1" strike="noStrike">
                <a:solidFill>
                  <a:srgbClr val="000000"/>
                </a:solidFill>
                <a:latin typeface="Arial"/>
              </a:rPr>
              <a:t>.is_empty() </a:t>
            </a:r>
            <a:r>
              <a:rPr b="1" lang="en-US" sz="1600" spc="-1" strike="noStrike">
                <a:solidFill>
                  <a:srgbClr val="000000"/>
                </a:solidFill>
                <a:latin typeface="Arial"/>
              </a:rPr>
              <a:t>then</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	</a:t>
            </a:r>
            <a:r>
              <a:rPr b="1" lang="en-US" sz="1600" spc="-1" strike="noStrike">
                <a:solidFill>
                  <a:srgbClr val="000000"/>
                </a:solidFill>
                <a:latin typeface="Arial"/>
              </a:rPr>
              <a:t>	</a:t>
            </a:r>
            <a:r>
              <a:rPr b="1" lang="en-US" sz="1600" spc="-1" strike="noStrike">
                <a:solidFill>
                  <a:srgbClr val="000000"/>
                </a:solidFill>
                <a:latin typeface="Arial"/>
              </a:rPr>
              <a:t>	</a:t>
            </a:r>
            <a:r>
              <a:rPr b="1" lang="en-US" sz="1600" spc="-1" strike="noStrike">
                <a:solidFill>
                  <a:srgbClr val="000000"/>
                </a:solidFill>
                <a:latin typeface="Arial"/>
              </a:rPr>
              <a:t>return false </a:t>
            </a:r>
            <a:r>
              <a:rPr b="0" lang="en-US" sz="1600" spc="-1" strike="noStrike">
                <a:solidFill>
                  <a:srgbClr val="0000ff"/>
                </a:solidFill>
                <a:latin typeface="Arial"/>
              </a:rPr>
              <a:t>{nothing to match with} </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	</a:t>
            </a:r>
            <a:r>
              <a:rPr b="1" lang="en-US" sz="1600" spc="-1" strike="noStrike">
                <a:solidFill>
                  <a:srgbClr val="000000"/>
                </a:solidFill>
                <a:latin typeface="Arial"/>
              </a:rPr>
              <a:t>	</a:t>
            </a:r>
            <a:r>
              <a:rPr b="1" lang="en-US" sz="1600" spc="-1" strike="noStrike">
                <a:solidFill>
                  <a:srgbClr val="000000"/>
                </a:solidFill>
                <a:latin typeface="Arial"/>
              </a:rPr>
              <a:t>if </a:t>
            </a:r>
            <a:r>
              <a:rPr b="0" i="1" lang="en-US" sz="1600" spc="-1" strike="noStrike">
                <a:solidFill>
                  <a:srgbClr val="000000"/>
                </a:solidFill>
                <a:latin typeface="Arial"/>
              </a:rPr>
              <a:t>S</a:t>
            </a:r>
            <a:r>
              <a:rPr b="0" lang="en-US" sz="1600" spc="-1" strike="noStrike">
                <a:solidFill>
                  <a:srgbClr val="000000"/>
                </a:solidFill>
                <a:latin typeface="Arial"/>
              </a:rPr>
              <a:t>.pop() does not match the type of </a:t>
            </a:r>
            <a:r>
              <a:rPr b="0" i="1" lang="en-US" sz="1600" spc="-1" strike="noStrike">
                <a:solidFill>
                  <a:srgbClr val="000000"/>
                </a:solidFill>
                <a:latin typeface="Arial"/>
              </a:rPr>
              <a:t>X</a:t>
            </a:r>
            <a:r>
              <a:rPr b="0" lang="en-US" sz="1600" spc="-1" strike="noStrike">
                <a:solidFill>
                  <a:srgbClr val="000000"/>
                </a:solidFill>
                <a:latin typeface="Arial"/>
              </a:rPr>
              <a:t>[</a:t>
            </a:r>
            <a:r>
              <a:rPr b="0" i="1" lang="en-US" sz="1600" spc="-1" strike="noStrike">
                <a:solidFill>
                  <a:srgbClr val="000000"/>
                </a:solidFill>
                <a:latin typeface="Arial"/>
              </a:rPr>
              <a:t>i</a:t>
            </a:r>
            <a:r>
              <a:rPr b="0" lang="en-US" sz="1600" spc="-1" strike="noStrike">
                <a:solidFill>
                  <a:srgbClr val="000000"/>
                </a:solidFill>
                <a:latin typeface="Arial"/>
              </a:rPr>
              <a:t>] </a:t>
            </a:r>
            <a:r>
              <a:rPr b="1" lang="en-US" sz="1600" spc="-1" strike="noStrike">
                <a:solidFill>
                  <a:srgbClr val="000000"/>
                </a:solidFill>
                <a:latin typeface="Arial"/>
              </a:rPr>
              <a:t>then</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	</a:t>
            </a:r>
            <a:r>
              <a:rPr b="1" lang="en-US" sz="1600" spc="-1" strike="noStrike">
                <a:solidFill>
                  <a:srgbClr val="000000"/>
                </a:solidFill>
                <a:latin typeface="Arial"/>
              </a:rPr>
              <a:t>	</a:t>
            </a:r>
            <a:r>
              <a:rPr b="1" lang="en-US" sz="1600" spc="-1" strike="noStrike">
                <a:solidFill>
                  <a:srgbClr val="000000"/>
                </a:solidFill>
                <a:latin typeface="Arial"/>
              </a:rPr>
              <a:t>	</a:t>
            </a:r>
            <a:r>
              <a:rPr b="1" lang="en-US" sz="1600" spc="-1" strike="noStrike">
                <a:solidFill>
                  <a:srgbClr val="000000"/>
                </a:solidFill>
                <a:latin typeface="Arial"/>
              </a:rPr>
              <a:t>return false </a:t>
            </a:r>
            <a:r>
              <a:rPr b="0" lang="en-US" sz="1600" spc="-1" strike="noStrike">
                <a:solidFill>
                  <a:srgbClr val="0000ff"/>
                </a:solidFill>
                <a:latin typeface="Arial"/>
              </a:rPr>
              <a:t>{wrong type} </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if </a:t>
            </a:r>
            <a:r>
              <a:rPr b="0" i="1" lang="en-US" sz="1600" spc="-1" strike="noStrike">
                <a:solidFill>
                  <a:srgbClr val="000000"/>
                </a:solidFill>
                <a:latin typeface="Arial"/>
              </a:rPr>
              <a:t>S</a:t>
            </a:r>
            <a:r>
              <a:rPr b="0" lang="en-US" sz="1600" spc="-1" strike="noStrike">
                <a:solidFill>
                  <a:srgbClr val="000000"/>
                </a:solidFill>
                <a:latin typeface="Arial"/>
              </a:rPr>
              <a:t>.isEmpty() </a:t>
            </a:r>
            <a:r>
              <a:rPr b="1" lang="en-US" sz="1600" spc="-1" strike="noStrike">
                <a:solidFill>
                  <a:srgbClr val="000000"/>
                </a:solidFill>
                <a:latin typeface="Arial"/>
              </a:rPr>
              <a:t>then</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	</a:t>
            </a:r>
            <a:r>
              <a:rPr b="1" lang="en-US" sz="1600" spc="-1" strike="noStrike">
                <a:solidFill>
                  <a:srgbClr val="000000"/>
                </a:solidFill>
                <a:latin typeface="Arial"/>
              </a:rPr>
              <a:t>return true </a:t>
            </a:r>
            <a:r>
              <a:rPr b="0" lang="en-US" sz="1600" spc="-1" strike="noStrike">
                <a:solidFill>
                  <a:srgbClr val="0000ff"/>
                </a:solidFill>
                <a:latin typeface="Arial"/>
              </a:rPr>
              <a:t>{every symbol matched} </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r>
              <a:rPr b="1" lang="en-US" sz="1600" spc="-1" strike="noStrike">
                <a:solidFill>
                  <a:srgbClr val="000000"/>
                </a:solidFill>
                <a:latin typeface="Arial"/>
              </a:rPr>
              <a:t>else return false </a:t>
            </a:r>
            <a:r>
              <a:rPr b="0" lang="en-US" sz="1600" spc="-1" strike="noStrike">
                <a:solidFill>
                  <a:srgbClr val="0000ff"/>
                </a:solidFill>
                <a:latin typeface="Arial"/>
              </a:rPr>
              <a:t>{some symbols were never matched}</a:t>
            </a:r>
            <a:endParaRPr b="0" lang="en-US" sz="1600" spc="-1" strike="noStrike">
              <a:solidFill>
                <a:srgbClr val="000000"/>
              </a:solidFill>
              <a:latin typeface="Arial"/>
            </a:endParaRPr>
          </a:p>
          <a:p>
            <a:pPr marL="228600" indent="-228600" defTabSz="914400">
              <a:lnSpc>
                <a:spcPct val="90000"/>
              </a:lnSpc>
              <a:spcBef>
                <a:spcPts val="1001"/>
              </a:spcBef>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Reverse Polish Notation</a:t>
            </a:r>
            <a:endParaRPr b="0" lang="en-US" sz="4400" spc="-1" strike="noStrike">
              <a:solidFill>
                <a:srgbClr val="000000"/>
              </a:solidFill>
              <a:latin typeface="Arial"/>
            </a:endParaRPr>
          </a:p>
        </p:txBody>
      </p:sp>
      <p:sp>
        <p:nvSpPr>
          <p:cNvPr id="74"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Mathematical notation: Infix, operators are between operands.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E.g.: 2 + 3 * (4 + 7)</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Polish Notation: Prefix, operators before operands.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E.g.: + 2 * 3 + 4 7</a:t>
            </a:r>
            <a:endParaRPr b="0" lang="en-US" sz="2400" spc="-1" strike="noStrike">
              <a:solidFill>
                <a:srgbClr val="000000"/>
              </a:solidFill>
              <a:latin typeface="Arial"/>
            </a:endParaRPr>
          </a:p>
          <a:p>
            <a:pPr indent="0" defTabSz="914400">
              <a:lnSpc>
                <a:spcPct val="90000"/>
              </a:lnSpc>
              <a:spcBef>
                <a:spcPts val="499"/>
              </a:spcBef>
              <a:buNone/>
              <a:tabLst>
                <a:tab algn="l" pos="0"/>
              </a:tabLst>
            </a:pP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Reverse Polish Notation: Postfix, operators follow operands.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E.g.: 2 3 4 7 + *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79444"/>
          </a:bodyPr>
          <a:p>
            <a:pPr indent="0" defTabSz="914400">
              <a:lnSpc>
                <a:spcPct val="90000"/>
              </a:lnSpc>
              <a:buNone/>
              <a:tabLst>
                <a:tab algn="l" pos="0"/>
              </a:tabLst>
            </a:pPr>
            <a:r>
              <a:rPr b="1" lang="en-US" sz="4400" spc="-1" strike="noStrike">
                <a:solidFill>
                  <a:srgbClr val="c00000"/>
                </a:solidFill>
                <a:latin typeface="Calibri Light"/>
              </a:rPr>
              <a:t>Example – Reverse Polish Notation Calculator</a:t>
            </a:r>
            <a:endParaRPr b="0" lang="en-US" sz="4400" spc="-1" strike="noStrike">
              <a:solidFill>
                <a:srgbClr val="000000"/>
              </a:solidFill>
              <a:latin typeface="Arial"/>
            </a:endParaRPr>
          </a:p>
        </p:txBody>
      </p:sp>
      <p:sp>
        <p:nvSpPr>
          <p:cNvPr id="76"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Using Stack</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Queues</a:t>
            </a:r>
            <a:endParaRPr b="0" lang="en-US" sz="4400" spc="-1" strike="noStrike">
              <a:solidFill>
                <a:srgbClr val="000000"/>
              </a:solidFill>
              <a:latin typeface="Arial"/>
            </a:endParaRPr>
          </a:p>
        </p:txBody>
      </p:sp>
      <p:sp>
        <p:nvSpPr>
          <p:cNvPr id="78"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Insertions to the end, deletions from the front of the list.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Follow the first-in first-out scheme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graphicFrame>
        <p:nvGraphicFramePr>
          <p:cNvPr id="79" name="Table 4"/>
          <p:cNvGraphicFramePr/>
          <p:nvPr/>
        </p:nvGraphicFramePr>
        <p:xfrm>
          <a:off x="2031840" y="2687400"/>
          <a:ext cx="8127000" cy="1483200"/>
        </p:xfrm>
        <a:graphic>
          <a:graphicData uri="http://schemas.openxmlformats.org/drawingml/2006/table">
            <a:tbl>
              <a:tblPr/>
              <a:tblGrid>
                <a:gridCol w="4063680"/>
                <a:gridCol w="4063680"/>
              </a:tblGrid>
              <a:tr h="370800">
                <a:tc>
                  <a:txBody>
                    <a:bodyPr anchor="t">
                      <a:noAutofit/>
                    </a:bodyPr>
                    <a:p>
                      <a:pPr algn="ctr" defTabSz="914400">
                        <a:lnSpc>
                          <a:spcPct val="100000"/>
                        </a:lnSpc>
                      </a:pPr>
                      <a:r>
                        <a:rPr b="1" lang="en-US" sz="1800" spc="-1" strike="noStrike">
                          <a:solidFill>
                            <a:schemeClr val="lt1"/>
                          </a:solidFill>
                          <a:latin typeface="Calibri"/>
                        </a:rPr>
                        <a:t>Main Operations</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00000"/>
                        </a:lnSpc>
                      </a:pPr>
                      <a:r>
                        <a:rPr b="1" lang="en-US" sz="1800" spc="-1" strike="noStrike">
                          <a:solidFill>
                            <a:schemeClr val="lt1"/>
                          </a:solidFill>
                          <a:latin typeface="Calibri"/>
                        </a:rPr>
                        <a:t>Auxiliary Operations</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b="0" lang="en-US" sz="1800" spc="-1" strike="noStrike">
                          <a:solidFill>
                            <a:schemeClr val="dk1"/>
                          </a:solidFill>
                          <a:latin typeface="Calibri"/>
                        </a:rPr>
                        <a:t>Q.enqueue(item)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item = Q.first()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tabLst>
                          <a:tab algn="l" pos="0"/>
                        </a:tabLst>
                      </a:pPr>
                      <a:r>
                        <a:rPr b="0" lang="en-US" sz="1800" spc="-1" strike="noStrike">
                          <a:solidFill>
                            <a:schemeClr val="dk1"/>
                          </a:solidFill>
                          <a:latin typeface="Calibri"/>
                        </a:rPr>
                        <a:t>item = Q.dequeue()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len(Q)</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endParaRPr b="0" lang="en-US" sz="1800" spc="-1" strike="noStrike">
                        <a:solidFill>
                          <a:schemeClr val="dk1"/>
                        </a:solidFill>
                        <a:latin typeface="Calibri"/>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Q.is_empty()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Queues – continued </a:t>
            </a:r>
            <a:endParaRPr b="0" lang="en-US" sz="4400" spc="-1" strike="noStrike">
              <a:solidFill>
                <a:srgbClr val="000000"/>
              </a:solidFill>
              <a:latin typeface="Arial"/>
            </a:endParaRPr>
          </a:p>
        </p:txBody>
      </p:sp>
      <p:sp>
        <p:nvSpPr>
          <p:cNvPr id="81" name="PlaceHolder 2"/>
          <p:cNvSpPr>
            <a:spLocks noGrp="1"/>
          </p:cNvSpPr>
          <p:nvPr>
            <p:ph/>
          </p:nvPr>
        </p:nvSpPr>
        <p:spPr>
          <a:xfrm>
            <a:off x="838080" y="1107000"/>
            <a:ext cx="10514520" cy="45457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General Applications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Waiting lists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Access to shared resources (e.g., printer)</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Round Robin Scheduler</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a:t>
            </a:r>
            <a:endParaRPr b="0" lang="en-US" sz="2400" spc="-1" strike="noStrike">
              <a:solidFill>
                <a:srgbClr val="000000"/>
              </a:solidFill>
              <a:latin typeface="Arial"/>
            </a:endParaRPr>
          </a:p>
          <a:p>
            <a:pPr indent="0" defTabSz="914400">
              <a:lnSpc>
                <a:spcPct val="90000"/>
              </a:lnSpc>
              <a:spcBef>
                <a:spcPts val="499"/>
              </a:spcBef>
              <a:buNone/>
              <a:tabLst>
                <a:tab algn="l" pos="0"/>
              </a:tabLst>
            </a:pP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Algorithm design</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Array-based Queue Implementation</a:t>
            </a:r>
            <a:endParaRPr b="0" lang="en-US" sz="4400" spc="-1" strike="noStrike">
              <a:solidFill>
                <a:srgbClr val="000000"/>
              </a:solidFill>
              <a:latin typeface="Arial"/>
            </a:endParaRPr>
          </a:p>
        </p:txBody>
      </p:sp>
      <p:sp>
        <p:nvSpPr>
          <p:cNvPr id="83"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Use an array of size </a:t>
            </a:r>
            <a:r>
              <a:rPr b="1" i="1" lang="en-US" sz="2400" spc="-1" strike="noStrike">
                <a:solidFill>
                  <a:schemeClr val="dk1"/>
                </a:solidFill>
                <a:latin typeface="Times New Roman"/>
              </a:rPr>
              <a:t>N</a:t>
            </a:r>
            <a:r>
              <a:rPr b="0" lang="en-US" sz="2400" spc="-1" strike="noStrike">
                <a:solidFill>
                  <a:schemeClr val="dk1"/>
                </a:solidFill>
                <a:latin typeface="Calibri"/>
              </a:rPr>
              <a:t> in a circular fashion</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Two variables keep track of the front and rear</a:t>
            </a:r>
            <a:endParaRPr b="0" lang="en-US" sz="2400" spc="-1" strike="noStrike">
              <a:solidFill>
                <a:srgbClr val="000000"/>
              </a:solidFill>
              <a:latin typeface="Arial"/>
            </a:endParaRPr>
          </a:p>
          <a:p>
            <a:pPr marL="685800" indent="-228600" defTabSz="914400">
              <a:lnSpc>
                <a:spcPct val="90000"/>
              </a:lnSpc>
              <a:spcBef>
                <a:spcPts val="499"/>
              </a:spcBef>
              <a:buNone/>
              <a:tabLst>
                <a:tab algn="l" pos="0"/>
              </a:tabLst>
            </a:pPr>
            <a:r>
              <a:rPr b="1" i="1" lang="en-US" sz="2000" spc="-1" strike="noStrike">
                <a:solidFill>
                  <a:schemeClr val="dk1"/>
                </a:solidFill>
                <a:latin typeface="Times New Roman"/>
              </a:rPr>
              <a:t>f</a:t>
            </a:r>
            <a:r>
              <a:rPr b="0" lang="en-US" sz="2000" spc="-1" strike="noStrike">
                <a:solidFill>
                  <a:schemeClr val="dk1"/>
                </a:solidFill>
                <a:latin typeface="Calibri"/>
              </a:rPr>
              <a:t> </a:t>
            </a:r>
            <a:r>
              <a:rPr b="0" lang="en-US" sz="2000" spc="-1" strike="noStrike">
                <a:solidFill>
                  <a:schemeClr val="dk1"/>
                </a:solidFill>
                <a:latin typeface="Calibri"/>
              </a:rPr>
              <a:t>	</a:t>
            </a:r>
            <a:r>
              <a:rPr b="0" lang="en-US" sz="2000" spc="-1" strike="noStrike">
                <a:solidFill>
                  <a:schemeClr val="dk1"/>
                </a:solidFill>
                <a:latin typeface="Calibri"/>
              </a:rPr>
              <a:t>index of the front element</a:t>
            </a:r>
            <a:endParaRPr b="0" lang="en-US" sz="2000" spc="-1" strike="noStrike">
              <a:solidFill>
                <a:srgbClr val="000000"/>
              </a:solidFill>
              <a:latin typeface="Arial"/>
            </a:endParaRPr>
          </a:p>
          <a:p>
            <a:pPr marL="685800" indent="-228600" defTabSz="914400">
              <a:lnSpc>
                <a:spcPct val="90000"/>
              </a:lnSpc>
              <a:spcBef>
                <a:spcPts val="499"/>
              </a:spcBef>
              <a:buNone/>
              <a:tabLst>
                <a:tab algn="l" pos="0"/>
              </a:tabLst>
            </a:pPr>
            <a:r>
              <a:rPr b="1" i="1" lang="en-US" sz="2000" spc="-1" strike="noStrike">
                <a:solidFill>
                  <a:schemeClr val="dk1"/>
                </a:solidFill>
                <a:latin typeface="Times New Roman"/>
              </a:rPr>
              <a:t>r</a:t>
            </a:r>
            <a:r>
              <a:rPr b="0" lang="en-US" sz="2000" spc="-1" strike="noStrike">
                <a:solidFill>
                  <a:schemeClr val="dk1"/>
                </a:solidFill>
                <a:latin typeface="Calibri"/>
              </a:rPr>
              <a:t>	</a:t>
            </a:r>
            <a:r>
              <a:rPr b="0" lang="en-US" sz="2000" spc="-1" strike="noStrike">
                <a:solidFill>
                  <a:schemeClr val="dk1"/>
                </a:solidFill>
                <a:latin typeface="Calibri"/>
              </a:rPr>
              <a:t>index immediately past the rear element</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Calibri"/>
              </a:rPr>
              <a:t>Array location </a:t>
            </a:r>
            <a:r>
              <a:rPr b="1" i="1" lang="en-US" sz="2400" spc="-1" strike="noStrike">
                <a:solidFill>
                  <a:schemeClr val="dk1"/>
                </a:solidFill>
                <a:latin typeface="Times New Roman"/>
              </a:rPr>
              <a:t>r</a:t>
            </a:r>
            <a:r>
              <a:rPr b="0" lang="en-US" sz="2400" spc="-1" strike="noStrike">
                <a:solidFill>
                  <a:schemeClr val="dk1"/>
                </a:solidFill>
                <a:latin typeface="Calibri"/>
              </a:rPr>
              <a:t> is kept empty</a:t>
            </a:r>
            <a:endParaRPr b="0" lang="en-US" sz="2400" spc="-1" strike="noStrike">
              <a:solidFill>
                <a:srgbClr val="000000"/>
              </a:solidFill>
              <a:latin typeface="Arial"/>
            </a:endParaRPr>
          </a:p>
        </p:txBody>
      </p:sp>
      <p:sp>
        <p:nvSpPr>
          <p:cNvPr id="84" name="PlaceHolder 3"/>
          <p:cNvSpPr>
            <a:spLocks noGrp="1"/>
          </p:cNvSpPr>
          <p:nvPr>
            <p:ph type="dt" idx="22"/>
          </p:nvPr>
        </p:nvSpPr>
        <p:spPr>
          <a:xfrm>
            <a:off x="83808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defTabSz="457200">
              <a:lnSpc>
                <a:spcPct val="100000"/>
              </a:lnSpc>
              <a:buNone/>
              <a:tabLst>
                <a:tab algn="l" pos="0"/>
              </a:tabLst>
            </a:pPr>
            <a:r>
              <a:rPr b="0" lang="en-US" sz="1400" spc="-1" strike="noStrike">
                <a:solidFill>
                  <a:schemeClr val="dk1">
                    <a:tint val="75000"/>
                  </a:schemeClr>
                </a:solidFill>
                <a:latin typeface="Tahoma"/>
                <a:ea typeface="MS PGothic"/>
              </a:rPr>
              <a:t>© 2013 Goodrich, Tamassia, Goldwasser</a:t>
            </a:r>
            <a:endParaRPr b="0" lang="en-US" sz="1400" spc="-1" strike="noStrike">
              <a:solidFill>
                <a:srgbClr val="000000"/>
              </a:solidFill>
              <a:latin typeface="Times New Roman"/>
            </a:endParaRPr>
          </a:p>
        </p:txBody>
      </p:sp>
      <p:sp>
        <p:nvSpPr>
          <p:cNvPr id="85" name="PlaceHolder 4"/>
          <p:cNvSpPr>
            <a:spLocks noGrp="1"/>
          </p:cNvSpPr>
          <p:nvPr>
            <p:ph type="ftr" idx="23"/>
          </p:nvPr>
        </p:nvSpPr>
        <p:spPr>
          <a:xfrm>
            <a:off x="4038480" y="6356520"/>
            <a:ext cx="4113720" cy="36396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Queues</a:t>
            </a:r>
            <a:endParaRPr b="0" lang="en-US" sz="1400" spc="-1" strike="noStrike">
              <a:solidFill>
                <a:srgbClr val="000000"/>
              </a:solidFill>
              <a:latin typeface="Times New Roman"/>
            </a:endParaRPr>
          </a:p>
        </p:txBody>
      </p:sp>
      <p:sp>
        <p:nvSpPr>
          <p:cNvPr id="86" name="PlaceHolder 5"/>
          <p:cNvSpPr>
            <a:spLocks noGrp="1"/>
          </p:cNvSpPr>
          <p:nvPr>
            <p:ph type="sldNum" idx="24"/>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A39D995D-B232-44B9-B46E-2511E5AFFE14}"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grpSp>
        <p:nvGrpSpPr>
          <p:cNvPr id="87" name="Group 128"/>
          <p:cNvGrpSpPr/>
          <p:nvPr/>
        </p:nvGrpSpPr>
        <p:grpSpPr>
          <a:xfrm>
            <a:off x="3083040" y="3886200"/>
            <a:ext cx="5637600" cy="754200"/>
            <a:chOff x="3083040" y="3886200"/>
            <a:chExt cx="5637600" cy="754200"/>
          </a:xfrm>
        </p:grpSpPr>
        <p:sp>
          <p:nvSpPr>
            <p:cNvPr id="88" name="Rectangle 58"/>
            <p:cNvSpPr/>
            <p:nvPr/>
          </p:nvSpPr>
          <p:spPr>
            <a:xfrm>
              <a:off x="3083040" y="3886200"/>
              <a:ext cx="2959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Q</a:t>
              </a:r>
              <a:endParaRPr b="0" lang="en-US" sz="2400" spc="-1" strike="noStrike">
                <a:solidFill>
                  <a:srgbClr val="000000"/>
                </a:solidFill>
                <a:latin typeface="Arial"/>
              </a:endParaRPr>
            </a:p>
          </p:txBody>
        </p:sp>
        <p:sp>
          <p:nvSpPr>
            <p:cNvPr id="89" name="Rectangle 59"/>
            <p:cNvSpPr/>
            <p:nvPr/>
          </p:nvSpPr>
          <p:spPr>
            <a:xfrm>
              <a:off x="3616200" y="427500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0</a:t>
              </a:r>
              <a:endParaRPr b="0" lang="en-US" sz="2400" spc="-1" strike="noStrike">
                <a:solidFill>
                  <a:srgbClr val="000000"/>
                </a:solidFill>
                <a:latin typeface="Arial"/>
              </a:endParaRPr>
            </a:p>
          </p:txBody>
        </p:sp>
        <p:sp>
          <p:nvSpPr>
            <p:cNvPr id="90" name="Rectangle 60"/>
            <p:cNvSpPr/>
            <p:nvPr/>
          </p:nvSpPr>
          <p:spPr>
            <a:xfrm>
              <a:off x="3921120" y="427500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1</a:t>
              </a:r>
              <a:endParaRPr b="0" lang="en-US" sz="2400" spc="-1" strike="noStrike">
                <a:solidFill>
                  <a:srgbClr val="000000"/>
                </a:solidFill>
                <a:latin typeface="Arial"/>
              </a:endParaRPr>
            </a:p>
          </p:txBody>
        </p:sp>
        <p:sp>
          <p:nvSpPr>
            <p:cNvPr id="91" name="Rectangle 61"/>
            <p:cNvSpPr/>
            <p:nvPr/>
          </p:nvSpPr>
          <p:spPr>
            <a:xfrm>
              <a:off x="4226040" y="427500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2</a:t>
              </a:r>
              <a:endParaRPr b="0" lang="en-US" sz="2400" spc="-1" strike="noStrike">
                <a:solidFill>
                  <a:srgbClr val="000000"/>
                </a:solidFill>
                <a:latin typeface="Arial"/>
              </a:endParaRPr>
            </a:p>
          </p:txBody>
        </p:sp>
        <p:sp>
          <p:nvSpPr>
            <p:cNvPr id="92" name="Rectangle 65"/>
            <p:cNvSpPr/>
            <p:nvPr/>
          </p:nvSpPr>
          <p:spPr>
            <a:xfrm>
              <a:off x="7807320" y="427500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r</a:t>
              </a:r>
              <a:endParaRPr b="0" lang="en-US" sz="2400" spc="-1" strike="noStrike">
                <a:solidFill>
                  <a:srgbClr val="000000"/>
                </a:solidFill>
                <a:latin typeface="Arial"/>
              </a:endParaRPr>
            </a:p>
          </p:txBody>
        </p:sp>
        <p:sp>
          <p:nvSpPr>
            <p:cNvPr id="93" name="Rectangle 80"/>
            <p:cNvSpPr/>
            <p:nvPr/>
          </p:nvSpPr>
          <p:spPr>
            <a:xfrm>
              <a:off x="4759200" y="427500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f</a:t>
              </a:r>
              <a:endParaRPr b="0" lang="en-US" sz="2400" spc="-1" strike="noStrike">
                <a:solidFill>
                  <a:srgbClr val="000000"/>
                </a:solidFill>
                <a:latin typeface="Arial"/>
              </a:endParaRPr>
            </a:p>
          </p:txBody>
        </p:sp>
        <p:sp>
          <p:nvSpPr>
            <p:cNvPr id="94" name="Rectangle 82"/>
            <p:cNvSpPr/>
            <p:nvPr/>
          </p:nvSpPr>
          <p:spPr>
            <a:xfrm>
              <a:off x="3540240" y="396252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95" name="Rectangle 83"/>
            <p:cNvSpPr/>
            <p:nvPr/>
          </p:nvSpPr>
          <p:spPr>
            <a:xfrm>
              <a:off x="3844800" y="396252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96" name="Rectangle 84"/>
            <p:cNvSpPr/>
            <p:nvPr/>
          </p:nvSpPr>
          <p:spPr>
            <a:xfrm>
              <a:off x="4149720" y="396252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97" name="Rectangle 85"/>
            <p:cNvSpPr/>
            <p:nvPr/>
          </p:nvSpPr>
          <p:spPr>
            <a:xfrm>
              <a:off x="4454640" y="396252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98" name="Rectangle 86"/>
            <p:cNvSpPr/>
            <p:nvPr/>
          </p:nvSpPr>
          <p:spPr>
            <a:xfrm>
              <a:off x="475920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99" name="Rectangle 87"/>
            <p:cNvSpPr/>
            <p:nvPr/>
          </p:nvSpPr>
          <p:spPr>
            <a:xfrm>
              <a:off x="506412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0" name="Rectangle 88"/>
            <p:cNvSpPr/>
            <p:nvPr/>
          </p:nvSpPr>
          <p:spPr>
            <a:xfrm>
              <a:off x="536904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1" name="Rectangle 89"/>
            <p:cNvSpPr/>
            <p:nvPr/>
          </p:nvSpPr>
          <p:spPr>
            <a:xfrm>
              <a:off x="567360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2" name="Rectangle 90"/>
            <p:cNvSpPr/>
            <p:nvPr/>
          </p:nvSpPr>
          <p:spPr>
            <a:xfrm>
              <a:off x="597852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3" name="Rectangle 91"/>
            <p:cNvSpPr/>
            <p:nvPr/>
          </p:nvSpPr>
          <p:spPr>
            <a:xfrm>
              <a:off x="628344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4" name="Rectangle 92"/>
            <p:cNvSpPr/>
            <p:nvPr/>
          </p:nvSpPr>
          <p:spPr>
            <a:xfrm>
              <a:off x="658800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5" name="Rectangle 93"/>
            <p:cNvSpPr/>
            <p:nvPr/>
          </p:nvSpPr>
          <p:spPr>
            <a:xfrm>
              <a:off x="689292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6" name="Rectangle 94"/>
            <p:cNvSpPr/>
            <p:nvPr/>
          </p:nvSpPr>
          <p:spPr>
            <a:xfrm>
              <a:off x="719784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7" name="Rectangle 95"/>
            <p:cNvSpPr/>
            <p:nvPr/>
          </p:nvSpPr>
          <p:spPr>
            <a:xfrm>
              <a:off x="7502400" y="396252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8" name="Rectangle 96"/>
            <p:cNvSpPr/>
            <p:nvPr/>
          </p:nvSpPr>
          <p:spPr>
            <a:xfrm>
              <a:off x="7807320" y="396252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09" name="Rectangle 97"/>
            <p:cNvSpPr/>
            <p:nvPr/>
          </p:nvSpPr>
          <p:spPr>
            <a:xfrm>
              <a:off x="8112240" y="396252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10" name="Rectangle 98"/>
            <p:cNvSpPr/>
            <p:nvPr/>
          </p:nvSpPr>
          <p:spPr>
            <a:xfrm>
              <a:off x="8416800" y="396252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sp>
        <p:nvSpPr>
          <p:cNvPr id="111" name="Text Box 99"/>
          <p:cNvSpPr/>
          <p:nvPr/>
        </p:nvSpPr>
        <p:spPr>
          <a:xfrm>
            <a:off x="4292280" y="3429000"/>
            <a:ext cx="3221640" cy="4554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400" spc="-1" strike="noStrike">
                <a:solidFill>
                  <a:schemeClr val="dk1"/>
                </a:solidFill>
                <a:latin typeface="Tahoma"/>
                <a:ea typeface="MS PGothic"/>
              </a:rPr>
              <a:t>normal configuration</a:t>
            </a:r>
            <a:endParaRPr b="0" lang="en-US" sz="2400" spc="-1" strike="noStrike">
              <a:solidFill>
                <a:srgbClr val="000000"/>
              </a:solidFill>
              <a:latin typeface="Arial"/>
            </a:endParaRPr>
          </a:p>
        </p:txBody>
      </p:sp>
      <p:grpSp>
        <p:nvGrpSpPr>
          <p:cNvPr id="112" name="Group 126"/>
          <p:cNvGrpSpPr/>
          <p:nvPr/>
        </p:nvGrpSpPr>
        <p:grpSpPr>
          <a:xfrm>
            <a:off x="3076560" y="5449320"/>
            <a:ext cx="5637960" cy="754200"/>
            <a:chOff x="3076560" y="5449320"/>
            <a:chExt cx="5637960" cy="754200"/>
          </a:xfrm>
        </p:grpSpPr>
        <p:sp>
          <p:nvSpPr>
            <p:cNvPr id="113" name="Rectangle 102"/>
            <p:cNvSpPr/>
            <p:nvPr/>
          </p:nvSpPr>
          <p:spPr>
            <a:xfrm>
              <a:off x="3076560" y="5449320"/>
              <a:ext cx="2959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Q</a:t>
              </a:r>
              <a:endParaRPr b="0" lang="en-US" sz="2400" spc="-1" strike="noStrike">
                <a:solidFill>
                  <a:srgbClr val="000000"/>
                </a:solidFill>
                <a:latin typeface="Arial"/>
              </a:endParaRPr>
            </a:p>
          </p:txBody>
        </p:sp>
        <p:sp>
          <p:nvSpPr>
            <p:cNvPr id="114" name="Rectangle 103"/>
            <p:cNvSpPr/>
            <p:nvPr/>
          </p:nvSpPr>
          <p:spPr>
            <a:xfrm>
              <a:off x="3610080" y="583812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0</a:t>
              </a:r>
              <a:endParaRPr b="0" lang="en-US" sz="2400" spc="-1" strike="noStrike">
                <a:solidFill>
                  <a:srgbClr val="000000"/>
                </a:solidFill>
                <a:latin typeface="Arial"/>
              </a:endParaRPr>
            </a:p>
          </p:txBody>
        </p:sp>
        <p:sp>
          <p:nvSpPr>
            <p:cNvPr id="115" name="Rectangle 104"/>
            <p:cNvSpPr/>
            <p:nvPr/>
          </p:nvSpPr>
          <p:spPr>
            <a:xfrm>
              <a:off x="3914640" y="583812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1</a:t>
              </a:r>
              <a:endParaRPr b="0" lang="en-US" sz="2400" spc="-1" strike="noStrike">
                <a:solidFill>
                  <a:srgbClr val="000000"/>
                </a:solidFill>
                <a:latin typeface="Arial"/>
              </a:endParaRPr>
            </a:p>
          </p:txBody>
        </p:sp>
        <p:sp>
          <p:nvSpPr>
            <p:cNvPr id="116" name="Rectangle 105"/>
            <p:cNvSpPr/>
            <p:nvPr/>
          </p:nvSpPr>
          <p:spPr>
            <a:xfrm>
              <a:off x="4219560" y="583812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2</a:t>
              </a:r>
              <a:endParaRPr b="0" lang="en-US" sz="2400" spc="-1" strike="noStrike">
                <a:solidFill>
                  <a:srgbClr val="000000"/>
                </a:solidFill>
                <a:latin typeface="Arial"/>
              </a:endParaRPr>
            </a:p>
          </p:txBody>
        </p:sp>
        <p:sp>
          <p:nvSpPr>
            <p:cNvPr id="117" name="Rectangle 106"/>
            <p:cNvSpPr/>
            <p:nvPr/>
          </p:nvSpPr>
          <p:spPr>
            <a:xfrm>
              <a:off x="6886440" y="583812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f</a:t>
              </a:r>
              <a:endParaRPr b="0" lang="en-US" sz="2400" spc="-1" strike="noStrike">
                <a:solidFill>
                  <a:srgbClr val="000000"/>
                </a:solidFill>
                <a:latin typeface="Arial"/>
              </a:endParaRPr>
            </a:p>
          </p:txBody>
        </p:sp>
        <p:sp>
          <p:nvSpPr>
            <p:cNvPr id="118" name="Rectangle 107"/>
            <p:cNvSpPr/>
            <p:nvPr/>
          </p:nvSpPr>
          <p:spPr>
            <a:xfrm>
              <a:off x="4753080" y="583812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r</a:t>
              </a:r>
              <a:endParaRPr b="0" lang="en-US" sz="2400" spc="-1" strike="noStrike">
                <a:solidFill>
                  <a:srgbClr val="000000"/>
                </a:solidFill>
                <a:latin typeface="Arial"/>
              </a:endParaRPr>
            </a:p>
          </p:txBody>
        </p:sp>
        <p:sp>
          <p:nvSpPr>
            <p:cNvPr id="119" name="Rectangle 108"/>
            <p:cNvSpPr/>
            <p:nvPr/>
          </p:nvSpPr>
          <p:spPr>
            <a:xfrm>
              <a:off x="353376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120" name="Rectangle 109"/>
            <p:cNvSpPr/>
            <p:nvPr/>
          </p:nvSpPr>
          <p:spPr>
            <a:xfrm>
              <a:off x="383868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1" name="Rectangle 110"/>
            <p:cNvSpPr/>
            <p:nvPr/>
          </p:nvSpPr>
          <p:spPr>
            <a:xfrm>
              <a:off x="414324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2" name="Rectangle 111"/>
            <p:cNvSpPr/>
            <p:nvPr/>
          </p:nvSpPr>
          <p:spPr>
            <a:xfrm>
              <a:off x="444816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3" name="Rectangle 112"/>
            <p:cNvSpPr/>
            <p:nvPr/>
          </p:nvSpPr>
          <p:spPr>
            <a:xfrm>
              <a:off x="4753080" y="5525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4" name="Rectangle 113"/>
            <p:cNvSpPr/>
            <p:nvPr/>
          </p:nvSpPr>
          <p:spPr>
            <a:xfrm>
              <a:off x="5057640" y="5525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5" name="Rectangle 114"/>
            <p:cNvSpPr/>
            <p:nvPr/>
          </p:nvSpPr>
          <p:spPr>
            <a:xfrm>
              <a:off x="5362560" y="5525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6" name="Rectangle 115"/>
            <p:cNvSpPr/>
            <p:nvPr/>
          </p:nvSpPr>
          <p:spPr>
            <a:xfrm>
              <a:off x="5667480" y="5525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7" name="Rectangle 116"/>
            <p:cNvSpPr/>
            <p:nvPr/>
          </p:nvSpPr>
          <p:spPr>
            <a:xfrm>
              <a:off x="5972040" y="5525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8" name="Rectangle 117"/>
            <p:cNvSpPr/>
            <p:nvPr/>
          </p:nvSpPr>
          <p:spPr>
            <a:xfrm>
              <a:off x="6276960" y="5525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9" name="Rectangle 118"/>
            <p:cNvSpPr/>
            <p:nvPr/>
          </p:nvSpPr>
          <p:spPr>
            <a:xfrm>
              <a:off x="6581880" y="5525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30" name="Rectangle 119"/>
            <p:cNvSpPr/>
            <p:nvPr/>
          </p:nvSpPr>
          <p:spPr>
            <a:xfrm>
              <a:off x="688644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31" name="Rectangle 120"/>
            <p:cNvSpPr/>
            <p:nvPr/>
          </p:nvSpPr>
          <p:spPr>
            <a:xfrm>
              <a:off x="719136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32" name="Rectangle 121"/>
            <p:cNvSpPr/>
            <p:nvPr/>
          </p:nvSpPr>
          <p:spPr>
            <a:xfrm>
              <a:off x="749628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33" name="Rectangle 122"/>
            <p:cNvSpPr/>
            <p:nvPr/>
          </p:nvSpPr>
          <p:spPr>
            <a:xfrm>
              <a:off x="780084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34" name="Rectangle 123"/>
            <p:cNvSpPr/>
            <p:nvPr/>
          </p:nvSpPr>
          <p:spPr>
            <a:xfrm>
              <a:off x="810576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35" name="Rectangle 124"/>
            <p:cNvSpPr/>
            <p:nvPr/>
          </p:nvSpPr>
          <p:spPr>
            <a:xfrm>
              <a:off x="8410680" y="5525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sp>
        <p:nvSpPr>
          <p:cNvPr id="136" name="Text Box 125"/>
          <p:cNvSpPr/>
          <p:nvPr/>
        </p:nvSpPr>
        <p:spPr>
          <a:xfrm>
            <a:off x="3601800" y="4992120"/>
            <a:ext cx="4590000" cy="4554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400" spc="-1" strike="noStrike">
                <a:solidFill>
                  <a:schemeClr val="dk1"/>
                </a:solidFill>
                <a:latin typeface="Tahoma"/>
                <a:ea typeface="MS PGothic"/>
              </a:rPr>
              <a:t>wrapped-around configuration</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Queue Operations</a:t>
            </a:r>
            <a:endParaRPr b="0" lang="en-US" sz="4400" spc="-1" strike="noStrike">
              <a:solidFill>
                <a:srgbClr val="000000"/>
              </a:solidFill>
              <a:latin typeface="Arial"/>
            </a:endParaRPr>
          </a:p>
        </p:txBody>
      </p:sp>
      <p:sp>
        <p:nvSpPr>
          <p:cNvPr id="138"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We use the modulo operator (remainder of division)</a:t>
            </a:r>
            <a:endParaRPr b="0" lang="en-US" sz="2800" spc="-1" strike="noStrike">
              <a:solidFill>
                <a:srgbClr val="000000"/>
              </a:solidFill>
              <a:latin typeface="Arial"/>
            </a:endParaRPr>
          </a:p>
        </p:txBody>
      </p:sp>
      <p:sp>
        <p:nvSpPr>
          <p:cNvPr id="139" name="PlaceHolder 3"/>
          <p:cNvSpPr>
            <a:spLocks noGrp="1"/>
          </p:cNvSpPr>
          <p:nvPr>
            <p:ph type="dt" idx="25"/>
          </p:nvPr>
        </p:nvSpPr>
        <p:spPr>
          <a:xfrm>
            <a:off x="83808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defTabSz="457200">
              <a:lnSpc>
                <a:spcPct val="100000"/>
              </a:lnSpc>
              <a:buNone/>
              <a:tabLst>
                <a:tab algn="l" pos="0"/>
              </a:tabLst>
            </a:pPr>
            <a:r>
              <a:rPr b="0" lang="en-US" sz="1400" spc="-1" strike="noStrike">
                <a:solidFill>
                  <a:schemeClr val="dk1">
                    <a:tint val="75000"/>
                  </a:schemeClr>
                </a:solidFill>
                <a:latin typeface="Tahoma"/>
                <a:ea typeface="MS PGothic"/>
              </a:rPr>
              <a:t>© 2013 Goodrich, Tamassia, Goldwasser</a:t>
            </a:r>
            <a:endParaRPr b="0" lang="en-US" sz="1400" spc="-1" strike="noStrike">
              <a:solidFill>
                <a:srgbClr val="000000"/>
              </a:solidFill>
              <a:latin typeface="Times New Roman"/>
            </a:endParaRPr>
          </a:p>
        </p:txBody>
      </p:sp>
      <p:sp>
        <p:nvSpPr>
          <p:cNvPr id="140" name="PlaceHolder 4"/>
          <p:cNvSpPr>
            <a:spLocks noGrp="1"/>
          </p:cNvSpPr>
          <p:nvPr>
            <p:ph type="ftr" idx="26"/>
          </p:nvPr>
        </p:nvSpPr>
        <p:spPr>
          <a:xfrm>
            <a:off x="9448920" y="6356520"/>
            <a:ext cx="2742120" cy="36396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Queues</a:t>
            </a:r>
            <a:endParaRPr b="0" lang="en-US" sz="1400" spc="-1" strike="noStrike">
              <a:solidFill>
                <a:srgbClr val="000000"/>
              </a:solidFill>
              <a:latin typeface="Times New Roman"/>
            </a:endParaRPr>
          </a:p>
        </p:txBody>
      </p:sp>
      <p:sp>
        <p:nvSpPr>
          <p:cNvPr id="141" name="PlaceHolder 5"/>
          <p:cNvSpPr>
            <a:spLocks noGrp="1"/>
          </p:cNvSpPr>
          <p:nvPr>
            <p:ph type="sldNum" idx="27"/>
          </p:nvPr>
        </p:nvSpPr>
        <p:spPr>
          <a:xfrm>
            <a:off x="0" y="6356520"/>
            <a:ext cx="41137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6DF81BBD-49F6-446B-8DBD-EC7F3CFD7871}"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42" name="Text Box 4"/>
          <p:cNvSpPr/>
          <p:nvPr/>
        </p:nvSpPr>
        <p:spPr>
          <a:xfrm>
            <a:off x="7140600" y="1715760"/>
            <a:ext cx="4418640" cy="1918440"/>
          </a:xfrm>
          <a:prstGeom prst="rect">
            <a:avLst/>
          </a:prstGeom>
          <a:noFill/>
          <a:ln w="9525">
            <a:solidFill>
              <a:srgbClr val="ed7d31"/>
            </a:solidFill>
            <a:miter/>
          </a:ln>
        </p:spPr>
        <p:style>
          <a:lnRef idx="0"/>
          <a:fillRef idx="0"/>
          <a:effectRef idx="0"/>
          <a:fontRef idx="minor"/>
        </p:style>
        <p:txBody>
          <a:bodyPr lIns="90000" rIns="90000" tIns="45000" bIns="45000" anchor="t">
            <a:spAutoFit/>
          </a:bodyPr>
          <a:p>
            <a:pPr defTabSz="228600">
              <a:lnSpc>
                <a:spcPct val="100000"/>
              </a:lnSpc>
            </a:pPr>
            <a:r>
              <a:rPr b="1" lang="en-US" sz="2400" spc="-1" strike="noStrike">
                <a:solidFill>
                  <a:srgbClr val="000000"/>
                </a:solidFill>
                <a:latin typeface="Times New Roman"/>
                <a:ea typeface="MS PGothic"/>
              </a:rPr>
              <a:t>Algorithm</a:t>
            </a:r>
            <a:r>
              <a:rPr b="0" lang="en-US" sz="2400" spc="-1" strike="noStrike">
                <a:solidFill>
                  <a:schemeClr val="dk1"/>
                </a:solidFill>
                <a:latin typeface="Times New Roman"/>
                <a:ea typeface="MS PGothic"/>
              </a:rPr>
              <a:t> </a:t>
            </a:r>
            <a:r>
              <a:rPr b="1" i="1" lang="en-US" sz="2400" spc="-1" strike="noStrike">
                <a:solidFill>
                  <a:schemeClr val="dk2"/>
                </a:solidFill>
                <a:latin typeface="Times New Roman"/>
                <a:ea typeface="MS PGothic"/>
              </a:rPr>
              <a:t>size</a:t>
            </a:r>
            <a:r>
              <a:rPr b="0" lang="en-US" sz="2400" spc="-1" strike="noStrike">
                <a:solidFill>
                  <a:schemeClr val="dk2"/>
                </a:solidFill>
                <a:latin typeface="Times New Roman"/>
                <a:ea typeface="MS PGothic"/>
              </a:rPr>
              <a:t>()</a:t>
            </a:r>
            <a:endParaRPr b="0" lang="en-US" sz="2400" spc="-1" strike="noStrike">
              <a:solidFill>
                <a:srgbClr val="000000"/>
              </a:solidFill>
              <a:latin typeface="Arial"/>
            </a:endParaRPr>
          </a:p>
          <a:p>
            <a:pPr defTabSz="228600">
              <a:lnSpc>
                <a:spcPct val="100000"/>
              </a:lnSpc>
            </a:pPr>
            <a:r>
              <a:rPr b="0" lang="en-US" sz="2400" spc="-1" strike="noStrike">
                <a:solidFill>
                  <a:schemeClr val="accent2"/>
                </a:solidFill>
                <a:latin typeface="Times New Roman"/>
                <a:ea typeface="MS PGothic"/>
              </a:rPr>
              <a:t>	</a:t>
            </a:r>
            <a:r>
              <a:rPr b="1" lang="en-US" sz="2400" spc="-1" strike="noStrike">
                <a:solidFill>
                  <a:srgbClr val="000000"/>
                </a:solidFill>
                <a:latin typeface="Times New Roman"/>
                <a:ea typeface="MS PGothic"/>
              </a:rPr>
              <a:t>return</a:t>
            </a:r>
            <a:r>
              <a:rPr b="0" lang="en-US" sz="2400" spc="-1" strike="noStrike">
                <a:solidFill>
                  <a:schemeClr val="dk1"/>
                </a:solidFill>
                <a:latin typeface="Times New Roman"/>
                <a:ea typeface="MS PGothic"/>
              </a:rPr>
              <a:t> </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N</a:t>
            </a:r>
            <a:r>
              <a:rPr b="0" lang="en-US" sz="2400" spc="-1" strike="noStrike">
                <a:solidFill>
                  <a:schemeClr val="accent2"/>
                </a:solidFill>
                <a:latin typeface="Times New Roman"/>
                <a:ea typeface="MS PGothic"/>
              </a:rPr>
              <a:t> </a:t>
            </a:r>
            <a:r>
              <a:rPr b="0" lang="en-US" sz="2400" spc="-1" strike="noStrike">
                <a:solidFill>
                  <a:schemeClr val="accent2"/>
                </a:solidFill>
                <a:latin typeface="Symbol"/>
                <a:ea typeface="MS PGothic"/>
              </a:rPr>
              <a:t>-</a:t>
            </a:r>
            <a:r>
              <a:rPr b="0" lang="en-US" sz="2400" spc="-1" strike="noStrike">
                <a:solidFill>
                  <a:schemeClr val="dk1"/>
                </a:solidFill>
                <a:latin typeface="Times New Roman"/>
                <a:ea typeface="MS PGothic"/>
              </a:rPr>
              <a:t> </a:t>
            </a:r>
            <a:r>
              <a:rPr b="1" i="1" lang="en-US" sz="2400" spc="-1" strike="noStrike">
                <a:solidFill>
                  <a:schemeClr val="accent2"/>
                </a:solidFill>
                <a:latin typeface="Times New Roman"/>
                <a:ea typeface="MS PGothic"/>
              </a:rPr>
              <a:t>f</a:t>
            </a:r>
            <a:r>
              <a:rPr b="0" lang="en-US" sz="2400" spc="-1" strike="noStrike">
                <a:solidFill>
                  <a:schemeClr val="accent2"/>
                </a:solidFill>
                <a:latin typeface="Times New Roman"/>
                <a:ea typeface="MS PGothic"/>
              </a:rPr>
              <a:t> +</a:t>
            </a:r>
            <a:r>
              <a:rPr b="0" lang="en-US" sz="2400" spc="-1" strike="noStrike">
                <a:solidFill>
                  <a:schemeClr val="dk2"/>
                </a:solidFill>
                <a:latin typeface="Times New Roman"/>
                <a:ea typeface="MS PGothic"/>
              </a:rPr>
              <a:t> </a:t>
            </a:r>
            <a:r>
              <a:rPr b="1" i="1" lang="en-US" sz="2400" spc="-1" strike="noStrike">
                <a:solidFill>
                  <a:schemeClr val="accent2"/>
                </a:solidFill>
                <a:latin typeface="Times New Roman"/>
                <a:ea typeface="MS PGothic"/>
              </a:rPr>
              <a:t>r</a:t>
            </a:r>
            <a:r>
              <a:rPr b="0" lang="en-US" sz="2400" spc="-1" strike="noStrike">
                <a:solidFill>
                  <a:schemeClr val="accent2"/>
                </a:solidFill>
                <a:latin typeface="Times New Roman"/>
                <a:ea typeface="MS PGothic"/>
              </a:rPr>
              <a:t>) mod </a:t>
            </a:r>
            <a:r>
              <a:rPr b="1" i="1" lang="en-US" sz="2400" spc="-1" strike="noStrike">
                <a:solidFill>
                  <a:schemeClr val="accent2"/>
                </a:solidFill>
                <a:latin typeface="Times New Roman"/>
                <a:ea typeface="MS PGothic"/>
              </a:rPr>
              <a:t>N</a:t>
            </a:r>
            <a:endParaRPr b="0" lang="en-US" sz="2400" spc="-1" strike="noStrike">
              <a:solidFill>
                <a:srgbClr val="000000"/>
              </a:solidFill>
              <a:latin typeface="Arial"/>
            </a:endParaRPr>
          </a:p>
          <a:p>
            <a:pPr defTabSz="228600">
              <a:lnSpc>
                <a:spcPct val="100000"/>
              </a:lnSpc>
            </a:pPr>
            <a:endParaRPr b="0" lang="en-US" sz="2400" spc="-1" strike="noStrike">
              <a:solidFill>
                <a:srgbClr val="000000"/>
              </a:solidFill>
              <a:latin typeface="Arial"/>
            </a:endParaRPr>
          </a:p>
          <a:p>
            <a:pPr defTabSz="228600">
              <a:lnSpc>
                <a:spcPct val="100000"/>
              </a:lnSpc>
            </a:pPr>
            <a:r>
              <a:rPr b="1" lang="en-US" sz="2400" spc="-1" strike="noStrike">
                <a:solidFill>
                  <a:srgbClr val="000000"/>
                </a:solidFill>
                <a:latin typeface="Times New Roman"/>
                <a:ea typeface="MS PGothic"/>
              </a:rPr>
              <a:t>Algorithm</a:t>
            </a:r>
            <a:r>
              <a:rPr b="0" lang="en-US" sz="2400" spc="-1" strike="noStrike">
                <a:solidFill>
                  <a:schemeClr val="dk1"/>
                </a:solidFill>
                <a:latin typeface="Times New Roman"/>
                <a:ea typeface="MS PGothic"/>
              </a:rPr>
              <a:t> </a:t>
            </a:r>
            <a:r>
              <a:rPr b="1" i="1" lang="en-US" sz="2400" spc="-1" strike="noStrike">
                <a:solidFill>
                  <a:schemeClr val="dk2"/>
                </a:solidFill>
                <a:latin typeface="Times New Roman"/>
                <a:ea typeface="MS PGothic"/>
              </a:rPr>
              <a:t>isEmpty</a:t>
            </a:r>
            <a:r>
              <a:rPr b="0" lang="en-US" sz="2400" spc="-1" strike="noStrike">
                <a:solidFill>
                  <a:schemeClr val="dk2"/>
                </a:solidFill>
                <a:latin typeface="Times New Roman"/>
                <a:ea typeface="MS PGothic"/>
              </a:rPr>
              <a:t>()</a:t>
            </a:r>
            <a:endParaRPr b="0" lang="en-US" sz="2400" spc="-1" strike="noStrike">
              <a:solidFill>
                <a:srgbClr val="000000"/>
              </a:solidFill>
              <a:latin typeface="Arial"/>
            </a:endParaRPr>
          </a:p>
          <a:p>
            <a:pPr defTabSz="228600">
              <a:lnSpc>
                <a:spcPct val="100000"/>
              </a:lnSpc>
            </a:pPr>
            <a:r>
              <a:rPr b="0" lang="en-US" sz="2400" spc="-1" strike="noStrike">
                <a:solidFill>
                  <a:schemeClr val="accent2"/>
                </a:solidFill>
                <a:latin typeface="Times New Roman"/>
                <a:ea typeface="MS PGothic"/>
              </a:rPr>
              <a:t>	</a:t>
            </a:r>
            <a:r>
              <a:rPr b="1" lang="en-US" sz="2400" spc="-1" strike="noStrike">
                <a:solidFill>
                  <a:srgbClr val="000000"/>
                </a:solidFill>
                <a:latin typeface="Times New Roman"/>
                <a:ea typeface="MS PGothic"/>
              </a:rPr>
              <a:t>return</a:t>
            </a:r>
            <a:r>
              <a:rPr b="0" lang="en-US" sz="2400" spc="-1" strike="noStrike">
                <a:solidFill>
                  <a:schemeClr val="dk1"/>
                </a:solidFill>
                <a:latin typeface="Times New Roman"/>
                <a:ea typeface="MS PGothic"/>
              </a:rPr>
              <a:t> </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f</a:t>
            </a:r>
            <a:r>
              <a:rPr b="0" lang="en-US" sz="2400" spc="-1" strike="noStrike">
                <a:solidFill>
                  <a:schemeClr val="accent2"/>
                </a:solidFill>
                <a:latin typeface="Times New Roman"/>
                <a:ea typeface="MS PGothic"/>
              </a:rPr>
              <a:t> </a:t>
            </a:r>
            <a:r>
              <a:rPr b="0" lang="en-US" sz="2400" spc="-1" strike="noStrike">
                <a:solidFill>
                  <a:schemeClr val="accent2"/>
                </a:solidFill>
                <a:latin typeface="Symbol"/>
                <a:ea typeface="MS PGothic"/>
              </a:rPr>
              <a:t>=</a:t>
            </a:r>
            <a:r>
              <a:rPr b="0" lang="en-US" sz="2400" spc="-1" strike="noStrike">
                <a:solidFill>
                  <a:schemeClr val="dk1"/>
                </a:solidFill>
                <a:latin typeface="Times New Roman"/>
                <a:ea typeface="MS PGothic"/>
              </a:rPr>
              <a:t> </a:t>
            </a:r>
            <a:r>
              <a:rPr b="1" i="1" lang="en-US" sz="2400" spc="-1" strike="noStrike">
                <a:solidFill>
                  <a:schemeClr val="accent2"/>
                </a:solidFill>
                <a:latin typeface="Times New Roman"/>
                <a:ea typeface="MS PGothic"/>
              </a:rPr>
              <a:t>r</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p:txBody>
      </p:sp>
      <p:grpSp>
        <p:nvGrpSpPr>
          <p:cNvPr id="143" name="Group 5"/>
          <p:cNvGrpSpPr/>
          <p:nvPr/>
        </p:nvGrpSpPr>
        <p:grpSpPr>
          <a:xfrm>
            <a:off x="3048120" y="4199040"/>
            <a:ext cx="5637600" cy="754200"/>
            <a:chOff x="3048120" y="4199040"/>
            <a:chExt cx="5637600" cy="754200"/>
          </a:xfrm>
        </p:grpSpPr>
        <p:sp>
          <p:nvSpPr>
            <p:cNvPr id="144" name="Rectangle 6"/>
            <p:cNvSpPr/>
            <p:nvPr/>
          </p:nvSpPr>
          <p:spPr>
            <a:xfrm>
              <a:off x="3048120" y="4199040"/>
              <a:ext cx="2959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Q</a:t>
              </a:r>
              <a:endParaRPr b="0" lang="en-US" sz="2400" spc="-1" strike="noStrike">
                <a:solidFill>
                  <a:srgbClr val="000000"/>
                </a:solidFill>
                <a:latin typeface="Arial"/>
              </a:endParaRPr>
            </a:p>
          </p:txBody>
        </p:sp>
        <p:sp>
          <p:nvSpPr>
            <p:cNvPr id="145" name="Rectangle 7"/>
            <p:cNvSpPr/>
            <p:nvPr/>
          </p:nvSpPr>
          <p:spPr>
            <a:xfrm>
              <a:off x="3581280" y="45878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0</a:t>
              </a:r>
              <a:endParaRPr b="0" lang="en-US" sz="2400" spc="-1" strike="noStrike">
                <a:solidFill>
                  <a:srgbClr val="000000"/>
                </a:solidFill>
                <a:latin typeface="Arial"/>
              </a:endParaRPr>
            </a:p>
          </p:txBody>
        </p:sp>
        <p:sp>
          <p:nvSpPr>
            <p:cNvPr id="146" name="Rectangle 8"/>
            <p:cNvSpPr/>
            <p:nvPr/>
          </p:nvSpPr>
          <p:spPr>
            <a:xfrm>
              <a:off x="3886200" y="45878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1</a:t>
              </a:r>
              <a:endParaRPr b="0" lang="en-US" sz="2400" spc="-1" strike="noStrike">
                <a:solidFill>
                  <a:srgbClr val="000000"/>
                </a:solidFill>
                <a:latin typeface="Arial"/>
              </a:endParaRPr>
            </a:p>
          </p:txBody>
        </p:sp>
        <p:sp>
          <p:nvSpPr>
            <p:cNvPr id="147" name="Rectangle 9"/>
            <p:cNvSpPr/>
            <p:nvPr/>
          </p:nvSpPr>
          <p:spPr>
            <a:xfrm>
              <a:off x="4191120" y="45878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2</a:t>
              </a:r>
              <a:endParaRPr b="0" lang="en-US" sz="2400" spc="-1" strike="noStrike">
                <a:solidFill>
                  <a:srgbClr val="000000"/>
                </a:solidFill>
                <a:latin typeface="Arial"/>
              </a:endParaRPr>
            </a:p>
          </p:txBody>
        </p:sp>
        <p:sp>
          <p:nvSpPr>
            <p:cNvPr id="148" name="Rectangle 10"/>
            <p:cNvSpPr/>
            <p:nvPr/>
          </p:nvSpPr>
          <p:spPr>
            <a:xfrm>
              <a:off x="7772400" y="458784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r</a:t>
              </a:r>
              <a:endParaRPr b="0" lang="en-US" sz="2400" spc="-1" strike="noStrike">
                <a:solidFill>
                  <a:srgbClr val="000000"/>
                </a:solidFill>
                <a:latin typeface="Arial"/>
              </a:endParaRPr>
            </a:p>
          </p:txBody>
        </p:sp>
        <p:sp>
          <p:nvSpPr>
            <p:cNvPr id="149" name="Rectangle 11"/>
            <p:cNvSpPr/>
            <p:nvPr/>
          </p:nvSpPr>
          <p:spPr>
            <a:xfrm>
              <a:off x="4724280" y="458784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f</a:t>
              </a:r>
              <a:endParaRPr b="0" lang="en-US" sz="2400" spc="-1" strike="noStrike">
                <a:solidFill>
                  <a:srgbClr val="000000"/>
                </a:solidFill>
                <a:latin typeface="Arial"/>
              </a:endParaRPr>
            </a:p>
          </p:txBody>
        </p:sp>
        <p:sp>
          <p:nvSpPr>
            <p:cNvPr id="150" name="Rectangle 12"/>
            <p:cNvSpPr/>
            <p:nvPr/>
          </p:nvSpPr>
          <p:spPr>
            <a:xfrm>
              <a:off x="350532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151" name="Rectangle 13"/>
            <p:cNvSpPr/>
            <p:nvPr/>
          </p:nvSpPr>
          <p:spPr>
            <a:xfrm>
              <a:off x="380988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52" name="Rectangle 14"/>
            <p:cNvSpPr/>
            <p:nvPr/>
          </p:nvSpPr>
          <p:spPr>
            <a:xfrm>
              <a:off x="411480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53" name="Rectangle 15"/>
            <p:cNvSpPr/>
            <p:nvPr/>
          </p:nvSpPr>
          <p:spPr>
            <a:xfrm>
              <a:off x="441972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54" name="Rectangle 16"/>
            <p:cNvSpPr/>
            <p:nvPr/>
          </p:nvSpPr>
          <p:spPr>
            <a:xfrm>
              <a:off x="472428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55" name="Rectangle 17"/>
            <p:cNvSpPr/>
            <p:nvPr/>
          </p:nvSpPr>
          <p:spPr>
            <a:xfrm>
              <a:off x="502920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56" name="Rectangle 18"/>
            <p:cNvSpPr/>
            <p:nvPr/>
          </p:nvSpPr>
          <p:spPr>
            <a:xfrm>
              <a:off x="533412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57" name="Rectangle 19"/>
            <p:cNvSpPr/>
            <p:nvPr/>
          </p:nvSpPr>
          <p:spPr>
            <a:xfrm>
              <a:off x="563868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58" name="Rectangle 20"/>
            <p:cNvSpPr/>
            <p:nvPr/>
          </p:nvSpPr>
          <p:spPr>
            <a:xfrm>
              <a:off x="594360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59" name="Rectangle 21"/>
            <p:cNvSpPr/>
            <p:nvPr/>
          </p:nvSpPr>
          <p:spPr>
            <a:xfrm>
              <a:off x="624852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60" name="Rectangle 22"/>
            <p:cNvSpPr/>
            <p:nvPr/>
          </p:nvSpPr>
          <p:spPr>
            <a:xfrm>
              <a:off x="655308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61" name="Rectangle 23"/>
            <p:cNvSpPr/>
            <p:nvPr/>
          </p:nvSpPr>
          <p:spPr>
            <a:xfrm>
              <a:off x="685800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62" name="Rectangle 24"/>
            <p:cNvSpPr/>
            <p:nvPr/>
          </p:nvSpPr>
          <p:spPr>
            <a:xfrm>
              <a:off x="716292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63" name="Rectangle 25"/>
            <p:cNvSpPr/>
            <p:nvPr/>
          </p:nvSpPr>
          <p:spPr>
            <a:xfrm>
              <a:off x="746748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64" name="Rectangle 26"/>
            <p:cNvSpPr/>
            <p:nvPr/>
          </p:nvSpPr>
          <p:spPr>
            <a:xfrm>
              <a:off x="777240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65" name="Rectangle 27"/>
            <p:cNvSpPr/>
            <p:nvPr/>
          </p:nvSpPr>
          <p:spPr>
            <a:xfrm>
              <a:off x="807732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66" name="Rectangle 28"/>
            <p:cNvSpPr/>
            <p:nvPr/>
          </p:nvSpPr>
          <p:spPr>
            <a:xfrm>
              <a:off x="838188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grpSp>
        <p:nvGrpSpPr>
          <p:cNvPr id="167" name="Group 30"/>
          <p:cNvGrpSpPr/>
          <p:nvPr/>
        </p:nvGrpSpPr>
        <p:grpSpPr>
          <a:xfrm>
            <a:off x="3048120" y="5181480"/>
            <a:ext cx="5637600" cy="754560"/>
            <a:chOff x="3048120" y="5181480"/>
            <a:chExt cx="5637600" cy="754560"/>
          </a:xfrm>
        </p:grpSpPr>
        <p:sp>
          <p:nvSpPr>
            <p:cNvPr id="168" name="Rectangle 31"/>
            <p:cNvSpPr/>
            <p:nvPr/>
          </p:nvSpPr>
          <p:spPr>
            <a:xfrm>
              <a:off x="3048120" y="5181480"/>
              <a:ext cx="2959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Q</a:t>
              </a:r>
              <a:endParaRPr b="0" lang="en-US" sz="2400" spc="-1" strike="noStrike">
                <a:solidFill>
                  <a:srgbClr val="000000"/>
                </a:solidFill>
                <a:latin typeface="Arial"/>
              </a:endParaRPr>
            </a:p>
          </p:txBody>
        </p:sp>
        <p:sp>
          <p:nvSpPr>
            <p:cNvPr id="169" name="Rectangle 32"/>
            <p:cNvSpPr/>
            <p:nvPr/>
          </p:nvSpPr>
          <p:spPr>
            <a:xfrm>
              <a:off x="3581280" y="55706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0</a:t>
              </a:r>
              <a:endParaRPr b="0" lang="en-US" sz="2400" spc="-1" strike="noStrike">
                <a:solidFill>
                  <a:srgbClr val="000000"/>
                </a:solidFill>
                <a:latin typeface="Arial"/>
              </a:endParaRPr>
            </a:p>
          </p:txBody>
        </p:sp>
        <p:sp>
          <p:nvSpPr>
            <p:cNvPr id="170" name="Rectangle 33"/>
            <p:cNvSpPr/>
            <p:nvPr/>
          </p:nvSpPr>
          <p:spPr>
            <a:xfrm>
              <a:off x="3886200" y="55706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1</a:t>
              </a:r>
              <a:endParaRPr b="0" lang="en-US" sz="2400" spc="-1" strike="noStrike">
                <a:solidFill>
                  <a:srgbClr val="000000"/>
                </a:solidFill>
                <a:latin typeface="Arial"/>
              </a:endParaRPr>
            </a:p>
          </p:txBody>
        </p:sp>
        <p:sp>
          <p:nvSpPr>
            <p:cNvPr id="171" name="Rectangle 34"/>
            <p:cNvSpPr/>
            <p:nvPr/>
          </p:nvSpPr>
          <p:spPr>
            <a:xfrm>
              <a:off x="4191120" y="55706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2</a:t>
              </a:r>
              <a:endParaRPr b="0" lang="en-US" sz="2400" spc="-1" strike="noStrike">
                <a:solidFill>
                  <a:srgbClr val="000000"/>
                </a:solidFill>
                <a:latin typeface="Arial"/>
              </a:endParaRPr>
            </a:p>
          </p:txBody>
        </p:sp>
        <p:sp>
          <p:nvSpPr>
            <p:cNvPr id="172" name="Rectangle 35"/>
            <p:cNvSpPr/>
            <p:nvPr/>
          </p:nvSpPr>
          <p:spPr>
            <a:xfrm>
              <a:off x="6858000" y="557064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f</a:t>
              </a:r>
              <a:endParaRPr b="0" lang="en-US" sz="2400" spc="-1" strike="noStrike">
                <a:solidFill>
                  <a:srgbClr val="000000"/>
                </a:solidFill>
                <a:latin typeface="Arial"/>
              </a:endParaRPr>
            </a:p>
          </p:txBody>
        </p:sp>
        <p:sp>
          <p:nvSpPr>
            <p:cNvPr id="173" name="Rectangle 36"/>
            <p:cNvSpPr/>
            <p:nvPr/>
          </p:nvSpPr>
          <p:spPr>
            <a:xfrm>
              <a:off x="4724280" y="557064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r</a:t>
              </a:r>
              <a:endParaRPr b="0" lang="en-US" sz="2400" spc="-1" strike="noStrike">
                <a:solidFill>
                  <a:srgbClr val="000000"/>
                </a:solidFill>
                <a:latin typeface="Arial"/>
              </a:endParaRPr>
            </a:p>
          </p:txBody>
        </p:sp>
        <p:sp>
          <p:nvSpPr>
            <p:cNvPr id="174" name="Rectangle 37"/>
            <p:cNvSpPr/>
            <p:nvPr/>
          </p:nvSpPr>
          <p:spPr>
            <a:xfrm>
              <a:off x="350532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175" name="Rectangle 38"/>
            <p:cNvSpPr/>
            <p:nvPr/>
          </p:nvSpPr>
          <p:spPr>
            <a:xfrm>
              <a:off x="380988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76" name="Rectangle 39"/>
            <p:cNvSpPr/>
            <p:nvPr/>
          </p:nvSpPr>
          <p:spPr>
            <a:xfrm>
              <a:off x="411480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77" name="Rectangle 40"/>
            <p:cNvSpPr/>
            <p:nvPr/>
          </p:nvSpPr>
          <p:spPr>
            <a:xfrm>
              <a:off x="441972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78" name="Rectangle 41"/>
            <p:cNvSpPr/>
            <p:nvPr/>
          </p:nvSpPr>
          <p:spPr>
            <a:xfrm>
              <a:off x="472428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79" name="Rectangle 42"/>
            <p:cNvSpPr/>
            <p:nvPr/>
          </p:nvSpPr>
          <p:spPr>
            <a:xfrm>
              <a:off x="502920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0" name="Rectangle 43"/>
            <p:cNvSpPr/>
            <p:nvPr/>
          </p:nvSpPr>
          <p:spPr>
            <a:xfrm>
              <a:off x="533412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1" name="Rectangle 44"/>
            <p:cNvSpPr/>
            <p:nvPr/>
          </p:nvSpPr>
          <p:spPr>
            <a:xfrm>
              <a:off x="563868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2" name="Rectangle 45"/>
            <p:cNvSpPr/>
            <p:nvPr/>
          </p:nvSpPr>
          <p:spPr>
            <a:xfrm>
              <a:off x="594360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3" name="Rectangle 46"/>
            <p:cNvSpPr/>
            <p:nvPr/>
          </p:nvSpPr>
          <p:spPr>
            <a:xfrm>
              <a:off x="624852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4" name="Rectangle 47"/>
            <p:cNvSpPr/>
            <p:nvPr/>
          </p:nvSpPr>
          <p:spPr>
            <a:xfrm>
              <a:off x="655308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5" name="Rectangle 48"/>
            <p:cNvSpPr/>
            <p:nvPr/>
          </p:nvSpPr>
          <p:spPr>
            <a:xfrm>
              <a:off x="685800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6" name="Rectangle 49"/>
            <p:cNvSpPr/>
            <p:nvPr/>
          </p:nvSpPr>
          <p:spPr>
            <a:xfrm>
              <a:off x="716292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7" name="Rectangle 50"/>
            <p:cNvSpPr/>
            <p:nvPr/>
          </p:nvSpPr>
          <p:spPr>
            <a:xfrm>
              <a:off x="746748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8" name="Rectangle 51"/>
            <p:cNvSpPr/>
            <p:nvPr/>
          </p:nvSpPr>
          <p:spPr>
            <a:xfrm>
              <a:off x="777240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89" name="Rectangle 52"/>
            <p:cNvSpPr/>
            <p:nvPr/>
          </p:nvSpPr>
          <p:spPr>
            <a:xfrm>
              <a:off x="807732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90" name="Rectangle 53"/>
            <p:cNvSpPr/>
            <p:nvPr/>
          </p:nvSpPr>
          <p:spPr>
            <a:xfrm>
              <a:off x="838188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Queue Operations (cont.)</a:t>
            </a:r>
            <a:endParaRPr b="0" lang="en-US" sz="4400" spc="-1" strike="noStrike">
              <a:solidFill>
                <a:srgbClr val="000000"/>
              </a:solidFill>
              <a:latin typeface="Arial"/>
            </a:endParaRPr>
          </a:p>
        </p:txBody>
      </p:sp>
      <p:sp>
        <p:nvSpPr>
          <p:cNvPr id="192"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Operation enqueue throws an exception if the array is full</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This exception is implementation-dependent</a:t>
            </a:r>
            <a:endParaRPr b="0" lang="en-US" sz="2400" spc="-1" strike="noStrike">
              <a:solidFill>
                <a:srgbClr val="000000"/>
              </a:solidFill>
              <a:latin typeface="Arial"/>
            </a:endParaRPr>
          </a:p>
        </p:txBody>
      </p:sp>
      <p:sp>
        <p:nvSpPr>
          <p:cNvPr id="193" name="PlaceHolder 3"/>
          <p:cNvSpPr>
            <a:spLocks noGrp="1"/>
          </p:cNvSpPr>
          <p:nvPr>
            <p:ph type="dt" idx="28"/>
          </p:nvPr>
        </p:nvSpPr>
        <p:spPr>
          <a:xfrm>
            <a:off x="83808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defTabSz="457200">
              <a:lnSpc>
                <a:spcPct val="100000"/>
              </a:lnSpc>
              <a:buNone/>
              <a:tabLst>
                <a:tab algn="l" pos="0"/>
              </a:tabLst>
            </a:pPr>
            <a:r>
              <a:rPr b="0" lang="en-US" sz="1400" spc="-1" strike="noStrike">
                <a:solidFill>
                  <a:schemeClr val="dk1">
                    <a:tint val="75000"/>
                  </a:schemeClr>
                </a:solidFill>
                <a:latin typeface="Tahoma"/>
                <a:ea typeface="MS PGothic"/>
              </a:rPr>
              <a:t>© 2013 Goodrich, Tamassia, Goldwasser</a:t>
            </a:r>
            <a:endParaRPr b="0" lang="en-US" sz="1400" spc="-1" strike="noStrike">
              <a:solidFill>
                <a:srgbClr val="000000"/>
              </a:solidFill>
              <a:latin typeface="Times New Roman"/>
            </a:endParaRPr>
          </a:p>
        </p:txBody>
      </p:sp>
      <p:sp>
        <p:nvSpPr>
          <p:cNvPr id="194" name="PlaceHolder 4"/>
          <p:cNvSpPr>
            <a:spLocks noGrp="1"/>
          </p:cNvSpPr>
          <p:nvPr>
            <p:ph type="ftr" idx="29"/>
          </p:nvPr>
        </p:nvSpPr>
        <p:spPr>
          <a:xfrm>
            <a:off x="9448920" y="6356520"/>
            <a:ext cx="2742120" cy="36396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Queues</a:t>
            </a:r>
            <a:endParaRPr b="0" lang="en-US" sz="1400" spc="-1" strike="noStrike">
              <a:solidFill>
                <a:srgbClr val="000000"/>
              </a:solidFill>
              <a:latin typeface="Times New Roman"/>
            </a:endParaRPr>
          </a:p>
        </p:txBody>
      </p:sp>
      <p:sp>
        <p:nvSpPr>
          <p:cNvPr id="195" name="PlaceHolder 5"/>
          <p:cNvSpPr>
            <a:spLocks noGrp="1"/>
          </p:cNvSpPr>
          <p:nvPr>
            <p:ph type="sldNum" idx="30"/>
          </p:nvPr>
        </p:nvSpPr>
        <p:spPr>
          <a:xfrm>
            <a:off x="0" y="6356520"/>
            <a:ext cx="41137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1E1F350D-6375-42A7-AED5-ACD337106213}"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96" name="Rectangle 4"/>
          <p:cNvSpPr/>
          <p:nvPr/>
        </p:nvSpPr>
        <p:spPr>
          <a:xfrm>
            <a:off x="2133720" y="304920"/>
            <a:ext cx="7771320" cy="1141920"/>
          </a:xfrm>
          <a:prstGeom prst="rect">
            <a:avLst/>
          </a:prstGeom>
          <a:noFill/>
          <a:ln w="0">
            <a:noFill/>
          </a:ln>
        </p:spPr>
        <p:style>
          <a:lnRef idx="0"/>
          <a:fillRef idx="0"/>
          <a:effectRef idx="0"/>
          <a:fontRef idx="minor"/>
        </p:style>
        <p:txBody>
          <a:bodyPr lIns="90000" rIns="90000" tIns="45000" bIns="45000" anchor="b">
            <a:noAutofit/>
          </a:bodyPr>
          <a:p>
            <a:pPr defTabSz="457200">
              <a:lnSpc>
                <a:spcPct val="100000"/>
              </a:lnSpc>
            </a:pPr>
            <a:endParaRPr b="0" lang="en-US" sz="4400" spc="-1" strike="noStrike">
              <a:solidFill>
                <a:schemeClr val="dk2"/>
              </a:solidFill>
              <a:latin typeface="Tahoma"/>
              <a:ea typeface="MS PGothic"/>
            </a:endParaRPr>
          </a:p>
        </p:txBody>
      </p:sp>
      <p:sp>
        <p:nvSpPr>
          <p:cNvPr id="197" name="Text Box 74"/>
          <p:cNvSpPr/>
          <p:nvPr/>
        </p:nvSpPr>
        <p:spPr>
          <a:xfrm>
            <a:off x="7620120" y="1544040"/>
            <a:ext cx="4266000" cy="2284200"/>
          </a:xfrm>
          <a:prstGeom prst="rect">
            <a:avLst/>
          </a:prstGeom>
          <a:noFill/>
          <a:ln w="9525">
            <a:solidFill>
              <a:srgbClr val="ed7d31"/>
            </a:solidFill>
            <a:miter/>
          </a:ln>
        </p:spPr>
        <p:style>
          <a:lnRef idx="0"/>
          <a:fillRef idx="0"/>
          <a:effectRef idx="0"/>
          <a:fontRef idx="minor"/>
        </p:style>
        <p:txBody>
          <a:bodyPr lIns="90000" rIns="90000" tIns="45000" bIns="45000" anchor="t">
            <a:spAutoFit/>
          </a:bodyPr>
          <a:p>
            <a:pPr defTabSz="228600">
              <a:lnSpc>
                <a:spcPct val="100000"/>
              </a:lnSpc>
            </a:pPr>
            <a:r>
              <a:rPr b="1" lang="en-US" sz="2400" spc="-1" strike="noStrike">
                <a:solidFill>
                  <a:srgbClr val="000000"/>
                </a:solidFill>
                <a:latin typeface="Times New Roman"/>
                <a:ea typeface="MS PGothic"/>
              </a:rPr>
              <a:t>Algorithm</a:t>
            </a:r>
            <a:r>
              <a:rPr b="0" lang="en-US" sz="2400" spc="-1" strike="noStrike">
                <a:solidFill>
                  <a:schemeClr val="dk1"/>
                </a:solidFill>
                <a:latin typeface="Times New Roman"/>
                <a:ea typeface="MS PGothic"/>
              </a:rPr>
              <a:t> </a:t>
            </a:r>
            <a:r>
              <a:rPr b="1" i="1" lang="en-US" sz="2400" spc="-1" strike="noStrike">
                <a:solidFill>
                  <a:schemeClr val="dk2"/>
                </a:solidFill>
                <a:latin typeface="Times New Roman"/>
                <a:ea typeface="MS PGothic"/>
              </a:rPr>
              <a:t>enqueue</a:t>
            </a:r>
            <a:r>
              <a:rPr b="0" lang="en-US" sz="2400" spc="-1" strike="noStrike">
                <a:solidFill>
                  <a:schemeClr val="dk2"/>
                </a:solidFill>
                <a:latin typeface="Times New Roman"/>
                <a:ea typeface="MS PGothic"/>
              </a:rPr>
              <a:t>(</a:t>
            </a:r>
            <a:r>
              <a:rPr b="1" i="1" lang="en-US" sz="2400" spc="-1" strike="noStrike">
                <a:solidFill>
                  <a:schemeClr val="dk2"/>
                </a:solidFill>
                <a:latin typeface="Times New Roman"/>
                <a:ea typeface="MS PGothic"/>
              </a:rPr>
              <a:t>o</a:t>
            </a:r>
            <a:r>
              <a:rPr b="0" lang="en-US" sz="2400" spc="-1" strike="noStrike">
                <a:solidFill>
                  <a:schemeClr val="dk2"/>
                </a:solidFill>
                <a:latin typeface="Times New Roman"/>
                <a:ea typeface="MS PGothic"/>
              </a:rPr>
              <a:t>)</a:t>
            </a:r>
            <a:endParaRPr b="0" lang="en-US" sz="2400" spc="-1" strike="noStrike">
              <a:solidFill>
                <a:srgbClr val="000000"/>
              </a:solidFill>
              <a:latin typeface="Arial"/>
            </a:endParaRPr>
          </a:p>
          <a:p>
            <a:pPr defTabSz="228600">
              <a:lnSpc>
                <a:spcPct val="100000"/>
              </a:lnSpc>
            </a:pPr>
            <a:r>
              <a:rPr b="0" lang="en-US" sz="2400" spc="-1" strike="noStrike">
                <a:solidFill>
                  <a:schemeClr val="dk1"/>
                </a:solidFill>
                <a:latin typeface="Times New Roman"/>
                <a:ea typeface="MS PGothic"/>
              </a:rPr>
              <a:t>	</a:t>
            </a:r>
            <a:r>
              <a:rPr b="1" lang="en-US" sz="2400" spc="-1" strike="noStrike">
                <a:solidFill>
                  <a:srgbClr val="000000"/>
                </a:solidFill>
                <a:latin typeface="Times New Roman"/>
                <a:ea typeface="MS PGothic"/>
              </a:rPr>
              <a:t>if</a:t>
            </a:r>
            <a:r>
              <a:rPr b="0" lang="en-US" sz="2400" spc="-1" strike="noStrike">
                <a:solidFill>
                  <a:schemeClr val="dk1"/>
                </a:solidFill>
                <a:latin typeface="Times New Roman"/>
                <a:ea typeface="MS PGothic"/>
              </a:rPr>
              <a:t> </a:t>
            </a:r>
            <a:r>
              <a:rPr b="1" i="1" lang="en-US" sz="2400" spc="-1" strike="noStrike">
                <a:solidFill>
                  <a:schemeClr val="accent2"/>
                </a:solidFill>
                <a:latin typeface="Times New Roman"/>
                <a:ea typeface="MS PGothic"/>
              </a:rPr>
              <a:t>size</a:t>
            </a:r>
            <a:r>
              <a:rPr b="0" lang="en-US" sz="2400" spc="-1" strike="noStrike">
                <a:solidFill>
                  <a:schemeClr val="accent2"/>
                </a:solidFill>
                <a:latin typeface="Times New Roman"/>
                <a:ea typeface="MS PGothic"/>
              </a:rPr>
              <a:t>()</a:t>
            </a:r>
            <a:r>
              <a:rPr b="0" lang="en-US" sz="2400" spc="-1" strike="noStrike">
                <a:solidFill>
                  <a:schemeClr val="dk2"/>
                </a:solidFill>
                <a:latin typeface="Times New Roman"/>
                <a:ea typeface="MS PGothic"/>
              </a:rPr>
              <a:t> </a:t>
            </a:r>
            <a:r>
              <a:rPr b="0" lang="en-US" sz="2400" spc="-1" strike="noStrike">
                <a:solidFill>
                  <a:srgbClr val="000000"/>
                </a:solidFill>
                <a:latin typeface="Times New Roman"/>
                <a:ea typeface="MS PGothic"/>
              </a:rPr>
              <a:t>=</a:t>
            </a:r>
            <a:r>
              <a:rPr b="0" lang="en-US" sz="2400" spc="-1" strike="noStrike">
                <a:solidFill>
                  <a:schemeClr val="dk2"/>
                </a:solidFill>
                <a:latin typeface="Times New Roman"/>
                <a:ea typeface="MS PGothic"/>
              </a:rPr>
              <a:t> </a:t>
            </a:r>
            <a:r>
              <a:rPr b="1" i="1" lang="en-US" sz="2400" spc="-1" strike="noStrike">
                <a:solidFill>
                  <a:schemeClr val="accent2"/>
                </a:solidFill>
                <a:latin typeface="Times New Roman"/>
                <a:ea typeface="MS PGothic"/>
              </a:rPr>
              <a:t>N</a:t>
            </a:r>
            <a:r>
              <a:rPr b="0" lang="en-US" sz="2400" spc="-1" strike="noStrike">
                <a:solidFill>
                  <a:schemeClr val="accent2"/>
                </a:solidFill>
                <a:latin typeface="Times New Roman"/>
                <a:ea typeface="MS PGothic"/>
              </a:rPr>
              <a:t> </a:t>
            </a:r>
            <a:r>
              <a:rPr b="0" lang="en-US" sz="2400" spc="-1" strike="noStrike">
                <a:solidFill>
                  <a:schemeClr val="accent2"/>
                </a:solidFill>
                <a:latin typeface="Symbol"/>
                <a:ea typeface="MS PGothic"/>
              </a:rPr>
              <a:t></a:t>
            </a:r>
            <a:r>
              <a:rPr b="0" lang="en-US" sz="2400" spc="-1" strike="noStrike">
                <a:solidFill>
                  <a:schemeClr val="dk2"/>
                </a:solidFill>
                <a:latin typeface="Times New Roman"/>
                <a:ea typeface="MS PGothic"/>
              </a:rPr>
              <a:t> </a:t>
            </a:r>
            <a:r>
              <a:rPr b="0" lang="en-US" sz="2400" spc="-1" strike="noStrike">
                <a:solidFill>
                  <a:schemeClr val="accent2"/>
                </a:solidFill>
                <a:latin typeface="Times New Roman"/>
                <a:ea typeface="MS PGothic"/>
              </a:rPr>
              <a:t>1</a:t>
            </a:r>
            <a:r>
              <a:rPr b="0" lang="en-US" sz="2400" spc="-1" strike="noStrike">
                <a:solidFill>
                  <a:schemeClr val="dk1"/>
                </a:solidFill>
                <a:latin typeface="Times New Roman"/>
                <a:ea typeface="MS PGothic"/>
              </a:rPr>
              <a:t> </a:t>
            </a:r>
            <a:r>
              <a:rPr b="1" lang="en-US" sz="2400" spc="-1" strike="noStrike">
                <a:solidFill>
                  <a:srgbClr val="000000"/>
                </a:solidFill>
                <a:latin typeface="Times New Roman"/>
                <a:ea typeface="MS PGothic"/>
              </a:rPr>
              <a:t>then</a:t>
            </a:r>
            <a:endParaRPr b="0" lang="en-US" sz="2400" spc="-1" strike="noStrike">
              <a:solidFill>
                <a:srgbClr val="000000"/>
              </a:solidFill>
              <a:latin typeface="Arial"/>
            </a:endParaRPr>
          </a:p>
          <a:p>
            <a:pPr defTabSz="228600">
              <a:lnSpc>
                <a:spcPct val="100000"/>
              </a:lnSpc>
            </a:pPr>
            <a:r>
              <a:rPr b="1" lang="en-US" sz="2400" spc="-1" strike="noStrike">
                <a:solidFill>
                  <a:srgbClr val="000000"/>
                </a:solidFill>
                <a:latin typeface="Times New Roman"/>
                <a:ea typeface="MS PGothic"/>
              </a:rPr>
              <a:t>	</a:t>
            </a:r>
            <a:r>
              <a:rPr b="1" lang="en-US" sz="2400" spc="-1" strike="noStrike">
                <a:solidFill>
                  <a:srgbClr val="000000"/>
                </a:solidFill>
                <a:latin typeface="Times New Roman"/>
                <a:ea typeface="MS PGothic"/>
              </a:rPr>
              <a:t>	</a:t>
            </a:r>
            <a:r>
              <a:rPr b="1" lang="en-US" sz="2400" spc="-1" strike="noStrike">
                <a:solidFill>
                  <a:srgbClr val="000000"/>
                </a:solidFill>
                <a:latin typeface="Times New Roman"/>
                <a:ea typeface="MS PGothic"/>
              </a:rPr>
              <a:t>throw </a:t>
            </a:r>
            <a:r>
              <a:rPr b="1" i="1" lang="en-US" sz="2400" spc="-1" strike="noStrike">
                <a:solidFill>
                  <a:schemeClr val="accent2"/>
                </a:solidFill>
                <a:latin typeface="Times New Roman"/>
                <a:ea typeface="MS PGothic"/>
              </a:rPr>
              <a:t>FullQueueException</a:t>
            </a:r>
            <a:endParaRPr b="0" lang="en-US" sz="2400" spc="-1" strike="noStrike">
              <a:solidFill>
                <a:srgbClr val="000000"/>
              </a:solidFill>
              <a:latin typeface="Arial"/>
            </a:endParaRPr>
          </a:p>
          <a:p>
            <a:pPr defTabSz="228600">
              <a:lnSpc>
                <a:spcPct val="100000"/>
              </a:lnSpc>
            </a:pPr>
            <a:r>
              <a:rPr b="0" lang="en-US" sz="2400" spc="-1" strike="noStrike">
                <a:solidFill>
                  <a:schemeClr val="accent2"/>
                </a:solidFill>
                <a:latin typeface="Times New Roman"/>
                <a:ea typeface="MS PGothic"/>
              </a:rPr>
              <a:t>	</a:t>
            </a:r>
            <a:r>
              <a:rPr b="0" lang="en-US" sz="2400" spc="-1" strike="noStrike">
                <a:solidFill>
                  <a:schemeClr val="accent2"/>
                </a:solidFill>
                <a:latin typeface="Times New Roman"/>
                <a:ea typeface="MS PGothic"/>
              </a:rPr>
              <a:t> </a:t>
            </a:r>
            <a:r>
              <a:rPr b="1" lang="en-US" sz="2400" spc="-1" strike="noStrike">
                <a:solidFill>
                  <a:srgbClr val="000000"/>
                </a:solidFill>
                <a:latin typeface="Times New Roman"/>
                <a:ea typeface="MS PGothic"/>
              </a:rPr>
              <a:t>else </a:t>
            </a:r>
            <a:r>
              <a:rPr b="0" lang="en-US" sz="2400" spc="-1" strike="noStrike">
                <a:solidFill>
                  <a:schemeClr val="dk1"/>
                </a:solidFill>
                <a:latin typeface="Times New Roman"/>
                <a:ea typeface="MS PGothic"/>
              </a:rPr>
              <a:t> </a:t>
            </a:r>
            <a:endParaRPr b="0" lang="en-US" sz="2400" spc="-1" strike="noStrike">
              <a:solidFill>
                <a:srgbClr val="000000"/>
              </a:solidFill>
              <a:latin typeface="Arial"/>
            </a:endParaRPr>
          </a:p>
          <a:p>
            <a:pPr defTabSz="228600">
              <a:lnSpc>
                <a:spcPct val="100000"/>
              </a:lnSpc>
            </a:pPr>
            <a:r>
              <a:rPr b="0" lang="en-US" sz="2400" spc="-1" strike="noStrike">
                <a:solidFill>
                  <a:schemeClr val="accent2"/>
                </a:solidFill>
                <a:latin typeface="Times New Roman"/>
                <a:ea typeface="MS PGothic"/>
              </a:rPr>
              <a:t>	</a:t>
            </a:r>
            <a:r>
              <a:rPr b="0"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Q</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r</a:t>
            </a:r>
            <a:r>
              <a:rPr b="0" lang="en-US" sz="2400" spc="-1" strike="noStrike">
                <a:solidFill>
                  <a:schemeClr val="accent2"/>
                </a:solidFill>
                <a:latin typeface="Times New Roman"/>
                <a:ea typeface="MS PGothic"/>
              </a:rPr>
              <a:t>] </a:t>
            </a:r>
            <a:r>
              <a:rPr b="0" lang="en-US" sz="2400" spc="-1" strike="noStrike">
                <a:solidFill>
                  <a:srgbClr val="000000"/>
                </a:solidFill>
                <a:latin typeface="Symbol"/>
                <a:ea typeface="MS PGothic"/>
              </a:rPr>
              <a:t></a:t>
            </a:r>
            <a:r>
              <a:rPr b="0" lang="en-US" sz="2400" spc="-1" strike="noStrike">
                <a:solidFill>
                  <a:schemeClr val="dk2"/>
                </a:solidFill>
                <a:latin typeface="Times New Roman"/>
                <a:ea typeface="MS PGothic"/>
              </a:rPr>
              <a:t> </a:t>
            </a:r>
            <a:r>
              <a:rPr b="1" i="1" lang="en-US" sz="2400" spc="-1" strike="noStrike">
                <a:solidFill>
                  <a:schemeClr val="accent2"/>
                </a:solidFill>
                <a:latin typeface="Times New Roman"/>
                <a:ea typeface="MS PGothic"/>
              </a:rPr>
              <a:t>o</a:t>
            </a:r>
            <a:endParaRPr b="0" lang="en-US" sz="2400" spc="-1" strike="noStrike">
              <a:solidFill>
                <a:srgbClr val="000000"/>
              </a:solidFill>
              <a:latin typeface="Arial"/>
            </a:endParaRPr>
          </a:p>
          <a:p>
            <a:pPr defTabSz="228600">
              <a:lnSpc>
                <a:spcPct val="100000"/>
              </a:lnSpc>
            </a:pPr>
            <a:r>
              <a:rPr b="0" lang="en-US" sz="2400" spc="-1" strike="noStrike">
                <a:solidFill>
                  <a:schemeClr val="accent2"/>
                </a:solidFill>
                <a:latin typeface="Times New Roman"/>
                <a:ea typeface="MS PGothic"/>
              </a:rPr>
              <a:t>	</a:t>
            </a:r>
            <a:r>
              <a:rPr b="0"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r</a:t>
            </a:r>
            <a:r>
              <a:rPr b="0" lang="en-US" sz="2400" spc="-1" strike="noStrike">
                <a:solidFill>
                  <a:schemeClr val="dk2"/>
                </a:solidFill>
                <a:latin typeface="Times New Roman"/>
                <a:ea typeface="MS PGothic"/>
              </a:rPr>
              <a:t> </a:t>
            </a:r>
            <a:r>
              <a:rPr b="0" lang="en-US" sz="2400" spc="-1" strike="noStrike">
                <a:solidFill>
                  <a:srgbClr val="000000"/>
                </a:solidFill>
                <a:latin typeface="Symbol"/>
                <a:ea typeface="MS PGothic"/>
              </a:rPr>
              <a:t></a:t>
            </a:r>
            <a:r>
              <a:rPr b="0" lang="en-US" sz="2400" spc="-1" strike="noStrike">
                <a:solidFill>
                  <a:schemeClr val="dk2"/>
                </a:solidFill>
                <a:latin typeface="Times New Roman"/>
                <a:ea typeface="MS PGothic"/>
              </a:rPr>
              <a:t> </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r </a:t>
            </a:r>
            <a:r>
              <a:rPr b="0" lang="en-US" sz="2400" spc="-1" strike="noStrike">
                <a:solidFill>
                  <a:schemeClr val="accent2"/>
                </a:solidFill>
                <a:latin typeface="Times New Roman"/>
                <a:ea typeface="MS PGothic"/>
              </a:rPr>
              <a:t>+ 1) mod </a:t>
            </a:r>
            <a:r>
              <a:rPr b="1" i="1" lang="en-US" sz="2400" spc="-1" strike="noStrike">
                <a:solidFill>
                  <a:schemeClr val="accent2"/>
                </a:solidFill>
                <a:latin typeface="Times New Roman"/>
                <a:ea typeface="MS PGothic"/>
              </a:rPr>
              <a:t>N</a:t>
            </a:r>
            <a:endParaRPr b="0" lang="en-US" sz="2400" spc="-1" strike="noStrike">
              <a:solidFill>
                <a:srgbClr val="000000"/>
              </a:solidFill>
              <a:latin typeface="Arial"/>
            </a:endParaRPr>
          </a:p>
        </p:txBody>
      </p:sp>
      <p:grpSp>
        <p:nvGrpSpPr>
          <p:cNvPr id="198" name="Group 128"/>
          <p:cNvGrpSpPr/>
          <p:nvPr/>
        </p:nvGrpSpPr>
        <p:grpSpPr>
          <a:xfrm>
            <a:off x="3048120" y="4199040"/>
            <a:ext cx="5637600" cy="754200"/>
            <a:chOff x="3048120" y="4199040"/>
            <a:chExt cx="5637600" cy="754200"/>
          </a:xfrm>
        </p:grpSpPr>
        <p:sp>
          <p:nvSpPr>
            <p:cNvPr id="199" name="Rectangle 129"/>
            <p:cNvSpPr/>
            <p:nvPr/>
          </p:nvSpPr>
          <p:spPr>
            <a:xfrm>
              <a:off x="3048120" y="4199040"/>
              <a:ext cx="2959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Q</a:t>
              </a:r>
              <a:endParaRPr b="0" lang="en-US" sz="2400" spc="-1" strike="noStrike">
                <a:solidFill>
                  <a:srgbClr val="000000"/>
                </a:solidFill>
                <a:latin typeface="Arial"/>
              </a:endParaRPr>
            </a:p>
          </p:txBody>
        </p:sp>
        <p:sp>
          <p:nvSpPr>
            <p:cNvPr id="200" name="Rectangle 130"/>
            <p:cNvSpPr/>
            <p:nvPr/>
          </p:nvSpPr>
          <p:spPr>
            <a:xfrm>
              <a:off x="3581280" y="45878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0</a:t>
              </a:r>
              <a:endParaRPr b="0" lang="en-US" sz="2400" spc="-1" strike="noStrike">
                <a:solidFill>
                  <a:srgbClr val="000000"/>
                </a:solidFill>
                <a:latin typeface="Arial"/>
              </a:endParaRPr>
            </a:p>
          </p:txBody>
        </p:sp>
        <p:sp>
          <p:nvSpPr>
            <p:cNvPr id="201" name="Rectangle 131"/>
            <p:cNvSpPr/>
            <p:nvPr/>
          </p:nvSpPr>
          <p:spPr>
            <a:xfrm>
              <a:off x="3886200" y="45878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1</a:t>
              </a:r>
              <a:endParaRPr b="0" lang="en-US" sz="2400" spc="-1" strike="noStrike">
                <a:solidFill>
                  <a:srgbClr val="000000"/>
                </a:solidFill>
                <a:latin typeface="Arial"/>
              </a:endParaRPr>
            </a:p>
          </p:txBody>
        </p:sp>
        <p:sp>
          <p:nvSpPr>
            <p:cNvPr id="202" name="Rectangle 132"/>
            <p:cNvSpPr/>
            <p:nvPr/>
          </p:nvSpPr>
          <p:spPr>
            <a:xfrm>
              <a:off x="4191120" y="45878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2</a:t>
              </a:r>
              <a:endParaRPr b="0" lang="en-US" sz="2400" spc="-1" strike="noStrike">
                <a:solidFill>
                  <a:srgbClr val="000000"/>
                </a:solidFill>
                <a:latin typeface="Arial"/>
              </a:endParaRPr>
            </a:p>
          </p:txBody>
        </p:sp>
        <p:sp>
          <p:nvSpPr>
            <p:cNvPr id="203" name="Rectangle 133"/>
            <p:cNvSpPr/>
            <p:nvPr/>
          </p:nvSpPr>
          <p:spPr>
            <a:xfrm>
              <a:off x="7772400" y="458784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r</a:t>
              </a:r>
              <a:endParaRPr b="0" lang="en-US" sz="2400" spc="-1" strike="noStrike">
                <a:solidFill>
                  <a:srgbClr val="000000"/>
                </a:solidFill>
                <a:latin typeface="Arial"/>
              </a:endParaRPr>
            </a:p>
          </p:txBody>
        </p:sp>
        <p:sp>
          <p:nvSpPr>
            <p:cNvPr id="204" name="Rectangle 134"/>
            <p:cNvSpPr/>
            <p:nvPr/>
          </p:nvSpPr>
          <p:spPr>
            <a:xfrm>
              <a:off x="4724280" y="458784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f</a:t>
              </a:r>
              <a:endParaRPr b="0" lang="en-US" sz="2400" spc="-1" strike="noStrike">
                <a:solidFill>
                  <a:srgbClr val="000000"/>
                </a:solidFill>
                <a:latin typeface="Arial"/>
              </a:endParaRPr>
            </a:p>
          </p:txBody>
        </p:sp>
        <p:sp>
          <p:nvSpPr>
            <p:cNvPr id="205" name="Rectangle 135"/>
            <p:cNvSpPr/>
            <p:nvPr/>
          </p:nvSpPr>
          <p:spPr>
            <a:xfrm>
              <a:off x="350532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206" name="Rectangle 136"/>
            <p:cNvSpPr/>
            <p:nvPr/>
          </p:nvSpPr>
          <p:spPr>
            <a:xfrm>
              <a:off x="380988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07" name="Rectangle 137"/>
            <p:cNvSpPr/>
            <p:nvPr/>
          </p:nvSpPr>
          <p:spPr>
            <a:xfrm>
              <a:off x="411480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08" name="Rectangle 138"/>
            <p:cNvSpPr/>
            <p:nvPr/>
          </p:nvSpPr>
          <p:spPr>
            <a:xfrm>
              <a:off x="441972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09" name="Rectangle 139"/>
            <p:cNvSpPr/>
            <p:nvPr/>
          </p:nvSpPr>
          <p:spPr>
            <a:xfrm>
              <a:off x="472428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0" name="Rectangle 140"/>
            <p:cNvSpPr/>
            <p:nvPr/>
          </p:nvSpPr>
          <p:spPr>
            <a:xfrm>
              <a:off x="502920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1" name="Rectangle 141"/>
            <p:cNvSpPr/>
            <p:nvPr/>
          </p:nvSpPr>
          <p:spPr>
            <a:xfrm>
              <a:off x="533412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2" name="Rectangle 142"/>
            <p:cNvSpPr/>
            <p:nvPr/>
          </p:nvSpPr>
          <p:spPr>
            <a:xfrm>
              <a:off x="563868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3" name="Rectangle 143"/>
            <p:cNvSpPr/>
            <p:nvPr/>
          </p:nvSpPr>
          <p:spPr>
            <a:xfrm>
              <a:off x="594360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4" name="Rectangle 144"/>
            <p:cNvSpPr/>
            <p:nvPr/>
          </p:nvSpPr>
          <p:spPr>
            <a:xfrm>
              <a:off x="624852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5" name="Rectangle 145"/>
            <p:cNvSpPr/>
            <p:nvPr/>
          </p:nvSpPr>
          <p:spPr>
            <a:xfrm>
              <a:off x="655308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6" name="Rectangle 146"/>
            <p:cNvSpPr/>
            <p:nvPr/>
          </p:nvSpPr>
          <p:spPr>
            <a:xfrm>
              <a:off x="685800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7" name="Rectangle 147"/>
            <p:cNvSpPr/>
            <p:nvPr/>
          </p:nvSpPr>
          <p:spPr>
            <a:xfrm>
              <a:off x="716292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8" name="Rectangle 148"/>
            <p:cNvSpPr/>
            <p:nvPr/>
          </p:nvSpPr>
          <p:spPr>
            <a:xfrm>
              <a:off x="7467480" y="42750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19" name="Rectangle 149"/>
            <p:cNvSpPr/>
            <p:nvPr/>
          </p:nvSpPr>
          <p:spPr>
            <a:xfrm>
              <a:off x="777240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20" name="Rectangle 150"/>
            <p:cNvSpPr/>
            <p:nvPr/>
          </p:nvSpPr>
          <p:spPr>
            <a:xfrm>
              <a:off x="807732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21" name="Rectangle 151"/>
            <p:cNvSpPr/>
            <p:nvPr/>
          </p:nvSpPr>
          <p:spPr>
            <a:xfrm>
              <a:off x="8381880" y="42750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grpSp>
        <p:nvGrpSpPr>
          <p:cNvPr id="222" name="Group 152"/>
          <p:cNvGrpSpPr/>
          <p:nvPr/>
        </p:nvGrpSpPr>
        <p:grpSpPr>
          <a:xfrm>
            <a:off x="3048120" y="5181480"/>
            <a:ext cx="5637600" cy="754560"/>
            <a:chOff x="3048120" y="5181480"/>
            <a:chExt cx="5637600" cy="754560"/>
          </a:xfrm>
        </p:grpSpPr>
        <p:sp>
          <p:nvSpPr>
            <p:cNvPr id="223" name="Rectangle 153"/>
            <p:cNvSpPr/>
            <p:nvPr/>
          </p:nvSpPr>
          <p:spPr>
            <a:xfrm>
              <a:off x="3048120" y="5181480"/>
              <a:ext cx="2959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Q</a:t>
              </a:r>
              <a:endParaRPr b="0" lang="en-US" sz="2400" spc="-1" strike="noStrike">
                <a:solidFill>
                  <a:srgbClr val="000000"/>
                </a:solidFill>
                <a:latin typeface="Arial"/>
              </a:endParaRPr>
            </a:p>
          </p:txBody>
        </p:sp>
        <p:sp>
          <p:nvSpPr>
            <p:cNvPr id="224" name="Rectangle 154"/>
            <p:cNvSpPr/>
            <p:nvPr/>
          </p:nvSpPr>
          <p:spPr>
            <a:xfrm>
              <a:off x="3581280" y="55706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0</a:t>
              </a:r>
              <a:endParaRPr b="0" lang="en-US" sz="2400" spc="-1" strike="noStrike">
                <a:solidFill>
                  <a:srgbClr val="000000"/>
                </a:solidFill>
                <a:latin typeface="Arial"/>
              </a:endParaRPr>
            </a:p>
          </p:txBody>
        </p:sp>
        <p:sp>
          <p:nvSpPr>
            <p:cNvPr id="225" name="Rectangle 155"/>
            <p:cNvSpPr/>
            <p:nvPr/>
          </p:nvSpPr>
          <p:spPr>
            <a:xfrm>
              <a:off x="3886200" y="55706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1</a:t>
              </a:r>
              <a:endParaRPr b="0" lang="en-US" sz="2400" spc="-1" strike="noStrike">
                <a:solidFill>
                  <a:srgbClr val="000000"/>
                </a:solidFill>
                <a:latin typeface="Arial"/>
              </a:endParaRPr>
            </a:p>
          </p:txBody>
        </p:sp>
        <p:sp>
          <p:nvSpPr>
            <p:cNvPr id="226" name="Rectangle 156"/>
            <p:cNvSpPr/>
            <p:nvPr/>
          </p:nvSpPr>
          <p:spPr>
            <a:xfrm>
              <a:off x="4191120" y="557064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2</a:t>
              </a:r>
              <a:endParaRPr b="0" lang="en-US" sz="2400" spc="-1" strike="noStrike">
                <a:solidFill>
                  <a:srgbClr val="000000"/>
                </a:solidFill>
                <a:latin typeface="Arial"/>
              </a:endParaRPr>
            </a:p>
          </p:txBody>
        </p:sp>
        <p:sp>
          <p:nvSpPr>
            <p:cNvPr id="227" name="Rectangle 157"/>
            <p:cNvSpPr/>
            <p:nvPr/>
          </p:nvSpPr>
          <p:spPr>
            <a:xfrm>
              <a:off x="6858000" y="557064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f</a:t>
              </a:r>
              <a:endParaRPr b="0" lang="en-US" sz="2400" spc="-1" strike="noStrike">
                <a:solidFill>
                  <a:srgbClr val="000000"/>
                </a:solidFill>
                <a:latin typeface="Arial"/>
              </a:endParaRPr>
            </a:p>
          </p:txBody>
        </p:sp>
        <p:sp>
          <p:nvSpPr>
            <p:cNvPr id="228" name="Rectangle 158"/>
            <p:cNvSpPr/>
            <p:nvPr/>
          </p:nvSpPr>
          <p:spPr>
            <a:xfrm>
              <a:off x="4724280" y="557064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r</a:t>
              </a:r>
              <a:endParaRPr b="0" lang="en-US" sz="2400" spc="-1" strike="noStrike">
                <a:solidFill>
                  <a:srgbClr val="000000"/>
                </a:solidFill>
                <a:latin typeface="Arial"/>
              </a:endParaRPr>
            </a:p>
          </p:txBody>
        </p:sp>
        <p:sp>
          <p:nvSpPr>
            <p:cNvPr id="229" name="Rectangle 159"/>
            <p:cNvSpPr/>
            <p:nvPr/>
          </p:nvSpPr>
          <p:spPr>
            <a:xfrm>
              <a:off x="350532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230" name="Rectangle 160"/>
            <p:cNvSpPr/>
            <p:nvPr/>
          </p:nvSpPr>
          <p:spPr>
            <a:xfrm>
              <a:off x="380988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1" name="Rectangle 161"/>
            <p:cNvSpPr/>
            <p:nvPr/>
          </p:nvSpPr>
          <p:spPr>
            <a:xfrm>
              <a:off x="411480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2" name="Rectangle 162"/>
            <p:cNvSpPr/>
            <p:nvPr/>
          </p:nvSpPr>
          <p:spPr>
            <a:xfrm>
              <a:off x="441972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3" name="Rectangle 163"/>
            <p:cNvSpPr/>
            <p:nvPr/>
          </p:nvSpPr>
          <p:spPr>
            <a:xfrm>
              <a:off x="472428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4" name="Rectangle 164"/>
            <p:cNvSpPr/>
            <p:nvPr/>
          </p:nvSpPr>
          <p:spPr>
            <a:xfrm>
              <a:off x="502920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5" name="Rectangle 165"/>
            <p:cNvSpPr/>
            <p:nvPr/>
          </p:nvSpPr>
          <p:spPr>
            <a:xfrm>
              <a:off x="533412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6" name="Rectangle 166"/>
            <p:cNvSpPr/>
            <p:nvPr/>
          </p:nvSpPr>
          <p:spPr>
            <a:xfrm>
              <a:off x="563868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7" name="Rectangle 167"/>
            <p:cNvSpPr/>
            <p:nvPr/>
          </p:nvSpPr>
          <p:spPr>
            <a:xfrm>
              <a:off x="594360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8" name="Rectangle 168"/>
            <p:cNvSpPr/>
            <p:nvPr/>
          </p:nvSpPr>
          <p:spPr>
            <a:xfrm>
              <a:off x="624852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9" name="Rectangle 169"/>
            <p:cNvSpPr/>
            <p:nvPr/>
          </p:nvSpPr>
          <p:spPr>
            <a:xfrm>
              <a:off x="6553080" y="525780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40" name="Rectangle 170"/>
            <p:cNvSpPr/>
            <p:nvPr/>
          </p:nvSpPr>
          <p:spPr>
            <a:xfrm>
              <a:off x="685800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41" name="Rectangle 171"/>
            <p:cNvSpPr/>
            <p:nvPr/>
          </p:nvSpPr>
          <p:spPr>
            <a:xfrm>
              <a:off x="716292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42" name="Rectangle 172"/>
            <p:cNvSpPr/>
            <p:nvPr/>
          </p:nvSpPr>
          <p:spPr>
            <a:xfrm>
              <a:off x="746748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43" name="Rectangle 173"/>
            <p:cNvSpPr/>
            <p:nvPr/>
          </p:nvSpPr>
          <p:spPr>
            <a:xfrm>
              <a:off x="777240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44" name="Rectangle 174"/>
            <p:cNvSpPr/>
            <p:nvPr/>
          </p:nvSpPr>
          <p:spPr>
            <a:xfrm>
              <a:off x="807732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45" name="Rectangle 175"/>
            <p:cNvSpPr/>
            <p:nvPr/>
          </p:nvSpPr>
          <p:spPr>
            <a:xfrm>
              <a:off x="8381880" y="525780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Queue Operations (cont.)</a:t>
            </a:r>
            <a:endParaRPr b="0" lang="en-US" sz="4400" spc="-1" strike="noStrike">
              <a:solidFill>
                <a:srgbClr val="000000"/>
              </a:solidFill>
              <a:latin typeface="Arial"/>
            </a:endParaRPr>
          </a:p>
        </p:txBody>
      </p:sp>
      <p:sp>
        <p:nvSpPr>
          <p:cNvPr id="247"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Operation dequeue throws an exception if the queue is empty</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This exception is specified in the queue ADT</a:t>
            </a:r>
            <a:endParaRPr b="0" lang="en-US" sz="2400" spc="-1" strike="noStrike">
              <a:solidFill>
                <a:srgbClr val="000000"/>
              </a:solidFill>
              <a:latin typeface="Arial"/>
            </a:endParaRPr>
          </a:p>
        </p:txBody>
      </p:sp>
      <p:sp>
        <p:nvSpPr>
          <p:cNvPr id="248" name="PlaceHolder 3"/>
          <p:cNvSpPr>
            <a:spLocks noGrp="1"/>
          </p:cNvSpPr>
          <p:nvPr>
            <p:ph type="dt" idx="31"/>
          </p:nvPr>
        </p:nvSpPr>
        <p:spPr>
          <a:xfrm>
            <a:off x="83808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defTabSz="457200">
              <a:lnSpc>
                <a:spcPct val="100000"/>
              </a:lnSpc>
              <a:buNone/>
              <a:tabLst>
                <a:tab algn="l" pos="0"/>
              </a:tabLst>
            </a:pPr>
            <a:r>
              <a:rPr b="0" lang="en-US" sz="1400" spc="-1" strike="noStrike">
                <a:solidFill>
                  <a:schemeClr val="dk1">
                    <a:tint val="75000"/>
                  </a:schemeClr>
                </a:solidFill>
                <a:latin typeface="Tahoma"/>
                <a:ea typeface="MS PGothic"/>
              </a:rPr>
              <a:t>© 2013 Goodrich, Tamassia, Goldwasser</a:t>
            </a:r>
            <a:endParaRPr b="0" lang="en-US" sz="1400" spc="-1" strike="noStrike">
              <a:solidFill>
                <a:srgbClr val="000000"/>
              </a:solidFill>
              <a:latin typeface="Times New Roman"/>
            </a:endParaRPr>
          </a:p>
        </p:txBody>
      </p:sp>
      <p:sp>
        <p:nvSpPr>
          <p:cNvPr id="249" name="PlaceHolder 4"/>
          <p:cNvSpPr>
            <a:spLocks noGrp="1"/>
          </p:cNvSpPr>
          <p:nvPr>
            <p:ph type="ftr" idx="32"/>
          </p:nvPr>
        </p:nvSpPr>
        <p:spPr>
          <a:xfrm>
            <a:off x="9448920" y="6356520"/>
            <a:ext cx="2742120" cy="36396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Queues</a:t>
            </a:r>
            <a:endParaRPr b="0" lang="en-US" sz="1400" spc="-1" strike="noStrike">
              <a:solidFill>
                <a:srgbClr val="000000"/>
              </a:solidFill>
              <a:latin typeface="Times New Roman"/>
            </a:endParaRPr>
          </a:p>
        </p:txBody>
      </p:sp>
      <p:sp>
        <p:nvSpPr>
          <p:cNvPr id="250" name="PlaceHolder 5"/>
          <p:cNvSpPr>
            <a:spLocks noGrp="1"/>
          </p:cNvSpPr>
          <p:nvPr>
            <p:ph type="sldNum" idx="33"/>
          </p:nvPr>
        </p:nvSpPr>
        <p:spPr>
          <a:xfrm>
            <a:off x="0" y="6356520"/>
            <a:ext cx="41137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09BD224-7291-44A7-BE3D-26512B97AB03}"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251" name="Text Box 4"/>
          <p:cNvSpPr/>
          <p:nvPr/>
        </p:nvSpPr>
        <p:spPr>
          <a:xfrm>
            <a:off x="7620120" y="1581840"/>
            <a:ext cx="4418640" cy="2649960"/>
          </a:xfrm>
          <a:prstGeom prst="rect">
            <a:avLst/>
          </a:prstGeom>
          <a:noFill/>
          <a:ln w="9525">
            <a:solidFill>
              <a:srgbClr val="ed7d31"/>
            </a:solidFill>
            <a:miter/>
          </a:ln>
        </p:spPr>
        <p:style>
          <a:lnRef idx="0"/>
          <a:fillRef idx="0"/>
          <a:effectRef idx="0"/>
          <a:fontRef idx="minor"/>
        </p:style>
        <p:txBody>
          <a:bodyPr lIns="90000" rIns="90000" tIns="45000" bIns="45000" anchor="t">
            <a:spAutoFit/>
          </a:bodyPr>
          <a:p>
            <a:pPr defTabSz="228600">
              <a:lnSpc>
                <a:spcPct val="100000"/>
              </a:lnSpc>
            </a:pPr>
            <a:r>
              <a:rPr b="1" lang="en-US" sz="2400" spc="-1" strike="noStrike">
                <a:solidFill>
                  <a:srgbClr val="000000"/>
                </a:solidFill>
                <a:latin typeface="Times New Roman"/>
                <a:ea typeface="MS PGothic"/>
              </a:rPr>
              <a:t>Algorithm</a:t>
            </a:r>
            <a:r>
              <a:rPr b="0" lang="en-US" sz="2400" spc="-1" strike="noStrike">
                <a:solidFill>
                  <a:schemeClr val="dk1"/>
                </a:solidFill>
                <a:latin typeface="Times New Roman"/>
                <a:ea typeface="MS PGothic"/>
              </a:rPr>
              <a:t> </a:t>
            </a:r>
            <a:r>
              <a:rPr b="1" i="1" lang="en-US" sz="2400" spc="-1" strike="noStrike">
                <a:solidFill>
                  <a:schemeClr val="dk2"/>
                </a:solidFill>
                <a:latin typeface="Times New Roman"/>
                <a:ea typeface="MS PGothic"/>
              </a:rPr>
              <a:t>dequeue</a:t>
            </a:r>
            <a:r>
              <a:rPr b="0" lang="en-US" sz="2400" spc="-1" strike="noStrike">
                <a:solidFill>
                  <a:schemeClr val="dk2"/>
                </a:solidFill>
                <a:latin typeface="Times New Roman"/>
                <a:ea typeface="MS PGothic"/>
              </a:rPr>
              <a:t>()</a:t>
            </a:r>
            <a:endParaRPr b="0" lang="en-US" sz="2400" spc="-1" strike="noStrike">
              <a:solidFill>
                <a:srgbClr val="000000"/>
              </a:solidFill>
              <a:latin typeface="Arial"/>
            </a:endParaRPr>
          </a:p>
          <a:p>
            <a:pPr defTabSz="228600">
              <a:lnSpc>
                <a:spcPct val="100000"/>
              </a:lnSpc>
            </a:pPr>
            <a:r>
              <a:rPr b="0" lang="en-US" sz="2400" spc="-1" strike="noStrike">
                <a:solidFill>
                  <a:schemeClr val="dk1"/>
                </a:solidFill>
                <a:latin typeface="Times New Roman"/>
                <a:ea typeface="MS PGothic"/>
              </a:rPr>
              <a:t>	</a:t>
            </a:r>
            <a:r>
              <a:rPr b="1" lang="en-US" sz="2400" spc="-1" strike="noStrike">
                <a:solidFill>
                  <a:srgbClr val="000000"/>
                </a:solidFill>
                <a:latin typeface="Times New Roman"/>
                <a:ea typeface="MS PGothic"/>
              </a:rPr>
              <a:t>if</a:t>
            </a:r>
            <a:r>
              <a:rPr b="0" lang="en-US" sz="2400" spc="-1" strike="noStrike">
                <a:solidFill>
                  <a:schemeClr val="dk1"/>
                </a:solidFill>
                <a:latin typeface="Times New Roman"/>
                <a:ea typeface="MS PGothic"/>
              </a:rPr>
              <a:t> </a:t>
            </a:r>
            <a:r>
              <a:rPr b="1" i="1" lang="en-US" sz="2400" spc="-1" strike="noStrike">
                <a:solidFill>
                  <a:schemeClr val="accent2"/>
                </a:solidFill>
                <a:latin typeface="Times New Roman"/>
                <a:ea typeface="MS PGothic"/>
              </a:rPr>
              <a:t>isEmpty</a:t>
            </a:r>
            <a:r>
              <a:rPr b="0" lang="en-US" sz="2400" spc="-1" strike="noStrike">
                <a:solidFill>
                  <a:schemeClr val="accent2"/>
                </a:solidFill>
                <a:latin typeface="Times New Roman"/>
                <a:ea typeface="MS PGothic"/>
              </a:rPr>
              <a:t>()</a:t>
            </a:r>
            <a:r>
              <a:rPr b="0" lang="en-US" sz="2400" spc="-1" strike="noStrike">
                <a:solidFill>
                  <a:schemeClr val="dk2"/>
                </a:solidFill>
                <a:latin typeface="Times New Roman"/>
                <a:ea typeface="MS PGothic"/>
              </a:rPr>
              <a:t> </a:t>
            </a:r>
            <a:r>
              <a:rPr b="1" lang="en-US" sz="2400" spc="-1" strike="noStrike">
                <a:solidFill>
                  <a:srgbClr val="000000"/>
                </a:solidFill>
                <a:latin typeface="Times New Roman"/>
                <a:ea typeface="MS PGothic"/>
              </a:rPr>
              <a:t>then</a:t>
            </a:r>
            <a:endParaRPr b="0" lang="en-US" sz="2400" spc="-1" strike="noStrike">
              <a:solidFill>
                <a:srgbClr val="000000"/>
              </a:solidFill>
              <a:latin typeface="Arial"/>
            </a:endParaRPr>
          </a:p>
          <a:p>
            <a:pPr defTabSz="228600">
              <a:lnSpc>
                <a:spcPct val="100000"/>
              </a:lnSpc>
            </a:pPr>
            <a:r>
              <a:rPr b="1" lang="en-US" sz="2400" spc="-1" strike="noStrike">
                <a:solidFill>
                  <a:srgbClr val="000000"/>
                </a:solidFill>
                <a:latin typeface="Times New Roman"/>
                <a:ea typeface="MS PGothic"/>
              </a:rPr>
              <a:t>	</a:t>
            </a:r>
            <a:r>
              <a:rPr b="1" lang="en-US" sz="2400" spc="-1" strike="noStrike">
                <a:solidFill>
                  <a:srgbClr val="000000"/>
                </a:solidFill>
                <a:latin typeface="Times New Roman"/>
                <a:ea typeface="MS PGothic"/>
              </a:rPr>
              <a:t>	</a:t>
            </a:r>
            <a:r>
              <a:rPr b="1" lang="en-US" sz="2400" spc="-1" strike="noStrike">
                <a:solidFill>
                  <a:srgbClr val="000000"/>
                </a:solidFill>
                <a:latin typeface="Times New Roman"/>
                <a:ea typeface="MS PGothic"/>
              </a:rPr>
              <a:t>throw </a:t>
            </a:r>
            <a:r>
              <a:rPr b="1" i="1" lang="en-US" sz="2400" spc="-1" strike="noStrike">
                <a:solidFill>
                  <a:schemeClr val="accent2"/>
                </a:solidFill>
                <a:latin typeface="Times New Roman"/>
                <a:ea typeface="MS PGothic"/>
              </a:rPr>
              <a:t>EmptyQueueException</a:t>
            </a:r>
            <a:endParaRPr b="0" lang="en-US" sz="2400" spc="-1" strike="noStrike">
              <a:solidFill>
                <a:srgbClr val="000000"/>
              </a:solidFill>
              <a:latin typeface="Arial"/>
            </a:endParaRPr>
          </a:p>
          <a:p>
            <a:pPr defTabSz="228600">
              <a:lnSpc>
                <a:spcPct val="100000"/>
              </a:lnSpc>
            </a:pPr>
            <a:r>
              <a:rPr b="0" lang="en-US" sz="2400" spc="-1" strike="noStrike">
                <a:solidFill>
                  <a:schemeClr val="accent2"/>
                </a:solidFill>
                <a:latin typeface="Times New Roman"/>
                <a:ea typeface="MS PGothic"/>
              </a:rPr>
              <a:t>	</a:t>
            </a:r>
            <a:r>
              <a:rPr b="0" lang="en-US" sz="2400" spc="-1" strike="noStrike">
                <a:solidFill>
                  <a:schemeClr val="accent2"/>
                </a:solidFill>
                <a:latin typeface="Times New Roman"/>
                <a:ea typeface="MS PGothic"/>
              </a:rPr>
              <a:t> </a:t>
            </a:r>
            <a:r>
              <a:rPr b="1" lang="en-US" sz="2400" spc="-1" strike="noStrike">
                <a:solidFill>
                  <a:srgbClr val="000000"/>
                </a:solidFill>
                <a:latin typeface="Times New Roman"/>
                <a:ea typeface="MS PGothic"/>
              </a:rPr>
              <a:t>else</a:t>
            </a:r>
            <a:endParaRPr b="0" lang="en-US" sz="2400" spc="-1" strike="noStrike">
              <a:solidFill>
                <a:srgbClr val="000000"/>
              </a:solidFill>
              <a:latin typeface="Arial"/>
            </a:endParaRPr>
          </a:p>
          <a:p>
            <a:pPr defTabSz="228600">
              <a:lnSpc>
                <a:spcPct val="100000"/>
              </a:lnSpc>
            </a:pPr>
            <a:r>
              <a:rPr b="0" lang="en-US" sz="2400" spc="-1" strike="noStrike">
                <a:solidFill>
                  <a:schemeClr val="dk1"/>
                </a:solidFill>
                <a:latin typeface="Times New Roman"/>
                <a:ea typeface="MS PGothic"/>
              </a:rPr>
              <a:t>	</a:t>
            </a:r>
            <a:r>
              <a:rPr b="0" lang="en-US" sz="2400" spc="-1" strike="noStrike">
                <a:solidFill>
                  <a:schemeClr val="dk1"/>
                </a:solidFill>
                <a:latin typeface="Times New Roman"/>
                <a:ea typeface="MS PGothic"/>
              </a:rPr>
              <a:t>	</a:t>
            </a:r>
            <a:r>
              <a:rPr b="1" i="1" lang="en-US" sz="2400" spc="-1" strike="noStrike">
                <a:solidFill>
                  <a:schemeClr val="accent2"/>
                </a:solidFill>
                <a:latin typeface="Times New Roman"/>
                <a:ea typeface="MS PGothic"/>
              </a:rPr>
              <a:t>o</a:t>
            </a:r>
            <a:r>
              <a:rPr b="0" lang="en-US" sz="2400" spc="-1" strike="noStrike">
                <a:solidFill>
                  <a:schemeClr val="dk2"/>
                </a:solidFill>
                <a:latin typeface="Times New Roman"/>
                <a:ea typeface="MS PGothic"/>
              </a:rPr>
              <a:t> </a:t>
            </a:r>
            <a:r>
              <a:rPr b="0" lang="en-US" sz="2400" spc="-1" strike="noStrike">
                <a:solidFill>
                  <a:srgbClr val="000000"/>
                </a:solidFill>
                <a:latin typeface="Symbol"/>
                <a:ea typeface="MS PGothic"/>
              </a:rPr>
              <a:t></a:t>
            </a:r>
            <a:r>
              <a:rPr b="0" lang="en-US" sz="2400" spc="-1" strike="noStrike">
                <a:solidFill>
                  <a:schemeClr val="dk2"/>
                </a:solidFill>
                <a:latin typeface="Times New Roman"/>
                <a:ea typeface="MS PGothic"/>
              </a:rPr>
              <a:t> </a:t>
            </a:r>
            <a:r>
              <a:rPr b="1" i="1" lang="en-US" sz="2400" spc="-1" strike="noStrike">
                <a:solidFill>
                  <a:schemeClr val="accent2"/>
                </a:solidFill>
                <a:latin typeface="Times New Roman"/>
                <a:ea typeface="MS PGothic"/>
              </a:rPr>
              <a:t>Q</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f</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a:p>
            <a:pPr defTabSz="228600">
              <a:lnSpc>
                <a:spcPct val="100000"/>
              </a:lnSpc>
            </a:pPr>
            <a:r>
              <a:rPr b="0" lang="en-US" sz="2400" spc="-1" strike="noStrike">
                <a:solidFill>
                  <a:schemeClr val="accent2"/>
                </a:solidFill>
                <a:latin typeface="Times New Roman"/>
                <a:ea typeface="MS PGothic"/>
              </a:rPr>
              <a:t>	</a:t>
            </a:r>
            <a:r>
              <a:rPr b="0"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f</a:t>
            </a:r>
            <a:r>
              <a:rPr b="0" lang="en-US" sz="2400" spc="-1" strike="noStrike">
                <a:solidFill>
                  <a:schemeClr val="dk2"/>
                </a:solidFill>
                <a:latin typeface="Times New Roman"/>
                <a:ea typeface="MS PGothic"/>
              </a:rPr>
              <a:t> </a:t>
            </a:r>
            <a:r>
              <a:rPr b="0" lang="en-US" sz="2400" spc="-1" strike="noStrike">
                <a:solidFill>
                  <a:srgbClr val="000000"/>
                </a:solidFill>
                <a:latin typeface="Symbol"/>
                <a:ea typeface="MS PGothic"/>
              </a:rPr>
              <a:t></a:t>
            </a:r>
            <a:r>
              <a:rPr b="0" lang="en-US" sz="2400" spc="-1" strike="noStrike">
                <a:solidFill>
                  <a:schemeClr val="dk2"/>
                </a:solidFill>
                <a:latin typeface="Times New Roman"/>
                <a:ea typeface="MS PGothic"/>
              </a:rPr>
              <a:t> </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f </a:t>
            </a:r>
            <a:r>
              <a:rPr b="0" lang="en-US" sz="2400" spc="-1" strike="noStrike">
                <a:solidFill>
                  <a:schemeClr val="accent2"/>
                </a:solidFill>
                <a:latin typeface="Times New Roman"/>
                <a:ea typeface="MS PGothic"/>
              </a:rPr>
              <a:t>+ 1) mod </a:t>
            </a:r>
            <a:r>
              <a:rPr b="1" i="1" lang="en-US" sz="2400" spc="-1" strike="noStrike">
                <a:solidFill>
                  <a:schemeClr val="accent2"/>
                </a:solidFill>
                <a:latin typeface="Times New Roman"/>
                <a:ea typeface="MS PGothic"/>
              </a:rPr>
              <a:t>N</a:t>
            </a:r>
            <a:endParaRPr b="0" lang="en-US" sz="2400" spc="-1" strike="noStrike">
              <a:solidFill>
                <a:srgbClr val="000000"/>
              </a:solidFill>
              <a:latin typeface="Arial"/>
            </a:endParaRPr>
          </a:p>
          <a:p>
            <a:pPr defTabSz="228600">
              <a:lnSpc>
                <a:spcPct val="100000"/>
              </a:lnSpc>
            </a:pPr>
            <a:r>
              <a:rPr b="0" lang="en-US" sz="2400" spc="-1" strike="noStrike">
                <a:solidFill>
                  <a:schemeClr val="accent2"/>
                </a:solidFill>
                <a:latin typeface="Times New Roman"/>
                <a:ea typeface="MS PGothic"/>
              </a:rPr>
              <a:t>	</a:t>
            </a:r>
            <a:r>
              <a:rPr b="0" lang="en-US" sz="2400" spc="-1" strike="noStrike">
                <a:solidFill>
                  <a:schemeClr val="accent2"/>
                </a:solidFill>
                <a:latin typeface="Times New Roman"/>
                <a:ea typeface="MS PGothic"/>
              </a:rPr>
              <a:t>	</a:t>
            </a:r>
            <a:r>
              <a:rPr b="1" lang="en-US" sz="2400" spc="-1" strike="noStrike">
                <a:solidFill>
                  <a:srgbClr val="000000"/>
                </a:solidFill>
                <a:latin typeface="Times New Roman"/>
                <a:ea typeface="MS PGothic"/>
              </a:rPr>
              <a:t>return</a:t>
            </a:r>
            <a:r>
              <a:rPr b="0" lang="en-US" sz="2400" spc="-1" strike="noStrike">
                <a:solidFill>
                  <a:schemeClr val="dk2"/>
                </a:solidFill>
                <a:latin typeface="Times New Roman"/>
                <a:ea typeface="MS PGothic"/>
              </a:rPr>
              <a:t> </a:t>
            </a:r>
            <a:r>
              <a:rPr b="1" i="1" lang="en-US" sz="2400" spc="-1" strike="noStrike">
                <a:solidFill>
                  <a:schemeClr val="accent2"/>
                </a:solidFill>
                <a:latin typeface="Times New Roman"/>
                <a:ea typeface="MS PGothic"/>
              </a:rPr>
              <a:t>o</a:t>
            </a:r>
            <a:endParaRPr b="0" lang="en-US" sz="2400" spc="-1" strike="noStrike">
              <a:solidFill>
                <a:srgbClr val="000000"/>
              </a:solidFill>
              <a:latin typeface="Arial"/>
            </a:endParaRPr>
          </a:p>
        </p:txBody>
      </p:sp>
      <p:grpSp>
        <p:nvGrpSpPr>
          <p:cNvPr id="252" name="Group 55"/>
          <p:cNvGrpSpPr/>
          <p:nvPr/>
        </p:nvGrpSpPr>
        <p:grpSpPr>
          <a:xfrm>
            <a:off x="3048120" y="4511520"/>
            <a:ext cx="5637600" cy="754560"/>
            <a:chOff x="3048120" y="4511520"/>
            <a:chExt cx="5637600" cy="754560"/>
          </a:xfrm>
        </p:grpSpPr>
        <p:sp>
          <p:nvSpPr>
            <p:cNvPr id="253" name="Rectangle 56"/>
            <p:cNvSpPr/>
            <p:nvPr/>
          </p:nvSpPr>
          <p:spPr>
            <a:xfrm>
              <a:off x="3048120" y="4511520"/>
              <a:ext cx="2959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Q</a:t>
              </a:r>
              <a:endParaRPr b="0" lang="en-US" sz="2400" spc="-1" strike="noStrike">
                <a:solidFill>
                  <a:srgbClr val="000000"/>
                </a:solidFill>
                <a:latin typeface="Arial"/>
              </a:endParaRPr>
            </a:p>
          </p:txBody>
        </p:sp>
        <p:sp>
          <p:nvSpPr>
            <p:cNvPr id="254" name="Rectangle 57"/>
            <p:cNvSpPr/>
            <p:nvPr/>
          </p:nvSpPr>
          <p:spPr>
            <a:xfrm>
              <a:off x="3581280" y="490068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0</a:t>
              </a:r>
              <a:endParaRPr b="0" lang="en-US" sz="2400" spc="-1" strike="noStrike">
                <a:solidFill>
                  <a:srgbClr val="000000"/>
                </a:solidFill>
                <a:latin typeface="Arial"/>
              </a:endParaRPr>
            </a:p>
          </p:txBody>
        </p:sp>
        <p:sp>
          <p:nvSpPr>
            <p:cNvPr id="255" name="Rectangle 58"/>
            <p:cNvSpPr/>
            <p:nvPr/>
          </p:nvSpPr>
          <p:spPr>
            <a:xfrm>
              <a:off x="3886200" y="490068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1</a:t>
              </a:r>
              <a:endParaRPr b="0" lang="en-US" sz="2400" spc="-1" strike="noStrike">
                <a:solidFill>
                  <a:srgbClr val="000000"/>
                </a:solidFill>
                <a:latin typeface="Arial"/>
              </a:endParaRPr>
            </a:p>
          </p:txBody>
        </p:sp>
        <p:sp>
          <p:nvSpPr>
            <p:cNvPr id="256" name="Rectangle 59"/>
            <p:cNvSpPr/>
            <p:nvPr/>
          </p:nvSpPr>
          <p:spPr>
            <a:xfrm>
              <a:off x="4191120" y="490068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2</a:t>
              </a:r>
              <a:endParaRPr b="0" lang="en-US" sz="2400" spc="-1" strike="noStrike">
                <a:solidFill>
                  <a:srgbClr val="000000"/>
                </a:solidFill>
                <a:latin typeface="Arial"/>
              </a:endParaRPr>
            </a:p>
          </p:txBody>
        </p:sp>
        <p:sp>
          <p:nvSpPr>
            <p:cNvPr id="257" name="Rectangle 60"/>
            <p:cNvSpPr/>
            <p:nvPr/>
          </p:nvSpPr>
          <p:spPr>
            <a:xfrm>
              <a:off x="7772400" y="490068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r</a:t>
              </a:r>
              <a:endParaRPr b="0" lang="en-US" sz="2400" spc="-1" strike="noStrike">
                <a:solidFill>
                  <a:srgbClr val="000000"/>
                </a:solidFill>
                <a:latin typeface="Arial"/>
              </a:endParaRPr>
            </a:p>
          </p:txBody>
        </p:sp>
        <p:sp>
          <p:nvSpPr>
            <p:cNvPr id="258" name="Rectangle 61"/>
            <p:cNvSpPr/>
            <p:nvPr/>
          </p:nvSpPr>
          <p:spPr>
            <a:xfrm>
              <a:off x="4724280" y="490068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f</a:t>
              </a:r>
              <a:endParaRPr b="0" lang="en-US" sz="2400" spc="-1" strike="noStrike">
                <a:solidFill>
                  <a:srgbClr val="000000"/>
                </a:solidFill>
                <a:latin typeface="Arial"/>
              </a:endParaRPr>
            </a:p>
          </p:txBody>
        </p:sp>
        <p:sp>
          <p:nvSpPr>
            <p:cNvPr id="259" name="Rectangle 62"/>
            <p:cNvSpPr/>
            <p:nvPr/>
          </p:nvSpPr>
          <p:spPr>
            <a:xfrm>
              <a:off x="3505320" y="45878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260" name="Rectangle 63"/>
            <p:cNvSpPr/>
            <p:nvPr/>
          </p:nvSpPr>
          <p:spPr>
            <a:xfrm>
              <a:off x="3809880" y="45878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1" name="Rectangle 64"/>
            <p:cNvSpPr/>
            <p:nvPr/>
          </p:nvSpPr>
          <p:spPr>
            <a:xfrm>
              <a:off x="4114800" y="45878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2" name="Rectangle 65"/>
            <p:cNvSpPr/>
            <p:nvPr/>
          </p:nvSpPr>
          <p:spPr>
            <a:xfrm>
              <a:off x="4419720" y="45878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3" name="Rectangle 66"/>
            <p:cNvSpPr/>
            <p:nvPr/>
          </p:nvSpPr>
          <p:spPr>
            <a:xfrm>
              <a:off x="472428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4" name="Rectangle 67"/>
            <p:cNvSpPr/>
            <p:nvPr/>
          </p:nvSpPr>
          <p:spPr>
            <a:xfrm>
              <a:off x="502920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5" name="Rectangle 68"/>
            <p:cNvSpPr/>
            <p:nvPr/>
          </p:nvSpPr>
          <p:spPr>
            <a:xfrm>
              <a:off x="533412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6" name="Rectangle 69"/>
            <p:cNvSpPr/>
            <p:nvPr/>
          </p:nvSpPr>
          <p:spPr>
            <a:xfrm>
              <a:off x="563868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7" name="Rectangle 70"/>
            <p:cNvSpPr/>
            <p:nvPr/>
          </p:nvSpPr>
          <p:spPr>
            <a:xfrm>
              <a:off x="594360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8" name="Rectangle 71"/>
            <p:cNvSpPr/>
            <p:nvPr/>
          </p:nvSpPr>
          <p:spPr>
            <a:xfrm>
              <a:off x="624852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9" name="Rectangle 72"/>
            <p:cNvSpPr/>
            <p:nvPr/>
          </p:nvSpPr>
          <p:spPr>
            <a:xfrm>
              <a:off x="655308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70" name="Rectangle 73"/>
            <p:cNvSpPr/>
            <p:nvPr/>
          </p:nvSpPr>
          <p:spPr>
            <a:xfrm>
              <a:off x="685800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71" name="Rectangle 74"/>
            <p:cNvSpPr/>
            <p:nvPr/>
          </p:nvSpPr>
          <p:spPr>
            <a:xfrm>
              <a:off x="716292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72" name="Rectangle 75"/>
            <p:cNvSpPr/>
            <p:nvPr/>
          </p:nvSpPr>
          <p:spPr>
            <a:xfrm>
              <a:off x="7467480" y="45878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73" name="Rectangle 76"/>
            <p:cNvSpPr/>
            <p:nvPr/>
          </p:nvSpPr>
          <p:spPr>
            <a:xfrm>
              <a:off x="7772400" y="45878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74" name="Rectangle 77"/>
            <p:cNvSpPr/>
            <p:nvPr/>
          </p:nvSpPr>
          <p:spPr>
            <a:xfrm>
              <a:off x="8077320" y="45878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75" name="Rectangle 78"/>
            <p:cNvSpPr/>
            <p:nvPr/>
          </p:nvSpPr>
          <p:spPr>
            <a:xfrm>
              <a:off x="8381880" y="45878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grpSp>
        <p:nvGrpSpPr>
          <p:cNvPr id="276" name="Group 79"/>
          <p:cNvGrpSpPr/>
          <p:nvPr/>
        </p:nvGrpSpPr>
        <p:grpSpPr>
          <a:xfrm>
            <a:off x="3048120" y="5494320"/>
            <a:ext cx="5637600" cy="754200"/>
            <a:chOff x="3048120" y="5494320"/>
            <a:chExt cx="5637600" cy="754200"/>
          </a:xfrm>
        </p:grpSpPr>
        <p:sp>
          <p:nvSpPr>
            <p:cNvPr id="277" name="Rectangle 80"/>
            <p:cNvSpPr/>
            <p:nvPr/>
          </p:nvSpPr>
          <p:spPr>
            <a:xfrm>
              <a:off x="3048120" y="5494320"/>
              <a:ext cx="2959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Q</a:t>
              </a:r>
              <a:endParaRPr b="0" lang="en-US" sz="2400" spc="-1" strike="noStrike">
                <a:solidFill>
                  <a:srgbClr val="000000"/>
                </a:solidFill>
                <a:latin typeface="Arial"/>
              </a:endParaRPr>
            </a:p>
          </p:txBody>
        </p:sp>
        <p:sp>
          <p:nvSpPr>
            <p:cNvPr id="278" name="Rectangle 81"/>
            <p:cNvSpPr/>
            <p:nvPr/>
          </p:nvSpPr>
          <p:spPr>
            <a:xfrm>
              <a:off x="3581280" y="588312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0</a:t>
              </a:r>
              <a:endParaRPr b="0" lang="en-US" sz="2400" spc="-1" strike="noStrike">
                <a:solidFill>
                  <a:srgbClr val="000000"/>
                </a:solidFill>
                <a:latin typeface="Arial"/>
              </a:endParaRPr>
            </a:p>
          </p:txBody>
        </p:sp>
        <p:sp>
          <p:nvSpPr>
            <p:cNvPr id="279" name="Rectangle 82"/>
            <p:cNvSpPr/>
            <p:nvPr/>
          </p:nvSpPr>
          <p:spPr>
            <a:xfrm>
              <a:off x="3886200" y="588312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1</a:t>
              </a:r>
              <a:endParaRPr b="0" lang="en-US" sz="2400" spc="-1" strike="noStrike">
                <a:solidFill>
                  <a:srgbClr val="000000"/>
                </a:solidFill>
                <a:latin typeface="Arial"/>
              </a:endParaRPr>
            </a:p>
          </p:txBody>
        </p:sp>
        <p:sp>
          <p:nvSpPr>
            <p:cNvPr id="280" name="Rectangle 83"/>
            <p:cNvSpPr/>
            <p:nvPr/>
          </p:nvSpPr>
          <p:spPr>
            <a:xfrm>
              <a:off x="4191120" y="5883120"/>
              <a:ext cx="152640" cy="3654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US" sz="2400" spc="-1" strike="noStrike">
                  <a:solidFill>
                    <a:schemeClr val="accent2"/>
                  </a:solidFill>
                  <a:latin typeface="Times New Roman"/>
                  <a:ea typeface="MS PGothic"/>
                </a:rPr>
                <a:t>2</a:t>
              </a:r>
              <a:endParaRPr b="0" lang="en-US" sz="2400" spc="-1" strike="noStrike">
                <a:solidFill>
                  <a:srgbClr val="000000"/>
                </a:solidFill>
                <a:latin typeface="Arial"/>
              </a:endParaRPr>
            </a:p>
          </p:txBody>
        </p:sp>
        <p:sp>
          <p:nvSpPr>
            <p:cNvPr id="281" name="Rectangle 84"/>
            <p:cNvSpPr/>
            <p:nvPr/>
          </p:nvSpPr>
          <p:spPr>
            <a:xfrm>
              <a:off x="6858000" y="588312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f</a:t>
              </a:r>
              <a:endParaRPr b="0" lang="en-US" sz="2400" spc="-1" strike="noStrike">
                <a:solidFill>
                  <a:srgbClr val="000000"/>
                </a:solidFill>
                <a:latin typeface="Arial"/>
              </a:endParaRPr>
            </a:p>
          </p:txBody>
        </p:sp>
        <p:sp>
          <p:nvSpPr>
            <p:cNvPr id="282" name="Rectangle 85"/>
            <p:cNvSpPr/>
            <p:nvPr/>
          </p:nvSpPr>
          <p:spPr>
            <a:xfrm>
              <a:off x="4724280" y="5883120"/>
              <a:ext cx="281520" cy="365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i="1" lang="en-US" sz="2400" spc="-1" strike="noStrike">
                  <a:solidFill>
                    <a:schemeClr val="accent2"/>
                  </a:solidFill>
                  <a:latin typeface="Times New Roman"/>
                  <a:ea typeface="MS PGothic"/>
                </a:rPr>
                <a:t>r</a:t>
              </a:r>
              <a:endParaRPr b="0" lang="en-US" sz="2400" spc="-1" strike="noStrike">
                <a:solidFill>
                  <a:srgbClr val="000000"/>
                </a:solidFill>
                <a:latin typeface="Arial"/>
              </a:endParaRPr>
            </a:p>
          </p:txBody>
        </p:sp>
        <p:sp>
          <p:nvSpPr>
            <p:cNvPr id="283" name="Rectangle 86"/>
            <p:cNvSpPr/>
            <p:nvPr/>
          </p:nvSpPr>
          <p:spPr>
            <a:xfrm>
              <a:off x="350532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284" name="Rectangle 87"/>
            <p:cNvSpPr/>
            <p:nvPr/>
          </p:nvSpPr>
          <p:spPr>
            <a:xfrm>
              <a:off x="380988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85" name="Rectangle 88"/>
            <p:cNvSpPr/>
            <p:nvPr/>
          </p:nvSpPr>
          <p:spPr>
            <a:xfrm>
              <a:off x="411480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86" name="Rectangle 89"/>
            <p:cNvSpPr/>
            <p:nvPr/>
          </p:nvSpPr>
          <p:spPr>
            <a:xfrm>
              <a:off x="441972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87" name="Rectangle 90"/>
            <p:cNvSpPr/>
            <p:nvPr/>
          </p:nvSpPr>
          <p:spPr>
            <a:xfrm>
              <a:off x="4724280" y="5570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88" name="Rectangle 91"/>
            <p:cNvSpPr/>
            <p:nvPr/>
          </p:nvSpPr>
          <p:spPr>
            <a:xfrm>
              <a:off x="5029200" y="5570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89" name="Rectangle 92"/>
            <p:cNvSpPr/>
            <p:nvPr/>
          </p:nvSpPr>
          <p:spPr>
            <a:xfrm>
              <a:off x="5334120" y="5570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0" name="Rectangle 93"/>
            <p:cNvSpPr/>
            <p:nvPr/>
          </p:nvSpPr>
          <p:spPr>
            <a:xfrm>
              <a:off x="5638680" y="5570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1" name="Rectangle 94"/>
            <p:cNvSpPr/>
            <p:nvPr/>
          </p:nvSpPr>
          <p:spPr>
            <a:xfrm>
              <a:off x="5943600" y="5570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2" name="Rectangle 95"/>
            <p:cNvSpPr/>
            <p:nvPr/>
          </p:nvSpPr>
          <p:spPr>
            <a:xfrm>
              <a:off x="6248520" y="5570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3" name="Rectangle 96"/>
            <p:cNvSpPr/>
            <p:nvPr/>
          </p:nvSpPr>
          <p:spPr>
            <a:xfrm>
              <a:off x="6553080" y="5570640"/>
              <a:ext cx="303840" cy="303840"/>
            </a:xfrm>
            <a:prstGeom prst="rect">
              <a:avLst/>
            </a:prstGeom>
            <a:solidFill>
              <a:schemeClr val="bg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4" name="Rectangle 97"/>
            <p:cNvSpPr/>
            <p:nvPr/>
          </p:nvSpPr>
          <p:spPr>
            <a:xfrm>
              <a:off x="685800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5" name="Rectangle 98"/>
            <p:cNvSpPr/>
            <p:nvPr/>
          </p:nvSpPr>
          <p:spPr>
            <a:xfrm>
              <a:off x="716292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6" name="Rectangle 99"/>
            <p:cNvSpPr/>
            <p:nvPr/>
          </p:nvSpPr>
          <p:spPr>
            <a:xfrm>
              <a:off x="746748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7" name="Rectangle 100"/>
            <p:cNvSpPr/>
            <p:nvPr/>
          </p:nvSpPr>
          <p:spPr>
            <a:xfrm>
              <a:off x="777240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8" name="Rectangle 101"/>
            <p:cNvSpPr/>
            <p:nvPr/>
          </p:nvSpPr>
          <p:spPr>
            <a:xfrm>
              <a:off x="807732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9" name="Rectangle 102"/>
            <p:cNvSpPr/>
            <p:nvPr/>
          </p:nvSpPr>
          <p:spPr>
            <a:xfrm>
              <a:off x="8381880" y="5570640"/>
              <a:ext cx="303840" cy="303840"/>
            </a:xfrm>
            <a:prstGeom prst="rect">
              <a:avLst/>
            </a:prstGeom>
            <a:solidFill>
              <a:schemeClr val="accent1"/>
            </a:solidFill>
            <a:ln w="3810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Queues – Example</a:t>
            </a:r>
            <a:endParaRPr b="0" lang="en-US" sz="4400" spc="-1" strike="noStrike">
              <a:solidFill>
                <a:srgbClr val="000000"/>
              </a:solidFill>
              <a:latin typeface="Arial"/>
            </a:endParaRPr>
          </a:p>
        </p:txBody>
      </p:sp>
      <p:pic>
        <p:nvPicPr>
          <p:cNvPr id="301" name="Picture 2" descr=""/>
          <p:cNvPicPr/>
          <p:nvPr/>
        </p:nvPicPr>
        <p:blipFill>
          <a:blip r:embed="rId1"/>
          <a:stretch/>
        </p:blipFill>
        <p:spPr>
          <a:xfrm>
            <a:off x="3185640" y="1009080"/>
            <a:ext cx="6470280" cy="55670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Array Based Queue Implementation</a:t>
            </a:r>
            <a:endParaRPr b="0" lang="en-US" sz="4400" spc="-1" strike="noStrike">
              <a:solidFill>
                <a:srgbClr val="000000"/>
              </a:solidFill>
              <a:latin typeface="Arial"/>
            </a:endParaRPr>
          </a:p>
        </p:txBody>
      </p:sp>
      <p:sp>
        <p:nvSpPr>
          <p:cNvPr id="303" name="TextBox 3"/>
          <p:cNvSpPr/>
          <p:nvPr/>
        </p:nvSpPr>
        <p:spPr>
          <a:xfrm>
            <a:off x="3395520" y="1244880"/>
            <a:ext cx="6165720" cy="4663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Consolas"/>
              </a:rPr>
              <a:t>class Queue:</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__init__(self, c=10):</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is_empty(self):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enqueue(self, data):</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dequeue(self):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__len__(self):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display(self):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def first(self):</a:t>
            </a:r>
            <a:endParaRPr b="0" lang="en-US" sz="2000" spc="-1" strike="noStrike">
              <a:solidFill>
                <a:srgbClr val="000000"/>
              </a:solidFill>
              <a:latin typeface="Arial"/>
            </a:endParaRPr>
          </a:p>
          <a:p>
            <a:pPr defTabSz="457200">
              <a:lnSpc>
                <a:spcPct val="100000"/>
              </a:lnSpc>
            </a:pPr>
            <a:r>
              <a:rPr b="0" lang="en-US" sz="2000" spc="-1" strike="noStrike">
                <a:solidFill>
                  <a:schemeClr val="dk1"/>
                </a:solidFill>
                <a:latin typeface="Consolas"/>
              </a:rPr>
              <a:t>        </a:t>
            </a:r>
            <a:r>
              <a:rPr b="0" lang="en-US" sz="2000" spc="-1" strike="noStrike">
                <a:solidFill>
                  <a:schemeClr val="dk1"/>
                </a:solidFill>
                <a:latin typeface="Consolas"/>
              </a:rPr>
              <a:t>pass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item1.xml><?xml version="1.0" encoding="utf-8"?>
<sisl xmlns:xsi="http://www.w3.org/2001/XMLSchema-instance" xmlns:xsd="http://www.w3.org/2001/XMLSchema" xmlns="http://www.boldonjames.com/2008/01/sie/internal/label" sislVersion="0" policy="753fb180-a0f1-47ee-bb6b-5956a4b631ac" origin="userSelected">
  <element uid="id_classification_nonbusiness" value=""/>
  <element uid="3a9ec6f0-1d56-47f3-b78c-2cd80822a847" value=""/>
</sisl>
</file>

<file path=customXml/itemProps1.xml><?xml version="1.0" encoding="utf-8"?>
<ds:datastoreItem xmlns:ds="http://schemas.openxmlformats.org/officeDocument/2006/customXml" ds:itemID="{EC8C8039-EF7F-4657-A0C7-7FE1EEAD64B1}">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Office Theme</Template>
  <TotalTime>30744</TotalTime>
  <Application>LibreOffice/24.2.7.2$Linux_X86_64 LibreOffice_project/420$Build-2</Application>
  <AppVersion>15.0000</AppVersion>
  <Words>1299</Words>
  <Paragraphs>246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2018-03-07T03:10:24Z</dcterms:created>
  <dc:creator>Kürşat İNCE</dc:creator>
  <dc:description/>
  <dc:language>en-US</dc:language>
  <cp:lastModifiedBy/>
  <cp:lastPrinted>2023-10-30T20:45:32Z</cp:lastPrinted>
  <dcterms:modified xsi:type="dcterms:W3CDTF">2025-09-12T23:16:55Z</dcterms:modified>
  <cp:revision>694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6</vt:i4>
  </property>
  <property fmtid="{D5CDD505-2E9C-101B-9397-08002B2CF9AE}" pid="4" name="PresentationFormat">
    <vt:lpwstr>Widescreen</vt:lpwstr>
  </property>
  <property fmtid="{D5CDD505-2E9C-101B-9397-08002B2CF9AE}" pid="5" name="Slides">
    <vt:i4>20</vt:i4>
  </property>
  <property fmtid="{D5CDD505-2E9C-101B-9397-08002B2CF9AE}" pid="6" name="bjClsUserRVM">
    <vt:lpwstr>[]</vt:lpwstr>
  </property>
  <property fmtid="{D5CDD505-2E9C-101B-9397-08002B2CF9AE}" pid="7" name="bjDocumentLabelXML">
    <vt:lpwstr>&lt;?xml version="1.0" encoding="us-ascii"?&gt;&lt;sisl xmlns:xsi="http://www.w3.org/2001/XMLSchema-instance" xmlns:xsd="http://www.w3.org/2001/XMLSchema" sislVersion="0" policy="753fb180-a0f1-47ee-bb6b-5956a4b631ac" origin="userSelected" xmlns="http://www.boldonj</vt:lpwstr>
  </property>
  <property fmtid="{D5CDD505-2E9C-101B-9397-08002B2CF9AE}" pid="8" name="bjDocumentLabelXML-0">
    <vt:lpwstr>ames.com/2008/01/sie/internal/label"&gt;&lt;element uid="id_classification_nonbusiness" value="" /&gt;&lt;element uid="3a9ec6f0-1d56-47f3-b78c-2cd80822a847" value="" /&gt;&lt;/sisl&gt;</vt:lpwstr>
  </property>
  <property fmtid="{D5CDD505-2E9C-101B-9397-08002B2CF9AE}" pid="9" name="bjDocumentSecurityLabel">
    <vt:lpwstr>TASNİF DIŞI</vt:lpwstr>
  </property>
  <property fmtid="{D5CDD505-2E9C-101B-9397-08002B2CF9AE}" pid="10" name="bjSaver">
    <vt:lpwstr>f8PkN1uJXJwqI9alO3CYacUW7PVwbe+w</vt:lpwstr>
  </property>
  <property fmtid="{D5CDD505-2E9C-101B-9397-08002B2CF9AE}" pid="11" name="docIndexRef">
    <vt:lpwstr>3c4ade84-1b77-4958-b253-7a1280122afc</vt:lpwstr>
  </property>
</Properties>
</file>